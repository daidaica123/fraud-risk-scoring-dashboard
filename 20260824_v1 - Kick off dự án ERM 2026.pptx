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xml" ContentType="application/vnd.openxmlformats-officedocument.drawingml.char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 id="2147483681" r:id="rId2"/>
  </p:sldMasterIdLst>
  <p:notesMasterIdLst>
    <p:notesMasterId r:id="rId38"/>
  </p:notesMasterIdLst>
  <p:sldIdLst>
    <p:sldId id="282" r:id="rId3"/>
    <p:sldId id="283" r:id="rId4"/>
    <p:sldId id="321" r:id="rId5"/>
    <p:sldId id="313" r:id="rId6"/>
    <p:sldId id="337" r:id="rId7"/>
    <p:sldId id="322" r:id="rId8"/>
    <p:sldId id="307" r:id="rId9"/>
    <p:sldId id="316" r:id="rId10"/>
    <p:sldId id="261" r:id="rId11"/>
    <p:sldId id="323" r:id="rId12"/>
    <p:sldId id="262" r:id="rId13"/>
    <p:sldId id="256" r:id="rId14"/>
    <p:sldId id="348" r:id="rId15"/>
    <p:sldId id="324" r:id="rId16"/>
    <p:sldId id="274" r:id="rId17"/>
    <p:sldId id="347" r:id="rId18"/>
    <p:sldId id="288" r:id="rId19"/>
    <p:sldId id="336" r:id="rId20"/>
    <p:sldId id="346" r:id="rId21"/>
    <p:sldId id="320" r:id="rId22"/>
    <p:sldId id="315" r:id="rId23"/>
    <p:sldId id="325" r:id="rId24"/>
    <p:sldId id="326" r:id="rId25"/>
    <p:sldId id="327" r:id="rId26"/>
    <p:sldId id="328" r:id="rId27"/>
    <p:sldId id="329" r:id="rId28"/>
    <p:sldId id="341" r:id="rId29"/>
    <p:sldId id="342" r:id="rId30"/>
    <p:sldId id="343" r:id="rId31"/>
    <p:sldId id="344" r:id="rId32"/>
    <p:sldId id="330" r:id="rId33"/>
    <p:sldId id="332" r:id="rId34"/>
    <p:sldId id="333" r:id="rId35"/>
    <p:sldId id="334" r:id="rId36"/>
    <p:sldId id="335" r:id="rId3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ED6016D-6CD7-40A7-944E-F1774CD9824F}">
          <p14:sldIdLst>
            <p14:sldId id="282"/>
            <p14:sldId id="283"/>
            <p14:sldId id="321"/>
            <p14:sldId id="313"/>
            <p14:sldId id="337"/>
            <p14:sldId id="322"/>
            <p14:sldId id="307"/>
            <p14:sldId id="316"/>
            <p14:sldId id="261"/>
            <p14:sldId id="323"/>
            <p14:sldId id="262"/>
            <p14:sldId id="256"/>
            <p14:sldId id="348"/>
            <p14:sldId id="324"/>
            <p14:sldId id="274"/>
            <p14:sldId id="347"/>
            <p14:sldId id="288"/>
          </p14:sldIdLst>
        </p14:section>
        <p14:section name="Phụ lục - Đánh giá hiện trạng QTRR chi tiết" id="{638DA24E-B56E-4152-9237-21B96D27F6C0}">
          <p14:sldIdLst>
            <p14:sldId id="336"/>
            <p14:sldId id="346"/>
            <p14:sldId id="320"/>
            <p14:sldId id="315"/>
            <p14:sldId id="325"/>
            <p14:sldId id="326"/>
            <p14:sldId id="327"/>
            <p14:sldId id="328"/>
            <p14:sldId id="329"/>
            <p14:sldId id="341"/>
            <p14:sldId id="342"/>
            <p14:sldId id="343"/>
            <p14:sldId id="344"/>
            <p14:sldId id="330"/>
            <p14:sldId id="332"/>
            <p14:sldId id="333"/>
            <p14:sldId id="334"/>
            <p14:sldId id="33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uonglt10" initials="huonglt10" lastIdx="2" clrIdx="0">
    <p:extLst>
      <p:ext uri="{19B8F6BF-5375-455C-9EA6-DF929625EA0E}">
        <p15:presenceInfo xmlns:p15="http://schemas.microsoft.com/office/powerpoint/2012/main" userId="huonglt10" providerId="None"/>
      </p:ext>
    </p:extLst>
  </p:cmAuthor>
  <p:cmAuthor id="2" name="quangnd48" initials="q" lastIdx="3" clrIdx="1">
    <p:extLst>
      <p:ext uri="{19B8F6BF-5375-455C-9EA6-DF929625EA0E}">
        <p15:presenceInfo xmlns:p15="http://schemas.microsoft.com/office/powerpoint/2012/main" userId="S-1-5-21-1978076751-3396122582-1341001408-24629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933C"/>
    <a:srgbClr val="4F81BD"/>
    <a:srgbClr val="C00000"/>
    <a:srgbClr val="EDF2F9"/>
    <a:srgbClr val="8064A2"/>
    <a:srgbClr val="FFFFFF"/>
    <a:srgbClr val="0F7A6B"/>
    <a:srgbClr val="558ED5"/>
    <a:srgbClr val="E6E0EC"/>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1AF124-A23B-42E5-A70A-98A69985F6B6}" v="5" dt="2026-08-24T03:43:15.8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24" autoAdjust="0"/>
    <p:restoredTop sz="75806" autoAdjust="0"/>
  </p:normalViewPr>
  <p:slideViewPr>
    <p:cSldViewPr>
      <p:cViewPr varScale="1">
        <p:scale>
          <a:sx n="81" d="100"/>
          <a:sy n="81" d="100"/>
        </p:scale>
        <p:origin x="240"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commentAuthors" Target="commentAuthors.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0.1905262390446808"/>
          <c:y val="2.178649237472767E-2"/>
          <c:w val="0.59945453638470625"/>
          <c:h val="0.8933047993183858"/>
        </c:manualLayout>
      </c:layout>
      <c:doughnutChart>
        <c:varyColors val="1"/>
        <c:ser>
          <c:idx val="0"/>
          <c:order val="0"/>
          <c:tx>
            <c:strRef>
              <c:f>Sheet1!$B$1</c:f>
              <c:strCache>
                <c:ptCount val="1"/>
                <c:pt idx="0">
                  <c:v>Controls</c:v>
                </c:pt>
              </c:strCache>
            </c:strRef>
          </c:tx>
          <c:spPr>
            <a:solidFill>
              <a:schemeClr val="accent1"/>
            </a:solidFill>
            <a:ln w="9525" cap="flat">
              <a:solidFill>
                <a:srgbClr val="F9F9F9"/>
              </a:solidFill>
              <a:prstDash val="solid"/>
              <a:round/>
            </a:ln>
            <a:effectLst/>
          </c:spPr>
          <c:dPt>
            <c:idx val="0"/>
            <c:bubble3D val="0"/>
            <c:spPr>
              <a:solidFill>
                <a:srgbClr val="1E8C5A"/>
              </a:solidFill>
              <a:effectLst/>
            </c:spPr>
            <c:extLst>
              <c:ext xmlns:c16="http://schemas.microsoft.com/office/drawing/2014/chart" uri="{C3380CC4-5D6E-409C-BE32-E72D297353CC}">
                <c16:uniqueId val="{00000001-DF43-4CA3-977A-29AD355A1780}"/>
              </c:ext>
            </c:extLst>
          </c:dPt>
          <c:dPt>
            <c:idx val="1"/>
            <c:bubble3D val="0"/>
            <c:spPr>
              <a:solidFill>
                <a:srgbClr val="E8B84B"/>
              </a:solidFill>
              <a:effectLst/>
            </c:spPr>
            <c:extLst>
              <c:ext xmlns:c16="http://schemas.microsoft.com/office/drawing/2014/chart" uri="{C3380CC4-5D6E-409C-BE32-E72D297353CC}">
                <c16:uniqueId val="{00000003-DF43-4CA3-977A-29AD355A1780}"/>
              </c:ext>
            </c:extLst>
          </c:dPt>
          <c:dPt>
            <c:idx val="2"/>
            <c:bubble3D val="0"/>
            <c:spPr>
              <a:solidFill>
                <a:srgbClr val="C0392B"/>
              </a:solidFill>
              <a:effectLst/>
            </c:spPr>
            <c:extLst>
              <c:ext xmlns:c16="http://schemas.microsoft.com/office/drawing/2014/chart" uri="{C3380CC4-5D6E-409C-BE32-E72D297353CC}">
                <c16:uniqueId val="{00000005-DF43-4CA3-977A-29AD355A1780}"/>
              </c:ext>
            </c:extLst>
          </c:dPt>
          <c:dPt>
            <c:idx val="3"/>
            <c:bubble3D val="0"/>
            <c:spPr>
              <a:solidFill>
                <a:srgbClr val="8A9BB0"/>
              </a:solidFill>
              <a:effectLst/>
            </c:spPr>
            <c:extLst>
              <c:ext xmlns:c16="http://schemas.microsoft.com/office/drawing/2014/chart" uri="{C3380CC4-5D6E-409C-BE32-E72D297353CC}">
                <c16:uniqueId val="{00000007-DF43-4CA3-977A-29AD355A1780}"/>
              </c:ext>
            </c:extLst>
          </c:dPt>
          <c:dLbls>
            <c:dLbl>
              <c:idx val="0"/>
              <c:numFmt formatCode="0%" sourceLinked="0"/>
              <c:spPr/>
              <c:txPr>
                <a:bodyPr/>
                <a:lstStyle/>
                <a:p>
                  <a:pPr>
                    <a:defRPr sz="16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DF43-4CA3-977A-29AD355A1780}"/>
                </c:ext>
              </c:extLst>
            </c:dLbl>
            <c:dLbl>
              <c:idx val="1"/>
              <c:numFmt formatCode="0%" sourceLinked="0"/>
              <c:spPr/>
              <c:txPr>
                <a:bodyPr/>
                <a:lstStyle/>
                <a:p>
                  <a:pPr>
                    <a:defRPr sz="16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DF43-4CA3-977A-29AD355A1780}"/>
                </c:ext>
              </c:extLst>
            </c:dLbl>
            <c:dLbl>
              <c:idx val="2"/>
              <c:numFmt formatCode="0%" sourceLinked="0"/>
              <c:spPr/>
              <c:txPr>
                <a:bodyPr/>
                <a:lstStyle/>
                <a:p>
                  <a:pPr>
                    <a:defRPr sz="16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DF43-4CA3-977A-29AD355A1780}"/>
                </c:ext>
              </c:extLst>
            </c:dLbl>
            <c:dLbl>
              <c:idx val="3"/>
              <c:numFmt formatCode="0%" sourceLinked="0"/>
              <c:spPr/>
              <c:txPr>
                <a:bodyPr/>
                <a:lstStyle/>
                <a:p>
                  <a:pPr>
                    <a:defRPr sz="16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DF43-4CA3-977A-29AD355A1780}"/>
                </c:ext>
              </c:extLst>
            </c:dLbl>
            <c:numFmt formatCode="0%" sourceLinked="0"/>
            <c:spPr>
              <a:noFill/>
              <a:ln>
                <a:noFill/>
              </a:ln>
              <a:effectLst/>
            </c:spPr>
            <c:txPr>
              <a:bodyPr/>
              <a:lstStyle/>
              <a:p>
                <a:pPr>
                  <a:defRPr sz="16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Hiệu quả</c:v>
                </c:pt>
                <c:pt idx="1">
                  <c:v>Hiệu quả một phần</c:v>
                </c:pt>
                <c:pt idx="2">
                  <c:v>Không hiệu quả</c:v>
                </c:pt>
                <c:pt idx="3">
                  <c:v>Chưa đánh giá</c:v>
                </c:pt>
              </c:strCache>
            </c:strRef>
          </c:cat>
          <c:val>
            <c:numRef>
              <c:f>Sheet1!$B$2:$B$5</c:f>
              <c:numCache>
                <c:formatCode>General</c:formatCode>
                <c:ptCount val="4"/>
                <c:pt idx="0">
                  <c:v>58</c:v>
                </c:pt>
                <c:pt idx="1">
                  <c:v>22</c:v>
                </c:pt>
                <c:pt idx="2">
                  <c:v>8</c:v>
                </c:pt>
                <c:pt idx="3">
                  <c:v>12</c:v>
                </c:pt>
              </c:numCache>
            </c:numRef>
          </c:val>
          <c:extLst>
            <c:ext xmlns:c16="http://schemas.microsoft.com/office/drawing/2014/chart" uri="{C3380CC4-5D6E-409C-BE32-E72D297353CC}">
              <c16:uniqueId val="{00000008-DF43-4CA3-977A-29AD355A1780}"/>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200">
              <a:latin typeface="Arial" panose="020B0604020202020204" pitchFamily="34" charset="0"/>
              <a:cs typeface="Arial" panose="020B0604020202020204" pitchFamily="34" charset="0"/>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Sự kiện mới ghi nhận</c:v>
                </c:pt>
              </c:strCache>
            </c:strRef>
          </c:tx>
          <c:spPr>
            <a:solidFill>
              <a:srgbClr val="2563A8"/>
            </a:solidFill>
            <a:effectLst/>
          </c:spPr>
          <c:invertIfNegative val="0"/>
          <c:cat>
            <c:strRef>
              <c:f>Sheet1!$A$2:$A$13</c:f>
              <c:strCache>
                <c:ptCount val="12"/>
                <c:pt idx="0">
                  <c:v>T1</c:v>
                </c:pt>
                <c:pt idx="1">
                  <c:v>T2</c:v>
                </c:pt>
                <c:pt idx="2">
                  <c:v>T3</c:v>
                </c:pt>
                <c:pt idx="3">
                  <c:v>T4</c:v>
                </c:pt>
                <c:pt idx="4">
                  <c:v>T5</c:v>
                </c:pt>
                <c:pt idx="5">
                  <c:v>T6</c:v>
                </c:pt>
                <c:pt idx="6">
                  <c:v>T7</c:v>
                </c:pt>
                <c:pt idx="7">
                  <c:v>T8</c:v>
                </c:pt>
                <c:pt idx="8">
                  <c:v>T9</c:v>
                </c:pt>
                <c:pt idx="9">
                  <c:v>T10</c:v>
                </c:pt>
                <c:pt idx="10">
                  <c:v>T11</c:v>
                </c:pt>
                <c:pt idx="11">
                  <c:v>T12</c:v>
                </c:pt>
              </c:strCache>
            </c:strRef>
          </c:cat>
          <c:val>
            <c:numRef>
              <c:f>Sheet1!$B$2:$B$13</c:f>
              <c:numCache>
                <c:formatCode>General</c:formatCode>
                <c:ptCount val="12"/>
                <c:pt idx="0">
                  <c:v>5</c:v>
                </c:pt>
                <c:pt idx="1">
                  <c:v>3</c:v>
                </c:pt>
                <c:pt idx="2">
                  <c:v>7</c:v>
                </c:pt>
                <c:pt idx="3">
                  <c:v>4</c:v>
                </c:pt>
                <c:pt idx="4">
                  <c:v>6</c:v>
                </c:pt>
                <c:pt idx="5">
                  <c:v>8</c:v>
                </c:pt>
                <c:pt idx="6">
                  <c:v>5</c:v>
                </c:pt>
                <c:pt idx="7">
                  <c:v>9</c:v>
                </c:pt>
                <c:pt idx="8">
                  <c:v>6</c:v>
                </c:pt>
                <c:pt idx="9">
                  <c:v>4</c:v>
                </c:pt>
                <c:pt idx="10">
                  <c:v>7</c:v>
                </c:pt>
                <c:pt idx="11">
                  <c:v>5</c:v>
                </c:pt>
              </c:numCache>
            </c:numRef>
          </c:val>
          <c:extLst>
            <c:ext xmlns:c16="http://schemas.microsoft.com/office/drawing/2014/chart" uri="{C3380CC4-5D6E-409C-BE32-E72D297353CC}">
              <c16:uniqueId val="{00000000-F989-4134-9EBE-70D30F16108E}"/>
            </c:ext>
          </c:extLst>
        </c:ser>
        <c:ser>
          <c:idx val="1"/>
          <c:order val="1"/>
          <c:tx>
            <c:strRef>
              <c:f>Sheet1!$C$1</c:f>
              <c:strCache>
                <c:ptCount val="1"/>
                <c:pt idx="0">
                  <c:v>Sự kiện đã đóng</c:v>
                </c:pt>
              </c:strCache>
            </c:strRef>
          </c:tx>
          <c:spPr>
            <a:solidFill>
              <a:srgbClr val="86BFDB"/>
            </a:solidFill>
            <a:effectLst/>
          </c:spPr>
          <c:invertIfNegative val="0"/>
          <c:cat>
            <c:strRef>
              <c:f>Sheet1!$A$2:$A$13</c:f>
              <c:strCache>
                <c:ptCount val="12"/>
                <c:pt idx="0">
                  <c:v>T1</c:v>
                </c:pt>
                <c:pt idx="1">
                  <c:v>T2</c:v>
                </c:pt>
                <c:pt idx="2">
                  <c:v>T3</c:v>
                </c:pt>
                <c:pt idx="3">
                  <c:v>T4</c:v>
                </c:pt>
                <c:pt idx="4">
                  <c:v>T5</c:v>
                </c:pt>
                <c:pt idx="5">
                  <c:v>T6</c:v>
                </c:pt>
                <c:pt idx="6">
                  <c:v>T7</c:v>
                </c:pt>
                <c:pt idx="7">
                  <c:v>T8</c:v>
                </c:pt>
                <c:pt idx="8">
                  <c:v>T9</c:v>
                </c:pt>
                <c:pt idx="9">
                  <c:v>T10</c:v>
                </c:pt>
                <c:pt idx="10">
                  <c:v>T11</c:v>
                </c:pt>
                <c:pt idx="11">
                  <c:v>T12</c:v>
                </c:pt>
              </c:strCache>
            </c:strRef>
          </c:cat>
          <c:val>
            <c:numRef>
              <c:f>Sheet1!$C$2:$C$13</c:f>
              <c:numCache>
                <c:formatCode>General</c:formatCode>
                <c:ptCount val="12"/>
                <c:pt idx="0">
                  <c:v>4</c:v>
                </c:pt>
                <c:pt idx="1">
                  <c:v>5</c:v>
                </c:pt>
                <c:pt idx="2">
                  <c:v>6</c:v>
                </c:pt>
                <c:pt idx="3">
                  <c:v>3</c:v>
                </c:pt>
                <c:pt idx="4">
                  <c:v>5</c:v>
                </c:pt>
                <c:pt idx="5">
                  <c:v>7</c:v>
                </c:pt>
                <c:pt idx="6">
                  <c:v>4</c:v>
                </c:pt>
                <c:pt idx="7">
                  <c:v>8</c:v>
                </c:pt>
                <c:pt idx="8">
                  <c:v>7</c:v>
                </c:pt>
                <c:pt idx="9">
                  <c:v>5</c:v>
                </c:pt>
                <c:pt idx="10">
                  <c:v>6</c:v>
                </c:pt>
                <c:pt idx="11">
                  <c:v>4</c:v>
                </c:pt>
              </c:numCache>
            </c:numRef>
          </c:val>
          <c:extLst>
            <c:ext xmlns:c16="http://schemas.microsoft.com/office/drawing/2014/chart" uri="{C3380CC4-5D6E-409C-BE32-E72D297353CC}">
              <c16:uniqueId val="{00000001-F989-4134-9EBE-70D30F16108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A9BB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ED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BB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latin typeface="Arial" panose="020B0604020202020204" pitchFamily="34" charset="0"/>
              <a:cs typeface="Arial" panose="020B0604020202020204" pitchFamily="34" charset="0"/>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Tổn thất Ròng</c:v>
                </c:pt>
              </c:strCache>
            </c:strRef>
          </c:tx>
          <c:spPr>
            <a:ln w="25400" cap="flat">
              <a:solidFill>
                <a:srgbClr val="2563A8"/>
              </a:solidFill>
              <a:prstDash val="solid"/>
              <a:round/>
            </a:ln>
            <a:effectLst/>
          </c:spPr>
          <c:marker>
            <c:symbol val="circle"/>
            <c:size val="6"/>
            <c:spPr>
              <a:solidFill>
                <a:srgbClr val="2563A8"/>
              </a:solidFill>
              <a:ln w="9525" cap="flat">
                <a:solidFill>
                  <a:srgbClr val="2563A8"/>
                </a:solidFill>
                <a:prstDash val="solid"/>
                <a:round/>
              </a:ln>
              <a:effectLst/>
            </c:spPr>
          </c:marker>
          <c:cat>
            <c:strRef>
              <c:f>Sheet1!$A$2:$A$13</c:f>
              <c:strCache>
                <c:ptCount val="12"/>
                <c:pt idx="0">
                  <c:v>T1</c:v>
                </c:pt>
                <c:pt idx="1">
                  <c:v>T2</c:v>
                </c:pt>
                <c:pt idx="2">
                  <c:v>T3</c:v>
                </c:pt>
                <c:pt idx="3">
                  <c:v>T4</c:v>
                </c:pt>
                <c:pt idx="4">
                  <c:v>T5</c:v>
                </c:pt>
                <c:pt idx="5">
                  <c:v>T6</c:v>
                </c:pt>
                <c:pt idx="6">
                  <c:v>T7</c:v>
                </c:pt>
                <c:pt idx="7">
                  <c:v>T8</c:v>
                </c:pt>
                <c:pt idx="8">
                  <c:v>T9</c:v>
                </c:pt>
                <c:pt idx="9">
                  <c:v>T10</c:v>
                </c:pt>
                <c:pt idx="10">
                  <c:v>T11</c:v>
                </c:pt>
                <c:pt idx="11">
                  <c:v>T12</c:v>
                </c:pt>
              </c:strCache>
            </c:strRef>
          </c:cat>
          <c:val>
            <c:numRef>
              <c:f>Sheet1!$B$2:$B$13</c:f>
              <c:numCache>
                <c:formatCode>General</c:formatCode>
                <c:ptCount val="12"/>
                <c:pt idx="0">
                  <c:v>32000</c:v>
                </c:pt>
                <c:pt idx="1">
                  <c:v>28000</c:v>
                </c:pt>
                <c:pt idx="2">
                  <c:v>41000</c:v>
                </c:pt>
                <c:pt idx="3">
                  <c:v>52000</c:v>
                </c:pt>
                <c:pt idx="4">
                  <c:v>38000</c:v>
                </c:pt>
                <c:pt idx="5">
                  <c:v>47000</c:v>
                </c:pt>
                <c:pt idx="6">
                  <c:v>61000</c:v>
                </c:pt>
                <c:pt idx="7">
                  <c:v>44000</c:v>
                </c:pt>
                <c:pt idx="8">
                  <c:v>55000</c:v>
                </c:pt>
                <c:pt idx="9">
                  <c:v>40000</c:v>
                </c:pt>
                <c:pt idx="10">
                  <c:v>58000</c:v>
                </c:pt>
                <c:pt idx="11">
                  <c:v>67000</c:v>
                </c:pt>
              </c:numCache>
            </c:numRef>
          </c:val>
          <c:smooth val="1"/>
          <c:extLst>
            <c:ext xmlns:c16="http://schemas.microsoft.com/office/drawing/2014/chart" uri="{C3380CC4-5D6E-409C-BE32-E72D297353CC}">
              <c16:uniqueId val="{00000000-4DB0-4D5E-9E22-7C1252807C42}"/>
            </c:ext>
          </c:extLst>
        </c:ser>
        <c:ser>
          <c:idx val="1"/>
          <c:order val="1"/>
          <c:tx>
            <c:strRef>
              <c:f>Sheet1!$C$1</c:f>
              <c:strCache>
                <c:ptCount val="1"/>
                <c:pt idx="0">
                  <c:v>Tổn thất Gộp</c:v>
                </c:pt>
              </c:strCache>
            </c:strRef>
          </c:tx>
          <c:spPr>
            <a:ln w="25400" cap="flat">
              <a:solidFill>
                <a:srgbClr val="E07B2E"/>
              </a:solidFill>
              <a:prstDash val="solid"/>
              <a:round/>
            </a:ln>
            <a:effectLst/>
          </c:spPr>
          <c:marker>
            <c:symbol val="circle"/>
            <c:size val="6"/>
            <c:spPr>
              <a:solidFill>
                <a:srgbClr val="E07B2E"/>
              </a:solidFill>
              <a:ln w="9525" cap="flat">
                <a:solidFill>
                  <a:srgbClr val="E07B2E"/>
                </a:solidFill>
                <a:prstDash val="solid"/>
                <a:round/>
              </a:ln>
              <a:effectLst/>
            </c:spPr>
          </c:marker>
          <c:cat>
            <c:strRef>
              <c:f>Sheet1!$A$2:$A$13</c:f>
              <c:strCache>
                <c:ptCount val="12"/>
                <c:pt idx="0">
                  <c:v>T1</c:v>
                </c:pt>
                <c:pt idx="1">
                  <c:v>T2</c:v>
                </c:pt>
                <c:pt idx="2">
                  <c:v>T3</c:v>
                </c:pt>
                <c:pt idx="3">
                  <c:v>T4</c:v>
                </c:pt>
                <c:pt idx="4">
                  <c:v>T5</c:v>
                </c:pt>
                <c:pt idx="5">
                  <c:v>T6</c:v>
                </c:pt>
                <c:pt idx="6">
                  <c:v>T7</c:v>
                </c:pt>
                <c:pt idx="7">
                  <c:v>T8</c:v>
                </c:pt>
                <c:pt idx="8">
                  <c:v>T9</c:v>
                </c:pt>
                <c:pt idx="9">
                  <c:v>T10</c:v>
                </c:pt>
                <c:pt idx="10">
                  <c:v>T11</c:v>
                </c:pt>
                <c:pt idx="11">
                  <c:v>T12</c:v>
                </c:pt>
              </c:strCache>
            </c:strRef>
          </c:cat>
          <c:val>
            <c:numRef>
              <c:f>Sheet1!$C$2:$C$13</c:f>
              <c:numCache>
                <c:formatCode>General</c:formatCode>
                <c:ptCount val="12"/>
                <c:pt idx="0">
                  <c:v>45000</c:v>
                </c:pt>
                <c:pt idx="1">
                  <c:v>38000</c:v>
                </c:pt>
                <c:pt idx="2">
                  <c:v>52000</c:v>
                </c:pt>
                <c:pt idx="3">
                  <c:v>61000</c:v>
                </c:pt>
                <c:pt idx="4">
                  <c:v>47000</c:v>
                </c:pt>
                <c:pt idx="5">
                  <c:v>58000</c:v>
                </c:pt>
                <c:pt idx="6">
                  <c:v>72000</c:v>
                </c:pt>
                <c:pt idx="7">
                  <c:v>55000</c:v>
                </c:pt>
                <c:pt idx="8">
                  <c:v>63000</c:v>
                </c:pt>
                <c:pt idx="9">
                  <c:v>49000</c:v>
                </c:pt>
                <c:pt idx="10">
                  <c:v>68000</c:v>
                </c:pt>
                <c:pt idx="11">
                  <c:v>75000</c:v>
                </c:pt>
              </c:numCache>
            </c:numRef>
          </c:val>
          <c:smooth val="1"/>
          <c:extLst>
            <c:ext xmlns:c16="http://schemas.microsoft.com/office/drawing/2014/chart" uri="{C3380CC4-5D6E-409C-BE32-E72D297353CC}">
              <c16:uniqueId val="{00000001-4DB0-4D5E-9E22-7C1252807C4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A9BB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EDF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A9BB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latin typeface="Arial" panose="020B0604020202020204" pitchFamily="34" charset="0"/>
              <a:cs typeface="Arial" panose="020B0604020202020204" pitchFamily="34" charset="0"/>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F268A4DF-15DC-4528-8824-77594057DBBA}" type="datetimeFigureOut">
              <a:rPr lang="en-US" smtClean="0"/>
              <a:pPr/>
              <a:t>8/24/26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1DC2BFA4-BC98-498D-B621-723460117A7F}" type="slidenum">
              <a:rPr lang="en-US" smtClean="0"/>
              <a:pPr/>
              <a:t>‹#›</a:t>
            </a:fld>
            <a:endParaRPr lang="en-US" dirty="0"/>
          </a:p>
        </p:txBody>
      </p:sp>
    </p:spTree>
    <p:extLst>
      <p:ext uri="{BB962C8B-B14F-4D97-AF65-F5344CB8AC3E}">
        <p14:creationId xmlns:p14="http://schemas.microsoft.com/office/powerpoint/2010/main" val="14225875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Giới</a:t>
            </a:r>
            <a:r>
              <a:rPr lang="en-US" baseline="0" dirty="0"/>
              <a:t> </a:t>
            </a:r>
            <a:r>
              <a:rPr lang="en-US" baseline="0" dirty="0" err="1"/>
              <a:t>thiệu</a:t>
            </a:r>
            <a:r>
              <a:rPr lang="en-US" baseline="0" dirty="0"/>
              <a:t> </a:t>
            </a:r>
            <a:r>
              <a:rPr lang="en-US" baseline="0" dirty="0" err="1"/>
              <a:t>khung</a:t>
            </a:r>
            <a:r>
              <a:rPr lang="en-US" baseline="0" dirty="0"/>
              <a:t> COSO ERM: </a:t>
            </a:r>
            <a:r>
              <a:rPr lang="en-US" baseline="0" dirty="0" err="1"/>
              <a:t>Là</a:t>
            </a:r>
            <a:r>
              <a:rPr lang="en-US" baseline="0" dirty="0"/>
              <a:t> </a:t>
            </a:r>
            <a:r>
              <a:rPr lang="en-US" baseline="0" dirty="0" err="1"/>
              <a:t>thông</a:t>
            </a:r>
            <a:r>
              <a:rPr lang="en-US" baseline="0" dirty="0"/>
              <a:t> </a:t>
            </a:r>
            <a:r>
              <a:rPr lang="en-US" baseline="0" dirty="0" err="1"/>
              <a:t>lệ</a:t>
            </a:r>
            <a:r>
              <a:rPr lang="en-US" baseline="0" dirty="0"/>
              <a:t> </a:t>
            </a:r>
            <a:r>
              <a:rPr lang="en-US" baseline="0" dirty="0" err="1"/>
              <a:t>được</a:t>
            </a:r>
            <a:r>
              <a:rPr lang="en-US" baseline="0" dirty="0"/>
              <a:t> ban </a:t>
            </a:r>
            <a:r>
              <a:rPr lang="en-US" baseline="0" dirty="0" err="1"/>
              <a:t>hành</a:t>
            </a:r>
            <a:r>
              <a:rPr lang="en-US" baseline="0" dirty="0"/>
              <a:t> </a:t>
            </a:r>
            <a:r>
              <a:rPr lang="en-US" baseline="0" dirty="0" err="1"/>
              <a:t>bởi</a:t>
            </a:r>
            <a:r>
              <a:rPr lang="en-US" baseline="0" dirty="0"/>
              <a:t> COSO, </a:t>
            </a:r>
            <a:r>
              <a:rPr lang="en-US" baseline="0" dirty="0" err="1"/>
              <a:t>dựa</a:t>
            </a:r>
            <a:r>
              <a:rPr lang="en-US" baseline="0" dirty="0"/>
              <a:t> </a:t>
            </a:r>
            <a:r>
              <a:rPr lang="en-US" baseline="0" dirty="0" err="1"/>
              <a:t>trên</a:t>
            </a:r>
            <a:r>
              <a:rPr lang="en-US" baseline="0" dirty="0"/>
              <a:t> </a:t>
            </a:r>
            <a:r>
              <a:rPr lang="en-US" baseline="0" dirty="0" err="1"/>
              <a:t>sáng</a:t>
            </a:r>
            <a:r>
              <a:rPr lang="en-US" baseline="0" dirty="0"/>
              <a:t> </a:t>
            </a:r>
            <a:r>
              <a:rPr lang="en-US" baseline="0" dirty="0" err="1"/>
              <a:t>kiến</a:t>
            </a:r>
            <a:r>
              <a:rPr lang="en-US" baseline="0" dirty="0"/>
              <a:t> </a:t>
            </a:r>
            <a:r>
              <a:rPr lang="en-US" baseline="0" dirty="0" err="1"/>
              <a:t>của</a:t>
            </a:r>
            <a:r>
              <a:rPr lang="en-US" baseline="0" dirty="0"/>
              <a:t> </a:t>
            </a:r>
            <a:r>
              <a:rPr lang="en-US" baseline="0" dirty="0" err="1"/>
              <a:t>các</a:t>
            </a:r>
            <a:r>
              <a:rPr lang="en-US" baseline="0" dirty="0"/>
              <a:t> </a:t>
            </a:r>
            <a:r>
              <a:rPr lang="en-US" baseline="0" dirty="0" err="1"/>
              <a:t>thành</a:t>
            </a:r>
            <a:r>
              <a:rPr lang="en-US" baseline="0" dirty="0"/>
              <a:t> </a:t>
            </a:r>
            <a:r>
              <a:rPr lang="en-US" baseline="0" dirty="0" err="1"/>
              <a:t>viên</a:t>
            </a:r>
            <a:r>
              <a:rPr lang="en-US" baseline="0" dirty="0"/>
              <a:t> </a:t>
            </a:r>
            <a:r>
              <a:rPr lang="en-US" baseline="0" dirty="0" err="1"/>
              <a:t>là</a:t>
            </a:r>
            <a:r>
              <a:rPr lang="en-US" baseline="0" dirty="0"/>
              <a:t> </a:t>
            </a:r>
            <a:r>
              <a:rPr lang="en-US" baseline="0" dirty="0" err="1"/>
              <a:t>các</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hành</a:t>
            </a:r>
            <a:r>
              <a:rPr lang="en-US" baseline="0" dirty="0"/>
              <a:t> </a:t>
            </a:r>
            <a:r>
              <a:rPr lang="en-US" baseline="0" dirty="0" err="1"/>
              <a:t>nghề</a:t>
            </a:r>
            <a:r>
              <a:rPr lang="en-US" baseline="0" dirty="0"/>
              <a:t> </a:t>
            </a:r>
            <a:r>
              <a:rPr lang="en-US" baseline="0" dirty="0" err="1"/>
              <a:t>kế</a:t>
            </a:r>
            <a:r>
              <a:rPr lang="en-US" baseline="0" dirty="0"/>
              <a:t> </a:t>
            </a:r>
            <a:r>
              <a:rPr lang="en-US" baseline="0" dirty="0" err="1"/>
              <a:t>toán</a:t>
            </a:r>
            <a:r>
              <a:rPr lang="en-US" baseline="0" dirty="0"/>
              <a:t>, </a:t>
            </a:r>
            <a:r>
              <a:rPr lang="en-US" baseline="0" dirty="0" err="1"/>
              <a:t>kiểm</a:t>
            </a:r>
            <a:r>
              <a:rPr lang="en-US" baseline="0" dirty="0"/>
              <a:t> </a:t>
            </a:r>
            <a:r>
              <a:rPr lang="en-US" baseline="0" dirty="0" err="1"/>
              <a:t>toán</a:t>
            </a:r>
            <a:r>
              <a:rPr lang="en-US" baseline="0" dirty="0"/>
              <a:t> </a:t>
            </a:r>
            <a:r>
              <a:rPr lang="en-US" baseline="0" dirty="0" err="1"/>
              <a:t>hàng</a:t>
            </a:r>
            <a:r>
              <a:rPr lang="en-US" baseline="0" dirty="0"/>
              <a:t> </a:t>
            </a:r>
            <a:r>
              <a:rPr lang="en-US" baseline="0" dirty="0" err="1"/>
              <a:t>đầu</a:t>
            </a:r>
            <a:r>
              <a:rPr lang="en-US" baseline="0" dirty="0"/>
              <a:t> </a:t>
            </a:r>
            <a:r>
              <a:rPr lang="en-US" baseline="0" dirty="0" err="1"/>
              <a:t>tại</a:t>
            </a:r>
            <a:r>
              <a:rPr lang="en-US" baseline="0" dirty="0"/>
              <a:t> Hoa </a:t>
            </a:r>
            <a:r>
              <a:rPr lang="en-US" baseline="0" dirty="0" err="1"/>
              <a:t>Kỳ</a:t>
            </a:r>
            <a:r>
              <a:rPr lang="en-US" baseline="0" dirty="0"/>
              <a:t>, </a:t>
            </a:r>
            <a:r>
              <a:rPr lang="en-US" baseline="0" dirty="0" err="1"/>
              <a:t>được</a:t>
            </a:r>
            <a:r>
              <a:rPr lang="en-US" baseline="0" dirty="0"/>
              <a:t> </a:t>
            </a:r>
            <a:r>
              <a:rPr lang="en-US" baseline="0" dirty="0" err="1"/>
              <a:t>công</a:t>
            </a:r>
            <a:r>
              <a:rPr lang="en-US" baseline="0" dirty="0"/>
              <a:t> </a:t>
            </a:r>
            <a:r>
              <a:rPr lang="en-US" baseline="0" dirty="0" err="1"/>
              <a:t>nhận</a:t>
            </a:r>
            <a:r>
              <a:rPr lang="en-US" baseline="0" dirty="0"/>
              <a:t> </a:t>
            </a:r>
            <a:r>
              <a:rPr lang="en-US" baseline="0" dirty="0" err="1"/>
              <a:t>rộng</a:t>
            </a:r>
            <a:r>
              <a:rPr lang="en-US" baseline="0" dirty="0"/>
              <a:t> </a:t>
            </a:r>
            <a:r>
              <a:rPr lang="en-US" baseline="0" dirty="0" err="1"/>
              <a:t>rãi</a:t>
            </a:r>
            <a:r>
              <a:rPr lang="en-US" baseline="0" dirty="0"/>
              <a:t> </a:t>
            </a:r>
            <a:r>
              <a:rPr lang="en-US" baseline="0" dirty="0" err="1"/>
              <a:t>là</a:t>
            </a:r>
            <a:r>
              <a:rPr lang="en-US" baseline="0" dirty="0"/>
              <a:t> </a:t>
            </a:r>
            <a:r>
              <a:rPr lang="en-US" baseline="0" dirty="0" err="1"/>
              <a:t>đơn</a:t>
            </a:r>
            <a:r>
              <a:rPr lang="en-US" baseline="0" dirty="0"/>
              <a:t> </a:t>
            </a:r>
            <a:r>
              <a:rPr lang="en-US" baseline="0" dirty="0" err="1"/>
              <a:t>vị</a:t>
            </a:r>
            <a:r>
              <a:rPr lang="en-US" baseline="0" dirty="0"/>
              <a:t> </a:t>
            </a:r>
            <a:r>
              <a:rPr lang="en-US" baseline="0" dirty="0" err="1"/>
              <a:t>uy</a:t>
            </a:r>
            <a:r>
              <a:rPr lang="en-US" baseline="0" dirty="0"/>
              <a:t> </a:t>
            </a:r>
            <a:r>
              <a:rPr lang="en-US" baseline="0" dirty="0" err="1"/>
              <a:t>tín</a:t>
            </a:r>
            <a:r>
              <a:rPr lang="en-US" baseline="0" dirty="0"/>
              <a:t> </a:t>
            </a:r>
            <a:r>
              <a:rPr lang="en-US" baseline="0" dirty="0" err="1"/>
              <a:t>toàn</a:t>
            </a:r>
            <a:r>
              <a:rPr lang="en-US" baseline="0" dirty="0"/>
              <a:t> </a:t>
            </a:r>
            <a:r>
              <a:rPr lang="en-US" baseline="0" dirty="0" err="1"/>
              <a:t>cầu</a:t>
            </a:r>
            <a:r>
              <a:rPr lang="en-US" baseline="0" dirty="0"/>
              <a:t> </a:t>
            </a:r>
            <a:r>
              <a:rPr lang="en-US" baseline="0" dirty="0" err="1"/>
              <a:t>trong</a:t>
            </a:r>
            <a:r>
              <a:rPr lang="en-US" baseline="0" dirty="0"/>
              <a:t> </a:t>
            </a:r>
            <a:r>
              <a:rPr lang="en-US" baseline="0" dirty="0" err="1"/>
              <a:t>các</a:t>
            </a:r>
            <a:r>
              <a:rPr lang="en-US" baseline="0" dirty="0"/>
              <a:t> </a:t>
            </a:r>
            <a:r>
              <a:rPr lang="en-US" baseline="0" dirty="0" err="1"/>
              <a:t>tiêu</a:t>
            </a:r>
            <a:r>
              <a:rPr lang="en-US" baseline="0" dirty="0"/>
              <a:t> </a:t>
            </a:r>
            <a:r>
              <a:rPr lang="en-US" baseline="0" dirty="0" err="1"/>
              <a:t>chuẩn</a:t>
            </a:r>
            <a:r>
              <a:rPr lang="en-US" baseline="0" dirty="0"/>
              <a:t> </a:t>
            </a:r>
            <a:r>
              <a:rPr lang="en-US" baseline="0" dirty="0" err="1"/>
              <a:t>về</a:t>
            </a:r>
            <a:r>
              <a:rPr lang="en-US" baseline="0" dirty="0"/>
              <a:t> QTRR </a:t>
            </a:r>
            <a:r>
              <a:rPr lang="en-US" baseline="0" dirty="0" err="1"/>
              <a:t>và</a:t>
            </a:r>
            <a:r>
              <a:rPr lang="en-US" baseline="0" dirty="0"/>
              <a:t> KSNB </a:t>
            </a:r>
          </a:p>
          <a:p>
            <a:r>
              <a:rPr lang="en-US" baseline="0" dirty="0" err="1"/>
              <a:t>Về</a:t>
            </a:r>
            <a:r>
              <a:rPr lang="en-US" baseline="0" dirty="0"/>
              <a:t> </a:t>
            </a:r>
            <a:r>
              <a:rPr lang="en-US" baseline="0" dirty="0" err="1"/>
              <a:t>khung</a:t>
            </a:r>
            <a:r>
              <a:rPr lang="en-US" baseline="0" dirty="0"/>
              <a:t> COSO ERM 2017: </a:t>
            </a:r>
            <a:r>
              <a:rPr lang="en-US" baseline="0" dirty="0" err="1"/>
              <a:t>Khác</a:t>
            </a:r>
            <a:r>
              <a:rPr lang="en-US" baseline="0" dirty="0"/>
              <a:t> </a:t>
            </a:r>
            <a:r>
              <a:rPr lang="en-US" baseline="0" dirty="0" err="1"/>
              <a:t>với</a:t>
            </a:r>
            <a:r>
              <a:rPr lang="en-US" baseline="0" dirty="0"/>
              <a:t> </a:t>
            </a:r>
            <a:r>
              <a:rPr lang="en-US" baseline="0" dirty="0" err="1"/>
              <a:t>các</a:t>
            </a:r>
            <a:r>
              <a:rPr lang="en-US" baseline="0" dirty="0"/>
              <a:t> </a:t>
            </a:r>
            <a:r>
              <a:rPr lang="en-US" baseline="0" dirty="0" err="1"/>
              <a:t>phiên</a:t>
            </a:r>
            <a:r>
              <a:rPr lang="en-US" baseline="0" dirty="0"/>
              <a:t> </a:t>
            </a:r>
            <a:r>
              <a:rPr lang="en-US" baseline="0" dirty="0" err="1"/>
              <a:t>bản</a:t>
            </a:r>
            <a:r>
              <a:rPr lang="en-US" baseline="0" dirty="0"/>
              <a:t> </a:t>
            </a:r>
            <a:r>
              <a:rPr lang="en-US" baseline="0" dirty="0" err="1"/>
              <a:t>trước</a:t>
            </a:r>
            <a:r>
              <a:rPr lang="en-US" baseline="0" dirty="0"/>
              <a:t>, Khung COSO ERM 2017 </a:t>
            </a:r>
            <a:r>
              <a:rPr lang="en-US" baseline="0" dirty="0" err="1"/>
              <a:t>thể</a:t>
            </a:r>
            <a:r>
              <a:rPr lang="en-US" baseline="0" dirty="0"/>
              <a:t> </a:t>
            </a:r>
            <a:r>
              <a:rPr lang="en-US" baseline="0" dirty="0" err="1"/>
              <a:t>hiện</a:t>
            </a:r>
            <a:r>
              <a:rPr lang="en-US" baseline="0" dirty="0"/>
              <a:t>: Các </a:t>
            </a:r>
            <a:r>
              <a:rPr lang="en-US" baseline="0" dirty="0" err="1"/>
              <a:t>trụ</a:t>
            </a:r>
            <a:r>
              <a:rPr lang="en-US" baseline="0" dirty="0"/>
              <a:t> </a:t>
            </a:r>
            <a:r>
              <a:rPr lang="en-US" baseline="0" dirty="0" err="1"/>
              <a:t>cột</a:t>
            </a:r>
            <a:r>
              <a:rPr lang="en-US" baseline="0" dirty="0"/>
              <a:t> </a:t>
            </a:r>
            <a:r>
              <a:rPr lang="en-US" baseline="0" dirty="0" err="1"/>
              <a:t>của</a:t>
            </a:r>
            <a:r>
              <a:rPr lang="en-US" baseline="0" dirty="0"/>
              <a:t> </a:t>
            </a:r>
            <a:r>
              <a:rPr lang="en-US" baseline="0" dirty="0" err="1"/>
              <a:t>khung</a:t>
            </a:r>
            <a:r>
              <a:rPr lang="en-US" baseline="0" dirty="0"/>
              <a:t> COSO </a:t>
            </a:r>
            <a:r>
              <a:rPr lang="en-US" baseline="0" dirty="0" err="1"/>
              <a:t>đan</a:t>
            </a:r>
            <a:r>
              <a:rPr lang="en-US" baseline="0" dirty="0"/>
              <a:t> xen </a:t>
            </a:r>
            <a:r>
              <a:rPr lang="en-US" baseline="0" dirty="0" err="1"/>
              <a:t>với</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doanh</a:t>
            </a:r>
            <a:r>
              <a:rPr lang="en-US" baseline="0" dirty="0"/>
              <a:t> </a:t>
            </a:r>
            <a:r>
              <a:rPr lang="en-US" baseline="0" dirty="0" err="1"/>
              <a:t>nghiệp</a:t>
            </a:r>
            <a:r>
              <a:rPr lang="en-US" baseline="0" dirty="0"/>
              <a:t>, </a:t>
            </a:r>
            <a:r>
              <a:rPr lang="en-US" baseline="0" dirty="0" err="1"/>
              <a:t>thể</a:t>
            </a:r>
            <a:r>
              <a:rPr lang="en-US" baseline="0" dirty="0"/>
              <a:t> </a:t>
            </a:r>
            <a:r>
              <a:rPr lang="en-US" baseline="0" dirty="0" err="1"/>
              <a:t>hiện</a:t>
            </a:r>
            <a:r>
              <a:rPr lang="en-US" baseline="0" dirty="0"/>
              <a:t> QTRR </a:t>
            </a:r>
            <a:r>
              <a:rPr lang="en-US" baseline="0" dirty="0" err="1"/>
              <a:t>như</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cốt</a:t>
            </a:r>
            <a:r>
              <a:rPr lang="en-US" baseline="0" dirty="0"/>
              <a:t> </a:t>
            </a:r>
            <a:r>
              <a:rPr lang="en-US" baseline="0" dirty="0" err="1"/>
              <a:t>lõi</a:t>
            </a:r>
            <a:r>
              <a:rPr lang="en-US" baseline="0" dirty="0"/>
              <a:t>, DNA </a:t>
            </a:r>
            <a:r>
              <a:rPr lang="en-US" baseline="0" dirty="0" err="1"/>
              <a:t>của</a:t>
            </a:r>
            <a:r>
              <a:rPr lang="en-US" baseline="0" dirty="0"/>
              <a:t> </a:t>
            </a:r>
            <a:r>
              <a:rPr lang="en-US" baseline="0" dirty="0" err="1"/>
              <a:t>doanh</a:t>
            </a:r>
            <a:r>
              <a:rPr lang="en-US" baseline="0" dirty="0"/>
              <a:t> </a:t>
            </a:r>
            <a:r>
              <a:rPr lang="en-US" baseline="0" dirty="0" err="1"/>
              <a:t>nghiệp</a:t>
            </a:r>
            <a:r>
              <a:rPr lang="en-US" baseline="0" dirty="0"/>
              <a:t>. Khung bao </a:t>
            </a:r>
            <a:r>
              <a:rPr lang="en-US" baseline="0" dirty="0" err="1"/>
              <a:t>gồm</a:t>
            </a:r>
            <a:r>
              <a:rPr lang="en-US" baseline="0" dirty="0"/>
              <a:t> 20 </a:t>
            </a:r>
            <a:r>
              <a:rPr lang="en-US" baseline="0" dirty="0" err="1"/>
              <a:t>nguyên</a:t>
            </a:r>
            <a:r>
              <a:rPr lang="en-US" baseline="0" dirty="0"/>
              <a:t> </a:t>
            </a:r>
            <a:r>
              <a:rPr lang="en-US" baseline="0" dirty="0" err="1"/>
              <a:t>tắc</a:t>
            </a:r>
            <a:r>
              <a:rPr lang="en-US" baseline="0" dirty="0"/>
              <a:t> </a:t>
            </a:r>
            <a:r>
              <a:rPr lang="en-US" baseline="0" dirty="0" err="1"/>
              <a:t>về</a:t>
            </a:r>
            <a:r>
              <a:rPr lang="en-US" baseline="0" dirty="0"/>
              <a:t> QTRR </a:t>
            </a:r>
            <a:r>
              <a:rPr lang="en-US" baseline="0" dirty="0" err="1"/>
              <a:t>doanh</a:t>
            </a:r>
            <a:r>
              <a:rPr lang="en-US" baseline="0" dirty="0"/>
              <a:t> </a:t>
            </a:r>
            <a:r>
              <a:rPr lang="en-US" baseline="0" dirty="0" err="1"/>
              <a:t>nghiệp</a:t>
            </a:r>
            <a:r>
              <a:rPr lang="en-US" baseline="0" dirty="0"/>
              <a:t> </a:t>
            </a:r>
            <a:r>
              <a:rPr lang="en-US" baseline="0" dirty="0" err="1"/>
              <a:t>theo</a:t>
            </a:r>
            <a:r>
              <a:rPr lang="en-US" baseline="0" dirty="0"/>
              <a:t> </a:t>
            </a:r>
            <a:r>
              <a:rPr lang="en-US" baseline="0" dirty="0" err="1"/>
              <a:t>các</a:t>
            </a:r>
            <a:r>
              <a:rPr lang="en-US" baseline="0" dirty="0"/>
              <a:t> </a:t>
            </a:r>
            <a:r>
              <a:rPr lang="en-US" baseline="0" dirty="0" err="1"/>
              <a:t>trụ</a:t>
            </a:r>
            <a:r>
              <a:rPr lang="en-US" baseline="0" dirty="0"/>
              <a:t> </a:t>
            </a:r>
            <a:r>
              <a:rPr lang="en-US" baseline="0" dirty="0" err="1"/>
              <a:t>cột</a:t>
            </a:r>
            <a:r>
              <a:rPr lang="en-US" baseline="0" dirty="0"/>
              <a:t>: Quản </a:t>
            </a:r>
            <a:r>
              <a:rPr lang="en-US" baseline="0" dirty="0" err="1"/>
              <a:t>trị</a:t>
            </a:r>
            <a:r>
              <a:rPr lang="en-US" baseline="0" dirty="0"/>
              <a:t> </a:t>
            </a:r>
            <a:r>
              <a:rPr lang="en-US" baseline="0" dirty="0" err="1"/>
              <a:t>và</a:t>
            </a:r>
            <a:r>
              <a:rPr lang="en-US" baseline="0" dirty="0"/>
              <a:t> </a:t>
            </a:r>
            <a:r>
              <a:rPr lang="en-US" baseline="0" dirty="0" err="1"/>
              <a:t>văn</a:t>
            </a:r>
            <a:r>
              <a:rPr lang="en-US" baseline="0" dirty="0"/>
              <a:t> </a:t>
            </a:r>
            <a:r>
              <a:rPr lang="en-US" baseline="0" dirty="0" err="1"/>
              <a:t>hóa</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và</a:t>
            </a:r>
            <a:r>
              <a:rPr lang="en-US" baseline="0" dirty="0"/>
              <a:t> </a:t>
            </a:r>
            <a:r>
              <a:rPr lang="en-US" baseline="0" dirty="0" err="1"/>
              <a:t>thiết</a:t>
            </a:r>
            <a:r>
              <a:rPr lang="en-US" baseline="0" dirty="0"/>
              <a:t> </a:t>
            </a:r>
            <a:r>
              <a:rPr lang="en-US" baseline="0" dirty="0" err="1"/>
              <a:t>lập</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Thực</a:t>
            </a:r>
            <a:r>
              <a:rPr lang="en-US" baseline="0" dirty="0"/>
              <a:t> </a:t>
            </a:r>
            <a:r>
              <a:rPr lang="en-US" baseline="0" dirty="0" err="1"/>
              <a:t>thi</a:t>
            </a:r>
            <a:r>
              <a:rPr lang="en-US" baseline="0" dirty="0"/>
              <a:t>, </a:t>
            </a:r>
            <a:r>
              <a:rPr lang="en-US" baseline="0" dirty="0" err="1"/>
              <a:t>Rà</a:t>
            </a:r>
            <a:r>
              <a:rPr lang="en-US" baseline="0" dirty="0"/>
              <a:t> </a:t>
            </a:r>
            <a:r>
              <a:rPr lang="en-US" baseline="0" dirty="0" err="1"/>
              <a:t>soát</a:t>
            </a:r>
            <a:r>
              <a:rPr lang="en-US" baseline="0" dirty="0"/>
              <a:t> </a:t>
            </a:r>
            <a:r>
              <a:rPr lang="en-US" baseline="0" dirty="0" err="1"/>
              <a:t>và</a:t>
            </a:r>
            <a:r>
              <a:rPr lang="en-US" baseline="0" dirty="0"/>
              <a:t> </a:t>
            </a:r>
            <a:r>
              <a:rPr lang="en-US" baseline="0" dirty="0" err="1"/>
              <a:t>điều</a:t>
            </a:r>
            <a:r>
              <a:rPr lang="en-US" baseline="0" dirty="0"/>
              <a:t> </a:t>
            </a:r>
            <a:r>
              <a:rPr lang="en-US" baseline="0" dirty="0" err="1"/>
              <a:t>chỉnh</a:t>
            </a:r>
            <a:r>
              <a:rPr lang="en-US" baseline="0" dirty="0"/>
              <a:t>, Thông tin, </a:t>
            </a:r>
            <a:r>
              <a:rPr lang="en-US" baseline="0" dirty="0" err="1"/>
              <a:t>truyền</a:t>
            </a:r>
            <a:r>
              <a:rPr lang="en-US" baseline="0" dirty="0"/>
              <a:t> </a:t>
            </a:r>
            <a:r>
              <a:rPr lang="en-US" baseline="0" dirty="0" err="1"/>
              <a:t>thông</a:t>
            </a:r>
            <a:r>
              <a:rPr lang="en-US" baseline="0" dirty="0"/>
              <a:t> </a:t>
            </a:r>
            <a:r>
              <a:rPr lang="en-US" baseline="0" dirty="0" err="1"/>
              <a:t>và</a:t>
            </a:r>
            <a:r>
              <a:rPr lang="en-US" baseline="0" dirty="0"/>
              <a:t> </a:t>
            </a:r>
            <a:r>
              <a:rPr lang="en-US" baseline="0" dirty="0" err="1"/>
              <a:t>báo</a:t>
            </a:r>
            <a:r>
              <a:rPr lang="en-US" baseline="0" dirty="0"/>
              <a:t> </a:t>
            </a:r>
            <a:r>
              <a:rPr lang="en-US" baseline="0" dirty="0" err="1"/>
              <a:t>cáo</a:t>
            </a:r>
            <a:r>
              <a:rPr lang="en-US" baseline="0" dirty="0"/>
              <a:t>. </a:t>
            </a:r>
            <a:r>
              <a:rPr lang="en-US" baseline="0" dirty="0" err="1"/>
              <a:t>Một</a:t>
            </a:r>
            <a:r>
              <a:rPr lang="en-US" baseline="0" dirty="0"/>
              <a:t> </a:t>
            </a:r>
            <a:r>
              <a:rPr lang="en-US" baseline="0" dirty="0" err="1"/>
              <a:t>mô</a:t>
            </a:r>
            <a:r>
              <a:rPr lang="en-US" baseline="0" dirty="0"/>
              <a:t> </a:t>
            </a:r>
            <a:r>
              <a:rPr lang="en-US" baseline="0" dirty="0" err="1"/>
              <a:t>hình</a:t>
            </a:r>
            <a:r>
              <a:rPr lang="en-US" baseline="0" dirty="0"/>
              <a:t> QTRR </a:t>
            </a:r>
            <a:r>
              <a:rPr lang="en-US" baseline="0" dirty="0" err="1"/>
              <a:t>tiên</a:t>
            </a:r>
            <a:r>
              <a:rPr lang="en-US" baseline="0" dirty="0"/>
              <a:t> </a:t>
            </a:r>
            <a:r>
              <a:rPr lang="en-US" baseline="0" dirty="0" err="1"/>
              <a:t>tiến</a:t>
            </a:r>
            <a:r>
              <a:rPr lang="en-US" baseline="0" dirty="0"/>
              <a:t> </a:t>
            </a:r>
            <a:r>
              <a:rPr lang="en-US" baseline="0" dirty="0" err="1"/>
              <a:t>sẽ</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được</a:t>
            </a:r>
            <a:r>
              <a:rPr lang="en-US" baseline="0" dirty="0"/>
              <a:t> </a:t>
            </a:r>
            <a:r>
              <a:rPr lang="en-US" baseline="0" dirty="0" err="1"/>
              <a:t>đầy</a:t>
            </a:r>
            <a:r>
              <a:rPr lang="en-US" baseline="0" dirty="0"/>
              <a:t> </a:t>
            </a:r>
            <a:r>
              <a:rPr lang="en-US" baseline="0" dirty="0" err="1"/>
              <a:t>đủ</a:t>
            </a:r>
            <a:r>
              <a:rPr lang="en-US" baseline="0" dirty="0"/>
              <a:t> 20 </a:t>
            </a:r>
            <a:r>
              <a:rPr lang="en-US" baseline="0" dirty="0" err="1"/>
              <a:t>nguyên</a:t>
            </a:r>
            <a:r>
              <a:rPr lang="en-US" baseline="0" dirty="0"/>
              <a:t> </a:t>
            </a:r>
            <a:r>
              <a:rPr lang="en-US" baseline="0" dirty="0" err="1"/>
              <a:t>tắc</a:t>
            </a:r>
            <a:r>
              <a:rPr lang="en-US" baseline="0" dirty="0"/>
              <a:t> </a:t>
            </a:r>
            <a:r>
              <a:rPr lang="en-US" baseline="0" dirty="0" err="1"/>
              <a:t>này</a:t>
            </a:r>
            <a:r>
              <a:rPr lang="en-US" baseline="0" dirty="0"/>
              <a:t>.</a:t>
            </a:r>
            <a:endParaRPr lang="en-US" dirty="0"/>
          </a:p>
          <a:p>
            <a:r>
              <a:rPr lang="en-US" baseline="0" dirty="0" err="1"/>
              <a:t>Về</a:t>
            </a:r>
            <a:r>
              <a:rPr lang="en-US" baseline="0" dirty="0"/>
              <a:t> </a:t>
            </a:r>
            <a:r>
              <a:rPr lang="en-US" baseline="0" dirty="0" err="1"/>
              <a:t>tổng</a:t>
            </a:r>
            <a:r>
              <a:rPr lang="en-US" baseline="0" dirty="0"/>
              <a:t> </a:t>
            </a:r>
            <a:r>
              <a:rPr lang="en-US" baseline="0" dirty="0" err="1"/>
              <a:t>quan</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tại</a:t>
            </a:r>
            <a:r>
              <a:rPr lang="en-US" baseline="0" dirty="0"/>
              <a:t> VDS </a:t>
            </a:r>
            <a:r>
              <a:rPr lang="en-US" baseline="0" dirty="0" err="1"/>
              <a:t>mới</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các</a:t>
            </a:r>
            <a:r>
              <a:rPr lang="en-US" baseline="0" dirty="0"/>
              <a:t> </a:t>
            </a:r>
            <a:r>
              <a:rPr lang="en-US" baseline="0" dirty="0" err="1"/>
              <a:t>thông</a:t>
            </a:r>
            <a:r>
              <a:rPr lang="en-US" baseline="0" dirty="0"/>
              <a:t> </a:t>
            </a:r>
            <a:r>
              <a:rPr lang="en-US" baseline="0" dirty="0" err="1"/>
              <a:t>lệ</a:t>
            </a:r>
            <a:r>
              <a:rPr lang="en-US" baseline="0" dirty="0"/>
              <a:t>, </a:t>
            </a:r>
            <a:r>
              <a:rPr lang="en-US" baseline="0" dirty="0" err="1"/>
              <a:t>với</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về</a:t>
            </a:r>
            <a:r>
              <a:rPr lang="en-US" baseline="0" dirty="0"/>
              <a:t> Quản </a:t>
            </a:r>
            <a:r>
              <a:rPr lang="en-US" baseline="0" dirty="0" err="1"/>
              <a:t>trị</a:t>
            </a:r>
            <a:r>
              <a:rPr lang="en-US" baseline="0" dirty="0"/>
              <a:t>, </a:t>
            </a:r>
            <a:r>
              <a:rPr lang="en-US" baseline="0" dirty="0" err="1"/>
              <a:t>văn</a:t>
            </a:r>
            <a:r>
              <a:rPr lang="en-US" baseline="0" dirty="0"/>
              <a:t> </a:t>
            </a:r>
            <a:r>
              <a:rPr lang="en-US" baseline="0" dirty="0" err="1"/>
              <a:t>hóa</a:t>
            </a:r>
            <a:r>
              <a:rPr lang="en-US" baseline="0" dirty="0"/>
              <a:t> ở </a:t>
            </a:r>
            <a:r>
              <a:rPr lang="en-US" baseline="0" dirty="0" err="1"/>
              <a:t>mức</a:t>
            </a:r>
            <a:r>
              <a:rPr lang="en-US" baseline="0" dirty="0"/>
              <a:t> </a:t>
            </a:r>
            <a:r>
              <a:rPr lang="en-US" baseline="0" dirty="0" err="1"/>
              <a:t>tương</a:t>
            </a:r>
            <a:r>
              <a:rPr lang="en-US" baseline="0" dirty="0"/>
              <a:t> </a:t>
            </a:r>
            <a:r>
              <a:rPr lang="en-US" baseline="0" dirty="0" err="1"/>
              <a:t>đối</a:t>
            </a:r>
            <a:r>
              <a:rPr lang="en-US" baseline="0" dirty="0"/>
              <a:t> </a:t>
            </a:r>
            <a:r>
              <a:rPr lang="en-US" baseline="0" dirty="0" err="1"/>
              <a:t>cao</a:t>
            </a:r>
            <a:r>
              <a:rPr lang="en-US" baseline="0" dirty="0"/>
              <a:t>. Tuy </a:t>
            </a:r>
            <a:r>
              <a:rPr lang="en-US" baseline="0" dirty="0" err="1"/>
              <a:t>nhiên</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thực</a:t>
            </a:r>
            <a:r>
              <a:rPr lang="en-US" baseline="0" dirty="0"/>
              <a:t> </a:t>
            </a:r>
            <a:r>
              <a:rPr lang="en-US" baseline="0" dirty="0" err="1"/>
              <a:t>thi</a:t>
            </a:r>
            <a:r>
              <a:rPr lang="en-US" baseline="0" dirty="0"/>
              <a:t>, </a:t>
            </a:r>
            <a:r>
              <a:rPr lang="en-US" baseline="0" dirty="0" err="1"/>
              <a:t>triển</a:t>
            </a:r>
            <a:r>
              <a:rPr lang="en-US" baseline="0" dirty="0"/>
              <a:t> </a:t>
            </a:r>
            <a:r>
              <a:rPr lang="en-US" baseline="0" dirty="0" err="1"/>
              <a:t>khai</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chưa</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hoàn</a:t>
            </a:r>
            <a:r>
              <a:rPr lang="en-US" baseline="0" dirty="0"/>
              <a:t> </a:t>
            </a:r>
            <a:r>
              <a:rPr lang="en-US" baseline="0" dirty="0" err="1"/>
              <a:t>toàn</a:t>
            </a:r>
            <a:r>
              <a:rPr lang="en-US" baseline="0" dirty="0"/>
              <a:t> </a:t>
            </a:r>
            <a:r>
              <a:rPr lang="en-US" baseline="0" dirty="0" err="1"/>
              <a:t>được</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của</a:t>
            </a:r>
            <a:r>
              <a:rPr lang="en-US" baseline="0" dirty="0"/>
              <a:t> </a:t>
            </a:r>
            <a:r>
              <a:rPr lang="en-US" baseline="0" dirty="0" err="1"/>
              <a:t>khung</a:t>
            </a:r>
            <a:r>
              <a:rPr lang="en-US" baseline="0" dirty="0"/>
              <a:t> </a:t>
            </a:r>
            <a:r>
              <a:rPr lang="en-US" baseline="0" dirty="0" err="1"/>
              <a:t>đưa</a:t>
            </a:r>
            <a:r>
              <a:rPr lang="en-US" baseline="0" dirty="0"/>
              <a:t> </a:t>
            </a:r>
            <a:r>
              <a:rPr lang="en-US" baseline="0" dirty="0" err="1"/>
              <a:t>ra.</a:t>
            </a:r>
            <a:endParaRPr lang="en-US" baseline="0"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4</a:t>
            </a:fld>
            <a:endParaRPr lang="en-US" dirty="0"/>
          </a:p>
        </p:txBody>
      </p:sp>
    </p:spTree>
    <p:extLst>
      <p:ext uri="{BB962C8B-B14F-4D97-AF65-F5344CB8AC3E}">
        <p14:creationId xmlns:p14="http://schemas.microsoft.com/office/powerpoint/2010/main" val="3697090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aseline="0" dirty="0" err="1"/>
              <a:t>Có</a:t>
            </a:r>
            <a:r>
              <a:rPr lang="en-US" baseline="0" dirty="0"/>
              <a:t> </a:t>
            </a:r>
            <a:r>
              <a:rPr lang="en-US" baseline="0" dirty="0" err="1"/>
              <a:t>hai</a:t>
            </a:r>
            <a:r>
              <a:rPr lang="en-US" baseline="0" dirty="0"/>
              <a:t> </a:t>
            </a:r>
            <a:r>
              <a:rPr lang="en-US" baseline="0" dirty="0" err="1"/>
              <a:t>lí</a:t>
            </a:r>
            <a:r>
              <a:rPr lang="en-US" baseline="0" dirty="0"/>
              <a:t> do </a:t>
            </a:r>
            <a:r>
              <a:rPr lang="en-US" baseline="0" dirty="0" err="1"/>
              <a:t>cốt</a:t>
            </a:r>
            <a:r>
              <a:rPr lang="en-US" baseline="0" dirty="0"/>
              <a:t> </a:t>
            </a:r>
            <a:r>
              <a:rPr lang="en-US" baseline="0" dirty="0" err="1"/>
              <a:t>lõi</a:t>
            </a:r>
            <a:r>
              <a:rPr lang="en-US" baseline="0" dirty="0"/>
              <a:t> </a:t>
            </a:r>
            <a:r>
              <a:rPr lang="en-US" baseline="0" dirty="0" err="1"/>
              <a:t>cần</a:t>
            </a:r>
            <a:r>
              <a:rPr lang="en-US" baseline="0" dirty="0"/>
              <a:t> </a:t>
            </a:r>
            <a:r>
              <a:rPr lang="en-US" baseline="0" dirty="0" err="1"/>
              <a:t>triển</a:t>
            </a:r>
            <a:r>
              <a:rPr lang="en-US" baseline="0" dirty="0"/>
              <a:t> </a:t>
            </a:r>
            <a:r>
              <a:rPr lang="en-US" baseline="0" dirty="0" err="1"/>
              <a:t>khai</a:t>
            </a:r>
            <a:r>
              <a:rPr lang="en-US" baseline="0" dirty="0"/>
              <a:t> ERM </a:t>
            </a:r>
            <a:r>
              <a:rPr lang="en-US" baseline="0" dirty="0" err="1"/>
              <a:t>tại</a:t>
            </a:r>
            <a:r>
              <a:rPr lang="en-US" baseline="0" dirty="0"/>
              <a:t> VDS </a:t>
            </a:r>
            <a:r>
              <a:rPr lang="en-US" baseline="0" dirty="0" err="1"/>
              <a:t>tại</a:t>
            </a:r>
            <a:r>
              <a:rPr lang="en-US" baseline="0" dirty="0"/>
              <a:t> </a:t>
            </a:r>
            <a:r>
              <a:rPr lang="en-US" baseline="0" dirty="0" err="1"/>
              <a:t>thời</a:t>
            </a:r>
            <a:r>
              <a:rPr lang="en-US" baseline="0" dirty="0"/>
              <a:t> </a:t>
            </a:r>
            <a:r>
              <a:rPr lang="en-US" baseline="0" dirty="0" err="1"/>
              <a:t>điểm</a:t>
            </a:r>
            <a:r>
              <a:rPr lang="en-US" baseline="0" dirty="0"/>
              <a:t> </a:t>
            </a:r>
            <a:r>
              <a:rPr lang="en-US" baseline="0" dirty="0" err="1"/>
              <a:t>này</a:t>
            </a:r>
            <a:r>
              <a:rPr lang="en-US" baseline="0" dirty="0"/>
              <a:t>:</a:t>
            </a:r>
          </a:p>
          <a:p>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nhất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cảnh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chuyển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dịch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mô</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hình</a:t>
            </a:r>
            <a:r>
              <a:rPr lang="en-US" sz="1200" kern="1200" dirty="0">
                <a:solidFill>
                  <a:schemeClr val="tx1"/>
                </a:solidFill>
                <a:effectLst/>
                <a:latin typeface="Arial" panose="020B0604020202020204" pitchFamily="34" charset="0"/>
                <a:ea typeface="+mn-ea"/>
                <a:cs typeface="+mn-cs"/>
              </a:rPr>
              <a:t>: VDS </a:t>
            </a:r>
            <a:r>
              <a:rPr lang="en-US" sz="1200" kern="1200" dirty="0" err="1">
                <a:solidFill>
                  <a:schemeClr val="tx1"/>
                </a:solidFill>
                <a:effectLst/>
                <a:latin typeface="Arial" panose="020B0604020202020204" pitchFamily="34" charset="0"/>
                <a:ea typeface="+mn-ea"/>
                <a:cs typeface="+mn-cs"/>
              </a:rPr>
              <a:t>đang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dịch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chuyển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theo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hướng</a:t>
            </a:r>
            <a:r>
              <a:rPr lang="en-US" sz="1200" kern="1200" dirty="0">
                <a:solidFill>
                  <a:schemeClr val="tx1"/>
                </a:solidFill>
                <a:effectLst/>
                <a:latin typeface="Arial" panose="020B0604020202020204" pitchFamily="34" charset="0"/>
                <a:ea typeface="+mn-ea"/>
                <a:cs typeface="+mn-cs"/>
              </a:rPr>
              <a:t> holdin</a:t>
            </a:r>
            <a:r>
              <a:rPr lang="en-US" sz="1200" kern="1200" baseline="0" dirty="0">
                <a:solidFill>
                  <a:schemeClr val="tx1"/>
                </a:solidFill>
                <a:effectLst/>
                <a:latin typeface="Arial" panose="020B0604020202020204" pitchFamily="34" charset="0"/>
                <a:ea typeface="+mn-ea"/>
                <a:cs typeface="+mn-cs"/>
              </a:rPr>
              <a:t>g </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xuất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hiện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nhóm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lĩnh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lý</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không</a:t>
            </a:r>
            <a:r>
              <a:rPr lang="en-US" sz="1200" kern="1200" dirty="0">
                <a:solidFill>
                  <a:schemeClr val="tx1"/>
                </a:solidFill>
                <a:effectLst/>
                <a:latin typeface="Arial" panose="020B0604020202020204" pitchFamily="34" charset="0"/>
                <a:ea typeface="+mn-ea"/>
                <a:cs typeface="+mn-cs"/>
              </a:rPr>
              <a:t> bao </a:t>
            </a:r>
            <a:r>
              <a:rPr lang="en-US" sz="1200" kern="1200" dirty="0" err="1">
                <a:solidFill>
                  <a:schemeClr val="tx1"/>
                </a:solidFill>
                <a:effectLst/>
                <a:latin typeface="Arial" panose="020B0604020202020204" pitchFamily="34" charset="0"/>
                <a:ea typeface="+mn-ea"/>
                <a:cs typeface="+mn-cs"/>
              </a:rPr>
              <a:t>phủ</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Mô</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hình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này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đòi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hỏi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một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độc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lập</a:t>
            </a:r>
            <a:r>
              <a:rPr lang="en-US" sz="1200" kern="1200" dirty="0">
                <a:solidFill>
                  <a:schemeClr val="tx1"/>
                </a:solidFill>
                <a:effectLst/>
                <a:latin typeface="Arial" panose="020B0604020202020204" pitchFamily="34" charset="0"/>
                <a:ea typeface="+mn-ea"/>
                <a:cs typeface="+mn-cs"/>
              </a:rPr>
              <a:t> ở </a:t>
            </a:r>
            <a:r>
              <a:rPr lang="en-US" sz="1200" kern="1200" dirty="0" err="1">
                <a:solidFill>
                  <a:schemeClr val="tx1"/>
                </a:solidFill>
                <a:effectLst/>
                <a:latin typeface="Arial" panose="020B0604020202020204" pitchFamily="34" charset="0"/>
                <a:ea typeface="+mn-ea"/>
                <a:cs typeface="+mn-cs"/>
              </a:rPr>
              <a:t>cấp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công</a:t>
            </a:r>
            <a:r>
              <a:rPr lang="en-US" sz="1200" kern="1200" dirty="0">
                <a:solidFill>
                  <a:schemeClr val="tx1"/>
                </a:solidFill>
                <a:effectLst/>
                <a:latin typeface="Arial" panose="020B0604020202020204" pitchFamily="34" charset="0"/>
                <a:ea typeface="+mn-ea"/>
                <a:cs typeface="+mn-cs"/>
              </a:rPr>
              <a:t> ty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sát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xuyên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suốt</a:t>
            </a:r>
            <a:r>
              <a:rPr lang="en-US" sz="1200" kern="1200" dirty="0">
                <a:solidFill>
                  <a:schemeClr val="tx1"/>
                </a:solidFill>
                <a:effectLst/>
                <a:latin typeface="Arial" panose="020B0604020202020204" pitchFamily="34" charset="0"/>
                <a:ea typeface="+mn-ea"/>
                <a:cs typeface="+mn-cs"/>
              </a:rPr>
              <a:t>.</a:t>
            </a:r>
          </a:p>
          <a:p>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tiễn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ngành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doanh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nghiệp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tài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chính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số</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tiến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khẩu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chỉ</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số</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cảnh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sớm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sở</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dữ</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thất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hệ</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thống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theo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thời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gian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Họ</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dùng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dữ</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quyết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không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phải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chỉ</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cáo</a:t>
            </a:r>
            <a:r>
              <a:rPr lang="en-US" sz="1200" kern="1200" dirty="0">
                <a:solidFill>
                  <a:schemeClr val="tx1"/>
                </a:solidFill>
                <a:effectLst/>
                <a:latin typeface="Arial" panose="020B0604020202020204" pitchFamily="34" charset="0"/>
                <a:ea typeface="+mn-ea"/>
                <a:cs typeface="+mn-cs"/>
              </a:rPr>
              <a:t>.</a:t>
            </a:r>
          </a:p>
          <a:p>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nâng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cao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trưởng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thành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trị</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sẽ</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giúp</a:t>
            </a:r>
            <a:r>
              <a:rPr lang="en-US" sz="1200" kern="1200" dirty="0">
                <a:solidFill>
                  <a:schemeClr val="tx1"/>
                </a:solidFill>
                <a:effectLst/>
                <a:latin typeface="Arial" panose="020B0604020202020204" pitchFamily="34" charset="0"/>
                <a:ea typeface="+mn-ea"/>
                <a:cs typeface="+mn-cs"/>
              </a:rPr>
              <a:t> VDS </a:t>
            </a:r>
            <a:r>
              <a:rPr lang="en-US" sz="1200" kern="1200" dirty="0" err="1">
                <a:solidFill>
                  <a:schemeClr val="tx1"/>
                </a:solidFill>
                <a:effectLst/>
                <a:latin typeface="Arial" panose="020B0604020202020204" pitchFamily="34" charset="0"/>
                <a:ea typeface="+mn-ea"/>
                <a:cs typeface="+mn-cs"/>
              </a:rPr>
              <a:t>tăng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cạnh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tranh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đáp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ứng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vọng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của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tuân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thủ</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quy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pháp</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luật</a:t>
            </a:r>
            <a:endParaRPr lang="en-US" sz="1200" kern="1200" dirty="0">
              <a:solidFill>
                <a:schemeClr val="tx1"/>
              </a:solidFill>
              <a:effectLst/>
              <a:latin typeface="Arial" panose="020B0604020202020204" pitchFamily="34" charset="0"/>
              <a:ea typeface="+mn-ea"/>
              <a:cs typeface="+mn-cs"/>
            </a:endParaRPr>
          </a:p>
          <a:p>
            <a:endParaRPr lang="en-US" baseline="0"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5</a:t>
            </a:fld>
            <a:endParaRPr lang="en-US" dirty="0"/>
          </a:p>
        </p:txBody>
      </p:sp>
    </p:spTree>
    <p:extLst>
      <p:ext uri="{BB962C8B-B14F-4D97-AF65-F5344CB8AC3E}">
        <p14:creationId xmlns:p14="http://schemas.microsoft.com/office/powerpoint/2010/main" val="8420883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Giới</a:t>
            </a:r>
            <a:r>
              <a:rPr lang="en-US" baseline="0" dirty="0"/>
              <a:t> </a:t>
            </a:r>
            <a:r>
              <a:rPr lang="en-US" baseline="0" dirty="0" err="1"/>
              <a:t>thiệu</a:t>
            </a:r>
            <a:r>
              <a:rPr lang="en-US" baseline="0" dirty="0"/>
              <a:t> </a:t>
            </a:r>
            <a:r>
              <a:rPr lang="en-US" baseline="0" dirty="0" err="1"/>
              <a:t>khung</a:t>
            </a:r>
            <a:r>
              <a:rPr lang="en-US" baseline="0" dirty="0"/>
              <a:t> COSO ERM: </a:t>
            </a:r>
            <a:r>
              <a:rPr lang="en-US" baseline="0" dirty="0" err="1"/>
              <a:t>Là</a:t>
            </a:r>
            <a:r>
              <a:rPr lang="en-US" baseline="0" dirty="0"/>
              <a:t> </a:t>
            </a:r>
            <a:r>
              <a:rPr lang="en-US" baseline="0" dirty="0" err="1"/>
              <a:t>thông</a:t>
            </a:r>
            <a:r>
              <a:rPr lang="en-US" baseline="0" dirty="0"/>
              <a:t> </a:t>
            </a:r>
            <a:r>
              <a:rPr lang="en-US" baseline="0" dirty="0" err="1"/>
              <a:t>lệ</a:t>
            </a:r>
            <a:r>
              <a:rPr lang="en-US" baseline="0" dirty="0"/>
              <a:t> </a:t>
            </a:r>
            <a:r>
              <a:rPr lang="en-US" baseline="0" dirty="0" err="1"/>
              <a:t>được</a:t>
            </a:r>
            <a:r>
              <a:rPr lang="en-US" baseline="0" dirty="0"/>
              <a:t> ban </a:t>
            </a:r>
            <a:r>
              <a:rPr lang="en-US" baseline="0" dirty="0" err="1"/>
              <a:t>hành</a:t>
            </a:r>
            <a:r>
              <a:rPr lang="en-US" baseline="0" dirty="0"/>
              <a:t> </a:t>
            </a:r>
            <a:r>
              <a:rPr lang="en-US" baseline="0" dirty="0" err="1"/>
              <a:t>bởi</a:t>
            </a:r>
            <a:r>
              <a:rPr lang="en-US" baseline="0" dirty="0"/>
              <a:t> COSO, </a:t>
            </a:r>
            <a:r>
              <a:rPr lang="en-US" baseline="0" dirty="0" err="1"/>
              <a:t>dựa</a:t>
            </a:r>
            <a:r>
              <a:rPr lang="en-US" baseline="0" dirty="0"/>
              <a:t> </a:t>
            </a:r>
            <a:r>
              <a:rPr lang="en-US" baseline="0" dirty="0" err="1"/>
              <a:t>trên</a:t>
            </a:r>
            <a:r>
              <a:rPr lang="en-US" baseline="0" dirty="0"/>
              <a:t> </a:t>
            </a:r>
            <a:r>
              <a:rPr lang="en-US" baseline="0" dirty="0" err="1"/>
              <a:t>sáng</a:t>
            </a:r>
            <a:r>
              <a:rPr lang="en-US" baseline="0" dirty="0"/>
              <a:t> </a:t>
            </a:r>
            <a:r>
              <a:rPr lang="en-US" baseline="0" dirty="0" err="1"/>
              <a:t>kiến</a:t>
            </a:r>
            <a:r>
              <a:rPr lang="en-US" baseline="0" dirty="0"/>
              <a:t> </a:t>
            </a:r>
            <a:r>
              <a:rPr lang="en-US" baseline="0" dirty="0" err="1"/>
              <a:t>của</a:t>
            </a:r>
            <a:r>
              <a:rPr lang="en-US" baseline="0" dirty="0"/>
              <a:t> </a:t>
            </a:r>
            <a:r>
              <a:rPr lang="en-US" baseline="0" dirty="0" err="1"/>
              <a:t>các</a:t>
            </a:r>
            <a:r>
              <a:rPr lang="en-US" baseline="0" dirty="0"/>
              <a:t> </a:t>
            </a:r>
            <a:r>
              <a:rPr lang="en-US" baseline="0" dirty="0" err="1"/>
              <a:t>thành</a:t>
            </a:r>
            <a:r>
              <a:rPr lang="en-US" baseline="0" dirty="0"/>
              <a:t> </a:t>
            </a:r>
            <a:r>
              <a:rPr lang="en-US" baseline="0" dirty="0" err="1"/>
              <a:t>viên</a:t>
            </a:r>
            <a:r>
              <a:rPr lang="en-US" baseline="0" dirty="0"/>
              <a:t> </a:t>
            </a:r>
            <a:r>
              <a:rPr lang="en-US" baseline="0" dirty="0" err="1"/>
              <a:t>là</a:t>
            </a:r>
            <a:r>
              <a:rPr lang="en-US" baseline="0" dirty="0"/>
              <a:t> </a:t>
            </a:r>
            <a:r>
              <a:rPr lang="en-US" baseline="0" dirty="0" err="1"/>
              <a:t>các</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hành</a:t>
            </a:r>
            <a:r>
              <a:rPr lang="en-US" baseline="0" dirty="0"/>
              <a:t> </a:t>
            </a:r>
            <a:r>
              <a:rPr lang="en-US" baseline="0" dirty="0" err="1"/>
              <a:t>nghề</a:t>
            </a:r>
            <a:r>
              <a:rPr lang="en-US" baseline="0" dirty="0"/>
              <a:t> </a:t>
            </a:r>
            <a:r>
              <a:rPr lang="en-US" baseline="0" dirty="0" err="1"/>
              <a:t>kế</a:t>
            </a:r>
            <a:r>
              <a:rPr lang="en-US" baseline="0" dirty="0"/>
              <a:t> </a:t>
            </a:r>
            <a:r>
              <a:rPr lang="en-US" baseline="0" dirty="0" err="1"/>
              <a:t>toán</a:t>
            </a:r>
            <a:r>
              <a:rPr lang="en-US" baseline="0" dirty="0"/>
              <a:t>, </a:t>
            </a:r>
            <a:r>
              <a:rPr lang="en-US" baseline="0" dirty="0" err="1"/>
              <a:t>kiểm</a:t>
            </a:r>
            <a:r>
              <a:rPr lang="en-US" baseline="0" dirty="0"/>
              <a:t> </a:t>
            </a:r>
            <a:r>
              <a:rPr lang="en-US" baseline="0" dirty="0" err="1"/>
              <a:t>toán</a:t>
            </a:r>
            <a:r>
              <a:rPr lang="en-US" baseline="0" dirty="0"/>
              <a:t> </a:t>
            </a:r>
            <a:r>
              <a:rPr lang="en-US" baseline="0" dirty="0" err="1"/>
              <a:t>hàng</a:t>
            </a:r>
            <a:r>
              <a:rPr lang="en-US" baseline="0" dirty="0"/>
              <a:t> </a:t>
            </a:r>
            <a:r>
              <a:rPr lang="en-US" baseline="0" dirty="0" err="1"/>
              <a:t>đầu</a:t>
            </a:r>
            <a:r>
              <a:rPr lang="en-US" baseline="0" dirty="0"/>
              <a:t> </a:t>
            </a:r>
            <a:r>
              <a:rPr lang="en-US" baseline="0" dirty="0" err="1"/>
              <a:t>tại</a:t>
            </a:r>
            <a:r>
              <a:rPr lang="en-US" baseline="0" dirty="0"/>
              <a:t> Hoa </a:t>
            </a:r>
            <a:r>
              <a:rPr lang="en-US" baseline="0" dirty="0" err="1"/>
              <a:t>Kỳ</a:t>
            </a:r>
            <a:r>
              <a:rPr lang="en-US" baseline="0" dirty="0"/>
              <a:t>, </a:t>
            </a:r>
            <a:r>
              <a:rPr lang="en-US" baseline="0" dirty="0" err="1"/>
              <a:t>được</a:t>
            </a:r>
            <a:r>
              <a:rPr lang="en-US" baseline="0" dirty="0"/>
              <a:t> </a:t>
            </a:r>
            <a:r>
              <a:rPr lang="en-US" baseline="0" dirty="0" err="1"/>
              <a:t>công</a:t>
            </a:r>
            <a:r>
              <a:rPr lang="en-US" baseline="0" dirty="0"/>
              <a:t> </a:t>
            </a:r>
            <a:r>
              <a:rPr lang="en-US" baseline="0" dirty="0" err="1"/>
              <a:t>nhận</a:t>
            </a:r>
            <a:r>
              <a:rPr lang="en-US" baseline="0" dirty="0"/>
              <a:t> </a:t>
            </a:r>
            <a:r>
              <a:rPr lang="en-US" baseline="0" dirty="0" err="1"/>
              <a:t>rộng</a:t>
            </a:r>
            <a:r>
              <a:rPr lang="en-US" baseline="0" dirty="0"/>
              <a:t> </a:t>
            </a:r>
            <a:r>
              <a:rPr lang="en-US" baseline="0" dirty="0" err="1"/>
              <a:t>rãi</a:t>
            </a:r>
            <a:r>
              <a:rPr lang="en-US" baseline="0" dirty="0"/>
              <a:t> </a:t>
            </a:r>
            <a:r>
              <a:rPr lang="en-US" baseline="0" dirty="0" err="1"/>
              <a:t>là</a:t>
            </a:r>
            <a:r>
              <a:rPr lang="en-US" baseline="0" dirty="0"/>
              <a:t> </a:t>
            </a:r>
            <a:r>
              <a:rPr lang="en-US" baseline="0" dirty="0" err="1"/>
              <a:t>đơn</a:t>
            </a:r>
            <a:r>
              <a:rPr lang="en-US" baseline="0" dirty="0"/>
              <a:t> </a:t>
            </a:r>
            <a:r>
              <a:rPr lang="en-US" baseline="0" dirty="0" err="1"/>
              <a:t>vị</a:t>
            </a:r>
            <a:r>
              <a:rPr lang="en-US" baseline="0" dirty="0"/>
              <a:t> </a:t>
            </a:r>
            <a:r>
              <a:rPr lang="en-US" baseline="0" dirty="0" err="1"/>
              <a:t>uy</a:t>
            </a:r>
            <a:r>
              <a:rPr lang="en-US" baseline="0" dirty="0"/>
              <a:t> </a:t>
            </a:r>
            <a:r>
              <a:rPr lang="en-US" baseline="0" dirty="0" err="1"/>
              <a:t>tín</a:t>
            </a:r>
            <a:r>
              <a:rPr lang="en-US" baseline="0" dirty="0"/>
              <a:t> </a:t>
            </a:r>
            <a:r>
              <a:rPr lang="en-US" baseline="0" dirty="0" err="1"/>
              <a:t>toàn</a:t>
            </a:r>
            <a:r>
              <a:rPr lang="en-US" baseline="0" dirty="0"/>
              <a:t> </a:t>
            </a:r>
            <a:r>
              <a:rPr lang="en-US" baseline="0" dirty="0" err="1"/>
              <a:t>cầu</a:t>
            </a:r>
            <a:r>
              <a:rPr lang="en-US" baseline="0" dirty="0"/>
              <a:t> </a:t>
            </a:r>
            <a:r>
              <a:rPr lang="en-US" baseline="0" dirty="0" err="1"/>
              <a:t>trong</a:t>
            </a:r>
            <a:r>
              <a:rPr lang="en-US" baseline="0" dirty="0"/>
              <a:t> </a:t>
            </a:r>
            <a:r>
              <a:rPr lang="en-US" baseline="0" dirty="0" err="1"/>
              <a:t>các</a:t>
            </a:r>
            <a:r>
              <a:rPr lang="en-US" baseline="0" dirty="0"/>
              <a:t> </a:t>
            </a:r>
            <a:r>
              <a:rPr lang="en-US" baseline="0" dirty="0" err="1"/>
              <a:t>tiêu</a:t>
            </a:r>
            <a:r>
              <a:rPr lang="en-US" baseline="0" dirty="0"/>
              <a:t> </a:t>
            </a:r>
            <a:r>
              <a:rPr lang="en-US" baseline="0" dirty="0" err="1"/>
              <a:t>chuẩn</a:t>
            </a:r>
            <a:r>
              <a:rPr lang="en-US" baseline="0" dirty="0"/>
              <a:t> </a:t>
            </a:r>
            <a:r>
              <a:rPr lang="en-US" baseline="0" dirty="0" err="1"/>
              <a:t>về</a:t>
            </a:r>
            <a:r>
              <a:rPr lang="en-US" baseline="0" dirty="0"/>
              <a:t> QTRR </a:t>
            </a:r>
            <a:r>
              <a:rPr lang="en-US" baseline="0" dirty="0" err="1"/>
              <a:t>và</a:t>
            </a:r>
            <a:r>
              <a:rPr lang="en-US" baseline="0" dirty="0"/>
              <a:t> KSNB </a:t>
            </a:r>
          </a:p>
          <a:p>
            <a:r>
              <a:rPr lang="en-US" baseline="0" dirty="0" err="1"/>
              <a:t>Về</a:t>
            </a:r>
            <a:r>
              <a:rPr lang="en-US" baseline="0" dirty="0"/>
              <a:t> </a:t>
            </a:r>
            <a:r>
              <a:rPr lang="en-US" baseline="0" dirty="0" err="1"/>
              <a:t>khung</a:t>
            </a:r>
            <a:r>
              <a:rPr lang="en-US" baseline="0" dirty="0"/>
              <a:t> COSO ERM 2017: </a:t>
            </a:r>
            <a:r>
              <a:rPr lang="en-US" baseline="0" dirty="0" err="1"/>
              <a:t>Khác</a:t>
            </a:r>
            <a:r>
              <a:rPr lang="en-US" baseline="0" dirty="0"/>
              <a:t> </a:t>
            </a:r>
            <a:r>
              <a:rPr lang="en-US" baseline="0" dirty="0" err="1"/>
              <a:t>với</a:t>
            </a:r>
            <a:r>
              <a:rPr lang="en-US" baseline="0" dirty="0"/>
              <a:t> </a:t>
            </a:r>
            <a:r>
              <a:rPr lang="en-US" baseline="0" dirty="0" err="1"/>
              <a:t>các</a:t>
            </a:r>
            <a:r>
              <a:rPr lang="en-US" baseline="0" dirty="0"/>
              <a:t> </a:t>
            </a:r>
            <a:r>
              <a:rPr lang="en-US" baseline="0" dirty="0" err="1"/>
              <a:t>phiên</a:t>
            </a:r>
            <a:r>
              <a:rPr lang="en-US" baseline="0" dirty="0"/>
              <a:t> </a:t>
            </a:r>
            <a:r>
              <a:rPr lang="en-US" baseline="0" dirty="0" err="1"/>
              <a:t>bản</a:t>
            </a:r>
            <a:r>
              <a:rPr lang="en-US" baseline="0" dirty="0"/>
              <a:t> </a:t>
            </a:r>
            <a:r>
              <a:rPr lang="en-US" baseline="0" dirty="0" err="1"/>
              <a:t>trước</a:t>
            </a:r>
            <a:r>
              <a:rPr lang="en-US" baseline="0" dirty="0"/>
              <a:t>, Khung COSO ERM 2017 </a:t>
            </a:r>
            <a:r>
              <a:rPr lang="en-US" baseline="0" dirty="0" err="1"/>
              <a:t>thể</a:t>
            </a:r>
            <a:r>
              <a:rPr lang="en-US" baseline="0" dirty="0"/>
              <a:t> </a:t>
            </a:r>
            <a:r>
              <a:rPr lang="en-US" baseline="0" dirty="0" err="1"/>
              <a:t>hiện</a:t>
            </a:r>
            <a:r>
              <a:rPr lang="en-US" baseline="0" dirty="0"/>
              <a:t>: Các </a:t>
            </a:r>
            <a:r>
              <a:rPr lang="en-US" baseline="0" dirty="0" err="1"/>
              <a:t>trụ</a:t>
            </a:r>
            <a:r>
              <a:rPr lang="en-US" baseline="0" dirty="0"/>
              <a:t> </a:t>
            </a:r>
            <a:r>
              <a:rPr lang="en-US" baseline="0" dirty="0" err="1"/>
              <a:t>cột</a:t>
            </a:r>
            <a:r>
              <a:rPr lang="en-US" baseline="0" dirty="0"/>
              <a:t> </a:t>
            </a:r>
            <a:r>
              <a:rPr lang="en-US" baseline="0" dirty="0" err="1"/>
              <a:t>của</a:t>
            </a:r>
            <a:r>
              <a:rPr lang="en-US" baseline="0" dirty="0"/>
              <a:t> </a:t>
            </a:r>
            <a:r>
              <a:rPr lang="en-US" baseline="0" dirty="0" err="1"/>
              <a:t>khung</a:t>
            </a:r>
            <a:r>
              <a:rPr lang="en-US" baseline="0" dirty="0"/>
              <a:t> COSO </a:t>
            </a:r>
            <a:r>
              <a:rPr lang="en-US" baseline="0" dirty="0" err="1"/>
              <a:t>đan</a:t>
            </a:r>
            <a:r>
              <a:rPr lang="en-US" baseline="0" dirty="0"/>
              <a:t> xen </a:t>
            </a:r>
            <a:r>
              <a:rPr lang="en-US" baseline="0" dirty="0" err="1"/>
              <a:t>với</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doanh</a:t>
            </a:r>
            <a:r>
              <a:rPr lang="en-US" baseline="0" dirty="0"/>
              <a:t> </a:t>
            </a:r>
            <a:r>
              <a:rPr lang="en-US" baseline="0" dirty="0" err="1"/>
              <a:t>nghiệp</a:t>
            </a:r>
            <a:r>
              <a:rPr lang="en-US" baseline="0" dirty="0"/>
              <a:t>, </a:t>
            </a:r>
            <a:r>
              <a:rPr lang="en-US" baseline="0" dirty="0" err="1"/>
              <a:t>thể</a:t>
            </a:r>
            <a:r>
              <a:rPr lang="en-US" baseline="0" dirty="0"/>
              <a:t> </a:t>
            </a:r>
            <a:r>
              <a:rPr lang="en-US" baseline="0" dirty="0" err="1"/>
              <a:t>hiện</a:t>
            </a:r>
            <a:r>
              <a:rPr lang="en-US" baseline="0" dirty="0"/>
              <a:t> QTRR </a:t>
            </a:r>
            <a:r>
              <a:rPr lang="en-US" baseline="0" dirty="0" err="1"/>
              <a:t>như</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cốt</a:t>
            </a:r>
            <a:r>
              <a:rPr lang="en-US" baseline="0" dirty="0"/>
              <a:t> </a:t>
            </a:r>
            <a:r>
              <a:rPr lang="en-US" baseline="0" dirty="0" err="1"/>
              <a:t>lõi</a:t>
            </a:r>
            <a:r>
              <a:rPr lang="en-US" baseline="0" dirty="0"/>
              <a:t>, DNA </a:t>
            </a:r>
            <a:r>
              <a:rPr lang="en-US" baseline="0" dirty="0" err="1"/>
              <a:t>của</a:t>
            </a:r>
            <a:r>
              <a:rPr lang="en-US" baseline="0" dirty="0"/>
              <a:t> </a:t>
            </a:r>
            <a:r>
              <a:rPr lang="en-US" baseline="0" dirty="0" err="1"/>
              <a:t>doanh</a:t>
            </a:r>
            <a:r>
              <a:rPr lang="en-US" baseline="0" dirty="0"/>
              <a:t> </a:t>
            </a:r>
            <a:r>
              <a:rPr lang="en-US" baseline="0" dirty="0" err="1"/>
              <a:t>nghiệp</a:t>
            </a:r>
            <a:r>
              <a:rPr lang="en-US" baseline="0" dirty="0"/>
              <a:t>. Khung bao </a:t>
            </a:r>
            <a:r>
              <a:rPr lang="en-US" baseline="0" dirty="0" err="1"/>
              <a:t>gồm</a:t>
            </a:r>
            <a:r>
              <a:rPr lang="en-US" baseline="0" dirty="0"/>
              <a:t> 20 </a:t>
            </a:r>
            <a:r>
              <a:rPr lang="en-US" baseline="0" dirty="0" err="1"/>
              <a:t>nguyên</a:t>
            </a:r>
            <a:r>
              <a:rPr lang="en-US" baseline="0" dirty="0"/>
              <a:t> </a:t>
            </a:r>
            <a:r>
              <a:rPr lang="en-US" baseline="0" dirty="0" err="1"/>
              <a:t>tắc</a:t>
            </a:r>
            <a:r>
              <a:rPr lang="en-US" baseline="0" dirty="0"/>
              <a:t> </a:t>
            </a:r>
            <a:r>
              <a:rPr lang="en-US" baseline="0" dirty="0" err="1"/>
              <a:t>về</a:t>
            </a:r>
            <a:r>
              <a:rPr lang="en-US" baseline="0" dirty="0"/>
              <a:t> QTRR </a:t>
            </a:r>
            <a:r>
              <a:rPr lang="en-US" baseline="0" dirty="0" err="1"/>
              <a:t>doanh</a:t>
            </a:r>
            <a:r>
              <a:rPr lang="en-US" baseline="0" dirty="0"/>
              <a:t> </a:t>
            </a:r>
            <a:r>
              <a:rPr lang="en-US" baseline="0" dirty="0" err="1"/>
              <a:t>nghiệp</a:t>
            </a:r>
            <a:r>
              <a:rPr lang="en-US" baseline="0" dirty="0"/>
              <a:t> </a:t>
            </a:r>
            <a:r>
              <a:rPr lang="en-US" baseline="0" dirty="0" err="1"/>
              <a:t>theo</a:t>
            </a:r>
            <a:r>
              <a:rPr lang="en-US" baseline="0" dirty="0"/>
              <a:t> </a:t>
            </a:r>
            <a:r>
              <a:rPr lang="en-US" baseline="0" dirty="0" err="1"/>
              <a:t>các</a:t>
            </a:r>
            <a:r>
              <a:rPr lang="en-US" baseline="0" dirty="0"/>
              <a:t> </a:t>
            </a:r>
            <a:r>
              <a:rPr lang="en-US" baseline="0" dirty="0" err="1"/>
              <a:t>trụ</a:t>
            </a:r>
            <a:r>
              <a:rPr lang="en-US" baseline="0" dirty="0"/>
              <a:t> </a:t>
            </a:r>
            <a:r>
              <a:rPr lang="en-US" baseline="0" dirty="0" err="1"/>
              <a:t>cột</a:t>
            </a:r>
            <a:r>
              <a:rPr lang="en-US" baseline="0" dirty="0"/>
              <a:t>: Quản </a:t>
            </a:r>
            <a:r>
              <a:rPr lang="en-US" baseline="0" dirty="0" err="1"/>
              <a:t>trị</a:t>
            </a:r>
            <a:r>
              <a:rPr lang="en-US" baseline="0" dirty="0"/>
              <a:t> </a:t>
            </a:r>
            <a:r>
              <a:rPr lang="en-US" baseline="0" dirty="0" err="1"/>
              <a:t>và</a:t>
            </a:r>
            <a:r>
              <a:rPr lang="en-US" baseline="0" dirty="0"/>
              <a:t> </a:t>
            </a:r>
            <a:r>
              <a:rPr lang="en-US" baseline="0" dirty="0" err="1"/>
              <a:t>văn</a:t>
            </a:r>
            <a:r>
              <a:rPr lang="en-US" baseline="0" dirty="0"/>
              <a:t> </a:t>
            </a:r>
            <a:r>
              <a:rPr lang="en-US" baseline="0" dirty="0" err="1"/>
              <a:t>hóa</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và</a:t>
            </a:r>
            <a:r>
              <a:rPr lang="en-US" baseline="0" dirty="0"/>
              <a:t> </a:t>
            </a:r>
            <a:r>
              <a:rPr lang="en-US" baseline="0" dirty="0" err="1"/>
              <a:t>thiết</a:t>
            </a:r>
            <a:r>
              <a:rPr lang="en-US" baseline="0" dirty="0"/>
              <a:t> </a:t>
            </a:r>
            <a:r>
              <a:rPr lang="en-US" baseline="0" dirty="0" err="1"/>
              <a:t>lập</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Thực</a:t>
            </a:r>
            <a:r>
              <a:rPr lang="en-US" baseline="0" dirty="0"/>
              <a:t> </a:t>
            </a:r>
            <a:r>
              <a:rPr lang="en-US" baseline="0" dirty="0" err="1"/>
              <a:t>thi</a:t>
            </a:r>
            <a:r>
              <a:rPr lang="en-US" baseline="0" dirty="0"/>
              <a:t>, </a:t>
            </a:r>
            <a:r>
              <a:rPr lang="en-US" baseline="0" dirty="0" err="1"/>
              <a:t>Rà</a:t>
            </a:r>
            <a:r>
              <a:rPr lang="en-US" baseline="0" dirty="0"/>
              <a:t> </a:t>
            </a:r>
            <a:r>
              <a:rPr lang="en-US" baseline="0" dirty="0" err="1"/>
              <a:t>soát</a:t>
            </a:r>
            <a:r>
              <a:rPr lang="en-US" baseline="0" dirty="0"/>
              <a:t> </a:t>
            </a:r>
            <a:r>
              <a:rPr lang="en-US" baseline="0" dirty="0" err="1"/>
              <a:t>và</a:t>
            </a:r>
            <a:r>
              <a:rPr lang="en-US" baseline="0" dirty="0"/>
              <a:t> </a:t>
            </a:r>
            <a:r>
              <a:rPr lang="en-US" baseline="0" dirty="0" err="1"/>
              <a:t>điều</a:t>
            </a:r>
            <a:r>
              <a:rPr lang="en-US" baseline="0" dirty="0"/>
              <a:t> </a:t>
            </a:r>
            <a:r>
              <a:rPr lang="en-US" baseline="0" dirty="0" err="1"/>
              <a:t>chỉnh</a:t>
            </a:r>
            <a:r>
              <a:rPr lang="en-US" baseline="0" dirty="0"/>
              <a:t>, Thông tin, </a:t>
            </a:r>
            <a:r>
              <a:rPr lang="en-US" baseline="0" dirty="0" err="1"/>
              <a:t>truyền</a:t>
            </a:r>
            <a:r>
              <a:rPr lang="en-US" baseline="0" dirty="0"/>
              <a:t> </a:t>
            </a:r>
            <a:r>
              <a:rPr lang="en-US" baseline="0" dirty="0" err="1"/>
              <a:t>thông</a:t>
            </a:r>
            <a:r>
              <a:rPr lang="en-US" baseline="0" dirty="0"/>
              <a:t> </a:t>
            </a:r>
            <a:r>
              <a:rPr lang="en-US" baseline="0" dirty="0" err="1"/>
              <a:t>và</a:t>
            </a:r>
            <a:r>
              <a:rPr lang="en-US" baseline="0" dirty="0"/>
              <a:t> </a:t>
            </a:r>
            <a:r>
              <a:rPr lang="en-US" baseline="0" dirty="0" err="1"/>
              <a:t>báo</a:t>
            </a:r>
            <a:r>
              <a:rPr lang="en-US" baseline="0" dirty="0"/>
              <a:t> </a:t>
            </a:r>
            <a:r>
              <a:rPr lang="en-US" baseline="0" dirty="0" err="1"/>
              <a:t>cáo</a:t>
            </a:r>
            <a:r>
              <a:rPr lang="en-US" baseline="0" dirty="0"/>
              <a:t>. </a:t>
            </a:r>
            <a:r>
              <a:rPr lang="en-US" baseline="0" dirty="0" err="1"/>
              <a:t>Một</a:t>
            </a:r>
            <a:r>
              <a:rPr lang="en-US" baseline="0" dirty="0"/>
              <a:t> </a:t>
            </a:r>
            <a:r>
              <a:rPr lang="en-US" baseline="0" dirty="0" err="1"/>
              <a:t>mô</a:t>
            </a:r>
            <a:r>
              <a:rPr lang="en-US" baseline="0" dirty="0"/>
              <a:t> </a:t>
            </a:r>
            <a:r>
              <a:rPr lang="en-US" baseline="0" dirty="0" err="1"/>
              <a:t>hình</a:t>
            </a:r>
            <a:r>
              <a:rPr lang="en-US" baseline="0" dirty="0"/>
              <a:t> QTRR </a:t>
            </a:r>
            <a:r>
              <a:rPr lang="en-US" baseline="0" dirty="0" err="1"/>
              <a:t>tiên</a:t>
            </a:r>
            <a:r>
              <a:rPr lang="en-US" baseline="0" dirty="0"/>
              <a:t> </a:t>
            </a:r>
            <a:r>
              <a:rPr lang="en-US" baseline="0" dirty="0" err="1"/>
              <a:t>tiến</a:t>
            </a:r>
            <a:r>
              <a:rPr lang="en-US" baseline="0" dirty="0"/>
              <a:t> </a:t>
            </a:r>
            <a:r>
              <a:rPr lang="en-US" baseline="0" dirty="0" err="1"/>
              <a:t>sẽ</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được</a:t>
            </a:r>
            <a:r>
              <a:rPr lang="en-US" baseline="0" dirty="0"/>
              <a:t> </a:t>
            </a:r>
            <a:r>
              <a:rPr lang="en-US" baseline="0" dirty="0" err="1"/>
              <a:t>đầy</a:t>
            </a:r>
            <a:r>
              <a:rPr lang="en-US" baseline="0" dirty="0"/>
              <a:t> </a:t>
            </a:r>
            <a:r>
              <a:rPr lang="en-US" baseline="0" dirty="0" err="1"/>
              <a:t>đủ</a:t>
            </a:r>
            <a:r>
              <a:rPr lang="en-US" baseline="0" dirty="0"/>
              <a:t> 20 </a:t>
            </a:r>
            <a:r>
              <a:rPr lang="en-US" baseline="0" dirty="0" err="1"/>
              <a:t>nguyên</a:t>
            </a:r>
            <a:r>
              <a:rPr lang="en-US" baseline="0" dirty="0"/>
              <a:t> </a:t>
            </a:r>
            <a:r>
              <a:rPr lang="en-US" baseline="0" dirty="0" err="1"/>
              <a:t>tắc</a:t>
            </a:r>
            <a:r>
              <a:rPr lang="en-US" baseline="0" dirty="0"/>
              <a:t> </a:t>
            </a:r>
            <a:r>
              <a:rPr lang="en-US" baseline="0" dirty="0" err="1"/>
              <a:t>này</a:t>
            </a:r>
            <a:r>
              <a:rPr lang="en-US" baseline="0" dirty="0"/>
              <a:t>.</a:t>
            </a:r>
            <a:endParaRPr lang="en-US" dirty="0"/>
          </a:p>
          <a:p>
            <a:r>
              <a:rPr lang="en-US" baseline="0" dirty="0" err="1"/>
              <a:t>Về</a:t>
            </a:r>
            <a:r>
              <a:rPr lang="en-US" baseline="0" dirty="0"/>
              <a:t> </a:t>
            </a:r>
            <a:r>
              <a:rPr lang="en-US" baseline="0" dirty="0" err="1"/>
              <a:t>tổng</a:t>
            </a:r>
            <a:r>
              <a:rPr lang="en-US" baseline="0" dirty="0"/>
              <a:t> </a:t>
            </a:r>
            <a:r>
              <a:rPr lang="en-US" baseline="0" dirty="0" err="1"/>
              <a:t>quan</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tại</a:t>
            </a:r>
            <a:r>
              <a:rPr lang="en-US" baseline="0" dirty="0"/>
              <a:t> VDS </a:t>
            </a:r>
            <a:r>
              <a:rPr lang="en-US" baseline="0" dirty="0" err="1"/>
              <a:t>mới</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các</a:t>
            </a:r>
            <a:r>
              <a:rPr lang="en-US" baseline="0" dirty="0"/>
              <a:t> </a:t>
            </a:r>
            <a:r>
              <a:rPr lang="en-US" baseline="0" dirty="0" err="1"/>
              <a:t>thông</a:t>
            </a:r>
            <a:r>
              <a:rPr lang="en-US" baseline="0" dirty="0"/>
              <a:t> </a:t>
            </a:r>
            <a:r>
              <a:rPr lang="en-US" baseline="0" dirty="0" err="1"/>
              <a:t>lệ</a:t>
            </a:r>
            <a:r>
              <a:rPr lang="en-US" baseline="0" dirty="0"/>
              <a:t>, </a:t>
            </a:r>
            <a:r>
              <a:rPr lang="en-US" baseline="0" dirty="0" err="1"/>
              <a:t>với</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về</a:t>
            </a:r>
            <a:r>
              <a:rPr lang="en-US" baseline="0" dirty="0"/>
              <a:t> Quản </a:t>
            </a:r>
            <a:r>
              <a:rPr lang="en-US" baseline="0" dirty="0" err="1"/>
              <a:t>trị</a:t>
            </a:r>
            <a:r>
              <a:rPr lang="en-US" baseline="0" dirty="0"/>
              <a:t>, </a:t>
            </a:r>
            <a:r>
              <a:rPr lang="en-US" baseline="0" dirty="0" err="1"/>
              <a:t>văn</a:t>
            </a:r>
            <a:r>
              <a:rPr lang="en-US" baseline="0" dirty="0"/>
              <a:t> </a:t>
            </a:r>
            <a:r>
              <a:rPr lang="en-US" baseline="0" dirty="0" err="1"/>
              <a:t>hóa</a:t>
            </a:r>
            <a:r>
              <a:rPr lang="en-US" baseline="0" dirty="0"/>
              <a:t> ở </a:t>
            </a:r>
            <a:r>
              <a:rPr lang="en-US" baseline="0" dirty="0" err="1"/>
              <a:t>mức</a:t>
            </a:r>
            <a:r>
              <a:rPr lang="en-US" baseline="0" dirty="0"/>
              <a:t> </a:t>
            </a:r>
            <a:r>
              <a:rPr lang="en-US" baseline="0" dirty="0" err="1"/>
              <a:t>tương</a:t>
            </a:r>
            <a:r>
              <a:rPr lang="en-US" baseline="0" dirty="0"/>
              <a:t> </a:t>
            </a:r>
            <a:r>
              <a:rPr lang="en-US" baseline="0" dirty="0" err="1"/>
              <a:t>đối</a:t>
            </a:r>
            <a:r>
              <a:rPr lang="en-US" baseline="0" dirty="0"/>
              <a:t> </a:t>
            </a:r>
            <a:r>
              <a:rPr lang="en-US" baseline="0" dirty="0" err="1"/>
              <a:t>cao</a:t>
            </a:r>
            <a:r>
              <a:rPr lang="en-US" baseline="0" dirty="0"/>
              <a:t>. Tuy </a:t>
            </a:r>
            <a:r>
              <a:rPr lang="en-US" baseline="0" dirty="0" err="1"/>
              <a:t>nhiên</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thực</a:t>
            </a:r>
            <a:r>
              <a:rPr lang="en-US" baseline="0" dirty="0"/>
              <a:t> </a:t>
            </a:r>
            <a:r>
              <a:rPr lang="en-US" baseline="0" dirty="0" err="1"/>
              <a:t>thi</a:t>
            </a:r>
            <a:r>
              <a:rPr lang="en-US" baseline="0" dirty="0"/>
              <a:t>, </a:t>
            </a:r>
            <a:r>
              <a:rPr lang="en-US" baseline="0" dirty="0" err="1"/>
              <a:t>triển</a:t>
            </a:r>
            <a:r>
              <a:rPr lang="en-US" baseline="0" dirty="0"/>
              <a:t> </a:t>
            </a:r>
            <a:r>
              <a:rPr lang="en-US" baseline="0" dirty="0" err="1"/>
              <a:t>khai</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chưa</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hoàn</a:t>
            </a:r>
            <a:r>
              <a:rPr lang="en-US" baseline="0" dirty="0"/>
              <a:t> </a:t>
            </a:r>
            <a:r>
              <a:rPr lang="en-US" baseline="0" dirty="0" err="1"/>
              <a:t>toàn</a:t>
            </a:r>
            <a:r>
              <a:rPr lang="en-US" baseline="0" dirty="0"/>
              <a:t> </a:t>
            </a:r>
            <a:r>
              <a:rPr lang="en-US" baseline="0" dirty="0" err="1"/>
              <a:t>được</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của</a:t>
            </a:r>
            <a:r>
              <a:rPr lang="en-US" baseline="0" dirty="0"/>
              <a:t> </a:t>
            </a:r>
            <a:r>
              <a:rPr lang="en-US" baseline="0" dirty="0" err="1"/>
              <a:t>khung</a:t>
            </a:r>
            <a:r>
              <a:rPr lang="en-US" baseline="0" dirty="0"/>
              <a:t> </a:t>
            </a:r>
            <a:r>
              <a:rPr lang="en-US" baseline="0" dirty="0" err="1"/>
              <a:t>đưa</a:t>
            </a:r>
            <a:r>
              <a:rPr lang="en-US" baseline="0" dirty="0"/>
              <a:t> </a:t>
            </a:r>
            <a:r>
              <a:rPr lang="en-US" baseline="0" dirty="0" err="1"/>
              <a:t>ra.</a:t>
            </a:r>
            <a:endParaRPr lang="en-US" baseline="0"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7</a:t>
            </a:fld>
            <a:endParaRPr lang="en-US" dirty="0"/>
          </a:p>
        </p:txBody>
      </p:sp>
    </p:spTree>
    <p:extLst>
      <p:ext uri="{BB962C8B-B14F-4D97-AF65-F5344CB8AC3E}">
        <p14:creationId xmlns:p14="http://schemas.microsoft.com/office/powerpoint/2010/main" val="2488557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8</a:t>
            </a:fld>
            <a:endParaRPr lang="en-US" dirty="0"/>
          </a:p>
        </p:txBody>
      </p:sp>
    </p:spTree>
    <p:extLst>
      <p:ext uri="{BB962C8B-B14F-4D97-AF65-F5344CB8AC3E}">
        <p14:creationId xmlns:p14="http://schemas.microsoft.com/office/powerpoint/2010/main" val="7209974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84818186" name="Slide Image Placeholder 1"/>
          <p:cNvSpPr>
            <a:spLocks noGrp="1" noRot="1" noChangeAspect="1"/>
          </p:cNvSpPr>
          <p:nvPr>
            <p:ph type="sldImg"/>
          </p:nvPr>
        </p:nvSpPr>
        <p:spPr bwMode="auto"/>
        <p:txBody>
          <a:bodyPr/>
          <a:lstStyle/>
          <a:p>
            <a:endParaRPr lang="en-US"/>
          </a:p>
        </p:txBody>
      </p:sp>
      <p:sp>
        <p:nvSpPr>
          <p:cNvPr id="699533041" name="Notes Placeholder 2"/>
          <p:cNvSpPr>
            <a:spLocks noGrp="1"/>
          </p:cNvSpPr>
          <p:nvPr>
            <p:ph type="body" idx="1"/>
          </p:nvPr>
        </p:nvSpPr>
        <p:spPr bwMode="auto"/>
        <p:txBody>
          <a:bodyPr/>
          <a:lstStyle/>
          <a:p>
            <a:pPr>
              <a:defRPr/>
            </a:pPr>
            <a:endParaRPr>
              <a:latin typeface="Arial" panose="020B0604020202020204" pitchFamily="34" charset="0"/>
            </a:endParaRPr>
          </a:p>
        </p:txBody>
      </p:sp>
      <p:sp>
        <p:nvSpPr>
          <p:cNvPr id="1141717645" name="Slide Number Placeholder 3"/>
          <p:cNvSpPr>
            <a:spLocks noGrp="1"/>
          </p:cNvSpPr>
          <p:nvPr>
            <p:ph type="sldNum" sz="quarter" idx="10"/>
          </p:nvPr>
        </p:nvSpPr>
        <p:spPr bwMode="auto"/>
        <p:txBody>
          <a:bodyPr/>
          <a:lstStyle/>
          <a:p>
            <a:pPr>
              <a:defRPr/>
            </a:pPr>
            <a:fld id="{971BD7B9-0442-B57C-3B2F-310F619BC921}" type="slidenum">
              <a:rPr>
                <a:latin typeface="Arial" panose="020B0604020202020204" pitchFamily="34" charset="0"/>
              </a:rPr>
              <a:t>9</a:t>
            </a:fld>
            <a:endParaRPr>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47361337" name="Slide Image Placeholder 1"/>
          <p:cNvSpPr>
            <a:spLocks noGrp="1" noRot="1" noChangeAspect="1"/>
          </p:cNvSpPr>
          <p:nvPr>
            <p:ph type="sldImg"/>
          </p:nvPr>
        </p:nvSpPr>
        <p:spPr bwMode="auto"/>
        <p:txBody>
          <a:bodyPr/>
          <a:lstStyle/>
          <a:p>
            <a:endParaRPr lang="en-US"/>
          </a:p>
        </p:txBody>
      </p:sp>
      <p:sp>
        <p:nvSpPr>
          <p:cNvPr id="1066911027" name="Notes Placeholder 2"/>
          <p:cNvSpPr>
            <a:spLocks noGrp="1"/>
          </p:cNvSpPr>
          <p:nvPr>
            <p:ph type="body" idx="1"/>
          </p:nvPr>
        </p:nvSpPr>
        <p:spPr bwMode="auto"/>
        <p:txBody>
          <a:bodyPr/>
          <a:lstStyle/>
          <a:p>
            <a:pPr>
              <a:defRPr/>
            </a:pPr>
            <a:endParaRPr>
              <a:latin typeface="Arial" panose="020B0604020202020204" pitchFamily="34" charset="0"/>
            </a:endParaRPr>
          </a:p>
        </p:txBody>
      </p:sp>
      <p:sp>
        <p:nvSpPr>
          <p:cNvPr id="189082188" name="Slide Number Placeholder 3"/>
          <p:cNvSpPr>
            <a:spLocks noGrp="1"/>
          </p:cNvSpPr>
          <p:nvPr>
            <p:ph type="sldNum" sz="quarter" idx="10"/>
          </p:nvPr>
        </p:nvSpPr>
        <p:spPr bwMode="auto"/>
        <p:txBody>
          <a:bodyPr/>
          <a:lstStyle/>
          <a:p>
            <a:pPr>
              <a:defRPr/>
            </a:pPr>
            <a:fld id="{4FDE3513-EAC7-4C93-4E24-E8D0BBEAFA07}" type="slidenum">
              <a:rPr>
                <a:latin typeface="Arial" panose="020B0604020202020204" pitchFamily="34" charset="0"/>
              </a:rPr>
              <a:t>11</a:t>
            </a:fld>
            <a:endParaRPr>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44244F-15B7-EBF9-6D43-66817C72AA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AD99E-3AB2-7D63-FCBA-DA64E054766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252018E-2E0A-366F-5C68-F7CE23F92A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5E33C4-8970-D239-26AC-1B220E73E1EA}"/>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88620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00371184" name="Slide Image Placeholder 1"/>
          <p:cNvSpPr>
            <a:spLocks noGrp="1" noRot="1" noChangeAspect="1"/>
          </p:cNvSpPr>
          <p:nvPr>
            <p:ph type="sldImg"/>
          </p:nvPr>
        </p:nvSpPr>
        <p:spPr bwMode="auto"/>
        <p:txBody>
          <a:bodyPr/>
          <a:lstStyle/>
          <a:p>
            <a:endParaRPr lang="en-US"/>
          </a:p>
        </p:txBody>
      </p:sp>
      <p:sp>
        <p:nvSpPr>
          <p:cNvPr id="569556617" name="Notes Placeholder 2"/>
          <p:cNvSpPr>
            <a:spLocks noGrp="1"/>
          </p:cNvSpPr>
          <p:nvPr>
            <p:ph type="body" idx="1"/>
          </p:nvPr>
        </p:nvSpPr>
        <p:spPr bwMode="auto"/>
        <p:txBody>
          <a:bodyPr/>
          <a:lstStyle/>
          <a:p>
            <a:pPr>
              <a:defRPr/>
            </a:pPr>
            <a:endParaRPr>
              <a:latin typeface="Arial" panose="020B0604020202020204" pitchFamily="34" charset="0"/>
            </a:endParaRPr>
          </a:p>
        </p:txBody>
      </p:sp>
      <p:sp>
        <p:nvSpPr>
          <p:cNvPr id="383480481" name="Slide Number Placeholder 3"/>
          <p:cNvSpPr>
            <a:spLocks noGrp="1"/>
          </p:cNvSpPr>
          <p:nvPr>
            <p:ph type="sldNum" sz="quarter" idx="10"/>
          </p:nvPr>
        </p:nvSpPr>
        <p:spPr bwMode="auto"/>
        <p:txBody>
          <a:bodyPr/>
          <a:lstStyle/>
          <a:p>
            <a:pPr>
              <a:defRPr/>
            </a:pPr>
            <a:fld id="{527C30C9-7A84-A523-4ED6-79C1013341C9}" type="slidenum">
              <a:rPr>
                <a:latin typeface="Arial" panose="020B0604020202020204" pitchFamily="34" charset="0"/>
              </a:rPr>
              <a:t>15</a:t>
            </a:fld>
            <a:endParaRPr>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FD358-B75C-3A1D-54F4-06B746A9436E}"/>
            </a:ext>
          </a:extLst>
        </p:cNvPr>
        <p:cNvGrpSpPr/>
        <p:nvPr/>
      </p:nvGrpSpPr>
      <p:grpSpPr bwMode="auto">
        <a:xfrm>
          <a:off x="0" y="0"/>
          <a:ext cx="0" cy="0"/>
          <a:chOff x="0" y="0"/>
          <a:chExt cx="0" cy="0"/>
        </a:xfrm>
      </p:grpSpPr>
      <p:sp>
        <p:nvSpPr>
          <p:cNvPr id="1800371184" name="Slide Image Placeholder 1">
            <a:extLst>
              <a:ext uri="{FF2B5EF4-FFF2-40B4-BE49-F238E27FC236}">
                <a16:creationId xmlns:a16="http://schemas.microsoft.com/office/drawing/2014/main" id="{F37A14BE-5948-D106-D233-4096FBE1FA81}"/>
              </a:ext>
            </a:extLst>
          </p:cNvPr>
          <p:cNvSpPr>
            <a:spLocks noGrp="1" noRot="1" noChangeAspect="1"/>
          </p:cNvSpPr>
          <p:nvPr>
            <p:ph type="sldImg"/>
          </p:nvPr>
        </p:nvSpPr>
        <p:spPr bwMode="auto"/>
        <p:txBody>
          <a:bodyPr/>
          <a:lstStyle/>
          <a:p>
            <a:endParaRPr lang="en-US"/>
          </a:p>
        </p:txBody>
      </p:sp>
      <p:sp>
        <p:nvSpPr>
          <p:cNvPr id="569556617" name="Notes Placeholder 2">
            <a:extLst>
              <a:ext uri="{FF2B5EF4-FFF2-40B4-BE49-F238E27FC236}">
                <a16:creationId xmlns:a16="http://schemas.microsoft.com/office/drawing/2014/main" id="{B7B5C981-FFB5-157B-B4B8-0A8981F3A368}"/>
              </a:ext>
            </a:extLst>
          </p:cNvPr>
          <p:cNvSpPr>
            <a:spLocks noGrp="1"/>
          </p:cNvSpPr>
          <p:nvPr>
            <p:ph type="body" idx="1"/>
          </p:nvPr>
        </p:nvSpPr>
        <p:spPr bwMode="auto"/>
        <p:txBody>
          <a:bodyPr/>
          <a:lstStyle/>
          <a:p>
            <a:pPr>
              <a:defRPr/>
            </a:pPr>
            <a:endParaRPr>
              <a:latin typeface="Arial" panose="020B0604020202020204" pitchFamily="34" charset="0"/>
            </a:endParaRPr>
          </a:p>
        </p:txBody>
      </p:sp>
      <p:sp>
        <p:nvSpPr>
          <p:cNvPr id="383480481" name="Slide Number Placeholder 3">
            <a:extLst>
              <a:ext uri="{FF2B5EF4-FFF2-40B4-BE49-F238E27FC236}">
                <a16:creationId xmlns:a16="http://schemas.microsoft.com/office/drawing/2014/main" id="{95AB341A-DAA3-9A4E-2EB6-8ABD96C37653}"/>
              </a:ext>
            </a:extLst>
          </p:cNvPr>
          <p:cNvSpPr>
            <a:spLocks noGrp="1"/>
          </p:cNvSpPr>
          <p:nvPr>
            <p:ph type="sldNum" sz="quarter" idx="10"/>
          </p:nvPr>
        </p:nvSpPr>
        <p:spPr bwMode="auto"/>
        <p:txBody>
          <a:bodyPr/>
          <a:lstStyle/>
          <a:p>
            <a:pPr>
              <a:defRPr/>
            </a:pPr>
            <a:fld id="{527C30C9-7A84-A523-4ED6-79C1013341C9}" type="slidenum">
              <a:rPr>
                <a:latin typeface="Arial" panose="020B0604020202020204" pitchFamily="34" charset="0"/>
              </a:rPr>
              <a:t>16</a:t>
            </a:fld>
            <a:endParaRPr>
              <a:latin typeface="Arial" panose="020B0604020202020204" pitchFamily="34" charset="0"/>
            </a:endParaRPr>
          </a:p>
        </p:txBody>
      </p:sp>
    </p:spTree>
    <p:extLst>
      <p:ext uri="{BB962C8B-B14F-4D97-AF65-F5344CB8AC3E}">
        <p14:creationId xmlns:p14="http://schemas.microsoft.com/office/powerpoint/2010/main" val="4204697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629C-64C1-A822-7AF3-77A5C8A6A2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C239ED-5AC6-46E4-3C83-507D7436E23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95F86B9-CFA2-7E12-733B-653D56E41632}"/>
              </a:ext>
            </a:extLst>
          </p:cNvPr>
          <p:cNvSpPr>
            <a:spLocks noGrp="1"/>
          </p:cNvSpPr>
          <p:nvPr>
            <p:ph type="body" idx="1"/>
          </p:nvPr>
        </p:nvSpPr>
        <p:spPr/>
        <p:txBody>
          <a:bodyPr/>
          <a:lstStyle/>
          <a:p>
            <a:r>
              <a:rPr lang="en-US" dirty="0" err="1"/>
              <a:t>Giới</a:t>
            </a:r>
            <a:r>
              <a:rPr lang="en-US" baseline="0" dirty="0"/>
              <a:t> </a:t>
            </a:r>
            <a:r>
              <a:rPr lang="en-US" baseline="0" dirty="0" err="1"/>
              <a:t>thiệu</a:t>
            </a:r>
            <a:r>
              <a:rPr lang="en-US" baseline="0" dirty="0"/>
              <a:t> </a:t>
            </a:r>
            <a:r>
              <a:rPr lang="en-US" baseline="0" dirty="0" err="1"/>
              <a:t>khung</a:t>
            </a:r>
            <a:r>
              <a:rPr lang="en-US" baseline="0" dirty="0"/>
              <a:t> COSO ERM: </a:t>
            </a:r>
            <a:r>
              <a:rPr lang="en-US" baseline="0" dirty="0" err="1"/>
              <a:t>Là</a:t>
            </a:r>
            <a:r>
              <a:rPr lang="en-US" baseline="0" dirty="0"/>
              <a:t> </a:t>
            </a:r>
            <a:r>
              <a:rPr lang="en-US" baseline="0" dirty="0" err="1"/>
              <a:t>thông</a:t>
            </a:r>
            <a:r>
              <a:rPr lang="en-US" baseline="0" dirty="0"/>
              <a:t> </a:t>
            </a:r>
            <a:r>
              <a:rPr lang="en-US" baseline="0" dirty="0" err="1"/>
              <a:t>lệ</a:t>
            </a:r>
            <a:r>
              <a:rPr lang="en-US" baseline="0" dirty="0"/>
              <a:t> </a:t>
            </a:r>
            <a:r>
              <a:rPr lang="en-US" baseline="0" dirty="0" err="1"/>
              <a:t>được</a:t>
            </a:r>
            <a:r>
              <a:rPr lang="en-US" baseline="0" dirty="0"/>
              <a:t> ban </a:t>
            </a:r>
            <a:r>
              <a:rPr lang="en-US" baseline="0" dirty="0" err="1"/>
              <a:t>hành</a:t>
            </a:r>
            <a:r>
              <a:rPr lang="en-US" baseline="0" dirty="0"/>
              <a:t> </a:t>
            </a:r>
            <a:r>
              <a:rPr lang="en-US" baseline="0" dirty="0" err="1"/>
              <a:t>bởi</a:t>
            </a:r>
            <a:r>
              <a:rPr lang="en-US" baseline="0" dirty="0"/>
              <a:t> COSO, </a:t>
            </a:r>
            <a:r>
              <a:rPr lang="en-US" baseline="0" dirty="0" err="1"/>
              <a:t>dựa</a:t>
            </a:r>
            <a:r>
              <a:rPr lang="en-US" baseline="0" dirty="0"/>
              <a:t> </a:t>
            </a:r>
            <a:r>
              <a:rPr lang="en-US" baseline="0" dirty="0" err="1"/>
              <a:t>trên</a:t>
            </a:r>
            <a:r>
              <a:rPr lang="en-US" baseline="0" dirty="0"/>
              <a:t> </a:t>
            </a:r>
            <a:r>
              <a:rPr lang="en-US" baseline="0" dirty="0" err="1"/>
              <a:t>sáng</a:t>
            </a:r>
            <a:r>
              <a:rPr lang="en-US" baseline="0" dirty="0"/>
              <a:t> </a:t>
            </a:r>
            <a:r>
              <a:rPr lang="en-US" baseline="0" dirty="0" err="1"/>
              <a:t>kiến</a:t>
            </a:r>
            <a:r>
              <a:rPr lang="en-US" baseline="0" dirty="0"/>
              <a:t> </a:t>
            </a:r>
            <a:r>
              <a:rPr lang="en-US" baseline="0" dirty="0" err="1"/>
              <a:t>của</a:t>
            </a:r>
            <a:r>
              <a:rPr lang="en-US" baseline="0" dirty="0"/>
              <a:t> </a:t>
            </a:r>
            <a:r>
              <a:rPr lang="en-US" baseline="0" dirty="0" err="1"/>
              <a:t>các</a:t>
            </a:r>
            <a:r>
              <a:rPr lang="en-US" baseline="0" dirty="0"/>
              <a:t> </a:t>
            </a:r>
            <a:r>
              <a:rPr lang="en-US" baseline="0" dirty="0" err="1"/>
              <a:t>thành</a:t>
            </a:r>
            <a:r>
              <a:rPr lang="en-US" baseline="0" dirty="0"/>
              <a:t> </a:t>
            </a:r>
            <a:r>
              <a:rPr lang="en-US" baseline="0" dirty="0" err="1"/>
              <a:t>viên</a:t>
            </a:r>
            <a:r>
              <a:rPr lang="en-US" baseline="0" dirty="0"/>
              <a:t> </a:t>
            </a:r>
            <a:r>
              <a:rPr lang="en-US" baseline="0" dirty="0" err="1"/>
              <a:t>là</a:t>
            </a:r>
            <a:r>
              <a:rPr lang="en-US" baseline="0" dirty="0"/>
              <a:t> </a:t>
            </a:r>
            <a:r>
              <a:rPr lang="en-US" baseline="0" dirty="0" err="1"/>
              <a:t>các</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hành</a:t>
            </a:r>
            <a:r>
              <a:rPr lang="en-US" baseline="0" dirty="0"/>
              <a:t> </a:t>
            </a:r>
            <a:r>
              <a:rPr lang="en-US" baseline="0" dirty="0" err="1"/>
              <a:t>nghề</a:t>
            </a:r>
            <a:r>
              <a:rPr lang="en-US" baseline="0" dirty="0"/>
              <a:t> </a:t>
            </a:r>
            <a:r>
              <a:rPr lang="en-US" baseline="0" dirty="0" err="1"/>
              <a:t>kế</a:t>
            </a:r>
            <a:r>
              <a:rPr lang="en-US" baseline="0" dirty="0"/>
              <a:t> </a:t>
            </a:r>
            <a:r>
              <a:rPr lang="en-US" baseline="0" dirty="0" err="1"/>
              <a:t>toán</a:t>
            </a:r>
            <a:r>
              <a:rPr lang="en-US" baseline="0" dirty="0"/>
              <a:t>, </a:t>
            </a:r>
            <a:r>
              <a:rPr lang="en-US" baseline="0" dirty="0" err="1"/>
              <a:t>kiểm</a:t>
            </a:r>
            <a:r>
              <a:rPr lang="en-US" baseline="0" dirty="0"/>
              <a:t> </a:t>
            </a:r>
            <a:r>
              <a:rPr lang="en-US" baseline="0" dirty="0" err="1"/>
              <a:t>toán</a:t>
            </a:r>
            <a:r>
              <a:rPr lang="en-US" baseline="0" dirty="0"/>
              <a:t> </a:t>
            </a:r>
            <a:r>
              <a:rPr lang="en-US" baseline="0" dirty="0" err="1"/>
              <a:t>hàng</a:t>
            </a:r>
            <a:r>
              <a:rPr lang="en-US" baseline="0" dirty="0"/>
              <a:t> </a:t>
            </a:r>
            <a:r>
              <a:rPr lang="en-US" baseline="0" dirty="0" err="1"/>
              <a:t>đầu</a:t>
            </a:r>
            <a:r>
              <a:rPr lang="en-US" baseline="0" dirty="0"/>
              <a:t> </a:t>
            </a:r>
            <a:r>
              <a:rPr lang="en-US" baseline="0" dirty="0" err="1"/>
              <a:t>tại</a:t>
            </a:r>
            <a:r>
              <a:rPr lang="en-US" baseline="0" dirty="0"/>
              <a:t> Hoa </a:t>
            </a:r>
            <a:r>
              <a:rPr lang="en-US" baseline="0" dirty="0" err="1"/>
              <a:t>Kỳ</a:t>
            </a:r>
            <a:r>
              <a:rPr lang="en-US" baseline="0" dirty="0"/>
              <a:t>, </a:t>
            </a:r>
            <a:r>
              <a:rPr lang="en-US" baseline="0" dirty="0" err="1"/>
              <a:t>được</a:t>
            </a:r>
            <a:r>
              <a:rPr lang="en-US" baseline="0" dirty="0"/>
              <a:t> </a:t>
            </a:r>
            <a:r>
              <a:rPr lang="en-US" baseline="0" dirty="0" err="1"/>
              <a:t>công</a:t>
            </a:r>
            <a:r>
              <a:rPr lang="en-US" baseline="0" dirty="0"/>
              <a:t> </a:t>
            </a:r>
            <a:r>
              <a:rPr lang="en-US" baseline="0" dirty="0" err="1"/>
              <a:t>nhận</a:t>
            </a:r>
            <a:r>
              <a:rPr lang="en-US" baseline="0" dirty="0"/>
              <a:t> </a:t>
            </a:r>
            <a:r>
              <a:rPr lang="en-US" baseline="0" dirty="0" err="1"/>
              <a:t>rộng</a:t>
            </a:r>
            <a:r>
              <a:rPr lang="en-US" baseline="0" dirty="0"/>
              <a:t> </a:t>
            </a:r>
            <a:r>
              <a:rPr lang="en-US" baseline="0" dirty="0" err="1"/>
              <a:t>rãi</a:t>
            </a:r>
            <a:r>
              <a:rPr lang="en-US" baseline="0" dirty="0"/>
              <a:t> </a:t>
            </a:r>
            <a:r>
              <a:rPr lang="en-US" baseline="0" dirty="0" err="1"/>
              <a:t>là</a:t>
            </a:r>
            <a:r>
              <a:rPr lang="en-US" baseline="0" dirty="0"/>
              <a:t> </a:t>
            </a:r>
            <a:r>
              <a:rPr lang="en-US" baseline="0" dirty="0" err="1"/>
              <a:t>đơn</a:t>
            </a:r>
            <a:r>
              <a:rPr lang="en-US" baseline="0" dirty="0"/>
              <a:t> </a:t>
            </a:r>
            <a:r>
              <a:rPr lang="en-US" baseline="0" dirty="0" err="1"/>
              <a:t>vị</a:t>
            </a:r>
            <a:r>
              <a:rPr lang="en-US" baseline="0" dirty="0"/>
              <a:t> </a:t>
            </a:r>
            <a:r>
              <a:rPr lang="en-US" baseline="0" dirty="0" err="1"/>
              <a:t>uy</a:t>
            </a:r>
            <a:r>
              <a:rPr lang="en-US" baseline="0" dirty="0"/>
              <a:t> </a:t>
            </a:r>
            <a:r>
              <a:rPr lang="en-US" baseline="0" dirty="0" err="1"/>
              <a:t>tín</a:t>
            </a:r>
            <a:r>
              <a:rPr lang="en-US" baseline="0" dirty="0"/>
              <a:t> </a:t>
            </a:r>
            <a:r>
              <a:rPr lang="en-US" baseline="0" dirty="0" err="1"/>
              <a:t>toàn</a:t>
            </a:r>
            <a:r>
              <a:rPr lang="en-US" baseline="0" dirty="0"/>
              <a:t> </a:t>
            </a:r>
            <a:r>
              <a:rPr lang="en-US" baseline="0" dirty="0" err="1"/>
              <a:t>cầu</a:t>
            </a:r>
            <a:r>
              <a:rPr lang="en-US" baseline="0" dirty="0"/>
              <a:t> </a:t>
            </a:r>
            <a:r>
              <a:rPr lang="en-US" baseline="0" dirty="0" err="1"/>
              <a:t>trong</a:t>
            </a:r>
            <a:r>
              <a:rPr lang="en-US" baseline="0" dirty="0"/>
              <a:t> </a:t>
            </a:r>
            <a:r>
              <a:rPr lang="en-US" baseline="0" dirty="0" err="1"/>
              <a:t>các</a:t>
            </a:r>
            <a:r>
              <a:rPr lang="en-US" baseline="0" dirty="0"/>
              <a:t> </a:t>
            </a:r>
            <a:r>
              <a:rPr lang="en-US" baseline="0" dirty="0" err="1"/>
              <a:t>tiêu</a:t>
            </a:r>
            <a:r>
              <a:rPr lang="en-US" baseline="0" dirty="0"/>
              <a:t> </a:t>
            </a:r>
            <a:r>
              <a:rPr lang="en-US" baseline="0" dirty="0" err="1"/>
              <a:t>chuẩn</a:t>
            </a:r>
            <a:r>
              <a:rPr lang="en-US" baseline="0" dirty="0"/>
              <a:t> </a:t>
            </a:r>
            <a:r>
              <a:rPr lang="en-US" baseline="0" dirty="0" err="1"/>
              <a:t>về</a:t>
            </a:r>
            <a:r>
              <a:rPr lang="en-US" baseline="0" dirty="0"/>
              <a:t> QTRR </a:t>
            </a:r>
            <a:r>
              <a:rPr lang="en-US" baseline="0" dirty="0" err="1"/>
              <a:t>và</a:t>
            </a:r>
            <a:r>
              <a:rPr lang="en-US" baseline="0" dirty="0"/>
              <a:t> KSNB </a:t>
            </a:r>
          </a:p>
          <a:p>
            <a:r>
              <a:rPr lang="en-US" baseline="0" dirty="0" err="1"/>
              <a:t>Về</a:t>
            </a:r>
            <a:r>
              <a:rPr lang="en-US" baseline="0" dirty="0"/>
              <a:t> </a:t>
            </a:r>
            <a:r>
              <a:rPr lang="en-US" baseline="0" dirty="0" err="1"/>
              <a:t>khung</a:t>
            </a:r>
            <a:r>
              <a:rPr lang="en-US" baseline="0" dirty="0"/>
              <a:t> COSO ERM 2017: </a:t>
            </a:r>
            <a:r>
              <a:rPr lang="en-US" baseline="0" dirty="0" err="1"/>
              <a:t>Khác</a:t>
            </a:r>
            <a:r>
              <a:rPr lang="en-US" baseline="0" dirty="0"/>
              <a:t> </a:t>
            </a:r>
            <a:r>
              <a:rPr lang="en-US" baseline="0" dirty="0" err="1"/>
              <a:t>với</a:t>
            </a:r>
            <a:r>
              <a:rPr lang="en-US" baseline="0" dirty="0"/>
              <a:t> </a:t>
            </a:r>
            <a:r>
              <a:rPr lang="en-US" baseline="0" dirty="0" err="1"/>
              <a:t>các</a:t>
            </a:r>
            <a:r>
              <a:rPr lang="en-US" baseline="0" dirty="0"/>
              <a:t> </a:t>
            </a:r>
            <a:r>
              <a:rPr lang="en-US" baseline="0" dirty="0" err="1"/>
              <a:t>phiên</a:t>
            </a:r>
            <a:r>
              <a:rPr lang="en-US" baseline="0" dirty="0"/>
              <a:t> </a:t>
            </a:r>
            <a:r>
              <a:rPr lang="en-US" baseline="0" dirty="0" err="1"/>
              <a:t>bản</a:t>
            </a:r>
            <a:r>
              <a:rPr lang="en-US" baseline="0" dirty="0"/>
              <a:t> </a:t>
            </a:r>
            <a:r>
              <a:rPr lang="en-US" baseline="0" dirty="0" err="1"/>
              <a:t>trước</a:t>
            </a:r>
            <a:r>
              <a:rPr lang="en-US" baseline="0" dirty="0"/>
              <a:t>, Khung COSO ERM 2017 </a:t>
            </a:r>
            <a:r>
              <a:rPr lang="en-US" baseline="0" dirty="0" err="1"/>
              <a:t>thể</a:t>
            </a:r>
            <a:r>
              <a:rPr lang="en-US" baseline="0" dirty="0"/>
              <a:t> </a:t>
            </a:r>
            <a:r>
              <a:rPr lang="en-US" baseline="0" dirty="0" err="1"/>
              <a:t>hiện</a:t>
            </a:r>
            <a:r>
              <a:rPr lang="en-US" baseline="0" dirty="0"/>
              <a:t>: Các </a:t>
            </a:r>
            <a:r>
              <a:rPr lang="en-US" baseline="0" dirty="0" err="1"/>
              <a:t>trụ</a:t>
            </a:r>
            <a:r>
              <a:rPr lang="en-US" baseline="0" dirty="0"/>
              <a:t> </a:t>
            </a:r>
            <a:r>
              <a:rPr lang="en-US" baseline="0" dirty="0" err="1"/>
              <a:t>cột</a:t>
            </a:r>
            <a:r>
              <a:rPr lang="en-US" baseline="0" dirty="0"/>
              <a:t> </a:t>
            </a:r>
            <a:r>
              <a:rPr lang="en-US" baseline="0" dirty="0" err="1"/>
              <a:t>của</a:t>
            </a:r>
            <a:r>
              <a:rPr lang="en-US" baseline="0" dirty="0"/>
              <a:t> </a:t>
            </a:r>
            <a:r>
              <a:rPr lang="en-US" baseline="0" dirty="0" err="1"/>
              <a:t>khung</a:t>
            </a:r>
            <a:r>
              <a:rPr lang="en-US" baseline="0" dirty="0"/>
              <a:t> COSO </a:t>
            </a:r>
            <a:r>
              <a:rPr lang="en-US" baseline="0" dirty="0" err="1"/>
              <a:t>đan</a:t>
            </a:r>
            <a:r>
              <a:rPr lang="en-US" baseline="0" dirty="0"/>
              <a:t> xen </a:t>
            </a:r>
            <a:r>
              <a:rPr lang="en-US" baseline="0" dirty="0" err="1"/>
              <a:t>với</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doanh</a:t>
            </a:r>
            <a:r>
              <a:rPr lang="en-US" baseline="0" dirty="0"/>
              <a:t> </a:t>
            </a:r>
            <a:r>
              <a:rPr lang="en-US" baseline="0" dirty="0" err="1"/>
              <a:t>nghiệp</a:t>
            </a:r>
            <a:r>
              <a:rPr lang="en-US" baseline="0" dirty="0"/>
              <a:t>, </a:t>
            </a:r>
            <a:r>
              <a:rPr lang="en-US" baseline="0" dirty="0" err="1"/>
              <a:t>thể</a:t>
            </a:r>
            <a:r>
              <a:rPr lang="en-US" baseline="0" dirty="0"/>
              <a:t> </a:t>
            </a:r>
            <a:r>
              <a:rPr lang="en-US" baseline="0" dirty="0" err="1"/>
              <a:t>hiện</a:t>
            </a:r>
            <a:r>
              <a:rPr lang="en-US" baseline="0" dirty="0"/>
              <a:t> QTRR </a:t>
            </a:r>
            <a:r>
              <a:rPr lang="en-US" baseline="0" dirty="0" err="1"/>
              <a:t>như</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cốt</a:t>
            </a:r>
            <a:r>
              <a:rPr lang="en-US" baseline="0" dirty="0"/>
              <a:t> </a:t>
            </a:r>
            <a:r>
              <a:rPr lang="en-US" baseline="0" dirty="0" err="1"/>
              <a:t>lõi</a:t>
            </a:r>
            <a:r>
              <a:rPr lang="en-US" baseline="0" dirty="0"/>
              <a:t>, DNA </a:t>
            </a:r>
            <a:r>
              <a:rPr lang="en-US" baseline="0" dirty="0" err="1"/>
              <a:t>của</a:t>
            </a:r>
            <a:r>
              <a:rPr lang="en-US" baseline="0" dirty="0"/>
              <a:t> </a:t>
            </a:r>
            <a:r>
              <a:rPr lang="en-US" baseline="0" dirty="0" err="1"/>
              <a:t>doanh</a:t>
            </a:r>
            <a:r>
              <a:rPr lang="en-US" baseline="0" dirty="0"/>
              <a:t> </a:t>
            </a:r>
            <a:r>
              <a:rPr lang="en-US" baseline="0" dirty="0" err="1"/>
              <a:t>nghiệp</a:t>
            </a:r>
            <a:r>
              <a:rPr lang="en-US" baseline="0" dirty="0"/>
              <a:t>. Khung bao </a:t>
            </a:r>
            <a:r>
              <a:rPr lang="en-US" baseline="0" dirty="0" err="1"/>
              <a:t>gồm</a:t>
            </a:r>
            <a:r>
              <a:rPr lang="en-US" baseline="0" dirty="0"/>
              <a:t> 20 </a:t>
            </a:r>
            <a:r>
              <a:rPr lang="en-US" baseline="0" dirty="0" err="1"/>
              <a:t>nguyên</a:t>
            </a:r>
            <a:r>
              <a:rPr lang="en-US" baseline="0" dirty="0"/>
              <a:t> </a:t>
            </a:r>
            <a:r>
              <a:rPr lang="en-US" baseline="0" dirty="0" err="1"/>
              <a:t>tắc</a:t>
            </a:r>
            <a:r>
              <a:rPr lang="en-US" baseline="0" dirty="0"/>
              <a:t> </a:t>
            </a:r>
            <a:r>
              <a:rPr lang="en-US" baseline="0" dirty="0" err="1"/>
              <a:t>về</a:t>
            </a:r>
            <a:r>
              <a:rPr lang="en-US" baseline="0" dirty="0"/>
              <a:t> QTRR </a:t>
            </a:r>
            <a:r>
              <a:rPr lang="en-US" baseline="0" dirty="0" err="1"/>
              <a:t>doanh</a:t>
            </a:r>
            <a:r>
              <a:rPr lang="en-US" baseline="0" dirty="0"/>
              <a:t> </a:t>
            </a:r>
            <a:r>
              <a:rPr lang="en-US" baseline="0" dirty="0" err="1"/>
              <a:t>nghiệp</a:t>
            </a:r>
            <a:r>
              <a:rPr lang="en-US" baseline="0" dirty="0"/>
              <a:t> </a:t>
            </a:r>
            <a:r>
              <a:rPr lang="en-US" baseline="0" dirty="0" err="1"/>
              <a:t>theo</a:t>
            </a:r>
            <a:r>
              <a:rPr lang="en-US" baseline="0" dirty="0"/>
              <a:t> </a:t>
            </a:r>
            <a:r>
              <a:rPr lang="en-US" baseline="0" dirty="0" err="1"/>
              <a:t>các</a:t>
            </a:r>
            <a:r>
              <a:rPr lang="en-US" baseline="0" dirty="0"/>
              <a:t> </a:t>
            </a:r>
            <a:r>
              <a:rPr lang="en-US" baseline="0" dirty="0" err="1"/>
              <a:t>trụ</a:t>
            </a:r>
            <a:r>
              <a:rPr lang="en-US" baseline="0" dirty="0"/>
              <a:t> </a:t>
            </a:r>
            <a:r>
              <a:rPr lang="en-US" baseline="0" dirty="0" err="1"/>
              <a:t>cột</a:t>
            </a:r>
            <a:r>
              <a:rPr lang="en-US" baseline="0" dirty="0"/>
              <a:t>: Quản </a:t>
            </a:r>
            <a:r>
              <a:rPr lang="en-US" baseline="0" dirty="0" err="1"/>
              <a:t>trị</a:t>
            </a:r>
            <a:r>
              <a:rPr lang="en-US" baseline="0" dirty="0"/>
              <a:t> </a:t>
            </a:r>
            <a:r>
              <a:rPr lang="en-US" baseline="0" dirty="0" err="1"/>
              <a:t>và</a:t>
            </a:r>
            <a:r>
              <a:rPr lang="en-US" baseline="0" dirty="0"/>
              <a:t> </a:t>
            </a:r>
            <a:r>
              <a:rPr lang="en-US" baseline="0" dirty="0" err="1"/>
              <a:t>văn</a:t>
            </a:r>
            <a:r>
              <a:rPr lang="en-US" baseline="0" dirty="0"/>
              <a:t> </a:t>
            </a:r>
            <a:r>
              <a:rPr lang="en-US" baseline="0" dirty="0" err="1"/>
              <a:t>hóa</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và</a:t>
            </a:r>
            <a:r>
              <a:rPr lang="en-US" baseline="0" dirty="0"/>
              <a:t> </a:t>
            </a:r>
            <a:r>
              <a:rPr lang="en-US" baseline="0" dirty="0" err="1"/>
              <a:t>thiết</a:t>
            </a:r>
            <a:r>
              <a:rPr lang="en-US" baseline="0" dirty="0"/>
              <a:t> </a:t>
            </a:r>
            <a:r>
              <a:rPr lang="en-US" baseline="0" dirty="0" err="1"/>
              <a:t>lập</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Thực</a:t>
            </a:r>
            <a:r>
              <a:rPr lang="en-US" baseline="0" dirty="0"/>
              <a:t> </a:t>
            </a:r>
            <a:r>
              <a:rPr lang="en-US" baseline="0" dirty="0" err="1"/>
              <a:t>thi</a:t>
            </a:r>
            <a:r>
              <a:rPr lang="en-US" baseline="0" dirty="0"/>
              <a:t>, </a:t>
            </a:r>
            <a:r>
              <a:rPr lang="en-US" baseline="0" dirty="0" err="1"/>
              <a:t>Rà</a:t>
            </a:r>
            <a:r>
              <a:rPr lang="en-US" baseline="0" dirty="0"/>
              <a:t> </a:t>
            </a:r>
            <a:r>
              <a:rPr lang="en-US" baseline="0" dirty="0" err="1"/>
              <a:t>soát</a:t>
            </a:r>
            <a:r>
              <a:rPr lang="en-US" baseline="0" dirty="0"/>
              <a:t> </a:t>
            </a:r>
            <a:r>
              <a:rPr lang="en-US" baseline="0" dirty="0" err="1"/>
              <a:t>và</a:t>
            </a:r>
            <a:r>
              <a:rPr lang="en-US" baseline="0" dirty="0"/>
              <a:t> </a:t>
            </a:r>
            <a:r>
              <a:rPr lang="en-US" baseline="0" dirty="0" err="1"/>
              <a:t>điều</a:t>
            </a:r>
            <a:r>
              <a:rPr lang="en-US" baseline="0" dirty="0"/>
              <a:t> </a:t>
            </a:r>
            <a:r>
              <a:rPr lang="en-US" baseline="0" dirty="0" err="1"/>
              <a:t>chỉnh</a:t>
            </a:r>
            <a:r>
              <a:rPr lang="en-US" baseline="0" dirty="0"/>
              <a:t>, Thông tin, </a:t>
            </a:r>
            <a:r>
              <a:rPr lang="en-US" baseline="0" dirty="0" err="1"/>
              <a:t>truyền</a:t>
            </a:r>
            <a:r>
              <a:rPr lang="en-US" baseline="0" dirty="0"/>
              <a:t> </a:t>
            </a:r>
            <a:r>
              <a:rPr lang="en-US" baseline="0" dirty="0" err="1"/>
              <a:t>thông</a:t>
            </a:r>
            <a:r>
              <a:rPr lang="en-US" baseline="0" dirty="0"/>
              <a:t> </a:t>
            </a:r>
            <a:r>
              <a:rPr lang="en-US" baseline="0" dirty="0" err="1"/>
              <a:t>và</a:t>
            </a:r>
            <a:r>
              <a:rPr lang="en-US" baseline="0" dirty="0"/>
              <a:t> </a:t>
            </a:r>
            <a:r>
              <a:rPr lang="en-US" baseline="0" dirty="0" err="1"/>
              <a:t>báo</a:t>
            </a:r>
            <a:r>
              <a:rPr lang="en-US" baseline="0" dirty="0"/>
              <a:t> </a:t>
            </a:r>
            <a:r>
              <a:rPr lang="en-US" baseline="0" dirty="0" err="1"/>
              <a:t>cáo</a:t>
            </a:r>
            <a:r>
              <a:rPr lang="en-US" baseline="0" dirty="0"/>
              <a:t>. </a:t>
            </a:r>
            <a:r>
              <a:rPr lang="en-US" baseline="0" dirty="0" err="1"/>
              <a:t>Một</a:t>
            </a:r>
            <a:r>
              <a:rPr lang="en-US" baseline="0" dirty="0"/>
              <a:t> </a:t>
            </a:r>
            <a:r>
              <a:rPr lang="en-US" baseline="0" dirty="0" err="1"/>
              <a:t>mô</a:t>
            </a:r>
            <a:r>
              <a:rPr lang="en-US" baseline="0" dirty="0"/>
              <a:t> </a:t>
            </a:r>
            <a:r>
              <a:rPr lang="en-US" baseline="0" dirty="0" err="1"/>
              <a:t>hình</a:t>
            </a:r>
            <a:r>
              <a:rPr lang="en-US" baseline="0" dirty="0"/>
              <a:t> QTRR </a:t>
            </a:r>
            <a:r>
              <a:rPr lang="en-US" baseline="0" dirty="0" err="1"/>
              <a:t>tiên</a:t>
            </a:r>
            <a:r>
              <a:rPr lang="en-US" baseline="0" dirty="0"/>
              <a:t> </a:t>
            </a:r>
            <a:r>
              <a:rPr lang="en-US" baseline="0" dirty="0" err="1"/>
              <a:t>tiến</a:t>
            </a:r>
            <a:r>
              <a:rPr lang="en-US" baseline="0" dirty="0"/>
              <a:t> </a:t>
            </a:r>
            <a:r>
              <a:rPr lang="en-US" baseline="0" dirty="0" err="1"/>
              <a:t>sẽ</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được</a:t>
            </a:r>
            <a:r>
              <a:rPr lang="en-US" baseline="0" dirty="0"/>
              <a:t> </a:t>
            </a:r>
            <a:r>
              <a:rPr lang="en-US" baseline="0" dirty="0" err="1"/>
              <a:t>đầy</a:t>
            </a:r>
            <a:r>
              <a:rPr lang="en-US" baseline="0" dirty="0"/>
              <a:t> </a:t>
            </a:r>
            <a:r>
              <a:rPr lang="en-US" baseline="0" dirty="0" err="1"/>
              <a:t>đủ</a:t>
            </a:r>
            <a:r>
              <a:rPr lang="en-US" baseline="0" dirty="0"/>
              <a:t> 20 </a:t>
            </a:r>
            <a:r>
              <a:rPr lang="en-US" baseline="0" dirty="0" err="1"/>
              <a:t>nguyên</a:t>
            </a:r>
            <a:r>
              <a:rPr lang="en-US" baseline="0" dirty="0"/>
              <a:t> </a:t>
            </a:r>
            <a:r>
              <a:rPr lang="en-US" baseline="0" dirty="0" err="1"/>
              <a:t>tắc</a:t>
            </a:r>
            <a:r>
              <a:rPr lang="en-US" baseline="0" dirty="0"/>
              <a:t> </a:t>
            </a:r>
            <a:r>
              <a:rPr lang="en-US" baseline="0" dirty="0" err="1"/>
              <a:t>này</a:t>
            </a:r>
            <a:r>
              <a:rPr lang="en-US" baseline="0" dirty="0"/>
              <a:t>.</a:t>
            </a:r>
            <a:endParaRPr lang="en-US" dirty="0"/>
          </a:p>
          <a:p>
            <a:r>
              <a:rPr lang="en-US" baseline="0" dirty="0" err="1"/>
              <a:t>Về</a:t>
            </a:r>
            <a:r>
              <a:rPr lang="en-US" baseline="0" dirty="0"/>
              <a:t> </a:t>
            </a:r>
            <a:r>
              <a:rPr lang="en-US" baseline="0" dirty="0" err="1"/>
              <a:t>tổng</a:t>
            </a:r>
            <a:r>
              <a:rPr lang="en-US" baseline="0" dirty="0"/>
              <a:t> </a:t>
            </a:r>
            <a:r>
              <a:rPr lang="en-US" baseline="0" dirty="0" err="1"/>
              <a:t>quan</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tại</a:t>
            </a:r>
            <a:r>
              <a:rPr lang="en-US" baseline="0" dirty="0"/>
              <a:t> VDS </a:t>
            </a:r>
            <a:r>
              <a:rPr lang="en-US" baseline="0" dirty="0" err="1"/>
              <a:t>mới</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các</a:t>
            </a:r>
            <a:r>
              <a:rPr lang="en-US" baseline="0" dirty="0"/>
              <a:t> </a:t>
            </a:r>
            <a:r>
              <a:rPr lang="en-US" baseline="0" dirty="0" err="1"/>
              <a:t>thông</a:t>
            </a:r>
            <a:r>
              <a:rPr lang="en-US" baseline="0" dirty="0"/>
              <a:t> </a:t>
            </a:r>
            <a:r>
              <a:rPr lang="en-US" baseline="0" dirty="0" err="1"/>
              <a:t>lệ</a:t>
            </a:r>
            <a:r>
              <a:rPr lang="en-US" baseline="0" dirty="0"/>
              <a:t>, </a:t>
            </a:r>
            <a:r>
              <a:rPr lang="en-US" baseline="0" dirty="0" err="1"/>
              <a:t>với</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về</a:t>
            </a:r>
            <a:r>
              <a:rPr lang="en-US" baseline="0" dirty="0"/>
              <a:t> Quản </a:t>
            </a:r>
            <a:r>
              <a:rPr lang="en-US" baseline="0" dirty="0" err="1"/>
              <a:t>trị</a:t>
            </a:r>
            <a:r>
              <a:rPr lang="en-US" baseline="0" dirty="0"/>
              <a:t>, </a:t>
            </a:r>
            <a:r>
              <a:rPr lang="en-US" baseline="0" dirty="0" err="1"/>
              <a:t>văn</a:t>
            </a:r>
            <a:r>
              <a:rPr lang="en-US" baseline="0" dirty="0"/>
              <a:t> </a:t>
            </a:r>
            <a:r>
              <a:rPr lang="en-US" baseline="0" dirty="0" err="1"/>
              <a:t>hóa</a:t>
            </a:r>
            <a:r>
              <a:rPr lang="en-US" baseline="0" dirty="0"/>
              <a:t> ở </a:t>
            </a:r>
            <a:r>
              <a:rPr lang="en-US" baseline="0" dirty="0" err="1"/>
              <a:t>mức</a:t>
            </a:r>
            <a:r>
              <a:rPr lang="en-US" baseline="0" dirty="0"/>
              <a:t> </a:t>
            </a:r>
            <a:r>
              <a:rPr lang="en-US" baseline="0" dirty="0" err="1"/>
              <a:t>tương</a:t>
            </a:r>
            <a:r>
              <a:rPr lang="en-US" baseline="0" dirty="0"/>
              <a:t> </a:t>
            </a:r>
            <a:r>
              <a:rPr lang="en-US" baseline="0" dirty="0" err="1"/>
              <a:t>đối</a:t>
            </a:r>
            <a:r>
              <a:rPr lang="en-US" baseline="0" dirty="0"/>
              <a:t> </a:t>
            </a:r>
            <a:r>
              <a:rPr lang="en-US" baseline="0" dirty="0" err="1"/>
              <a:t>cao</a:t>
            </a:r>
            <a:r>
              <a:rPr lang="en-US" baseline="0" dirty="0"/>
              <a:t>. Tuy </a:t>
            </a:r>
            <a:r>
              <a:rPr lang="en-US" baseline="0" dirty="0" err="1"/>
              <a:t>nhiên</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thực</a:t>
            </a:r>
            <a:r>
              <a:rPr lang="en-US" baseline="0" dirty="0"/>
              <a:t> </a:t>
            </a:r>
            <a:r>
              <a:rPr lang="en-US" baseline="0" dirty="0" err="1"/>
              <a:t>thi</a:t>
            </a:r>
            <a:r>
              <a:rPr lang="en-US" baseline="0" dirty="0"/>
              <a:t>, </a:t>
            </a:r>
            <a:r>
              <a:rPr lang="en-US" baseline="0" dirty="0" err="1"/>
              <a:t>triển</a:t>
            </a:r>
            <a:r>
              <a:rPr lang="en-US" baseline="0" dirty="0"/>
              <a:t> </a:t>
            </a:r>
            <a:r>
              <a:rPr lang="en-US" baseline="0" dirty="0" err="1"/>
              <a:t>khai</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chưa</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hoàn</a:t>
            </a:r>
            <a:r>
              <a:rPr lang="en-US" baseline="0" dirty="0"/>
              <a:t> </a:t>
            </a:r>
            <a:r>
              <a:rPr lang="en-US" baseline="0" dirty="0" err="1"/>
              <a:t>toàn</a:t>
            </a:r>
            <a:r>
              <a:rPr lang="en-US" baseline="0" dirty="0"/>
              <a:t> </a:t>
            </a:r>
            <a:r>
              <a:rPr lang="en-US" baseline="0" dirty="0" err="1"/>
              <a:t>được</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của</a:t>
            </a:r>
            <a:r>
              <a:rPr lang="en-US" baseline="0" dirty="0"/>
              <a:t> </a:t>
            </a:r>
            <a:r>
              <a:rPr lang="en-US" baseline="0" dirty="0" err="1"/>
              <a:t>khung</a:t>
            </a:r>
            <a:r>
              <a:rPr lang="en-US" baseline="0" dirty="0"/>
              <a:t> </a:t>
            </a:r>
            <a:r>
              <a:rPr lang="en-US" baseline="0" dirty="0" err="1"/>
              <a:t>đưa</a:t>
            </a:r>
            <a:r>
              <a:rPr lang="en-US" baseline="0" dirty="0"/>
              <a:t> </a:t>
            </a:r>
            <a:r>
              <a:rPr lang="en-US" baseline="0" dirty="0" err="1"/>
              <a:t>ra.</a:t>
            </a:r>
            <a:endParaRPr lang="en-US" baseline="0" dirty="0"/>
          </a:p>
        </p:txBody>
      </p:sp>
      <p:sp>
        <p:nvSpPr>
          <p:cNvPr id="4" name="Slide Number Placeholder 3">
            <a:extLst>
              <a:ext uri="{FF2B5EF4-FFF2-40B4-BE49-F238E27FC236}">
                <a16:creationId xmlns:a16="http://schemas.microsoft.com/office/drawing/2014/main" id="{56F4D1FD-C0BF-1B9B-4741-BD5AB9F77272}"/>
              </a:ext>
            </a:extLst>
          </p:cNvPr>
          <p:cNvSpPr>
            <a:spLocks noGrp="1"/>
          </p:cNvSpPr>
          <p:nvPr>
            <p:ph type="sldNum" sz="quarter" idx="10"/>
          </p:nvPr>
        </p:nvSpPr>
        <p:spPr/>
        <p:txBody>
          <a:bodyPr/>
          <a:lstStyle/>
          <a:p>
            <a:fld id="{1DC2BFA4-BC98-498D-B621-723460117A7F}" type="slidenum">
              <a:rPr lang="en-US" smtClean="0"/>
              <a:pPr/>
              <a:t>19</a:t>
            </a:fld>
            <a:endParaRPr lang="en-US" dirty="0"/>
          </a:p>
        </p:txBody>
      </p:sp>
    </p:spTree>
    <p:extLst>
      <p:ext uri="{BB962C8B-B14F-4D97-AF65-F5344CB8AC3E}">
        <p14:creationId xmlns:p14="http://schemas.microsoft.com/office/powerpoint/2010/main" val="2028712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Slide tổng hợp 20 nguyên tắc COSO ERM — KHÔNG lặp số liệu từ slide tổng quan trước đó.
Cách trình bày: Không đọc hết — chọn 2 dòng quan trọng nhất:
1. Chiến lược: chưa có RAS — đây là gốc rễ, vì khi chưa có khẩu vị rủi ro thì toàn bộ các bước sau (</a:t>
            </a:r>
            <a:r>
              <a:rPr lang="en-US" dirty="0" err="1"/>
              <a:t>đánh</a:t>
            </a:r>
            <a:r>
              <a:rPr lang="en-US" dirty="0"/>
              <a:t> giá, KRI, dashboard) đều thiếu thước đo.
2. Thực thi: rủi ro được nhận diện nhưng không có công cụ đo lường và </a:t>
            </a:r>
            <a:r>
              <a:rPr lang="en-US" dirty="0" err="1"/>
              <a:t>cơ</a:t>
            </a:r>
            <a:r>
              <a:rPr lang="en-US" dirty="0"/>
              <a:t> chế xử lý — giống như đo huyết áp nhưng không có máy đo.
Câu chốt cuối slide: đọc dòng nhận định — bộ máy đã có, thiếu công cụ, thông tin chưa đến được lãnh đạo đúng lúc.</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608979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Giới</a:t>
            </a:r>
            <a:r>
              <a:rPr lang="en-US" baseline="0" dirty="0"/>
              <a:t> </a:t>
            </a:r>
            <a:r>
              <a:rPr lang="en-US" baseline="0" dirty="0" err="1"/>
              <a:t>thiệu</a:t>
            </a:r>
            <a:r>
              <a:rPr lang="en-US" baseline="0" dirty="0"/>
              <a:t> </a:t>
            </a:r>
            <a:r>
              <a:rPr lang="en-US" baseline="0" dirty="0" err="1"/>
              <a:t>khung</a:t>
            </a:r>
            <a:r>
              <a:rPr lang="en-US" baseline="0" dirty="0"/>
              <a:t> COSO ERM: </a:t>
            </a:r>
            <a:r>
              <a:rPr lang="en-US" baseline="0" dirty="0" err="1"/>
              <a:t>Là</a:t>
            </a:r>
            <a:r>
              <a:rPr lang="en-US" baseline="0" dirty="0"/>
              <a:t> </a:t>
            </a:r>
            <a:r>
              <a:rPr lang="en-US" baseline="0" dirty="0" err="1"/>
              <a:t>thông</a:t>
            </a:r>
            <a:r>
              <a:rPr lang="en-US" baseline="0" dirty="0"/>
              <a:t> </a:t>
            </a:r>
            <a:r>
              <a:rPr lang="en-US" baseline="0" dirty="0" err="1"/>
              <a:t>lệ</a:t>
            </a:r>
            <a:r>
              <a:rPr lang="en-US" baseline="0" dirty="0"/>
              <a:t> </a:t>
            </a:r>
            <a:r>
              <a:rPr lang="en-US" baseline="0" dirty="0" err="1"/>
              <a:t>được</a:t>
            </a:r>
            <a:r>
              <a:rPr lang="en-US" baseline="0" dirty="0"/>
              <a:t> ban </a:t>
            </a:r>
            <a:r>
              <a:rPr lang="en-US" baseline="0" dirty="0" err="1"/>
              <a:t>hành</a:t>
            </a:r>
            <a:r>
              <a:rPr lang="en-US" baseline="0" dirty="0"/>
              <a:t> </a:t>
            </a:r>
            <a:r>
              <a:rPr lang="en-US" baseline="0" dirty="0" err="1"/>
              <a:t>bởi</a:t>
            </a:r>
            <a:r>
              <a:rPr lang="en-US" baseline="0" dirty="0"/>
              <a:t> COSO, </a:t>
            </a:r>
            <a:r>
              <a:rPr lang="en-US" baseline="0" dirty="0" err="1"/>
              <a:t>dựa</a:t>
            </a:r>
            <a:r>
              <a:rPr lang="en-US" baseline="0" dirty="0"/>
              <a:t> </a:t>
            </a:r>
            <a:r>
              <a:rPr lang="en-US" baseline="0" dirty="0" err="1"/>
              <a:t>trên</a:t>
            </a:r>
            <a:r>
              <a:rPr lang="en-US" baseline="0" dirty="0"/>
              <a:t> </a:t>
            </a:r>
            <a:r>
              <a:rPr lang="en-US" baseline="0" dirty="0" err="1"/>
              <a:t>sáng</a:t>
            </a:r>
            <a:r>
              <a:rPr lang="en-US" baseline="0" dirty="0"/>
              <a:t> </a:t>
            </a:r>
            <a:r>
              <a:rPr lang="en-US" baseline="0" dirty="0" err="1"/>
              <a:t>kiến</a:t>
            </a:r>
            <a:r>
              <a:rPr lang="en-US" baseline="0" dirty="0"/>
              <a:t> </a:t>
            </a:r>
            <a:r>
              <a:rPr lang="en-US" baseline="0" dirty="0" err="1"/>
              <a:t>của</a:t>
            </a:r>
            <a:r>
              <a:rPr lang="en-US" baseline="0" dirty="0"/>
              <a:t> </a:t>
            </a:r>
            <a:r>
              <a:rPr lang="en-US" baseline="0" dirty="0" err="1"/>
              <a:t>các</a:t>
            </a:r>
            <a:r>
              <a:rPr lang="en-US" baseline="0" dirty="0"/>
              <a:t> </a:t>
            </a:r>
            <a:r>
              <a:rPr lang="en-US" baseline="0" dirty="0" err="1"/>
              <a:t>thành</a:t>
            </a:r>
            <a:r>
              <a:rPr lang="en-US" baseline="0" dirty="0"/>
              <a:t> </a:t>
            </a:r>
            <a:r>
              <a:rPr lang="en-US" baseline="0" dirty="0" err="1"/>
              <a:t>viên</a:t>
            </a:r>
            <a:r>
              <a:rPr lang="en-US" baseline="0" dirty="0"/>
              <a:t> </a:t>
            </a:r>
            <a:r>
              <a:rPr lang="en-US" baseline="0" dirty="0" err="1"/>
              <a:t>là</a:t>
            </a:r>
            <a:r>
              <a:rPr lang="en-US" baseline="0" dirty="0"/>
              <a:t> </a:t>
            </a:r>
            <a:r>
              <a:rPr lang="en-US" baseline="0" dirty="0" err="1"/>
              <a:t>các</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hành</a:t>
            </a:r>
            <a:r>
              <a:rPr lang="en-US" baseline="0" dirty="0"/>
              <a:t> </a:t>
            </a:r>
            <a:r>
              <a:rPr lang="en-US" baseline="0" dirty="0" err="1"/>
              <a:t>nghề</a:t>
            </a:r>
            <a:r>
              <a:rPr lang="en-US" baseline="0" dirty="0"/>
              <a:t> </a:t>
            </a:r>
            <a:r>
              <a:rPr lang="en-US" baseline="0" dirty="0" err="1"/>
              <a:t>kế</a:t>
            </a:r>
            <a:r>
              <a:rPr lang="en-US" baseline="0" dirty="0"/>
              <a:t> </a:t>
            </a:r>
            <a:r>
              <a:rPr lang="en-US" baseline="0" dirty="0" err="1"/>
              <a:t>toán</a:t>
            </a:r>
            <a:r>
              <a:rPr lang="en-US" baseline="0" dirty="0"/>
              <a:t>, </a:t>
            </a:r>
            <a:r>
              <a:rPr lang="en-US" baseline="0" dirty="0" err="1"/>
              <a:t>kiểm</a:t>
            </a:r>
            <a:r>
              <a:rPr lang="en-US" baseline="0" dirty="0"/>
              <a:t> </a:t>
            </a:r>
            <a:r>
              <a:rPr lang="en-US" baseline="0" dirty="0" err="1"/>
              <a:t>toán</a:t>
            </a:r>
            <a:r>
              <a:rPr lang="en-US" baseline="0" dirty="0"/>
              <a:t> </a:t>
            </a:r>
            <a:r>
              <a:rPr lang="en-US" baseline="0" dirty="0" err="1"/>
              <a:t>hàng</a:t>
            </a:r>
            <a:r>
              <a:rPr lang="en-US" baseline="0" dirty="0"/>
              <a:t> </a:t>
            </a:r>
            <a:r>
              <a:rPr lang="en-US" baseline="0" dirty="0" err="1"/>
              <a:t>đầu</a:t>
            </a:r>
            <a:r>
              <a:rPr lang="en-US" baseline="0" dirty="0"/>
              <a:t> </a:t>
            </a:r>
            <a:r>
              <a:rPr lang="en-US" baseline="0" dirty="0" err="1"/>
              <a:t>tại</a:t>
            </a:r>
            <a:r>
              <a:rPr lang="en-US" baseline="0" dirty="0"/>
              <a:t> Hoa </a:t>
            </a:r>
            <a:r>
              <a:rPr lang="en-US" baseline="0" dirty="0" err="1"/>
              <a:t>Kỳ</a:t>
            </a:r>
            <a:r>
              <a:rPr lang="en-US" baseline="0" dirty="0"/>
              <a:t>, </a:t>
            </a:r>
            <a:r>
              <a:rPr lang="en-US" baseline="0" dirty="0" err="1"/>
              <a:t>được</a:t>
            </a:r>
            <a:r>
              <a:rPr lang="en-US" baseline="0" dirty="0"/>
              <a:t> </a:t>
            </a:r>
            <a:r>
              <a:rPr lang="en-US" baseline="0" dirty="0" err="1"/>
              <a:t>công</a:t>
            </a:r>
            <a:r>
              <a:rPr lang="en-US" baseline="0" dirty="0"/>
              <a:t> </a:t>
            </a:r>
            <a:r>
              <a:rPr lang="en-US" baseline="0" dirty="0" err="1"/>
              <a:t>nhận</a:t>
            </a:r>
            <a:r>
              <a:rPr lang="en-US" baseline="0" dirty="0"/>
              <a:t> </a:t>
            </a:r>
            <a:r>
              <a:rPr lang="en-US" baseline="0" dirty="0" err="1"/>
              <a:t>rộng</a:t>
            </a:r>
            <a:r>
              <a:rPr lang="en-US" baseline="0" dirty="0"/>
              <a:t> </a:t>
            </a:r>
            <a:r>
              <a:rPr lang="en-US" baseline="0" dirty="0" err="1"/>
              <a:t>rãi</a:t>
            </a:r>
            <a:r>
              <a:rPr lang="en-US" baseline="0" dirty="0"/>
              <a:t> </a:t>
            </a:r>
            <a:r>
              <a:rPr lang="en-US" baseline="0" dirty="0" err="1"/>
              <a:t>là</a:t>
            </a:r>
            <a:r>
              <a:rPr lang="en-US" baseline="0" dirty="0"/>
              <a:t> </a:t>
            </a:r>
            <a:r>
              <a:rPr lang="en-US" baseline="0" dirty="0" err="1"/>
              <a:t>đơn</a:t>
            </a:r>
            <a:r>
              <a:rPr lang="en-US" baseline="0" dirty="0"/>
              <a:t> </a:t>
            </a:r>
            <a:r>
              <a:rPr lang="en-US" baseline="0" dirty="0" err="1"/>
              <a:t>vị</a:t>
            </a:r>
            <a:r>
              <a:rPr lang="en-US" baseline="0" dirty="0"/>
              <a:t> </a:t>
            </a:r>
            <a:r>
              <a:rPr lang="en-US" baseline="0" dirty="0" err="1"/>
              <a:t>uy</a:t>
            </a:r>
            <a:r>
              <a:rPr lang="en-US" baseline="0" dirty="0"/>
              <a:t> </a:t>
            </a:r>
            <a:r>
              <a:rPr lang="en-US" baseline="0" dirty="0" err="1"/>
              <a:t>tín</a:t>
            </a:r>
            <a:r>
              <a:rPr lang="en-US" baseline="0" dirty="0"/>
              <a:t> </a:t>
            </a:r>
            <a:r>
              <a:rPr lang="en-US" baseline="0" dirty="0" err="1"/>
              <a:t>toàn</a:t>
            </a:r>
            <a:r>
              <a:rPr lang="en-US" baseline="0" dirty="0"/>
              <a:t> </a:t>
            </a:r>
            <a:r>
              <a:rPr lang="en-US" baseline="0" dirty="0" err="1"/>
              <a:t>cầu</a:t>
            </a:r>
            <a:r>
              <a:rPr lang="en-US" baseline="0" dirty="0"/>
              <a:t> </a:t>
            </a:r>
            <a:r>
              <a:rPr lang="en-US" baseline="0" dirty="0" err="1"/>
              <a:t>trong</a:t>
            </a:r>
            <a:r>
              <a:rPr lang="en-US" baseline="0" dirty="0"/>
              <a:t> </a:t>
            </a:r>
            <a:r>
              <a:rPr lang="en-US" baseline="0" dirty="0" err="1"/>
              <a:t>các</a:t>
            </a:r>
            <a:r>
              <a:rPr lang="en-US" baseline="0" dirty="0"/>
              <a:t> </a:t>
            </a:r>
            <a:r>
              <a:rPr lang="en-US" baseline="0" dirty="0" err="1"/>
              <a:t>tiêu</a:t>
            </a:r>
            <a:r>
              <a:rPr lang="en-US" baseline="0" dirty="0"/>
              <a:t> </a:t>
            </a:r>
            <a:r>
              <a:rPr lang="en-US" baseline="0" dirty="0" err="1"/>
              <a:t>chuẩn</a:t>
            </a:r>
            <a:r>
              <a:rPr lang="en-US" baseline="0" dirty="0"/>
              <a:t> </a:t>
            </a:r>
            <a:r>
              <a:rPr lang="en-US" baseline="0" dirty="0" err="1"/>
              <a:t>về</a:t>
            </a:r>
            <a:r>
              <a:rPr lang="en-US" baseline="0" dirty="0"/>
              <a:t> QTRR </a:t>
            </a:r>
            <a:r>
              <a:rPr lang="en-US" baseline="0" dirty="0" err="1"/>
              <a:t>và</a:t>
            </a:r>
            <a:r>
              <a:rPr lang="en-US" baseline="0" dirty="0"/>
              <a:t> KSNB </a:t>
            </a:r>
          </a:p>
          <a:p>
            <a:r>
              <a:rPr lang="en-US" baseline="0" dirty="0" err="1"/>
              <a:t>Về</a:t>
            </a:r>
            <a:r>
              <a:rPr lang="en-US" baseline="0" dirty="0"/>
              <a:t> </a:t>
            </a:r>
            <a:r>
              <a:rPr lang="en-US" baseline="0" dirty="0" err="1"/>
              <a:t>khung</a:t>
            </a:r>
            <a:r>
              <a:rPr lang="en-US" baseline="0" dirty="0"/>
              <a:t> COSO ERM 2017: </a:t>
            </a:r>
            <a:r>
              <a:rPr lang="en-US" baseline="0" dirty="0" err="1"/>
              <a:t>Khác</a:t>
            </a:r>
            <a:r>
              <a:rPr lang="en-US" baseline="0" dirty="0"/>
              <a:t> </a:t>
            </a:r>
            <a:r>
              <a:rPr lang="en-US" baseline="0" dirty="0" err="1"/>
              <a:t>với</a:t>
            </a:r>
            <a:r>
              <a:rPr lang="en-US" baseline="0" dirty="0"/>
              <a:t> </a:t>
            </a:r>
            <a:r>
              <a:rPr lang="en-US" baseline="0" dirty="0" err="1"/>
              <a:t>các</a:t>
            </a:r>
            <a:r>
              <a:rPr lang="en-US" baseline="0" dirty="0"/>
              <a:t> </a:t>
            </a:r>
            <a:r>
              <a:rPr lang="en-US" baseline="0" dirty="0" err="1"/>
              <a:t>phiên</a:t>
            </a:r>
            <a:r>
              <a:rPr lang="en-US" baseline="0" dirty="0"/>
              <a:t> </a:t>
            </a:r>
            <a:r>
              <a:rPr lang="en-US" baseline="0" dirty="0" err="1"/>
              <a:t>bản</a:t>
            </a:r>
            <a:r>
              <a:rPr lang="en-US" baseline="0" dirty="0"/>
              <a:t> </a:t>
            </a:r>
            <a:r>
              <a:rPr lang="en-US" baseline="0" dirty="0" err="1"/>
              <a:t>trước</a:t>
            </a:r>
            <a:r>
              <a:rPr lang="en-US" baseline="0" dirty="0"/>
              <a:t>, Khung COSO ERM 2017 </a:t>
            </a:r>
            <a:r>
              <a:rPr lang="en-US" baseline="0" dirty="0" err="1"/>
              <a:t>thể</a:t>
            </a:r>
            <a:r>
              <a:rPr lang="en-US" baseline="0" dirty="0"/>
              <a:t> </a:t>
            </a:r>
            <a:r>
              <a:rPr lang="en-US" baseline="0" dirty="0" err="1"/>
              <a:t>hiện</a:t>
            </a:r>
            <a:r>
              <a:rPr lang="en-US" baseline="0" dirty="0"/>
              <a:t>: Các </a:t>
            </a:r>
            <a:r>
              <a:rPr lang="en-US" baseline="0" dirty="0" err="1"/>
              <a:t>trụ</a:t>
            </a:r>
            <a:r>
              <a:rPr lang="en-US" baseline="0" dirty="0"/>
              <a:t> </a:t>
            </a:r>
            <a:r>
              <a:rPr lang="en-US" baseline="0" dirty="0" err="1"/>
              <a:t>cột</a:t>
            </a:r>
            <a:r>
              <a:rPr lang="en-US" baseline="0" dirty="0"/>
              <a:t> </a:t>
            </a:r>
            <a:r>
              <a:rPr lang="en-US" baseline="0" dirty="0" err="1"/>
              <a:t>của</a:t>
            </a:r>
            <a:r>
              <a:rPr lang="en-US" baseline="0" dirty="0"/>
              <a:t> </a:t>
            </a:r>
            <a:r>
              <a:rPr lang="en-US" baseline="0" dirty="0" err="1"/>
              <a:t>khung</a:t>
            </a:r>
            <a:r>
              <a:rPr lang="en-US" baseline="0" dirty="0"/>
              <a:t> COSO </a:t>
            </a:r>
            <a:r>
              <a:rPr lang="en-US" baseline="0" dirty="0" err="1"/>
              <a:t>đan</a:t>
            </a:r>
            <a:r>
              <a:rPr lang="en-US" baseline="0" dirty="0"/>
              <a:t> xen </a:t>
            </a:r>
            <a:r>
              <a:rPr lang="en-US" baseline="0" dirty="0" err="1"/>
              <a:t>với</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doanh</a:t>
            </a:r>
            <a:r>
              <a:rPr lang="en-US" baseline="0" dirty="0"/>
              <a:t> </a:t>
            </a:r>
            <a:r>
              <a:rPr lang="en-US" baseline="0" dirty="0" err="1"/>
              <a:t>nghiệp</a:t>
            </a:r>
            <a:r>
              <a:rPr lang="en-US" baseline="0" dirty="0"/>
              <a:t>, </a:t>
            </a:r>
            <a:r>
              <a:rPr lang="en-US" baseline="0" dirty="0" err="1"/>
              <a:t>thể</a:t>
            </a:r>
            <a:r>
              <a:rPr lang="en-US" baseline="0" dirty="0"/>
              <a:t> </a:t>
            </a:r>
            <a:r>
              <a:rPr lang="en-US" baseline="0" dirty="0" err="1"/>
              <a:t>hiện</a:t>
            </a:r>
            <a:r>
              <a:rPr lang="en-US" baseline="0" dirty="0"/>
              <a:t> QTRR </a:t>
            </a:r>
            <a:r>
              <a:rPr lang="en-US" baseline="0" dirty="0" err="1"/>
              <a:t>như</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cốt</a:t>
            </a:r>
            <a:r>
              <a:rPr lang="en-US" baseline="0" dirty="0"/>
              <a:t> </a:t>
            </a:r>
            <a:r>
              <a:rPr lang="en-US" baseline="0" dirty="0" err="1"/>
              <a:t>lõi</a:t>
            </a:r>
            <a:r>
              <a:rPr lang="en-US" baseline="0" dirty="0"/>
              <a:t>, DNA </a:t>
            </a:r>
            <a:r>
              <a:rPr lang="en-US" baseline="0" dirty="0" err="1"/>
              <a:t>của</a:t>
            </a:r>
            <a:r>
              <a:rPr lang="en-US" baseline="0" dirty="0"/>
              <a:t> </a:t>
            </a:r>
            <a:r>
              <a:rPr lang="en-US" baseline="0" dirty="0" err="1"/>
              <a:t>doanh</a:t>
            </a:r>
            <a:r>
              <a:rPr lang="en-US" baseline="0" dirty="0"/>
              <a:t> </a:t>
            </a:r>
            <a:r>
              <a:rPr lang="en-US" baseline="0" dirty="0" err="1"/>
              <a:t>nghiệp</a:t>
            </a:r>
            <a:r>
              <a:rPr lang="en-US" baseline="0" dirty="0"/>
              <a:t>. Khung bao </a:t>
            </a:r>
            <a:r>
              <a:rPr lang="en-US" baseline="0" dirty="0" err="1"/>
              <a:t>gồm</a:t>
            </a:r>
            <a:r>
              <a:rPr lang="en-US" baseline="0" dirty="0"/>
              <a:t> 20 </a:t>
            </a:r>
            <a:r>
              <a:rPr lang="en-US" baseline="0" dirty="0" err="1"/>
              <a:t>nguyên</a:t>
            </a:r>
            <a:r>
              <a:rPr lang="en-US" baseline="0" dirty="0"/>
              <a:t> </a:t>
            </a:r>
            <a:r>
              <a:rPr lang="en-US" baseline="0" dirty="0" err="1"/>
              <a:t>tắc</a:t>
            </a:r>
            <a:r>
              <a:rPr lang="en-US" baseline="0" dirty="0"/>
              <a:t> </a:t>
            </a:r>
            <a:r>
              <a:rPr lang="en-US" baseline="0" dirty="0" err="1"/>
              <a:t>về</a:t>
            </a:r>
            <a:r>
              <a:rPr lang="en-US" baseline="0" dirty="0"/>
              <a:t> QTRR </a:t>
            </a:r>
            <a:r>
              <a:rPr lang="en-US" baseline="0" dirty="0" err="1"/>
              <a:t>doanh</a:t>
            </a:r>
            <a:r>
              <a:rPr lang="en-US" baseline="0" dirty="0"/>
              <a:t> </a:t>
            </a:r>
            <a:r>
              <a:rPr lang="en-US" baseline="0" dirty="0" err="1"/>
              <a:t>nghiệp</a:t>
            </a:r>
            <a:r>
              <a:rPr lang="en-US" baseline="0" dirty="0"/>
              <a:t> </a:t>
            </a:r>
            <a:r>
              <a:rPr lang="en-US" baseline="0" dirty="0" err="1"/>
              <a:t>theo</a:t>
            </a:r>
            <a:r>
              <a:rPr lang="en-US" baseline="0" dirty="0"/>
              <a:t> </a:t>
            </a:r>
            <a:r>
              <a:rPr lang="en-US" baseline="0" dirty="0" err="1"/>
              <a:t>các</a:t>
            </a:r>
            <a:r>
              <a:rPr lang="en-US" baseline="0" dirty="0"/>
              <a:t> </a:t>
            </a:r>
            <a:r>
              <a:rPr lang="en-US" baseline="0" dirty="0" err="1"/>
              <a:t>trụ</a:t>
            </a:r>
            <a:r>
              <a:rPr lang="en-US" baseline="0" dirty="0"/>
              <a:t> </a:t>
            </a:r>
            <a:r>
              <a:rPr lang="en-US" baseline="0" dirty="0" err="1"/>
              <a:t>cột</a:t>
            </a:r>
            <a:r>
              <a:rPr lang="en-US" baseline="0" dirty="0"/>
              <a:t>: Quản </a:t>
            </a:r>
            <a:r>
              <a:rPr lang="en-US" baseline="0" dirty="0" err="1"/>
              <a:t>trị</a:t>
            </a:r>
            <a:r>
              <a:rPr lang="en-US" baseline="0" dirty="0"/>
              <a:t> </a:t>
            </a:r>
            <a:r>
              <a:rPr lang="en-US" baseline="0" dirty="0" err="1"/>
              <a:t>và</a:t>
            </a:r>
            <a:r>
              <a:rPr lang="en-US" baseline="0" dirty="0"/>
              <a:t> </a:t>
            </a:r>
            <a:r>
              <a:rPr lang="en-US" baseline="0" dirty="0" err="1"/>
              <a:t>văn</a:t>
            </a:r>
            <a:r>
              <a:rPr lang="en-US" baseline="0" dirty="0"/>
              <a:t> </a:t>
            </a:r>
            <a:r>
              <a:rPr lang="en-US" baseline="0" dirty="0" err="1"/>
              <a:t>hóa</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và</a:t>
            </a:r>
            <a:r>
              <a:rPr lang="en-US" baseline="0" dirty="0"/>
              <a:t> </a:t>
            </a:r>
            <a:r>
              <a:rPr lang="en-US" baseline="0" dirty="0" err="1"/>
              <a:t>thiết</a:t>
            </a:r>
            <a:r>
              <a:rPr lang="en-US" baseline="0" dirty="0"/>
              <a:t> </a:t>
            </a:r>
            <a:r>
              <a:rPr lang="en-US" baseline="0" dirty="0" err="1"/>
              <a:t>lập</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Thực</a:t>
            </a:r>
            <a:r>
              <a:rPr lang="en-US" baseline="0" dirty="0"/>
              <a:t> </a:t>
            </a:r>
            <a:r>
              <a:rPr lang="en-US" baseline="0" dirty="0" err="1"/>
              <a:t>thi</a:t>
            </a:r>
            <a:r>
              <a:rPr lang="en-US" baseline="0" dirty="0"/>
              <a:t>, </a:t>
            </a:r>
            <a:r>
              <a:rPr lang="en-US" baseline="0" dirty="0" err="1"/>
              <a:t>Rà</a:t>
            </a:r>
            <a:r>
              <a:rPr lang="en-US" baseline="0" dirty="0"/>
              <a:t> </a:t>
            </a:r>
            <a:r>
              <a:rPr lang="en-US" baseline="0" dirty="0" err="1"/>
              <a:t>soát</a:t>
            </a:r>
            <a:r>
              <a:rPr lang="en-US" baseline="0" dirty="0"/>
              <a:t> </a:t>
            </a:r>
            <a:r>
              <a:rPr lang="en-US" baseline="0" dirty="0" err="1"/>
              <a:t>và</a:t>
            </a:r>
            <a:r>
              <a:rPr lang="en-US" baseline="0" dirty="0"/>
              <a:t> </a:t>
            </a:r>
            <a:r>
              <a:rPr lang="en-US" baseline="0" dirty="0" err="1"/>
              <a:t>điều</a:t>
            </a:r>
            <a:r>
              <a:rPr lang="en-US" baseline="0" dirty="0"/>
              <a:t> </a:t>
            </a:r>
            <a:r>
              <a:rPr lang="en-US" baseline="0" dirty="0" err="1"/>
              <a:t>chỉnh</a:t>
            </a:r>
            <a:r>
              <a:rPr lang="en-US" baseline="0" dirty="0"/>
              <a:t>, Thông tin, </a:t>
            </a:r>
            <a:r>
              <a:rPr lang="en-US" baseline="0" dirty="0" err="1"/>
              <a:t>truyền</a:t>
            </a:r>
            <a:r>
              <a:rPr lang="en-US" baseline="0" dirty="0"/>
              <a:t> </a:t>
            </a:r>
            <a:r>
              <a:rPr lang="en-US" baseline="0" dirty="0" err="1"/>
              <a:t>thông</a:t>
            </a:r>
            <a:r>
              <a:rPr lang="en-US" baseline="0" dirty="0"/>
              <a:t> </a:t>
            </a:r>
            <a:r>
              <a:rPr lang="en-US" baseline="0" dirty="0" err="1"/>
              <a:t>và</a:t>
            </a:r>
            <a:r>
              <a:rPr lang="en-US" baseline="0" dirty="0"/>
              <a:t> </a:t>
            </a:r>
            <a:r>
              <a:rPr lang="en-US" baseline="0" dirty="0" err="1"/>
              <a:t>báo</a:t>
            </a:r>
            <a:r>
              <a:rPr lang="en-US" baseline="0" dirty="0"/>
              <a:t> </a:t>
            </a:r>
            <a:r>
              <a:rPr lang="en-US" baseline="0" dirty="0" err="1"/>
              <a:t>cáo</a:t>
            </a:r>
            <a:r>
              <a:rPr lang="en-US" baseline="0" dirty="0"/>
              <a:t>. </a:t>
            </a:r>
            <a:r>
              <a:rPr lang="en-US" baseline="0" dirty="0" err="1"/>
              <a:t>Một</a:t>
            </a:r>
            <a:r>
              <a:rPr lang="en-US" baseline="0" dirty="0"/>
              <a:t> </a:t>
            </a:r>
            <a:r>
              <a:rPr lang="en-US" baseline="0" dirty="0" err="1"/>
              <a:t>mô</a:t>
            </a:r>
            <a:r>
              <a:rPr lang="en-US" baseline="0" dirty="0"/>
              <a:t> </a:t>
            </a:r>
            <a:r>
              <a:rPr lang="en-US" baseline="0" dirty="0" err="1"/>
              <a:t>hình</a:t>
            </a:r>
            <a:r>
              <a:rPr lang="en-US" baseline="0" dirty="0"/>
              <a:t> QTRR </a:t>
            </a:r>
            <a:r>
              <a:rPr lang="en-US" baseline="0" dirty="0" err="1"/>
              <a:t>tiên</a:t>
            </a:r>
            <a:r>
              <a:rPr lang="en-US" baseline="0" dirty="0"/>
              <a:t> </a:t>
            </a:r>
            <a:r>
              <a:rPr lang="en-US" baseline="0" dirty="0" err="1"/>
              <a:t>tiến</a:t>
            </a:r>
            <a:r>
              <a:rPr lang="en-US" baseline="0" dirty="0"/>
              <a:t> </a:t>
            </a:r>
            <a:r>
              <a:rPr lang="en-US" baseline="0" dirty="0" err="1"/>
              <a:t>sẽ</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được</a:t>
            </a:r>
            <a:r>
              <a:rPr lang="en-US" baseline="0" dirty="0"/>
              <a:t> </a:t>
            </a:r>
            <a:r>
              <a:rPr lang="en-US" baseline="0" dirty="0" err="1"/>
              <a:t>đầy</a:t>
            </a:r>
            <a:r>
              <a:rPr lang="en-US" baseline="0" dirty="0"/>
              <a:t> </a:t>
            </a:r>
            <a:r>
              <a:rPr lang="en-US" baseline="0" dirty="0" err="1"/>
              <a:t>đủ</a:t>
            </a:r>
            <a:r>
              <a:rPr lang="en-US" baseline="0" dirty="0"/>
              <a:t> 20 </a:t>
            </a:r>
            <a:r>
              <a:rPr lang="en-US" baseline="0" dirty="0" err="1"/>
              <a:t>nguyên</a:t>
            </a:r>
            <a:r>
              <a:rPr lang="en-US" baseline="0" dirty="0"/>
              <a:t> </a:t>
            </a:r>
            <a:r>
              <a:rPr lang="en-US" baseline="0" dirty="0" err="1"/>
              <a:t>tắc</a:t>
            </a:r>
            <a:r>
              <a:rPr lang="en-US" baseline="0" dirty="0"/>
              <a:t> </a:t>
            </a:r>
            <a:r>
              <a:rPr lang="en-US" baseline="0" dirty="0" err="1"/>
              <a:t>này</a:t>
            </a:r>
            <a:r>
              <a:rPr lang="en-US" baseline="0" dirty="0"/>
              <a:t>.</a:t>
            </a:r>
            <a:endParaRPr lang="en-US" dirty="0"/>
          </a:p>
          <a:p>
            <a:r>
              <a:rPr lang="en-US" baseline="0" dirty="0" err="1"/>
              <a:t>Về</a:t>
            </a:r>
            <a:r>
              <a:rPr lang="en-US" baseline="0" dirty="0"/>
              <a:t> </a:t>
            </a:r>
            <a:r>
              <a:rPr lang="en-US" baseline="0" dirty="0" err="1"/>
              <a:t>tổng</a:t>
            </a:r>
            <a:r>
              <a:rPr lang="en-US" baseline="0" dirty="0"/>
              <a:t> </a:t>
            </a:r>
            <a:r>
              <a:rPr lang="en-US" baseline="0" dirty="0" err="1"/>
              <a:t>quan</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tại</a:t>
            </a:r>
            <a:r>
              <a:rPr lang="en-US" baseline="0" dirty="0"/>
              <a:t> VDS </a:t>
            </a:r>
            <a:r>
              <a:rPr lang="en-US" baseline="0" dirty="0" err="1"/>
              <a:t>mới</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một</a:t>
            </a:r>
            <a:r>
              <a:rPr lang="en-US" baseline="0" dirty="0"/>
              <a:t> </a:t>
            </a:r>
            <a:r>
              <a:rPr lang="en-US" baseline="0" dirty="0" err="1"/>
              <a:t>phần</a:t>
            </a:r>
            <a:r>
              <a:rPr lang="en-US" baseline="0" dirty="0"/>
              <a:t> </a:t>
            </a:r>
            <a:r>
              <a:rPr lang="en-US" baseline="0" dirty="0" err="1"/>
              <a:t>các</a:t>
            </a:r>
            <a:r>
              <a:rPr lang="en-US" baseline="0" dirty="0"/>
              <a:t> </a:t>
            </a:r>
            <a:r>
              <a:rPr lang="en-US" baseline="0" dirty="0" err="1"/>
              <a:t>thông</a:t>
            </a:r>
            <a:r>
              <a:rPr lang="en-US" baseline="0" dirty="0"/>
              <a:t> </a:t>
            </a:r>
            <a:r>
              <a:rPr lang="en-US" baseline="0" dirty="0" err="1"/>
              <a:t>lệ</a:t>
            </a:r>
            <a:r>
              <a:rPr lang="en-US" baseline="0" dirty="0"/>
              <a:t>, </a:t>
            </a:r>
            <a:r>
              <a:rPr lang="en-US" baseline="0" dirty="0" err="1"/>
              <a:t>với</a:t>
            </a:r>
            <a:r>
              <a:rPr lang="en-US" baseline="0" dirty="0"/>
              <a:t> </a:t>
            </a:r>
            <a:r>
              <a:rPr lang="en-US" baseline="0" dirty="0" err="1"/>
              <a:t>các</a:t>
            </a:r>
            <a:r>
              <a:rPr lang="en-US" baseline="0" dirty="0"/>
              <a:t> </a:t>
            </a:r>
            <a:r>
              <a:rPr lang="en-US" baseline="0" dirty="0" err="1"/>
              <a:t>nội</a:t>
            </a:r>
            <a:r>
              <a:rPr lang="en-US" baseline="0" dirty="0"/>
              <a:t> dung </a:t>
            </a:r>
            <a:r>
              <a:rPr lang="en-US" baseline="0" dirty="0" err="1"/>
              <a:t>về</a:t>
            </a:r>
            <a:r>
              <a:rPr lang="en-US" baseline="0" dirty="0"/>
              <a:t> Quản </a:t>
            </a:r>
            <a:r>
              <a:rPr lang="en-US" baseline="0" dirty="0" err="1"/>
              <a:t>trị</a:t>
            </a:r>
            <a:r>
              <a:rPr lang="en-US" baseline="0" dirty="0"/>
              <a:t>, </a:t>
            </a:r>
            <a:r>
              <a:rPr lang="en-US" baseline="0" dirty="0" err="1"/>
              <a:t>văn</a:t>
            </a:r>
            <a:r>
              <a:rPr lang="en-US" baseline="0" dirty="0"/>
              <a:t> </a:t>
            </a:r>
            <a:r>
              <a:rPr lang="en-US" baseline="0" dirty="0" err="1"/>
              <a:t>hóa</a:t>
            </a:r>
            <a:r>
              <a:rPr lang="en-US" baseline="0" dirty="0"/>
              <a:t> ở </a:t>
            </a:r>
            <a:r>
              <a:rPr lang="en-US" baseline="0" dirty="0" err="1"/>
              <a:t>mức</a:t>
            </a:r>
            <a:r>
              <a:rPr lang="en-US" baseline="0" dirty="0"/>
              <a:t> </a:t>
            </a:r>
            <a:r>
              <a:rPr lang="en-US" baseline="0" dirty="0" err="1"/>
              <a:t>tương</a:t>
            </a:r>
            <a:r>
              <a:rPr lang="en-US" baseline="0" dirty="0"/>
              <a:t> </a:t>
            </a:r>
            <a:r>
              <a:rPr lang="en-US" baseline="0" dirty="0" err="1"/>
              <a:t>đối</a:t>
            </a:r>
            <a:r>
              <a:rPr lang="en-US" baseline="0" dirty="0"/>
              <a:t> </a:t>
            </a:r>
            <a:r>
              <a:rPr lang="en-US" baseline="0" dirty="0" err="1"/>
              <a:t>cao</a:t>
            </a:r>
            <a:r>
              <a:rPr lang="en-US" baseline="0" dirty="0"/>
              <a:t>. Tuy </a:t>
            </a:r>
            <a:r>
              <a:rPr lang="en-US" baseline="0" dirty="0" err="1"/>
              <a:t>nhiên</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thực</a:t>
            </a:r>
            <a:r>
              <a:rPr lang="en-US" baseline="0" dirty="0"/>
              <a:t> </a:t>
            </a:r>
            <a:r>
              <a:rPr lang="en-US" baseline="0" dirty="0" err="1"/>
              <a:t>thi</a:t>
            </a:r>
            <a:r>
              <a:rPr lang="en-US" baseline="0" dirty="0"/>
              <a:t>, </a:t>
            </a:r>
            <a:r>
              <a:rPr lang="en-US" baseline="0" dirty="0" err="1"/>
              <a:t>triển</a:t>
            </a:r>
            <a:r>
              <a:rPr lang="en-US" baseline="0" dirty="0"/>
              <a:t> </a:t>
            </a:r>
            <a:r>
              <a:rPr lang="en-US" baseline="0" dirty="0" err="1"/>
              <a:t>khai</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chưa</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hoàn</a:t>
            </a:r>
            <a:r>
              <a:rPr lang="en-US" baseline="0" dirty="0"/>
              <a:t> </a:t>
            </a:r>
            <a:r>
              <a:rPr lang="en-US" baseline="0" dirty="0" err="1"/>
              <a:t>toàn</a:t>
            </a:r>
            <a:r>
              <a:rPr lang="en-US" baseline="0" dirty="0"/>
              <a:t> </a:t>
            </a:r>
            <a:r>
              <a:rPr lang="en-US" baseline="0" dirty="0" err="1"/>
              <a:t>được</a:t>
            </a:r>
            <a:r>
              <a:rPr lang="en-US" baseline="0" dirty="0"/>
              <a:t> </a:t>
            </a:r>
            <a:r>
              <a:rPr lang="en-US" baseline="0" dirty="0" err="1"/>
              <a:t>các</a:t>
            </a:r>
            <a:r>
              <a:rPr lang="en-US" baseline="0" dirty="0"/>
              <a:t> </a:t>
            </a:r>
            <a:r>
              <a:rPr lang="en-US" baseline="0" dirty="0" err="1"/>
              <a:t>yêu</a:t>
            </a:r>
            <a:r>
              <a:rPr lang="en-US" baseline="0" dirty="0"/>
              <a:t> </a:t>
            </a:r>
            <a:r>
              <a:rPr lang="en-US" baseline="0" dirty="0" err="1"/>
              <a:t>cầu</a:t>
            </a:r>
            <a:r>
              <a:rPr lang="en-US" baseline="0" dirty="0"/>
              <a:t> </a:t>
            </a:r>
            <a:r>
              <a:rPr lang="en-US" baseline="0" dirty="0" err="1"/>
              <a:t>của</a:t>
            </a:r>
            <a:r>
              <a:rPr lang="en-US" baseline="0" dirty="0"/>
              <a:t> </a:t>
            </a:r>
            <a:r>
              <a:rPr lang="en-US" baseline="0" dirty="0" err="1"/>
              <a:t>khung</a:t>
            </a:r>
            <a:r>
              <a:rPr lang="en-US" baseline="0" dirty="0"/>
              <a:t> </a:t>
            </a:r>
            <a:r>
              <a:rPr lang="en-US" baseline="0" dirty="0" err="1"/>
              <a:t>đưa</a:t>
            </a:r>
            <a:r>
              <a:rPr lang="en-US" baseline="0" dirty="0"/>
              <a:t> </a:t>
            </a:r>
            <a:r>
              <a:rPr lang="en-US" baseline="0" dirty="0" err="1"/>
              <a:t>ra.</a:t>
            </a:r>
            <a:endParaRPr lang="en-US" baseline="0"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21</a:t>
            </a:fld>
            <a:endParaRPr lang="en-US" dirty="0"/>
          </a:p>
        </p:txBody>
      </p:sp>
    </p:spTree>
    <p:extLst>
      <p:ext uri="{BB962C8B-B14F-4D97-AF65-F5344CB8AC3E}">
        <p14:creationId xmlns:p14="http://schemas.microsoft.com/office/powerpoint/2010/main" val="2869099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err="1">
                <a:solidFill>
                  <a:schemeClr val="tx1"/>
                </a:solidFill>
                <a:effectLst/>
                <a:latin typeface="Arial" panose="020B0604020202020204" pitchFamily="34" charset="0"/>
                <a:ea typeface="+mn-ea"/>
                <a:cs typeface="+mn-cs"/>
              </a:rPr>
              <a:t>Nhóm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b="1" kern="1200" dirty="0">
                <a:solidFill>
                  <a:schemeClr val="tx1"/>
                </a:solidFill>
                <a:effectLst/>
                <a:latin typeface="Arial" panose="020B0604020202020204" pitchFamily="34" charset="0"/>
                <a:ea typeface="+mn-ea"/>
                <a:cs typeface="+mn-cs"/>
              </a:rPr>
              <a:t>Quản </a:t>
            </a:r>
            <a:r>
              <a:rPr lang="en-US" sz="1200" b="1" kern="1200" dirty="0" err="1">
                <a:solidFill>
                  <a:schemeClr val="tx1"/>
                </a:solidFill>
                <a:effectLst/>
                <a:latin typeface="Arial" panose="020B0604020202020204" pitchFamily="34" charset="0"/>
                <a:ea typeface="+mn-ea"/>
                <a:cs typeface="+mn-cs"/>
              </a:rPr>
              <a:t>trị</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và</a:t>
            </a:r>
            <a:r>
              <a:rPr lang="en-US" sz="1200" b="1" kern="1200" dirty="0">
                <a:solidFill>
                  <a:schemeClr val="tx1"/>
                </a:solidFill>
                <a:effectLst/>
                <a:latin typeface="Arial" panose="020B0604020202020204" pitchFamily="34" charset="0"/>
                <a:ea typeface="+mn-ea"/>
                <a:cs typeface="+mn-cs"/>
              </a:rPr>
              <a:t> Văn </a:t>
            </a:r>
            <a:r>
              <a:rPr lang="en-US" sz="1200" b="1" kern="1200" dirty="0" err="1">
                <a:solidFill>
                  <a:schemeClr val="tx1"/>
                </a:solidFill>
                <a:effectLst/>
                <a:latin typeface="Arial" panose="020B0604020202020204" pitchFamily="34" charset="0"/>
                <a:ea typeface="+mn-ea"/>
                <a:cs typeface="+mn-cs"/>
              </a:rPr>
              <a:t>hóa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gồm</a:t>
            </a:r>
            <a:r>
              <a:rPr lang="en-US" sz="1200" kern="1200" dirty="0">
                <a:solidFill>
                  <a:schemeClr val="tx1"/>
                </a:solidFill>
                <a:effectLst/>
                <a:latin typeface="Arial" panose="020B0604020202020204" pitchFamily="34" charset="0"/>
                <a:ea typeface="+mn-ea"/>
                <a:cs typeface="+mn-cs"/>
              </a:rPr>
              <a:t> 5 </a:t>
            </a:r>
            <a:r>
              <a:rPr lang="en-US" sz="1200" kern="1200" dirty="0" err="1">
                <a:solidFill>
                  <a:schemeClr val="tx1"/>
                </a:solidFill>
                <a:effectLst/>
                <a:latin typeface="Arial" panose="020B0604020202020204" pitchFamily="34" charset="0"/>
                <a:ea typeface="+mn-ea"/>
                <a:cs typeface="+mn-cs"/>
              </a:rPr>
              <a:t>nguyên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tắc</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b="1" kern="1200" dirty="0" err="1">
                <a:solidFill>
                  <a:schemeClr val="tx1"/>
                </a:solidFill>
                <a:effectLst/>
                <a:latin typeface="Arial" panose="020B0604020202020204" pitchFamily="34" charset="0"/>
                <a:ea typeface="+mn-ea"/>
                <a:cs typeface="+mn-cs"/>
              </a:rPr>
              <a:t>Điểm</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tích</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cực</a:t>
            </a:r>
            <a:r>
              <a:rPr lang="en-US" sz="1200" kern="1200" dirty="0">
                <a:solidFill>
                  <a:schemeClr val="tx1"/>
                </a:solidFill>
                <a:effectLst/>
                <a:latin typeface="Arial" panose="020B0604020202020204" pitchFamily="34" charset="0"/>
                <a:ea typeface="+mn-ea"/>
                <a:cs typeface="+mn-cs"/>
              </a:rPr>
              <a:t>: VDS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đáp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ứng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tốt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nguyên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tắc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nền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tảng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nhất</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lãnh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sát</a:t>
            </a:r>
            <a:r>
              <a:rPr lang="en-US" sz="1200" kern="1200" dirty="0">
                <a:solidFill>
                  <a:schemeClr val="tx1"/>
                </a:solidFill>
                <a:effectLst/>
                <a:latin typeface="Arial" panose="020B0604020202020204" pitchFamily="34" charset="0"/>
                <a:ea typeface="+mn-ea"/>
                <a:cs typeface="+mn-cs"/>
              </a:rPr>
              <a:t> -</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trò</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của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Chủ</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tịch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đốc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Kiểm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soát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tách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ra</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mô</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hình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độc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lập</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trong</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rõ</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baseline="0" dirty="0" err="1">
                <a:solidFill>
                  <a:schemeClr val="tx1"/>
                </a:solidFill>
                <a:effectLst/>
                <a:latin typeface="Arial" panose="020B0604020202020204" pitchFamily="34" charset="0"/>
                <a:ea typeface="+mn-ea"/>
                <a:cs typeface="+mn-cs"/>
              </a:rPr>
              <a:t>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điều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lệ</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và</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quy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định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về</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phân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cấp</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thẩm</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quyền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cũng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như</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quy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định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khung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về</a:t>
            </a:r>
            <a:r>
              <a:rPr lang="en-US" sz="1200" kern="1200" baseline="0" dirty="0">
                <a:solidFill>
                  <a:schemeClr val="tx1"/>
                </a:solidFill>
                <a:effectLst/>
                <a:latin typeface="Arial" panose="020B0604020202020204" pitchFamily="34" charset="0"/>
                <a:ea typeface="+mn-ea"/>
                <a:cs typeface="+mn-cs"/>
              </a:rPr>
              <a:t> QTRR</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luồng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tiếp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lãnh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cấu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máy</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theo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mô</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hình</a:t>
            </a:r>
            <a:r>
              <a:rPr lang="en-US" sz="1200" kern="1200" dirty="0">
                <a:solidFill>
                  <a:schemeClr val="tx1"/>
                </a:solidFill>
                <a:effectLst/>
                <a:latin typeface="Arial" panose="020B0604020202020204" pitchFamily="34" charset="0"/>
                <a:ea typeface="+mn-ea"/>
                <a:cs typeface="+mn-cs"/>
              </a:rPr>
              <a:t> 3 </a:t>
            </a:r>
            <a:r>
              <a:rPr lang="en-US" sz="1200" kern="1200" dirty="0" err="1">
                <a:solidFill>
                  <a:schemeClr val="tx1"/>
                </a:solidFill>
                <a:effectLst/>
                <a:latin typeface="Arial" panose="020B0604020202020204" pitchFamily="34" charset="0"/>
                <a:ea typeface="+mn-ea"/>
                <a:cs typeface="+mn-cs"/>
              </a:rPr>
              <a:t>tuyến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của</a:t>
            </a:r>
            <a:r>
              <a:rPr lang="en-US" sz="1200" kern="1200" dirty="0">
                <a:solidFill>
                  <a:schemeClr val="tx1"/>
                </a:solidFill>
                <a:effectLst/>
                <a:latin typeface="Arial" panose="020B0604020202020204" pitchFamily="34" charset="0"/>
                <a:ea typeface="+mn-ea"/>
                <a:cs typeface="+mn-cs"/>
              </a:rPr>
              <a:t> IIA, </a:t>
            </a:r>
            <a:r>
              <a:rPr lang="en-US" sz="1200" kern="1200" dirty="0" err="1">
                <a:solidFill>
                  <a:schemeClr val="tx1"/>
                </a:solidFill>
                <a:effectLst/>
                <a:latin typeface="Arial" panose="020B0604020202020204" pitchFamily="34" charset="0"/>
                <a:ea typeface="+mn-ea"/>
                <a:cs typeface="+mn-cs"/>
              </a:rPr>
              <a:t>đây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nền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tảng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đúng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hướng</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b="1" kern="1200" dirty="0">
                <a:solidFill>
                  <a:schemeClr val="tx1"/>
                </a:solidFill>
                <a:effectLst/>
                <a:latin typeface="Arial" panose="020B0604020202020204" pitchFamily="34" charset="0"/>
                <a:ea typeface="+mn-ea"/>
                <a:cs typeface="+mn-cs"/>
              </a:rPr>
              <a:t>Nguyên </a:t>
            </a:r>
            <a:r>
              <a:rPr lang="en-US" sz="1200" b="1" kern="1200" dirty="0" err="1">
                <a:solidFill>
                  <a:schemeClr val="tx1"/>
                </a:solidFill>
                <a:effectLst/>
                <a:latin typeface="Arial" panose="020B0604020202020204" pitchFamily="34" charset="0"/>
                <a:ea typeface="+mn-ea"/>
                <a:cs typeface="+mn-cs"/>
              </a:rPr>
              <a:t>tắc</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về</a:t>
            </a:r>
            <a:r>
              <a:rPr lang="en-US" sz="1200" b="1" kern="1200" dirty="0">
                <a:solidFill>
                  <a:schemeClr val="tx1"/>
                </a:solidFill>
                <a:effectLst/>
                <a:latin typeface="Arial" panose="020B0604020202020204" pitchFamily="34" charset="0"/>
                <a:ea typeface="+mn-ea"/>
                <a:cs typeface="+mn-cs"/>
              </a:rPr>
              <a:t> cam </a:t>
            </a:r>
            <a:r>
              <a:rPr lang="en-US" sz="1200" b="1" kern="1200" dirty="0" err="1">
                <a:solidFill>
                  <a:schemeClr val="tx1"/>
                </a:solidFill>
                <a:effectLst/>
                <a:latin typeface="Arial" panose="020B0604020202020204" pitchFamily="34" charset="0"/>
                <a:ea typeface="+mn-ea"/>
                <a:cs typeface="+mn-cs"/>
              </a:rPr>
              <a:t>kết</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giá</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trị</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cốt</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lõi</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được</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đáp</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ứng</a:t>
            </a:r>
            <a:r>
              <a:rPr lang="en-US" sz="1200" b="1"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đủ</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nhờ</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nguyên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tắc</a:t>
            </a:r>
            <a:r>
              <a:rPr lang="en-US" sz="1200" kern="1200" baseline="0" dirty="0">
                <a:solidFill>
                  <a:schemeClr val="tx1"/>
                </a:solidFill>
                <a:effectLst/>
                <a:latin typeface="Arial" panose="020B0604020202020204" pitchFamily="34" charset="0"/>
                <a:ea typeface="+mn-ea"/>
                <a:cs typeface="+mn-cs"/>
              </a:rPr>
              <a:t> QTRR </a:t>
            </a:r>
            <a:r>
              <a:rPr lang="en-US" sz="1200" kern="1200" baseline="0" dirty="0" err="1">
                <a:solidFill>
                  <a:schemeClr val="tx1"/>
                </a:solidFill>
                <a:effectLst/>
                <a:latin typeface="Arial" panose="020B0604020202020204" pitchFamily="34" charset="0"/>
                <a:ea typeface="+mn-ea"/>
                <a:cs typeface="+mn-cs"/>
              </a:rPr>
              <a:t>và</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xử</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lý</a:t>
            </a:r>
            <a:r>
              <a:rPr lang="en-US" sz="1200" kern="1200" dirty="0">
                <a:solidFill>
                  <a:schemeClr val="tx1"/>
                </a:solidFill>
                <a:effectLst/>
                <a:latin typeface="Arial" panose="020B0604020202020204" pitchFamily="34" charset="0"/>
                <a:ea typeface="+mn-ea"/>
                <a:cs typeface="+mn-cs"/>
              </a:rPr>
              <a:t> vi </a:t>
            </a:r>
            <a:r>
              <a:rPr lang="en-US" sz="1200" kern="1200" dirty="0" err="1">
                <a:solidFill>
                  <a:schemeClr val="tx1"/>
                </a:solidFill>
                <a:effectLst/>
                <a:latin typeface="Arial" panose="020B0604020202020204" pitchFamily="34" charset="0"/>
                <a:ea typeface="+mn-ea"/>
                <a:cs typeface="+mn-cs"/>
              </a:rPr>
              <a:t>phạm</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được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quy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định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trong</a:t>
            </a:r>
            <a:r>
              <a:rPr lang="en-US" sz="1200" kern="1200" baseline="0" dirty="0">
                <a:solidFill>
                  <a:schemeClr val="tx1"/>
                </a:solidFill>
                <a:effectLst/>
                <a:latin typeface="Arial" panose="020B0604020202020204" pitchFamily="34" charset="0"/>
                <a:ea typeface="+mn-ea"/>
                <a:cs typeface="+mn-cs"/>
              </a:rPr>
              <a:t> Quy </a:t>
            </a:r>
            <a:r>
              <a:rPr lang="en-US" sz="1200" kern="1200" baseline="0" dirty="0" err="1">
                <a:solidFill>
                  <a:schemeClr val="tx1"/>
                </a:solidFill>
                <a:effectLst/>
                <a:latin typeface="Arial" panose="020B0604020202020204" pitchFamily="34" charset="0"/>
                <a:ea typeface="+mn-ea"/>
                <a:cs typeface="+mn-cs"/>
              </a:rPr>
              <a:t>định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khung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về</a:t>
            </a:r>
            <a:r>
              <a:rPr lang="en-US" sz="1200" kern="1200" baseline="0" dirty="0">
                <a:solidFill>
                  <a:schemeClr val="tx1"/>
                </a:solidFill>
                <a:effectLst/>
                <a:latin typeface="Arial" panose="020B0604020202020204" pitchFamily="34" charset="0"/>
                <a:ea typeface="+mn-ea"/>
                <a:cs typeface="+mn-cs"/>
              </a:rPr>
              <a:t> QTRR</a:t>
            </a:r>
            <a:endParaRPr lang="en-US" sz="1200" kern="1200" dirty="0">
              <a:solidFill>
                <a:schemeClr val="tx1"/>
              </a:solidFill>
              <a:effectLst/>
              <a:latin typeface="Arial" panose="020B0604020202020204" pitchFamily="34" charset="0"/>
              <a:ea typeface="+mn-ea"/>
              <a:cs typeface="+mn-cs"/>
            </a:endParaRPr>
          </a:p>
          <a:p>
            <a:pPr marL="171450" indent="-171450">
              <a:buFontTx/>
              <a:buChar char="-"/>
            </a:pPr>
            <a:r>
              <a:rPr lang="en-US" sz="1200" b="1" kern="1200" dirty="0">
                <a:solidFill>
                  <a:schemeClr val="tx1"/>
                </a:solidFill>
                <a:effectLst/>
                <a:latin typeface="Arial" panose="020B0604020202020204" pitchFamily="34" charset="0"/>
                <a:ea typeface="+mn-ea"/>
                <a:cs typeface="+mn-cs"/>
              </a:rPr>
              <a:t>Hai </a:t>
            </a:r>
            <a:r>
              <a:rPr lang="en-US" sz="1200" b="1" kern="1200" dirty="0" err="1">
                <a:solidFill>
                  <a:schemeClr val="tx1"/>
                </a:solidFill>
                <a:effectLst/>
                <a:latin typeface="Arial" panose="020B0604020202020204" pitchFamily="34" charset="0"/>
                <a:ea typeface="+mn-ea"/>
                <a:cs typeface="+mn-cs"/>
              </a:rPr>
              <a:t>nguyên</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tắc</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đáp</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ứng</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một</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phần</a:t>
            </a:r>
            <a:r>
              <a:rPr lang="en-US" sz="1200" b="1"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b="1" kern="1200" dirty="0">
                <a:solidFill>
                  <a:schemeClr val="tx1"/>
                </a:solidFill>
                <a:effectLst/>
                <a:latin typeface="Arial" panose="020B0604020202020204" pitchFamily="34" charset="0"/>
                <a:ea typeface="+mn-ea"/>
                <a:cs typeface="+mn-cs"/>
              </a:rPr>
              <a:t>Văn </a:t>
            </a:r>
            <a:r>
              <a:rPr lang="en-US" sz="1200" b="1" kern="1200" dirty="0" err="1">
                <a:solidFill>
                  <a:schemeClr val="tx1"/>
                </a:solidFill>
                <a:effectLst/>
                <a:latin typeface="Arial" panose="020B0604020202020204" pitchFamily="34" charset="0"/>
                <a:ea typeface="+mn-ea"/>
                <a:cs typeface="+mn-cs"/>
              </a:rPr>
              <a:t>hóa</a:t>
            </a:r>
            <a:r>
              <a:rPr lang="en-US" sz="1200" b="1"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Phát</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triển</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nhân</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sự</a:t>
            </a:r>
            <a:r>
              <a:rPr lang="en-US" sz="1200" kern="1200" dirty="0">
                <a:solidFill>
                  <a:schemeClr val="tx1"/>
                </a:solidFill>
                <a:effectLst/>
                <a:latin typeface="Arial" panose="020B0604020202020204" pitchFamily="34" charset="0"/>
                <a:ea typeface="+mn-ea"/>
                <a:cs typeface="+mn-cs"/>
              </a:rPr>
              <a:t>. Văn </a:t>
            </a:r>
            <a:r>
              <a:rPr lang="en-US" sz="1200" kern="1200" dirty="0" err="1">
                <a:solidFill>
                  <a:schemeClr val="tx1"/>
                </a:solidFill>
                <a:effectLst/>
                <a:latin typeface="Arial" panose="020B0604020202020204" pitchFamily="34" charset="0"/>
                <a:ea typeface="+mn-ea"/>
                <a:cs typeface="+mn-cs"/>
              </a:rPr>
              <a:t>hóa</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nghĩa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trong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nhưng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trên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thực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tế</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giữa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phòng</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đồng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đều</a:t>
            </a:r>
            <a:r>
              <a:rPr lang="en-US" sz="1200" kern="1200" dirty="0">
                <a:solidFill>
                  <a:schemeClr val="tx1"/>
                </a:solidFill>
                <a:effectLst/>
                <a:latin typeface="Arial" panose="020B0604020202020204" pitchFamily="34" charset="0"/>
                <a:ea typeface="+mn-ea"/>
                <a:cs typeface="+mn-cs"/>
              </a:rPr>
              <a:t>:</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các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đơn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vị</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kinh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doanh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nhận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thức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được</a:t>
            </a:r>
            <a:r>
              <a:rPr lang="en-US" sz="1200" kern="1200" baseline="0" dirty="0">
                <a:solidFill>
                  <a:schemeClr val="tx1"/>
                </a:solidFill>
                <a:effectLst/>
                <a:latin typeface="Arial" panose="020B0604020202020204" pitchFamily="34" charset="0"/>
                <a:ea typeface="+mn-ea"/>
                <a:cs typeface="+mn-cs"/>
              </a:rPr>
              <a:t> QTRR ở </a:t>
            </a:r>
            <a:r>
              <a:rPr lang="en-US" sz="1200" kern="1200" baseline="0" dirty="0" err="1">
                <a:solidFill>
                  <a:schemeClr val="tx1"/>
                </a:solidFill>
                <a:effectLst/>
                <a:latin typeface="Arial" panose="020B0604020202020204" pitchFamily="34" charset="0"/>
                <a:ea typeface="+mn-ea"/>
                <a:cs typeface="+mn-cs"/>
              </a:rPr>
              <a:t>cấp</a:t>
            </a:r>
            <a:r>
              <a:rPr lang="en-US" sz="1200" kern="1200" baseline="0" dirty="0">
                <a:solidFill>
                  <a:schemeClr val="tx1"/>
                </a:solidFill>
                <a:effectLst/>
                <a:latin typeface="Arial" panose="020B0604020202020204" pitchFamily="34" charset="0"/>
                <a:ea typeface="+mn-ea"/>
                <a:cs typeface="+mn-cs"/>
              </a:rPr>
              <a:t> SPDV, </a:t>
            </a:r>
            <a:r>
              <a:rPr lang="en-US" sz="1200" kern="1200" baseline="0" dirty="0" err="1">
                <a:solidFill>
                  <a:schemeClr val="tx1"/>
                </a:solidFill>
                <a:effectLst/>
                <a:latin typeface="Arial" panose="020B0604020202020204" pitchFamily="34" charset="0"/>
                <a:ea typeface="+mn-ea"/>
                <a:cs typeface="+mn-cs"/>
              </a:rPr>
              <a:t>còn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các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đơn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vị</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khối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công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nghệ</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hỗ</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trợ</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hầu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như</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chưa</a:t>
            </a:r>
            <a:r>
              <a:rPr lang="en-US" sz="1200" kern="1200" baseline="0" dirty="0">
                <a:solidFill>
                  <a:schemeClr val="tx1"/>
                </a:solidFill>
                <a:effectLst/>
                <a:latin typeface="Arial" panose="020B0604020202020204" pitchFamily="34" charset="0"/>
                <a:ea typeface="+mn-ea"/>
                <a:cs typeface="+mn-cs"/>
              </a:rPr>
              <a:t> engage </a:t>
            </a:r>
            <a:r>
              <a:rPr lang="en-US" sz="1200" kern="1200" baseline="0" dirty="0" err="1">
                <a:solidFill>
                  <a:schemeClr val="tx1"/>
                </a:solidFill>
                <a:effectLst/>
                <a:latin typeface="Arial" panose="020B0604020202020204" pitchFamily="34" charset="0"/>
                <a:ea typeface="+mn-ea"/>
                <a:cs typeface="+mn-cs"/>
              </a:rPr>
              <a:t>nhiều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vào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hoạt</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động</a:t>
            </a:r>
            <a:r>
              <a:rPr lang="en-US" sz="1200" kern="1200" baseline="0" dirty="0">
                <a:solidFill>
                  <a:schemeClr val="tx1"/>
                </a:solidFill>
                <a:effectLst/>
                <a:latin typeface="Arial" panose="020B0604020202020204" pitchFamily="34" charset="0"/>
                <a:ea typeface="+mn-ea"/>
                <a:cs typeface="+mn-cs"/>
              </a:rPr>
              <a:t> QTRR</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khía</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cạnh</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nhân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sự</a:t>
            </a:r>
            <a:r>
              <a:rPr lang="en-US" sz="1200" kern="1200" dirty="0">
                <a:solidFill>
                  <a:schemeClr val="tx1"/>
                </a:solidFill>
                <a:effectLst/>
                <a:latin typeface="Arial" panose="020B0604020202020204" pitchFamily="34" charset="0"/>
                <a:ea typeface="+mn-ea"/>
                <a:cs typeface="+mn-cs"/>
              </a:rPr>
              <a:t>, VDS </a:t>
            </a:r>
            <a:r>
              <a:rPr lang="en-US" sz="1200" kern="1200" dirty="0" err="1">
                <a:solidFill>
                  <a:schemeClr val="tx1"/>
                </a:solidFill>
                <a:effectLst/>
                <a:latin typeface="Arial" panose="020B0604020202020204" pitchFamily="34" charset="0"/>
                <a:ea typeface="+mn-ea"/>
                <a:cs typeface="+mn-cs"/>
              </a:rPr>
              <a:t>có</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xây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dựng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các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chương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trình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đào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tạo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nâng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cao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năng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lực</a:t>
            </a:r>
            <a:r>
              <a:rPr lang="en-US" sz="1200" kern="1200" baseline="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lãnh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chủ</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chốt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hiểu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biết</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và</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định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hướng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chiến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lược</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các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cá</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nhân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đơn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vị</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có</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nhận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thức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cơ</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bản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về</a:t>
            </a:r>
            <a:r>
              <a:rPr lang="en-US" sz="1200" kern="1200" baseline="0" dirty="0">
                <a:solidFill>
                  <a:schemeClr val="tx1"/>
                </a:solidFill>
                <a:effectLst/>
                <a:latin typeface="Arial" panose="020B0604020202020204" pitchFamily="34" charset="0"/>
                <a:ea typeface="+mn-ea"/>
                <a:cs typeface="+mn-cs"/>
              </a:rPr>
              <a:t> QTRR, </a:t>
            </a:r>
            <a:r>
              <a:rPr lang="en-US" sz="1200" kern="1200" dirty="0">
                <a:solidFill>
                  <a:schemeClr val="tx1"/>
                </a:solidFill>
                <a:effectLst/>
                <a:latin typeface="Arial" panose="020B0604020202020204" pitchFamily="34" charset="0"/>
                <a:ea typeface="+mn-ea"/>
                <a:cs typeface="+mn-cs"/>
              </a:rPr>
              <a:t>song Công ty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hệ</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thống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thừa</a:t>
            </a:r>
            <a:r>
              <a:rPr lang="en-US" sz="1200" kern="1200" dirty="0">
                <a:solidFill>
                  <a:schemeClr val="tx1"/>
                </a:solidFill>
                <a:effectLst/>
                <a:latin typeface="Arial" panose="020B0604020202020204" pitchFamily="34" charset="0"/>
                <a:ea typeface="+mn-ea"/>
                <a:cs typeface="+mn-cs"/>
              </a:rPr>
              <a:t> tri </a:t>
            </a:r>
            <a:r>
              <a:rPr lang="en-US" sz="1200" kern="1200" dirty="0" err="1">
                <a:solidFill>
                  <a:schemeClr val="tx1"/>
                </a:solidFill>
                <a:effectLst/>
                <a:latin typeface="Arial" panose="020B0604020202020204" pitchFamily="34" charset="0"/>
                <a:ea typeface="+mn-ea"/>
                <a:cs typeface="+mn-cs"/>
              </a:rPr>
              <a:t>thức</a:t>
            </a:r>
            <a:r>
              <a:rPr lang="en-US" sz="1200" kern="1200" dirty="0">
                <a:solidFill>
                  <a:schemeClr val="tx1"/>
                </a:solidFill>
                <a:effectLst/>
                <a:latin typeface="Arial" panose="020B0604020202020204" pitchFamily="34" charset="0"/>
                <a:ea typeface="+mn-ea"/>
                <a:cs typeface="+mn-cs"/>
              </a:rPr>
              <a:t> - </a:t>
            </a:r>
            <a:r>
              <a:rPr lang="en-US" sz="1200" kern="1200" dirty="0" err="1">
                <a:solidFill>
                  <a:schemeClr val="tx1"/>
                </a:solidFill>
                <a:effectLst/>
                <a:latin typeface="Arial" panose="020B0604020202020204" pitchFamily="34" charset="0"/>
                <a:ea typeface="+mn-ea"/>
                <a:cs typeface="+mn-cs"/>
              </a:rPr>
              <a:t>đây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chú</a:t>
            </a:r>
            <a:r>
              <a:rPr lang="en-US" sz="1200" kern="1200" dirty="0">
                <a:solidFill>
                  <a:schemeClr val="tx1"/>
                </a:solidFill>
                <a:effectLst/>
                <a:latin typeface="Arial" panose="020B0604020202020204" pitchFamily="34" charset="0"/>
                <a:ea typeface="+mn-ea"/>
                <a:cs typeface="+mn-cs"/>
              </a:rPr>
              <a:t> ý </a:t>
            </a:r>
            <a:r>
              <a:rPr lang="en-US" sz="1200" kern="1200" dirty="0" err="1">
                <a:solidFill>
                  <a:schemeClr val="tx1"/>
                </a:solidFill>
                <a:effectLst/>
                <a:latin typeface="Arial" panose="020B0604020202020204" pitchFamily="34" charset="0"/>
                <a:ea typeface="+mn-ea"/>
                <a:cs typeface="+mn-cs"/>
              </a:rPr>
              <a:t>khi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nhân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nòng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cốt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biến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động</a:t>
            </a:r>
            <a:r>
              <a:rPr lang="en-US" sz="1200" kern="1200" dirty="0">
                <a:solidFill>
                  <a:schemeClr val="tx1"/>
                </a:solidFill>
                <a:effectLst/>
                <a:latin typeface="Arial" panose="020B0604020202020204" pitchFamily="34" charset="0"/>
                <a:ea typeface="+mn-ea"/>
                <a:cs typeface="+mn-cs"/>
              </a:rPr>
              <a:t>.</a:t>
            </a:r>
          </a:p>
          <a:p>
            <a:pPr marL="0" indent="0">
              <a:buNone/>
            </a:pPr>
            <a:endParaRPr lang="en-US" baseline="0" dirty="0"/>
          </a:p>
          <a:p>
            <a:pPr marL="0" indent="0">
              <a:buNone/>
            </a:pPr>
            <a:r>
              <a:rPr lang="en-US" baseline="0" dirty="0"/>
              <a:t>--------------------------</a:t>
            </a:r>
          </a:p>
          <a:p>
            <a:pPr marL="228600" indent="-228600">
              <a:buAutoNum type="arabicPeriod"/>
            </a:pPr>
            <a:r>
              <a:rPr lang="en-US" baseline="0" dirty="0"/>
              <a:t>QTRR </a:t>
            </a:r>
            <a:r>
              <a:rPr lang="en-US" baseline="0" dirty="0" err="1"/>
              <a:t>được</a:t>
            </a:r>
            <a:r>
              <a:rPr lang="en-US" baseline="0" dirty="0"/>
              <a:t> </a:t>
            </a:r>
            <a:r>
              <a:rPr lang="en-US" baseline="0" dirty="0" err="1"/>
              <a:t>lãnh</a:t>
            </a:r>
            <a:r>
              <a:rPr lang="en-US" baseline="0" dirty="0"/>
              <a:t> </a:t>
            </a:r>
            <a:r>
              <a:rPr lang="en-US" baseline="0" dirty="0" err="1"/>
              <a:t>đạo</a:t>
            </a:r>
            <a:r>
              <a:rPr lang="en-US" baseline="0" dirty="0"/>
              <a:t> </a:t>
            </a:r>
            <a:r>
              <a:rPr lang="en-US" baseline="0" dirty="0" err="1"/>
              <a:t>giám</a:t>
            </a:r>
            <a:r>
              <a:rPr lang="en-US" baseline="0" dirty="0"/>
              <a:t> </a:t>
            </a:r>
            <a:r>
              <a:rPr lang="en-US" baseline="0" dirty="0" err="1"/>
              <a:t>sát</a:t>
            </a:r>
            <a:r>
              <a:rPr lang="en-US" baseline="0" dirty="0"/>
              <a:t>: HĐQT </a:t>
            </a:r>
            <a:r>
              <a:rPr lang="en-US" baseline="0" dirty="0" err="1"/>
              <a:t>giám</a:t>
            </a:r>
            <a:r>
              <a:rPr lang="en-US" baseline="0" dirty="0"/>
              <a:t> </a:t>
            </a:r>
            <a:r>
              <a:rPr lang="en-US" baseline="0" dirty="0" err="1"/>
              <a:t>sát</a:t>
            </a:r>
            <a:r>
              <a:rPr lang="en-US" baseline="0" dirty="0"/>
              <a:t> </a:t>
            </a:r>
            <a:r>
              <a:rPr lang="en-US" baseline="0" dirty="0" err="1"/>
              <a:t>tổng</a:t>
            </a:r>
            <a:r>
              <a:rPr lang="en-US" baseline="0" dirty="0"/>
              <a:t> </a:t>
            </a:r>
            <a:r>
              <a:rPr lang="en-US" baseline="0" dirty="0" err="1"/>
              <a:t>quan</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tại</a:t>
            </a:r>
            <a:r>
              <a:rPr lang="en-US" baseline="0" dirty="0"/>
              <a:t> </a:t>
            </a:r>
            <a:r>
              <a:rPr lang="en-US" baseline="0" dirty="0" err="1"/>
              <a:t>đơn</a:t>
            </a:r>
            <a:r>
              <a:rPr lang="en-US" baseline="0" dirty="0"/>
              <a:t> </a:t>
            </a:r>
            <a:r>
              <a:rPr lang="en-US" baseline="0" dirty="0" err="1"/>
              <a:t>vị</a:t>
            </a:r>
            <a:r>
              <a:rPr lang="en-US" baseline="0" dirty="0"/>
              <a:t>, </a:t>
            </a:r>
            <a:r>
              <a:rPr lang="en-US" baseline="0" dirty="0" err="1"/>
              <a:t>thể</a:t>
            </a:r>
            <a:r>
              <a:rPr lang="en-US" baseline="0" dirty="0"/>
              <a:t> </a:t>
            </a:r>
            <a:r>
              <a:rPr lang="en-US" baseline="0" dirty="0" err="1"/>
              <a:t>hiện</a:t>
            </a:r>
            <a:r>
              <a:rPr lang="en-US" baseline="0" dirty="0"/>
              <a:t> qua:</a:t>
            </a:r>
          </a:p>
          <a:p>
            <a:pPr marL="171450" indent="-171450">
              <a:buFontTx/>
              <a:buChar char="-"/>
            </a:pPr>
            <a:r>
              <a:rPr lang="en-US" baseline="0" dirty="0" err="1"/>
              <a:t>Chức</a:t>
            </a:r>
            <a:r>
              <a:rPr lang="en-US" baseline="0" dirty="0"/>
              <a:t> </a:t>
            </a:r>
            <a:r>
              <a:rPr lang="en-US" baseline="0" dirty="0" err="1"/>
              <a:t>năng</a:t>
            </a:r>
            <a:r>
              <a:rPr lang="en-US" baseline="0" dirty="0"/>
              <a:t> </a:t>
            </a:r>
            <a:r>
              <a:rPr lang="en-US" baseline="0" dirty="0" err="1"/>
              <a:t>nhiệm</a:t>
            </a:r>
            <a:r>
              <a:rPr lang="en-US" baseline="0" dirty="0"/>
              <a:t> </a:t>
            </a:r>
            <a:r>
              <a:rPr lang="en-US" baseline="0" dirty="0" err="1"/>
              <a:t>vụ</a:t>
            </a:r>
            <a:r>
              <a:rPr lang="en-US" baseline="0" dirty="0"/>
              <a:t> QTRR </a:t>
            </a:r>
            <a:r>
              <a:rPr lang="en-US" baseline="0" dirty="0" err="1"/>
              <a:t>được</a:t>
            </a:r>
            <a:r>
              <a:rPr lang="en-US" baseline="0" dirty="0"/>
              <a:t> </a:t>
            </a:r>
            <a:r>
              <a:rPr lang="en-US" baseline="0" dirty="0" err="1"/>
              <a:t>mô</a:t>
            </a:r>
            <a:r>
              <a:rPr lang="en-US" baseline="0" dirty="0"/>
              <a:t> </a:t>
            </a:r>
            <a:r>
              <a:rPr lang="en-US" baseline="0" dirty="0" err="1"/>
              <a:t>tả</a:t>
            </a:r>
            <a:r>
              <a:rPr lang="en-US" baseline="0" dirty="0"/>
              <a:t> </a:t>
            </a:r>
            <a:r>
              <a:rPr lang="en-US" baseline="0" dirty="0" err="1"/>
              <a:t>trong</a:t>
            </a:r>
            <a:r>
              <a:rPr lang="en-US" baseline="0" dirty="0"/>
              <a:t> </a:t>
            </a:r>
            <a:r>
              <a:rPr lang="en-US" baseline="0" dirty="0" err="1"/>
              <a:t>chức</a:t>
            </a:r>
            <a:r>
              <a:rPr lang="en-US" baseline="0" dirty="0"/>
              <a:t> </a:t>
            </a:r>
            <a:r>
              <a:rPr lang="en-US" baseline="0" dirty="0" err="1"/>
              <a:t>năng</a:t>
            </a:r>
            <a:r>
              <a:rPr lang="en-US" baseline="0" dirty="0"/>
              <a:t> </a:t>
            </a:r>
            <a:r>
              <a:rPr lang="en-US" baseline="0" dirty="0" err="1"/>
              <a:t>nhiệm</a:t>
            </a:r>
            <a:r>
              <a:rPr lang="en-US" baseline="0" dirty="0"/>
              <a:t> </a:t>
            </a:r>
            <a:r>
              <a:rPr lang="en-US" baseline="0" dirty="0" err="1"/>
              <a:t>vụ</a:t>
            </a:r>
            <a:r>
              <a:rPr lang="en-US" baseline="0" dirty="0"/>
              <a:t> </a:t>
            </a:r>
            <a:r>
              <a:rPr lang="en-US" baseline="0" dirty="0" err="1"/>
              <a:t>của</a:t>
            </a:r>
            <a:r>
              <a:rPr lang="en-US" baseline="0" dirty="0"/>
              <a:t> </a:t>
            </a:r>
            <a:r>
              <a:rPr lang="en-US" baseline="0" dirty="0" err="1"/>
              <a:t>các</a:t>
            </a:r>
            <a:r>
              <a:rPr lang="en-US" baseline="0" dirty="0"/>
              <a:t> </a:t>
            </a:r>
            <a:r>
              <a:rPr lang="en-US" baseline="0" dirty="0" err="1"/>
              <a:t>cấp</a:t>
            </a:r>
            <a:r>
              <a:rPr lang="en-US" baseline="0" dirty="0"/>
              <a:t> </a:t>
            </a:r>
            <a:r>
              <a:rPr lang="en-US" baseline="0" dirty="0" err="1"/>
              <a:t>lãnh</a:t>
            </a:r>
            <a:r>
              <a:rPr lang="en-US" baseline="0" dirty="0"/>
              <a:t> </a:t>
            </a:r>
            <a:r>
              <a:rPr lang="en-US" baseline="0" dirty="0" err="1"/>
              <a:t>đạo</a:t>
            </a:r>
            <a:r>
              <a:rPr lang="en-US" baseline="0" dirty="0"/>
              <a:t> (HĐQT </a:t>
            </a:r>
            <a:r>
              <a:rPr lang="en-US" baseline="0" dirty="0" err="1"/>
              <a:t>và</a:t>
            </a:r>
            <a:r>
              <a:rPr lang="en-US" baseline="0" dirty="0"/>
              <a:t> ban </a:t>
            </a:r>
            <a:r>
              <a:rPr lang="en-US" baseline="0" dirty="0" err="1"/>
              <a:t>giám</a:t>
            </a:r>
            <a:r>
              <a:rPr lang="en-US" baseline="0" dirty="0"/>
              <a:t> </a:t>
            </a:r>
            <a:r>
              <a:rPr lang="en-US" baseline="0" dirty="0" err="1"/>
              <a:t>đốc</a:t>
            </a:r>
            <a:r>
              <a:rPr lang="en-US" baseline="0" dirty="0"/>
              <a:t> </a:t>
            </a:r>
            <a:r>
              <a:rPr lang="en-US" baseline="0" dirty="0" err="1"/>
              <a:t>điều</a:t>
            </a:r>
            <a:r>
              <a:rPr lang="en-US" baseline="0" dirty="0"/>
              <a:t> </a:t>
            </a:r>
            <a:r>
              <a:rPr lang="en-US" baseline="0" dirty="0" err="1"/>
              <a:t>hành</a:t>
            </a:r>
            <a:r>
              <a:rPr lang="en-US" baseline="0" dirty="0"/>
              <a:t>), </a:t>
            </a:r>
            <a:r>
              <a:rPr lang="en-US" baseline="0" dirty="0" err="1"/>
              <a:t>quy</a:t>
            </a:r>
            <a:r>
              <a:rPr lang="en-US" baseline="0" dirty="0"/>
              <a:t> </a:t>
            </a:r>
            <a:r>
              <a:rPr lang="en-US" baseline="0" dirty="0" err="1"/>
              <a:t>định</a:t>
            </a:r>
            <a:r>
              <a:rPr lang="en-US" baseline="0" dirty="0"/>
              <a:t> </a:t>
            </a:r>
            <a:r>
              <a:rPr lang="en-US" baseline="0" dirty="0" err="1"/>
              <a:t>trách</a:t>
            </a:r>
            <a:r>
              <a:rPr lang="en-US" baseline="0" dirty="0"/>
              <a:t> </a:t>
            </a:r>
            <a:r>
              <a:rPr lang="en-US" baseline="0" dirty="0" err="1"/>
              <a:t>nhiệm</a:t>
            </a:r>
            <a:r>
              <a:rPr lang="en-US" baseline="0" dirty="0"/>
              <a:t> </a:t>
            </a:r>
            <a:r>
              <a:rPr lang="en-US" baseline="0" dirty="0" err="1"/>
              <a:t>giám</a:t>
            </a:r>
            <a:r>
              <a:rPr lang="en-US" baseline="0" dirty="0"/>
              <a:t> </a:t>
            </a:r>
            <a:r>
              <a:rPr lang="en-US" baseline="0" dirty="0" err="1"/>
              <a:t>sát</a:t>
            </a:r>
            <a:r>
              <a:rPr lang="en-US" baseline="0" dirty="0"/>
              <a:t> </a:t>
            </a:r>
            <a:r>
              <a:rPr lang="en-US" baseline="0" dirty="0" err="1"/>
              <a:t>của</a:t>
            </a:r>
            <a:r>
              <a:rPr lang="en-US" baseline="0" dirty="0"/>
              <a:t> HĐQT </a:t>
            </a:r>
            <a:r>
              <a:rPr lang="en-US" baseline="0" dirty="0" err="1"/>
              <a:t>và</a:t>
            </a:r>
            <a:r>
              <a:rPr lang="en-US" baseline="0" dirty="0"/>
              <a:t> </a:t>
            </a:r>
            <a:r>
              <a:rPr lang="en-US" baseline="0" dirty="0" err="1"/>
              <a:t>trách</a:t>
            </a:r>
            <a:r>
              <a:rPr lang="en-US" baseline="0" dirty="0"/>
              <a:t> </a:t>
            </a:r>
            <a:r>
              <a:rPr lang="en-US" baseline="0" dirty="0" err="1"/>
              <a:t>nhiệm</a:t>
            </a:r>
            <a:r>
              <a:rPr lang="en-US" baseline="0" dirty="0"/>
              <a:t> </a:t>
            </a:r>
            <a:r>
              <a:rPr lang="en-US" baseline="0" dirty="0" err="1"/>
              <a:t>quản</a:t>
            </a:r>
            <a:r>
              <a:rPr lang="en-US" baseline="0" dirty="0"/>
              <a:t> </a:t>
            </a:r>
            <a:r>
              <a:rPr lang="en-US" baseline="0" dirty="0" err="1"/>
              <a:t>lý</a:t>
            </a:r>
            <a:r>
              <a:rPr lang="en-US" baseline="0" dirty="0"/>
              <a:t> </a:t>
            </a:r>
            <a:r>
              <a:rPr lang="en-US" baseline="0" dirty="0" err="1"/>
              <a:t>rủi</a:t>
            </a:r>
            <a:r>
              <a:rPr lang="en-US" baseline="0" dirty="0"/>
              <a:t> </a:t>
            </a:r>
            <a:r>
              <a:rPr lang="en-US" baseline="0" dirty="0" err="1"/>
              <a:t>ro</a:t>
            </a:r>
            <a:r>
              <a:rPr lang="en-US" baseline="0" dirty="0"/>
              <a:t> </a:t>
            </a:r>
            <a:r>
              <a:rPr lang="en-US" baseline="0" dirty="0" err="1"/>
              <a:t>hàng</a:t>
            </a:r>
            <a:r>
              <a:rPr lang="en-US" baseline="0" dirty="0"/>
              <a:t> </a:t>
            </a:r>
            <a:r>
              <a:rPr lang="en-US" baseline="0" dirty="0" err="1"/>
              <a:t>ngày</a:t>
            </a:r>
            <a:r>
              <a:rPr lang="en-US" baseline="0" dirty="0"/>
              <a:t> </a:t>
            </a:r>
            <a:r>
              <a:rPr lang="en-US" baseline="0" dirty="0" err="1"/>
              <a:t>của</a:t>
            </a:r>
            <a:r>
              <a:rPr lang="en-US" baseline="0" dirty="0"/>
              <a:t> Ban TGĐ</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aseline="0" dirty="0"/>
              <a:t>HĐQT </a:t>
            </a:r>
            <a:r>
              <a:rPr lang="en-US" baseline="0" dirty="0" err="1"/>
              <a:t>có</a:t>
            </a:r>
            <a:r>
              <a:rPr lang="en-US" baseline="0" dirty="0"/>
              <a:t> </a:t>
            </a:r>
            <a:r>
              <a:rPr lang="en-US" baseline="0" dirty="0" err="1"/>
              <a:t>kiến</a:t>
            </a:r>
            <a:r>
              <a:rPr lang="en-US" baseline="0" dirty="0"/>
              <a:t> </a:t>
            </a:r>
            <a:r>
              <a:rPr lang="en-US" baseline="0" dirty="0" err="1"/>
              <a:t>thức</a:t>
            </a:r>
            <a:r>
              <a:rPr lang="en-US" baseline="0" dirty="0"/>
              <a:t>, </a:t>
            </a:r>
            <a:r>
              <a:rPr lang="en-US" baseline="0" dirty="0" err="1"/>
              <a:t>kỹ</a:t>
            </a:r>
            <a:r>
              <a:rPr lang="en-US" baseline="0" dirty="0"/>
              <a:t> </a:t>
            </a:r>
            <a:r>
              <a:rPr lang="en-US" baseline="0" dirty="0" err="1"/>
              <a:t>năng</a:t>
            </a:r>
            <a:r>
              <a:rPr lang="en-US" baseline="0" dirty="0"/>
              <a:t> </a:t>
            </a:r>
            <a:r>
              <a:rPr lang="en-US" baseline="0" dirty="0" err="1"/>
              <a:t>hoặc</a:t>
            </a:r>
            <a:r>
              <a:rPr lang="en-US" baseline="0" dirty="0"/>
              <a:t> </a:t>
            </a:r>
            <a:r>
              <a:rPr lang="en-US" baseline="0" dirty="0" err="1"/>
              <a:t>kinh</a:t>
            </a:r>
            <a:r>
              <a:rPr lang="en-US" baseline="0" dirty="0"/>
              <a:t> </a:t>
            </a:r>
            <a:r>
              <a:rPr lang="en-US" baseline="0" dirty="0" err="1"/>
              <a:t>nghiệm</a:t>
            </a:r>
            <a:r>
              <a:rPr lang="en-US" baseline="0" dirty="0"/>
              <a:t> </a:t>
            </a:r>
            <a:r>
              <a:rPr lang="en-US" baseline="0" dirty="0" err="1"/>
              <a:t>về</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lĩnh</a:t>
            </a:r>
            <a:r>
              <a:rPr lang="en-US" baseline="0" dirty="0"/>
              <a:t> </a:t>
            </a:r>
            <a:r>
              <a:rPr lang="en-US" baseline="0" dirty="0" err="1"/>
              <a:t>vực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tổ</a:t>
            </a:r>
            <a:r>
              <a:rPr lang="en-US" baseline="0" dirty="0"/>
              <a:t> </a:t>
            </a:r>
            <a:r>
              <a:rPr lang="en-US" baseline="0" dirty="0" err="1"/>
              <a:t>chức</a:t>
            </a:r>
            <a:endParaRPr lang="en-US" baseline="0" dirty="0"/>
          </a:p>
          <a:p>
            <a:pPr marL="171450" indent="-171450">
              <a:buFontTx/>
              <a:buChar char="-"/>
            </a:pPr>
            <a:r>
              <a:rPr lang="en-US" baseline="0" dirty="0"/>
              <a:t>HĐQT </a:t>
            </a:r>
            <a:r>
              <a:rPr lang="en-US" baseline="0" dirty="0" err="1"/>
              <a:t>có</a:t>
            </a:r>
            <a:r>
              <a:rPr lang="en-US" baseline="0" dirty="0"/>
              <a:t> </a:t>
            </a:r>
            <a:r>
              <a:rPr lang="en-US" baseline="0" dirty="0" err="1"/>
              <a:t>sự</a:t>
            </a:r>
            <a:r>
              <a:rPr lang="en-US" baseline="0" dirty="0"/>
              <a:t> </a:t>
            </a:r>
            <a:r>
              <a:rPr lang="en-US" baseline="0" dirty="0" err="1"/>
              <a:t>giám</a:t>
            </a:r>
            <a:r>
              <a:rPr lang="en-US" baseline="0" dirty="0"/>
              <a:t> </a:t>
            </a:r>
            <a:r>
              <a:rPr lang="en-US" baseline="0" dirty="0" err="1"/>
              <a:t>sát</a:t>
            </a:r>
            <a:r>
              <a:rPr lang="en-US" baseline="0" dirty="0"/>
              <a:t> </a:t>
            </a:r>
            <a:r>
              <a:rPr lang="en-US" baseline="0" dirty="0" err="1"/>
              <a:t>độc</a:t>
            </a:r>
            <a:r>
              <a:rPr lang="en-US" baseline="0" dirty="0"/>
              <a:t> </a:t>
            </a:r>
            <a:r>
              <a:rPr lang="en-US" baseline="0" dirty="0" err="1"/>
              <a:t>lập</a:t>
            </a:r>
            <a:r>
              <a:rPr lang="en-US" baseline="0" dirty="0"/>
              <a:t>, </a:t>
            </a:r>
            <a:r>
              <a:rPr lang="en-US" baseline="0" dirty="0" err="1"/>
              <a:t>có</a:t>
            </a:r>
            <a:r>
              <a:rPr lang="en-US" baseline="0" dirty="0"/>
              <a:t> </a:t>
            </a:r>
            <a:r>
              <a:rPr lang="en-US" baseline="0" dirty="0" err="1"/>
              <a:t>cơ</a:t>
            </a:r>
            <a:r>
              <a:rPr lang="en-US" baseline="0" dirty="0"/>
              <a:t> </a:t>
            </a:r>
            <a:r>
              <a:rPr lang="en-US" baseline="0" dirty="0" err="1"/>
              <a:t>chế</a:t>
            </a:r>
            <a:r>
              <a:rPr lang="en-US" baseline="0" dirty="0"/>
              <a:t> </a:t>
            </a:r>
            <a:r>
              <a:rPr lang="en-US" baseline="0" dirty="0" err="1"/>
              <a:t>phản</a:t>
            </a:r>
            <a:r>
              <a:rPr lang="en-US" baseline="0" dirty="0"/>
              <a:t> </a:t>
            </a:r>
            <a:r>
              <a:rPr lang="en-US" baseline="0" dirty="0" err="1"/>
              <a:t>biện</a:t>
            </a:r>
            <a:r>
              <a:rPr lang="en-US" baseline="0" dirty="0"/>
              <a:t> </a:t>
            </a:r>
            <a:r>
              <a:rPr lang="en-US" baseline="0" dirty="0" err="1"/>
              <a:t>phù</a:t>
            </a:r>
            <a:r>
              <a:rPr lang="en-US" baseline="0" dirty="0"/>
              <a:t> </a:t>
            </a:r>
            <a:r>
              <a:rPr lang="en-US" baseline="0" dirty="0" err="1"/>
              <a:t>hợp</a:t>
            </a:r>
            <a:r>
              <a:rPr lang="en-US" baseline="0" dirty="0"/>
              <a:t>, </a:t>
            </a:r>
            <a:r>
              <a:rPr lang="en-US" baseline="0" dirty="0" err="1"/>
              <a:t>hiệu</a:t>
            </a:r>
            <a:r>
              <a:rPr lang="en-US" baseline="0" dirty="0"/>
              <a:t> </a:t>
            </a:r>
            <a:r>
              <a:rPr lang="en-US" baseline="0" dirty="0" err="1"/>
              <a:t>quả</a:t>
            </a:r>
            <a:r>
              <a:rPr lang="en-US" baseline="0" dirty="0"/>
              <a:t> </a:t>
            </a:r>
            <a:r>
              <a:rPr lang="en-US" baseline="0" dirty="0" err="1"/>
              <a:t>trong</a:t>
            </a:r>
            <a:r>
              <a:rPr lang="en-US" baseline="0" dirty="0"/>
              <a:t> </a:t>
            </a:r>
            <a:r>
              <a:rPr lang="en-US" baseline="0" dirty="0" err="1"/>
              <a:t>việc</a:t>
            </a:r>
            <a:r>
              <a:rPr lang="en-US" baseline="0" dirty="0"/>
              <a:t> </a:t>
            </a:r>
            <a:r>
              <a:rPr lang="en-US" baseline="0" dirty="0" err="1"/>
              <a:t>giám</a:t>
            </a:r>
            <a:r>
              <a:rPr lang="en-US" baseline="0" dirty="0"/>
              <a:t> </a:t>
            </a:r>
            <a:r>
              <a:rPr lang="en-US" baseline="0" dirty="0" err="1"/>
              <a:t>sát</a:t>
            </a:r>
            <a:r>
              <a:rPr lang="en-US" baseline="0" dirty="0"/>
              <a:t> QTRR </a:t>
            </a:r>
            <a:r>
              <a:rPr lang="en-US" baseline="0" dirty="0" err="1"/>
              <a:t>nhằm</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hệ</a:t>
            </a:r>
            <a:r>
              <a:rPr lang="en-US" baseline="0" dirty="0"/>
              <a:t> </a:t>
            </a:r>
            <a:r>
              <a:rPr lang="en-US" baseline="0" dirty="0" err="1"/>
              <a:t>thống</a:t>
            </a:r>
            <a:r>
              <a:rPr lang="en-US" baseline="0" dirty="0"/>
              <a:t> QTRR </a:t>
            </a:r>
            <a:r>
              <a:rPr lang="en-US" baseline="0" dirty="0" err="1"/>
              <a:t>phù</a:t>
            </a:r>
            <a:r>
              <a:rPr lang="en-US" baseline="0" dirty="0"/>
              <a:t> </a:t>
            </a:r>
            <a:r>
              <a:rPr lang="en-US" baseline="0" dirty="0" err="1"/>
              <a:t>hợp</a:t>
            </a:r>
            <a:r>
              <a:rPr lang="en-US" baseline="0" dirty="0"/>
              <a:t> </a:t>
            </a:r>
            <a:r>
              <a:rPr lang="en-US" baseline="0" dirty="0" err="1"/>
              <a:t>với</a:t>
            </a:r>
            <a:r>
              <a:rPr lang="en-US" baseline="0" dirty="0"/>
              <a:t> </a:t>
            </a:r>
            <a:r>
              <a:rPr lang="en-US" baseline="0" dirty="0" err="1"/>
              <a:t>định</a:t>
            </a:r>
            <a:r>
              <a:rPr lang="en-US" baseline="0" dirty="0"/>
              <a:t> </a:t>
            </a:r>
            <a:r>
              <a:rPr lang="en-US" baseline="0" dirty="0" err="1"/>
              <a:t>hướng</a:t>
            </a:r>
            <a:r>
              <a:rPr lang="en-US" baseline="0" dirty="0"/>
              <a:t> </a:t>
            </a:r>
            <a:r>
              <a:rPr lang="en-US" baseline="0" dirty="0" err="1"/>
              <a:t>của</a:t>
            </a:r>
            <a:r>
              <a:rPr lang="en-US" baseline="0" dirty="0"/>
              <a:t> </a:t>
            </a:r>
            <a:r>
              <a:rPr lang="en-US" baseline="0" dirty="0" err="1"/>
              <a:t>tổ</a:t>
            </a:r>
            <a:r>
              <a:rPr lang="en-US" baseline="0" dirty="0"/>
              <a:t> </a:t>
            </a:r>
            <a:r>
              <a:rPr lang="en-US" baseline="0" dirty="0" err="1"/>
              <a:t>chức</a:t>
            </a:r>
            <a:endParaRPr lang="en-US" baseline="0" dirty="0"/>
          </a:p>
          <a:p>
            <a:pPr marL="0" indent="0">
              <a:buFont typeface="Wingdings" panose="05000000000000000000" pitchFamily="2" charset="2"/>
              <a:buNone/>
            </a:pPr>
            <a:endParaRPr lang="en-US" baseline="0" dirty="0"/>
          </a:p>
          <a:p>
            <a:pPr marL="0" indent="0">
              <a:buFont typeface="+mj-lt"/>
              <a:buNone/>
            </a:pPr>
            <a:r>
              <a:rPr lang="en-US" baseline="0" dirty="0"/>
              <a:t>2. </a:t>
            </a:r>
            <a:r>
              <a:rPr lang="en-US" baseline="0" dirty="0" err="1"/>
              <a:t>Thiết</a:t>
            </a:r>
            <a:r>
              <a:rPr lang="en-US" baseline="0" dirty="0"/>
              <a:t> </a:t>
            </a:r>
            <a:r>
              <a:rPr lang="en-US" baseline="0" dirty="0" err="1"/>
              <a:t>lập</a:t>
            </a:r>
            <a:r>
              <a:rPr lang="en-US" baseline="0" dirty="0"/>
              <a:t> </a:t>
            </a:r>
            <a:r>
              <a:rPr lang="en-US" baseline="0" dirty="0" err="1"/>
              <a:t>cơ</a:t>
            </a:r>
            <a:r>
              <a:rPr lang="en-US" baseline="0" dirty="0"/>
              <a:t> </a:t>
            </a:r>
            <a:r>
              <a:rPr lang="en-US" baseline="0" dirty="0" err="1"/>
              <a:t>chế</a:t>
            </a:r>
            <a:r>
              <a:rPr lang="en-US" baseline="0" dirty="0"/>
              <a:t> </a:t>
            </a:r>
            <a:r>
              <a:rPr lang="en-US" baseline="0" dirty="0" err="1"/>
              <a:t>vận</a:t>
            </a:r>
            <a:r>
              <a:rPr lang="en-US" baseline="0" dirty="0"/>
              <a:t> </a:t>
            </a:r>
            <a:r>
              <a:rPr lang="en-US" baseline="0" dirty="0" err="1"/>
              <a:t>hành</a:t>
            </a:r>
            <a:r>
              <a:rPr lang="en-US" baseline="0" dirty="0"/>
              <a:t>: Cơ </a:t>
            </a:r>
            <a:r>
              <a:rPr lang="en-US" baseline="0" dirty="0" err="1"/>
              <a:t>chế</a:t>
            </a:r>
            <a:r>
              <a:rPr lang="en-US" baseline="0" dirty="0"/>
              <a:t> </a:t>
            </a:r>
            <a:r>
              <a:rPr lang="en-US" baseline="0" dirty="0" err="1"/>
              <a:t>vận</a:t>
            </a:r>
            <a:r>
              <a:rPr lang="en-US" baseline="0" dirty="0"/>
              <a:t> </a:t>
            </a:r>
            <a:r>
              <a:rPr lang="en-US" baseline="0" dirty="0" err="1"/>
              <a:t>hành</a:t>
            </a:r>
            <a:r>
              <a:rPr lang="en-US" baseline="0" dirty="0"/>
              <a:t> </a:t>
            </a:r>
            <a:r>
              <a:rPr lang="en-US" baseline="0" dirty="0" err="1"/>
              <a:t>của</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được</a:t>
            </a:r>
            <a:r>
              <a:rPr lang="en-US" baseline="0" dirty="0"/>
              <a:t> </a:t>
            </a:r>
            <a:r>
              <a:rPr lang="en-US" baseline="0" dirty="0" err="1"/>
              <a:t>thiết</a:t>
            </a:r>
            <a:r>
              <a:rPr lang="en-US" baseline="0" dirty="0"/>
              <a:t> </a:t>
            </a:r>
            <a:r>
              <a:rPr lang="en-US" baseline="0" dirty="0" err="1"/>
              <a:t>lập</a:t>
            </a:r>
            <a:r>
              <a:rPr lang="en-US" baseline="0" dirty="0"/>
              <a:t> </a:t>
            </a:r>
            <a:r>
              <a:rPr lang="en-US" baseline="0" dirty="0" err="1"/>
              <a:t>nhằm</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việc</a:t>
            </a:r>
            <a:r>
              <a:rPr lang="en-US" baseline="0" dirty="0"/>
              <a:t> </a:t>
            </a:r>
            <a:r>
              <a:rPr lang="en-US" baseline="0" dirty="0" err="1"/>
              <a:t>đạt</a:t>
            </a:r>
            <a:r>
              <a:rPr lang="en-US" baseline="0" dirty="0"/>
              <a:t> </a:t>
            </a:r>
            <a:r>
              <a:rPr lang="en-US" baseline="0" dirty="0" err="1"/>
              <a:t>được</a:t>
            </a:r>
            <a:r>
              <a:rPr lang="en-US" baseline="0" dirty="0"/>
              <a:t> </a:t>
            </a:r>
            <a:r>
              <a:rPr lang="en-US" baseline="0" dirty="0" err="1"/>
              <a:t>các</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và</a:t>
            </a:r>
            <a:r>
              <a:rPr lang="en-US" baseline="0" dirty="0"/>
              <a:t> SXKD </a:t>
            </a:r>
            <a:r>
              <a:rPr lang="en-US" baseline="0" dirty="0" err="1"/>
              <a:t>và</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hiệu</a:t>
            </a:r>
            <a:r>
              <a:rPr lang="en-US" baseline="0" dirty="0"/>
              <a:t> </a:t>
            </a:r>
            <a:r>
              <a:rPr lang="en-US" baseline="0" dirty="0" err="1"/>
              <a:t>quả</a:t>
            </a:r>
            <a:r>
              <a:rPr lang="en-US" baseline="0" dirty="0"/>
              <a:t> </a:t>
            </a:r>
            <a:r>
              <a:rPr lang="en-US" baseline="0" dirty="0" err="1"/>
              <a:t>của</a:t>
            </a:r>
            <a:r>
              <a:rPr lang="en-US" baseline="0" dirty="0"/>
              <a:t> </a:t>
            </a:r>
            <a:r>
              <a:rPr lang="en-US" baseline="0" dirty="0" err="1"/>
              <a:t>hoạt</a:t>
            </a:r>
            <a:r>
              <a:rPr lang="en-US" baseline="0" dirty="0"/>
              <a:t> </a:t>
            </a:r>
            <a:r>
              <a:rPr lang="en-US" baseline="0" dirty="0" err="1"/>
              <a:t>động</a:t>
            </a:r>
            <a:r>
              <a:rPr lang="en-US" baseline="0" dirty="0"/>
              <a:t> QTRR, </a:t>
            </a:r>
            <a:r>
              <a:rPr lang="en-US" baseline="0" dirty="0" err="1"/>
              <a:t>thể</a:t>
            </a:r>
            <a:r>
              <a:rPr lang="en-US" baseline="0" dirty="0"/>
              <a:t> </a:t>
            </a:r>
            <a:r>
              <a:rPr lang="en-US" baseline="0" dirty="0" err="1"/>
              <a:t>hiện</a:t>
            </a:r>
            <a:r>
              <a:rPr lang="en-US" baseline="0" dirty="0"/>
              <a:t> qua </a:t>
            </a:r>
            <a:r>
              <a:rPr lang="en-US" baseline="0" dirty="0" err="1"/>
              <a:t>việc</a:t>
            </a:r>
            <a:r>
              <a:rPr lang="en-US" baseline="0" dirty="0"/>
              <a:t>:</a:t>
            </a:r>
          </a:p>
          <a:p>
            <a:pPr marL="171450" indent="-171450">
              <a:buFontTx/>
              <a:buChar char="-"/>
            </a:pPr>
            <a:r>
              <a:rPr lang="en-US" baseline="0" dirty="0"/>
              <a:t>Cơ </a:t>
            </a:r>
            <a:r>
              <a:rPr lang="en-US" baseline="0" dirty="0" err="1"/>
              <a:t>cấu</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theo</a:t>
            </a:r>
            <a:r>
              <a:rPr lang="en-US" baseline="0" dirty="0"/>
              <a:t> </a:t>
            </a:r>
            <a:r>
              <a:rPr lang="en-US" baseline="0" dirty="0" err="1"/>
              <a:t>mô</a:t>
            </a:r>
            <a:r>
              <a:rPr lang="en-US" baseline="0" dirty="0"/>
              <a:t> </a:t>
            </a:r>
            <a:r>
              <a:rPr lang="en-US" baseline="0" dirty="0" err="1"/>
              <a:t>hình</a:t>
            </a:r>
            <a:r>
              <a:rPr lang="en-US" baseline="0" dirty="0"/>
              <a:t> </a:t>
            </a:r>
            <a:r>
              <a:rPr lang="en-US" baseline="0" dirty="0" err="1"/>
              <a:t>ba</a:t>
            </a:r>
            <a:r>
              <a:rPr lang="en-US" baseline="0" dirty="0"/>
              <a:t> </a:t>
            </a:r>
            <a:r>
              <a:rPr lang="en-US" baseline="0" dirty="0" err="1"/>
              <a:t>tuyến</a:t>
            </a:r>
            <a:r>
              <a:rPr lang="en-US" baseline="0" dirty="0"/>
              <a:t> </a:t>
            </a:r>
            <a:r>
              <a:rPr lang="en-US" baseline="0" dirty="0" err="1"/>
              <a:t>của</a:t>
            </a:r>
            <a:r>
              <a:rPr lang="en-US" baseline="0" dirty="0"/>
              <a:t> IIA</a:t>
            </a:r>
          </a:p>
          <a:p>
            <a:pPr marL="171450" indent="-171450">
              <a:buFontTx/>
              <a:buChar char="-"/>
            </a:pPr>
            <a:r>
              <a:rPr lang="en-US" baseline="0" dirty="0"/>
              <a:t>Cơ </a:t>
            </a:r>
            <a:r>
              <a:rPr lang="en-US" baseline="0" dirty="0" err="1"/>
              <a:t>chế</a:t>
            </a:r>
            <a:r>
              <a:rPr lang="en-US" baseline="0" dirty="0"/>
              <a:t> </a:t>
            </a:r>
            <a:r>
              <a:rPr lang="en-US" baseline="0" dirty="0" err="1"/>
              <a:t>vận</a:t>
            </a:r>
            <a:r>
              <a:rPr lang="en-US" baseline="0" dirty="0"/>
              <a:t> </a:t>
            </a:r>
            <a:r>
              <a:rPr lang="en-US" baseline="0" dirty="0" err="1"/>
              <a:t>hành</a:t>
            </a:r>
            <a:r>
              <a:rPr lang="en-US" baseline="0" dirty="0"/>
              <a:t> </a:t>
            </a:r>
            <a:r>
              <a:rPr lang="en-US" baseline="0" dirty="0" err="1"/>
              <a:t>được</a:t>
            </a:r>
            <a:r>
              <a:rPr lang="en-US" baseline="0" dirty="0"/>
              <a:t> </a:t>
            </a:r>
            <a:r>
              <a:rPr lang="en-US" baseline="0" dirty="0" err="1"/>
              <a:t>đánh</a:t>
            </a:r>
            <a:r>
              <a:rPr lang="en-US" baseline="0" dirty="0"/>
              <a:t> </a:t>
            </a:r>
            <a:r>
              <a:rPr lang="en-US" baseline="0" dirty="0" err="1"/>
              <a:t>giá</a:t>
            </a:r>
            <a:r>
              <a:rPr lang="en-US" baseline="0" dirty="0"/>
              <a:t>, </a:t>
            </a:r>
            <a:r>
              <a:rPr lang="en-US" baseline="0" dirty="0" err="1"/>
              <a:t>cập</a:t>
            </a:r>
            <a:r>
              <a:rPr lang="en-US" baseline="0" dirty="0"/>
              <a:t> </a:t>
            </a:r>
            <a:r>
              <a:rPr lang="en-US" baseline="0" dirty="0" err="1"/>
              <a:t>nhật</a:t>
            </a:r>
            <a:r>
              <a:rPr lang="en-US" baseline="0" dirty="0"/>
              <a:t> </a:t>
            </a:r>
            <a:r>
              <a:rPr lang="en-US" baseline="0" dirty="0" err="1"/>
              <a:t>nhằm</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khả</a:t>
            </a:r>
            <a:r>
              <a:rPr lang="en-US" baseline="0" dirty="0"/>
              <a:t> </a:t>
            </a:r>
            <a:r>
              <a:rPr lang="en-US" baseline="0" dirty="0" err="1"/>
              <a:t>năng</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với</a:t>
            </a:r>
            <a:r>
              <a:rPr lang="en-US" baseline="0" dirty="0"/>
              <a:t> </a:t>
            </a:r>
            <a:r>
              <a:rPr lang="en-US" baseline="0" dirty="0" err="1"/>
              <a:t>biến</a:t>
            </a:r>
            <a:r>
              <a:rPr lang="en-US" baseline="0" dirty="0"/>
              <a:t> </a:t>
            </a:r>
            <a:r>
              <a:rPr lang="en-US" baseline="0" dirty="0" err="1"/>
              <a:t>động</a:t>
            </a:r>
            <a:r>
              <a:rPr lang="en-US" baseline="0" dirty="0"/>
              <a:t> </a:t>
            </a:r>
            <a:r>
              <a:rPr lang="en-US" baseline="0" dirty="0" err="1"/>
              <a:t>môi</a:t>
            </a:r>
            <a:r>
              <a:rPr lang="en-US" baseline="0" dirty="0"/>
              <a:t> </a:t>
            </a:r>
            <a:r>
              <a:rPr lang="en-US" baseline="0" dirty="0" err="1"/>
              <a:t>trường</a:t>
            </a:r>
            <a:r>
              <a:rPr lang="en-US" baseline="0" dirty="0"/>
              <a:t> </a:t>
            </a:r>
            <a:r>
              <a:rPr lang="en-US" baseline="0" dirty="0" err="1"/>
              <a:t>kinh</a:t>
            </a:r>
            <a:r>
              <a:rPr lang="en-US" baseline="0" dirty="0"/>
              <a:t> </a:t>
            </a:r>
            <a:r>
              <a:rPr lang="en-US" baseline="0" dirty="0" err="1"/>
              <a:t>doanh</a:t>
            </a:r>
            <a:endParaRPr lang="en-US" baseline="0" dirty="0"/>
          </a:p>
          <a:p>
            <a:pPr marL="0" indent="0">
              <a:buFontTx/>
              <a:buNone/>
            </a:pPr>
            <a:endParaRPr lang="en-US" baseline="0" dirty="0"/>
          </a:p>
          <a:p>
            <a:pPr marL="0" indent="0">
              <a:buFont typeface="+mj-lt"/>
              <a:buNone/>
            </a:pPr>
            <a:r>
              <a:rPr lang="en-US" dirty="0"/>
              <a:t>3. </a:t>
            </a:r>
            <a:r>
              <a:rPr lang="en-US" dirty="0" err="1"/>
              <a:t>Văn</a:t>
            </a:r>
            <a:r>
              <a:rPr lang="en-US" baseline="0" dirty="0"/>
              <a:t> </a:t>
            </a:r>
            <a:r>
              <a:rPr lang="en-US" baseline="0" dirty="0" err="1"/>
              <a:t>hóa</a:t>
            </a:r>
            <a:r>
              <a:rPr lang="en-US" baseline="0" dirty="0"/>
              <a:t> QTRR </a:t>
            </a:r>
            <a:r>
              <a:rPr lang="en-US" baseline="0" dirty="0" err="1"/>
              <a:t>được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Văn</a:t>
            </a:r>
            <a:r>
              <a:rPr lang="en-US" baseline="0" dirty="0"/>
              <a:t> </a:t>
            </a:r>
            <a:r>
              <a:rPr lang="en-US" baseline="0" dirty="0" err="1"/>
              <a:t>hóa</a:t>
            </a:r>
            <a:r>
              <a:rPr lang="en-US" baseline="0" dirty="0"/>
              <a:t> QTRR </a:t>
            </a:r>
            <a:r>
              <a:rPr lang="en-US" baseline="0" dirty="0" err="1"/>
              <a:t>được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rõ</a:t>
            </a:r>
            <a:r>
              <a:rPr lang="en-US" baseline="0" dirty="0"/>
              <a:t> </a:t>
            </a:r>
            <a:r>
              <a:rPr lang="en-US" baseline="0" dirty="0" err="1"/>
              <a:t>ràng</a:t>
            </a:r>
            <a:r>
              <a:rPr lang="en-US" baseline="0" dirty="0"/>
              <a:t>, </a:t>
            </a:r>
            <a:r>
              <a:rPr lang="en-US" baseline="0" dirty="0" err="1"/>
              <a:t>thể</a:t>
            </a:r>
            <a:r>
              <a:rPr lang="en-US" baseline="0" dirty="0"/>
              <a:t> </a:t>
            </a:r>
            <a:r>
              <a:rPr lang="en-US" baseline="0" dirty="0" err="1"/>
              <a:t>hiện</a:t>
            </a:r>
            <a:r>
              <a:rPr lang="en-US" baseline="0" dirty="0"/>
              <a:t> qua</a:t>
            </a:r>
            <a:br>
              <a:rPr lang="en-US" baseline="0" dirty="0"/>
            </a:br>
            <a:r>
              <a:rPr lang="en-US" baseline="0" dirty="0"/>
              <a:t>- </a:t>
            </a:r>
            <a:r>
              <a:rPr lang="en-US" baseline="0" dirty="0" err="1"/>
              <a:t>Văn</a:t>
            </a:r>
            <a:r>
              <a:rPr lang="en-US" baseline="0" dirty="0"/>
              <a:t> </a:t>
            </a:r>
            <a:r>
              <a:rPr lang="en-US" baseline="0" dirty="0" err="1"/>
              <a:t>hóa</a:t>
            </a:r>
            <a:r>
              <a:rPr lang="en-US" baseline="0" dirty="0"/>
              <a:t> QTRR </a:t>
            </a:r>
            <a:r>
              <a:rPr lang="en-US" baseline="0" dirty="0" err="1"/>
              <a:t>và</a:t>
            </a:r>
            <a:r>
              <a:rPr lang="en-US" baseline="0" dirty="0"/>
              <a:t> </a:t>
            </a:r>
            <a:r>
              <a:rPr lang="en-US" baseline="0" dirty="0" err="1"/>
              <a:t>mức</a:t>
            </a:r>
            <a:r>
              <a:rPr lang="en-US" baseline="0" dirty="0"/>
              <a:t> </a:t>
            </a:r>
            <a:r>
              <a:rPr lang="en-US" baseline="0" dirty="0" err="1"/>
              <a:t>độ</a:t>
            </a:r>
            <a:r>
              <a:rPr lang="en-US" baseline="0" dirty="0"/>
              <a:t> </a:t>
            </a:r>
            <a:r>
              <a:rPr lang="en-US" baseline="0" dirty="0" err="1"/>
              <a:t>chấp</a:t>
            </a:r>
            <a:r>
              <a:rPr lang="en-US" baseline="0" dirty="0"/>
              <a:t> </a:t>
            </a:r>
            <a:r>
              <a:rPr lang="en-US" baseline="0" dirty="0" err="1"/>
              <a:t>nhận</a:t>
            </a:r>
            <a:r>
              <a:rPr lang="en-US" baseline="0" dirty="0"/>
              <a:t> </a:t>
            </a:r>
            <a:r>
              <a:rPr lang="en-US" baseline="0" dirty="0" err="1"/>
              <a:t>rủi</a:t>
            </a:r>
            <a:r>
              <a:rPr lang="en-US" baseline="0" dirty="0"/>
              <a:t> </a:t>
            </a:r>
            <a:r>
              <a:rPr lang="en-US" baseline="0" dirty="0" err="1"/>
              <a:t>ro</a:t>
            </a:r>
            <a:r>
              <a:rPr lang="en-US" baseline="0" dirty="0"/>
              <a:t> </a:t>
            </a:r>
            <a:r>
              <a:rPr lang="en-US" baseline="0" dirty="0" err="1"/>
              <a:t>của</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được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và</a:t>
            </a:r>
            <a:r>
              <a:rPr lang="en-US" baseline="0" dirty="0"/>
              <a:t> </a:t>
            </a:r>
            <a:r>
              <a:rPr lang="en-US" baseline="0" dirty="0" err="1"/>
              <a:t>văn</a:t>
            </a:r>
            <a:r>
              <a:rPr lang="en-US" baseline="0" dirty="0"/>
              <a:t> </a:t>
            </a:r>
            <a:r>
              <a:rPr lang="en-US" baseline="0" dirty="0" err="1"/>
              <a:t>bản</a:t>
            </a:r>
            <a:r>
              <a:rPr lang="en-US" baseline="0" dirty="0"/>
              <a:t> </a:t>
            </a:r>
            <a:r>
              <a:rPr lang="en-US" baseline="0" dirty="0" err="1"/>
              <a:t>hóa</a:t>
            </a:r>
            <a:r>
              <a:rPr lang="en-US" baseline="0" dirty="0"/>
              <a:t>, </a:t>
            </a:r>
            <a:r>
              <a:rPr lang="en-US" baseline="0" dirty="0" err="1"/>
              <a:t>được</a:t>
            </a:r>
            <a:r>
              <a:rPr lang="en-US" baseline="0" dirty="0"/>
              <a:t> </a:t>
            </a:r>
            <a:r>
              <a:rPr lang="en-US" baseline="0" dirty="0" err="1"/>
              <a:t>truyền</a:t>
            </a:r>
            <a:r>
              <a:rPr lang="en-US" baseline="0" dirty="0"/>
              <a:t> </a:t>
            </a:r>
            <a:r>
              <a:rPr lang="en-US" baseline="0" dirty="0" err="1"/>
              <a:t>đạt</a:t>
            </a:r>
            <a:r>
              <a:rPr lang="en-US" baseline="0" dirty="0"/>
              <a:t> </a:t>
            </a:r>
            <a:r>
              <a:rPr lang="en-US" baseline="0" dirty="0" err="1"/>
              <a:t>đầy</a:t>
            </a:r>
            <a:r>
              <a:rPr lang="en-US" baseline="0" dirty="0"/>
              <a:t> </a:t>
            </a:r>
            <a:r>
              <a:rPr lang="en-US" baseline="0" dirty="0" err="1"/>
              <a:t>đủ</a:t>
            </a:r>
            <a:r>
              <a:rPr lang="en-US" baseline="0" dirty="0"/>
              <a:t> </a:t>
            </a:r>
            <a:r>
              <a:rPr lang="en-US" baseline="0" dirty="0" err="1"/>
              <a:t>và</a:t>
            </a:r>
            <a:r>
              <a:rPr lang="en-US" baseline="0" dirty="0"/>
              <a:t> </a:t>
            </a:r>
            <a:r>
              <a:rPr lang="en-US" baseline="0" dirty="0" err="1"/>
              <a:t>thống</a:t>
            </a:r>
            <a:r>
              <a:rPr lang="en-US" baseline="0" dirty="0"/>
              <a:t> </a:t>
            </a:r>
            <a:r>
              <a:rPr lang="en-US" baseline="0" dirty="0" err="1"/>
              <a:t>nhất</a:t>
            </a:r>
            <a:r>
              <a:rPr lang="en-US" baseline="0" dirty="0"/>
              <a:t> </a:t>
            </a:r>
            <a:r>
              <a:rPr lang="en-US" baseline="0" dirty="0" err="1"/>
              <a:t>trên</a:t>
            </a:r>
            <a:r>
              <a:rPr lang="en-US" baseline="0" dirty="0"/>
              <a:t> </a:t>
            </a:r>
            <a:r>
              <a:rPr lang="en-US" baseline="0" dirty="0" err="1"/>
              <a:t>toàn</a:t>
            </a:r>
            <a:r>
              <a:rPr lang="en-US" baseline="0" dirty="0"/>
              <a:t> </a:t>
            </a:r>
            <a:r>
              <a:rPr lang="en-US" baseline="0" dirty="0" err="1"/>
              <a:t>tổ</a:t>
            </a:r>
            <a:r>
              <a:rPr lang="en-US" baseline="0" dirty="0"/>
              <a:t> </a:t>
            </a:r>
            <a:r>
              <a:rPr lang="en-US" baseline="0" dirty="0" err="1"/>
              <a:t>chức</a:t>
            </a:r>
            <a:endParaRPr lang="en-US" baseline="0" dirty="0"/>
          </a:p>
          <a:p>
            <a:pPr marL="0" indent="0">
              <a:buFont typeface="+mj-lt"/>
              <a:buNone/>
            </a:pPr>
            <a:r>
              <a:rPr lang="en-US" baseline="0" dirty="0"/>
              <a:t>- </a:t>
            </a:r>
            <a:r>
              <a:rPr lang="en-US" baseline="0" dirty="0" err="1"/>
              <a:t>Hành</a:t>
            </a:r>
            <a:r>
              <a:rPr lang="en-US" baseline="0" dirty="0"/>
              <a:t> vi </a:t>
            </a:r>
            <a:r>
              <a:rPr lang="en-US" baseline="0" dirty="0" err="1"/>
              <a:t>trong</a:t>
            </a:r>
            <a:r>
              <a:rPr lang="en-US" baseline="0" dirty="0"/>
              <a:t> </a:t>
            </a:r>
            <a:r>
              <a:rPr lang="en-US" baseline="0" dirty="0" err="1"/>
              <a:t>toàn</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tuân</a:t>
            </a:r>
            <a:r>
              <a:rPr lang="en-US" baseline="0" dirty="0"/>
              <a:t> </a:t>
            </a:r>
            <a:r>
              <a:rPr lang="en-US" baseline="0" dirty="0" err="1"/>
              <a:t>theo</a:t>
            </a:r>
            <a:r>
              <a:rPr lang="en-US" baseline="0" dirty="0"/>
              <a:t> </a:t>
            </a:r>
            <a:r>
              <a:rPr lang="en-US" baseline="0" dirty="0" err="1"/>
              <a:t>văn</a:t>
            </a:r>
            <a:r>
              <a:rPr lang="en-US" baseline="0" dirty="0"/>
              <a:t> </a:t>
            </a:r>
            <a:r>
              <a:rPr lang="en-US" baseline="0" dirty="0" err="1"/>
              <a:t>hóa</a:t>
            </a:r>
            <a:r>
              <a:rPr lang="en-US" baseline="0" dirty="0"/>
              <a:t> </a:t>
            </a:r>
            <a:r>
              <a:rPr lang="en-US" baseline="0" dirty="0" err="1"/>
              <a:t>đã</a:t>
            </a:r>
            <a:r>
              <a:rPr lang="en-US" baseline="0" dirty="0"/>
              <a:t> </a:t>
            </a:r>
            <a:r>
              <a:rPr lang="en-US" baseline="0" dirty="0" err="1"/>
              <a:t>được</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và</a:t>
            </a:r>
            <a:r>
              <a:rPr lang="en-US" baseline="0" dirty="0"/>
              <a:t> </a:t>
            </a:r>
            <a:r>
              <a:rPr lang="en-US" baseline="0" dirty="0" err="1"/>
              <a:t>phù</a:t>
            </a:r>
            <a:r>
              <a:rPr lang="en-US" baseline="0" dirty="0"/>
              <a:t> </a:t>
            </a:r>
            <a:r>
              <a:rPr lang="en-US" baseline="0" dirty="0" err="1"/>
              <a:t>hợp</a:t>
            </a:r>
            <a:r>
              <a:rPr lang="en-US" baseline="0" dirty="0"/>
              <a:t> </a:t>
            </a:r>
            <a:r>
              <a:rPr lang="en-US" baseline="0" dirty="0" err="1"/>
              <a:t>với</a:t>
            </a:r>
            <a:r>
              <a:rPr lang="en-US" baseline="0" dirty="0"/>
              <a:t> </a:t>
            </a:r>
            <a:r>
              <a:rPr lang="en-US" baseline="0" dirty="0" err="1"/>
              <a:t>các</a:t>
            </a:r>
            <a:r>
              <a:rPr lang="en-US" baseline="0" dirty="0"/>
              <a:t> </a:t>
            </a:r>
            <a:r>
              <a:rPr lang="en-US" baseline="0" dirty="0" err="1"/>
              <a:t>giá</a:t>
            </a:r>
            <a:r>
              <a:rPr lang="en-US" baseline="0" dirty="0"/>
              <a:t> </a:t>
            </a:r>
            <a:r>
              <a:rPr lang="en-US" baseline="0" dirty="0" err="1"/>
              <a:t>trị</a:t>
            </a:r>
            <a:r>
              <a:rPr lang="en-US" baseline="0" dirty="0"/>
              <a:t> </a:t>
            </a:r>
            <a:r>
              <a:rPr lang="en-US" baseline="0" dirty="0" err="1"/>
              <a:t>cốt</a:t>
            </a:r>
            <a:r>
              <a:rPr lang="en-US" baseline="0" dirty="0"/>
              <a:t> </a:t>
            </a:r>
            <a:r>
              <a:rPr lang="en-US" baseline="0" dirty="0" err="1"/>
              <a:t>lõi</a:t>
            </a:r>
            <a:endParaRPr lang="en-US" baseline="0" dirty="0"/>
          </a:p>
          <a:p>
            <a:pPr marL="0" indent="0">
              <a:buFont typeface="+mj-lt"/>
              <a:buNone/>
            </a:pPr>
            <a:endParaRPr lang="en-US" baseline="0" dirty="0"/>
          </a:p>
          <a:p>
            <a:pPr marL="0" indent="0">
              <a:buFont typeface="+mj-lt"/>
              <a:buNone/>
            </a:pPr>
            <a:r>
              <a:rPr lang="en-US" baseline="0" dirty="0"/>
              <a:t>4. </a:t>
            </a:r>
            <a:r>
              <a:rPr lang="en-US" baseline="0" dirty="0" err="1"/>
              <a:t>Thể</a:t>
            </a:r>
            <a:r>
              <a:rPr lang="en-US" baseline="0" dirty="0"/>
              <a:t> </a:t>
            </a:r>
            <a:r>
              <a:rPr lang="en-US" baseline="0" dirty="0" err="1"/>
              <a:t>hiện</a:t>
            </a:r>
            <a:r>
              <a:rPr lang="en-US" baseline="0" dirty="0"/>
              <a:t> cam </a:t>
            </a:r>
            <a:r>
              <a:rPr lang="en-US" baseline="0" dirty="0" err="1"/>
              <a:t>kết</a:t>
            </a:r>
            <a:r>
              <a:rPr lang="en-US" baseline="0" dirty="0"/>
              <a:t> </a:t>
            </a:r>
            <a:r>
              <a:rPr lang="en-US" baseline="0" dirty="0" err="1"/>
              <a:t>với</a:t>
            </a:r>
            <a:r>
              <a:rPr lang="en-US" baseline="0" dirty="0"/>
              <a:t> </a:t>
            </a:r>
            <a:r>
              <a:rPr lang="en-US" baseline="0" dirty="0" err="1"/>
              <a:t>các</a:t>
            </a:r>
            <a:r>
              <a:rPr lang="en-US" baseline="0" dirty="0"/>
              <a:t> </a:t>
            </a:r>
            <a:r>
              <a:rPr lang="en-US" baseline="0" dirty="0" err="1"/>
              <a:t>giá</a:t>
            </a:r>
            <a:r>
              <a:rPr lang="en-US" baseline="0" dirty="0"/>
              <a:t> </a:t>
            </a:r>
            <a:r>
              <a:rPr lang="en-US" baseline="0" dirty="0" err="1"/>
              <a:t>trị</a:t>
            </a:r>
            <a:r>
              <a:rPr lang="en-US" baseline="0" dirty="0"/>
              <a:t> </a:t>
            </a:r>
            <a:r>
              <a:rPr lang="en-US" baseline="0" dirty="0" err="1"/>
              <a:t>cốt</a:t>
            </a:r>
            <a:r>
              <a:rPr lang="en-US" baseline="0" dirty="0"/>
              <a:t> </a:t>
            </a:r>
            <a:r>
              <a:rPr lang="en-US" baseline="0" dirty="0" err="1"/>
              <a:t>lõi</a:t>
            </a:r>
            <a:r>
              <a:rPr lang="en-US" baseline="0" dirty="0"/>
              <a:t>: </a:t>
            </a:r>
          </a:p>
          <a:p>
            <a:pPr marL="171450" indent="-171450">
              <a:buFontTx/>
              <a:buChar char="-"/>
            </a:pPr>
            <a:r>
              <a:rPr lang="en-US" baseline="0" dirty="0" err="1"/>
              <a:t>Các</a:t>
            </a:r>
            <a:r>
              <a:rPr lang="en-US" baseline="0" dirty="0"/>
              <a:t> </a:t>
            </a:r>
            <a:r>
              <a:rPr lang="en-US" baseline="0" dirty="0" err="1"/>
              <a:t>giá</a:t>
            </a:r>
            <a:r>
              <a:rPr lang="en-US" baseline="0" dirty="0"/>
              <a:t> </a:t>
            </a:r>
            <a:r>
              <a:rPr lang="en-US" baseline="0" dirty="0" err="1"/>
              <a:t>trị</a:t>
            </a:r>
            <a:r>
              <a:rPr lang="en-US" baseline="0" dirty="0"/>
              <a:t> </a:t>
            </a:r>
            <a:r>
              <a:rPr lang="en-US" baseline="0" dirty="0" err="1"/>
              <a:t>cốt</a:t>
            </a:r>
            <a:r>
              <a:rPr lang="en-US" baseline="0" dirty="0"/>
              <a:t> </a:t>
            </a:r>
            <a:r>
              <a:rPr lang="en-US" baseline="0" dirty="0" err="1"/>
              <a:t>lõi</a:t>
            </a:r>
            <a:r>
              <a:rPr lang="en-US" baseline="0" dirty="0"/>
              <a:t> </a:t>
            </a:r>
            <a:r>
              <a:rPr lang="en-US" baseline="0" dirty="0" err="1"/>
              <a:t>dẫn</a:t>
            </a:r>
            <a:r>
              <a:rPr lang="en-US" baseline="0" dirty="0"/>
              <a:t> </a:t>
            </a:r>
            <a:r>
              <a:rPr lang="en-US" baseline="0" dirty="0" err="1"/>
              <a:t>dắt</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và</a:t>
            </a:r>
            <a:r>
              <a:rPr lang="en-US" baseline="0" dirty="0"/>
              <a:t> </a:t>
            </a:r>
            <a:r>
              <a:rPr lang="en-US" baseline="0" dirty="0" err="1"/>
              <a:t>thông</a:t>
            </a:r>
            <a:r>
              <a:rPr lang="en-US" baseline="0" dirty="0"/>
              <a:t> </a:t>
            </a:r>
            <a:r>
              <a:rPr lang="en-US" baseline="0" dirty="0" err="1"/>
              <a:t>điệp</a:t>
            </a:r>
            <a:r>
              <a:rPr lang="en-US" baseline="0" dirty="0"/>
              <a:t> </a:t>
            </a:r>
            <a:r>
              <a:rPr lang="en-US" baseline="0" dirty="0" err="1"/>
              <a:t>từ</a:t>
            </a:r>
            <a:r>
              <a:rPr lang="en-US" baseline="0" dirty="0"/>
              <a:t> </a:t>
            </a:r>
            <a:r>
              <a:rPr lang="en-US" baseline="0" dirty="0" err="1"/>
              <a:t>lãnh</a:t>
            </a:r>
            <a:r>
              <a:rPr lang="en-US" baseline="0" dirty="0"/>
              <a:t> </a:t>
            </a:r>
            <a:r>
              <a:rPr lang="en-US" baseline="0" dirty="0" err="1"/>
              <a:t>đạo</a:t>
            </a:r>
            <a:r>
              <a:rPr lang="en-US" baseline="0" dirty="0"/>
              <a:t> </a:t>
            </a:r>
            <a:r>
              <a:rPr lang="en-US" baseline="0" dirty="0" err="1"/>
              <a:t>nhất</a:t>
            </a:r>
            <a:r>
              <a:rPr lang="en-US" baseline="0" dirty="0"/>
              <a:t> </a:t>
            </a:r>
            <a:r>
              <a:rPr lang="en-US" baseline="0" dirty="0" err="1"/>
              <a:t>quán</a:t>
            </a:r>
            <a:endParaRPr lang="en-US" baseline="0" dirty="0"/>
          </a:p>
          <a:p>
            <a:pPr marL="171450" indent="-171450">
              <a:buFontTx/>
              <a:buChar char="-"/>
            </a:pPr>
            <a:r>
              <a:rPr lang="en-US" baseline="0" dirty="0" err="1"/>
              <a:t>Có</a:t>
            </a:r>
            <a:r>
              <a:rPr lang="en-US" baseline="0" dirty="0"/>
              <a:t> </a:t>
            </a:r>
            <a:r>
              <a:rPr lang="en-US" baseline="0" dirty="0" err="1"/>
              <a:t>cơ</a:t>
            </a:r>
            <a:r>
              <a:rPr lang="en-US" baseline="0" dirty="0"/>
              <a:t> </a:t>
            </a:r>
            <a:r>
              <a:rPr lang="en-US" baseline="0" dirty="0" err="1"/>
              <a:t>chế</a:t>
            </a:r>
            <a:r>
              <a:rPr lang="en-US" baseline="0" dirty="0"/>
              <a:t> </a:t>
            </a:r>
            <a:r>
              <a:rPr lang="en-US" baseline="0" dirty="0" err="1"/>
              <a:t>chịu</a:t>
            </a:r>
            <a:r>
              <a:rPr lang="en-US" baseline="0" dirty="0"/>
              <a:t> </a:t>
            </a:r>
            <a:r>
              <a:rPr lang="en-US" baseline="0" dirty="0" err="1"/>
              <a:t>trách</a:t>
            </a:r>
            <a:r>
              <a:rPr lang="en-US" baseline="0" dirty="0"/>
              <a:t> </a:t>
            </a:r>
            <a:r>
              <a:rPr lang="en-US" baseline="0" dirty="0" err="1"/>
              <a:t>nhiệm</a:t>
            </a:r>
            <a:r>
              <a:rPr lang="en-US" baseline="0" dirty="0"/>
              <a:t> </a:t>
            </a:r>
            <a:r>
              <a:rPr lang="en-US" baseline="0" dirty="0" err="1"/>
              <a:t>trong</a:t>
            </a:r>
            <a:r>
              <a:rPr lang="en-US" baseline="0" dirty="0"/>
              <a:t> </a:t>
            </a:r>
            <a:r>
              <a:rPr lang="en-US" baseline="0" dirty="0" err="1"/>
              <a:t>hoạt</a:t>
            </a:r>
            <a:r>
              <a:rPr lang="en-US" baseline="0" dirty="0"/>
              <a:t> </a:t>
            </a:r>
            <a:r>
              <a:rPr lang="en-US" baseline="0" dirty="0" err="1"/>
              <a:t>động</a:t>
            </a:r>
            <a:r>
              <a:rPr lang="en-US" baseline="0" dirty="0"/>
              <a:t> QTRR</a:t>
            </a:r>
          </a:p>
          <a:p>
            <a:pPr marL="171450" indent="-171450">
              <a:buFontTx/>
              <a:buChar char="-"/>
            </a:pPr>
            <a:r>
              <a:rPr lang="en-US" baseline="0" dirty="0" err="1"/>
              <a:t>Có</a:t>
            </a:r>
            <a:r>
              <a:rPr lang="en-US" baseline="0" dirty="0"/>
              <a:t> </a:t>
            </a:r>
            <a:r>
              <a:rPr lang="en-US" baseline="0" dirty="0" err="1"/>
              <a:t>cơ</a:t>
            </a:r>
            <a:r>
              <a:rPr lang="en-US" baseline="0" dirty="0"/>
              <a:t> </a:t>
            </a:r>
            <a:r>
              <a:rPr lang="en-US" baseline="0" dirty="0" err="1"/>
              <a:t>chế</a:t>
            </a:r>
            <a:r>
              <a:rPr lang="en-US" baseline="0" dirty="0"/>
              <a:t> </a:t>
            </a:r>
            <a:r>
              <a:rPr lang="en-US" baseline="0" dirty="0" err="1"/>
              <a:t>báo</a:t>
            </a:r>
            <a:r>
              <a:rPr lang="en-US" baseline="0" dirty="0"/>
              <a:t> </a:t>
            </a:r>
            <a:r>
              <a:rPr lang="en-US" baseline="0" dirty="0" err="1"/>
              <a:t>cáo</a:t>
            </a:r>
            <a:r>
              <a:rPr lang="en-US" baseline="0" dirty="0"/>
              <a:t> </a:t>
            </a:r>
            <a:r>
              <a:rPr lang="en-US" baseline="0" dirty="0" err="1"/>
              <a:t>thông</a:t>
            </a:r>
            <a:r>
              <a:rPr lang="en-US" baseline="0" dirty="0"/>
              <a:t> </a:t>
            </a:r>
            <a:r>
              <a:rPr lang="en-US" baseline="0" dirty="0" err="1"/>
              <a:t>suốt</a:t>
            </a:r>
            <a:r>
              <a:rPr lang="en-US" baseline="0" dirty="0"/>
              <a:t>, </a:t>
            </a:r>
            <a:r>
              <a:rPr lang="en-US" baseline="0" dirty="0" err="1"/>
              <a:t>cởi</a:t>
            </a:r>
            <a:r>
              <a:rPr lang="en-US" baseline="0" dirty="0"/>
              <a:t> </a:t>
            </a:r>
            <a:r>
              <a:rPr lang="en-US" baseline="0" dirty="0" err="1"/>
              <a:t>mở</a:t>
            </a:r>
            <a:r>
              <a:rPr lang="en-US" baseline="0" dirty="0"/>
              <a:t> </a:t>
            </a:r>
            <a:r>
              <a:rPr lang="en-US" baseline="0" dirty="0" err="1"/>
              <a:t>và</a:t>
            </a:r>
            <a:r>
              <a:rPr lang="en-US" baseline="0" dirty="0"/>
              <a:t> minh </a:t>
            </a:r>
            <a:r>
              <a:rPr lang="en-US" baseline="0" dirty="0" err="1"/>
              <a:t>bạch</a:t>
            </a:r>
            <a:endParaRPr lang="en-US" baseline="0" dirty="0"/>
          </a:p>
          <a:p>
            <a:pPr marL="171450" indent="-171450">
              <a:buFontTx/>
              <a:buChar char="-"/>
            </a:pPr>
            <a:r>
              <a:rPr lang="en-US" baseline="0" dirty="0" err="1"/>
              <a:t>Có</a:t>
            </a:r>
            <a:r>
              <a:rPr lang="en-US" baseline="0" dirty="0"/>
              <a:t> </a:t>
            </a:r>
            <a:r>
              <a:rPr lang="en-US" baseline="0" dirty="0" err="1"/>
              <a:t>cơ</a:t>
            </a:r>
            <a:r>
              <a:rPr lang="en-US" baseline="0" dirty="0"/>
              <a:t> </a:t>
            </a:r>
            <a:r>
              <a:rPr lang="en-US" baseline="0" dirty="0" err="1"/>
              <a:t>chế</a:t>
            </a:r>
            <a:r>
              <a:rPr lang="en-US" baseline="0" dirty="0"/>
              <a:t> </a:t>
            </a:r>
            <a:r>
              <a:rPr lang="en-US" baseline="0" dirty="0" err="1"/>
              <a:t>xử</a:t>
            </a:r>
            <a:r>
              <a:rPr lang="en-US" baseline="0" dirty="0"/>
              <a:t> </a:t>
            </a:r>
            <a:r>
              <a:rPr lang="en-US" baseline="0" dirty="0" err="1"/>
              <a:t>lý</a:t>
            </a:r>
            <a:r>
              <a:rPr lang="en-US" baseline="0" dirty="0"/>
              <a:t> </a:t>
            </a:r>
            <a:r>
              <a:rPr lang="en-US" baseline="0" dirty="0" err="1"/>
              <a:t>khi</a:t>
            </a:r>
            <a:r>
              <a:rPr lang="en-US" baseline="0" dirty="0"/>
              <a:t> </a:t>
            </a:r>
            <a:r>
              <a:rPr lang="en-US" baseline="0" dirty="0" err="1"/>
              <a:t>phát</a:t>
            </a:r>
            <a:r>
              <a:rPr lang="en-US" baseline="0" dirty="0"/>
              <a:t> </a:t>
            </a:r>
            <a:r>
              <a:rPr lang="en-US" baseline="0" dirty="0" err="1"/>
              <a:t>sinh</a:t>
            </a:r>
            <a:r>
              <a:rPr lang="en-US" baseline="0" dirty="0"/>
              <a:t> </a:t>
            </a:r>
            <a:r>
              <a:rPr lang="en-US" baseline="0" dirty="0" err="1"/>
              <a:t>các</a:t>
            </a:r>
            <a:r>
              <a:rPr lang="en-US" baseline="0" dirty="0"/>
              <a:t> </a:t>
            </a:r>
            <a:r>
              <a:rPr lang="en-US" baseline="0" dirty="0" err="1"/>
              <a:t>hành</a:t>
            </a:r>
            <a:r>
              <a:rPr lang="en-US" baseline="0" dirty="0"/>
              <a:t> vi </a:t>
            </a:r>
            <a:r>
              <a:rPr lang="en-US" baseline="0" dirty="0" err="1"/>
              <a:t>sai</a:t>
            </a:r>
            <a:r>
              <a:rPr lang="en-US" baseline="0" dirty="0"/>
              <a:t> </a:t>
            </a:r>
            <a:r>
              <a:rPr lang="en-US" baseline="0" dirty="0" err="1"/>
              <a:t>lệch</a:t>
            </a:r>
            <a:r>
              <a:rPr lang="en-US" baseline="0" dirty="0"/>
              <a:t> </a:t>
            </a:r>
            <a:r>
              <a:rPr lang="en-US" baseline="0" dirty="0" err="1"/>
              <a:t>khỏi</a:t>
            </a:r>
            <a:r>
              <a:rPr lang="en-US" baseline="0" dirty="0"/>
              <a:t> </a:t>
            </a:r>
            <a:r>
              <a:rPr lang="en-US" baseline="0" dirty="0" err="1"/>
              <a:t>các</a:t>
            </a:r>
            <a:r>
              <a:rPr lang="en-US" baseline="0" dirty="0"/>
              <a:t> </a:t>
            </a:r>
            <a:r>
              <a:rPr lang="en-US" baseline="0" dirty="0" err="1"/>
              <a:t>giá</a:t>
            </a:r>
            <a:r>
              <a:rPr lang="en-US" baseline="0" dirty="0"/>
              <a:t> </a:t>
            </a:r>
            <a:r>
              <a:rPr lang="en-US" baseline="0" dirty="0" err="1"/>
              <a:t>trị</a:t>
            </a:r>
            <a:r>
              <a:rPr lang="en-US" baseline="0" dirty="0"/>
              <a:t> </a:t>
            </a:r>
            <a:r>
              <a:rPr lang="en-US" baseline="0" dirty="0" err="1"/>
              <a:t>cốt</a:t>
            </a:r>
            <a:r>
              <a:rPr lang="en-US" baseline="0" dirty="0"/>
              <a:t> </a:t>
            </a:r>
            <a:r>
              <a:rPr lang="en-US" baseline="0" dirty="0" err="1"/>
              <a:t>lõi</a:t>
            </a:r>
            <a:endParaRPr lang="en-US" baseline="0" dirty="0"/>
          </a:p>
          <a:p>
            <a:pPr marL="171450" indent="-171450">
              <a:buFontTx/>
              <a:buChar char="-"/>
            </a:pPr>
            <a:endParaRPr lang="en-US" baseline="0" dirty="0"/>
          </a:p>
          <a:p>
            <a:pPr marL="0" indent="0">
              <a:buFontTx/>
              <a:buNone/>
            </a:pPr>
            <a:r>
              <a:rPr lang="en-US" baseline="0" dirty="0"/>
              <a:t>5. Thu </a:t>
            </a:r>
            <a:r>
              <a:rPr lang="en-US" baseline="0" dirty="0" err="1"/>
              <a:t>hút</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và</a:t>
            </a:r>
            <a:r>
              <a:rPr lang="en-US" baseline="0" dirty="0"/>
              <a:t> </a:t>
            </a:r>
            <a:r>
              <a:rPr lang="en-US" baseline="0" dirty="0" err="1"/>
              <a:t>giữ</a:t>
            </a:r>
            <a:r>
              <a:rPr lang="en-US" baseline="0" dirty="0"/>
              <a:t> </a:t>
            </a:r>
            <a:r>
              <a:rPr lang="en-US" baseline="0" dirty="0" err="1"/>
              <a:t>chân</a:t>
            </a:r>
            <a:r>
              <a:rPr lang="en-US" baseline="0" dirty="0"/>
              <a:t> </a:t>
            </a:r>
            <a:r>
              <a:rPr lang="en-US" baseline="0" dirty="0" err="1"/>
              <a:t>nhân</a:t>
            </a:r>
            <a:r>
              <a:rPr lang="en-US" baseline="0" dirty="0"/>
              <a:t> </a:t>
            </a:r>
            <a:r>
              <a:rPr lang="en-US" baseline="0" dirty="0" err="1"/>
              <a:t>sự</a:t>
            </a:r>
            <a:r>
              <a:rPr lang="en-US" baseline="0" dirty="0"/>
              <a:t>:</a:t>
            </a:r>
          </a:p>
          <a:p>
            <a:pPr marL="171450" indent="-171450">
              <a:buFontTx/>
              <a:buChar char="-"/>
            </a:pPr>
            <a:r>
              <a:rPr lang="en-US" baseline="0" dirty="0" err="1"/>
              <a:t>Tổ</a:t>
            </a:r>
            <a:r>
              <a:rPr lang="en-US" baseline="0" dirty="0"/>
              <a:t> </a:t>
            </a:r>
            <a:r>
              <a:rPr lang="en-US" baseline="0" dirty="0" err="1"/>
              <a:t>chức</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yêu</a:t>
            </a:r>
            <a:r>
              <a:rPr lang="en-US" baseline="0" dirty="0"/>
              <a:t> </a:t>
            </a:r>
            <a:r>
              <a:rPr lang="en-US" baseline="0" dirty="0" err="1"/>
              <a:t>cầu</a:t>
            </a:r>
            <a:r>
              <a:rPr lang="en-US" baseline="0" dirty="0"/>
              <a:t> </a:t>
            </a:r>
            <a:r>
              <a:rPr lang="en-US" baseline="0" dirty="0" err="1"/>
              <a:t>khung</a:t>
            </a:r>
            <a:r>
              <a:rPr lang="en-US" baseline="0" dirty="0"/>
              <a:t> </a:t>
            </a:r>
            <a:r>
              <a:rPr lang="en-US" baseline="0" dirty="0" err="1"/>
              <a:t>năng</a:t>
            </a:r>
            <a:r>
              <a:rPr lang="en-US" baseline="0" dirty="0"/>
              <a:t> </a:t>
            </a:r>
            <a:r>
              <a:rPr lang="en-US" baseline="0" dirty="0" err="1"/>
              <a:t>lực</a:t>
            </a:r>
            <a:r>
              <a:rPr lang="en-US" baseline="0" dirty="0"/>
              <a:t> QTRR </a:t>
            </a:r>
            <a:r>
              <a:rPr lang="en-US" baseline="0" dirty="0" err="1"/>
              <a:t>đối</a:t>
            </a:r>
            <a:r>
              <a:rPr lang="en-US" baseline="0" dirty="0"/>
              <a:t> </a:t>
            </a:r>
            <a:r>
              <a:rPr lang="en-US" baseline="0" dirty="0" err="1"/>
              <a:t>với</a:t>
            </a:r>
            <a:r>
              <a:rPr lang="en-US" baseline="0" dirty="0"/>
              <a:t> </a:t>
            </a:r>
            <a:r>
              <a:rPr lang="en-US" baseline="0" dirty="0" err="1"/>
              <a:t>các</a:t>
            </a:r>
            <a:r>
              <a:rPr lang="en-US" baseline="0" dirty="0"/>
              <a:t> </a:t>
            </a:r>
            <a:r>
              <a:rPr lang="en-US" baseline="0" dirty="0" err="1"/>
              <a:t>vị</a:t>
            </a:r>
            <a:r>
              <a:rPr lang="en-US" baseline="0" dirty="0"/>
              <a:t> </a:t>
            </a:r>
            <a:r>
              <a:rPr lang="en-US" baseline="0" dirty="0" err="1"/>
              <a:t>trí</a:t>
            </a:r>
            <a:r>
              <a:rPr lang="en-US" baseline="0" dirty="0"/>
              <a:t> </a:t>
            </a:r>
            <a:r>
              <a:rPr lang="en-US" baseline="0" dirty="0" err="1"/>
              <a:t>chủ</a:t>
            </a:r>
            <a:r>
              <a:rPr lang="en-US" baseline="0" dirty="0"/>
              <a:t> </a:t>
            </a:r>
            <a:r>
              <a:rPr lang="en-US" baseline="0" dirty="0" err="1"/>
              <a:t>chốt</a:t>
            </a:r>
            <a:endParaRPr lang="en-US" baseline="0" dirty="0"/>
          </a:p>
          <a:p>
            <a:pPr marL="171450" indent="-171450">
              <a:buFontTx/>
              <a:buChar char="-"/>
            </a:pPr>
            <a:r>
              <a:rPr lang="en-US" baseline="0" dirty="0" err="1"/>
              <a:t>Tổ</a:t>
            </a:r>
            <a:r>
              <a:rPr lang="en-US" baseline="0" dirty="0"/>
              <a:t> </a:t>
            </a:r>
            <a:r>
              <a:rPr lang="en-US" baseline="0" dirty="0" err="1"/>
              <a:t>chức</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quy</a:t>
            </a:r>
            <a:r>
              <a:rPr lang="en-US" baseline="0" dirty="0"/>
              <a:t> </a:t>
            </a:r>
            <a:r>
              <a:rPr lang="en-US" baseline="0" dirty="0" err="1"/>
              <a:t>trình</a:t>
            </a:r>
            <a:r>
              <a:rPr lang="en-US" baseline="0" dirty="0"/>
              <a:t> </a:t>
            </a:r>
            <a:r>
              <a:rPr lang="en-US" baseline="0" dirty="0" err="1"/>
              <a:t>thu</a:t>
            </a:r>
            <a:r>
              <a:rPr lang="en-US" baseline="0" dirty="0"/>
              <a:t> </a:t>
            </a:r>
            <a:r>
              <a:rPr lang="en-US" baseline="0" dirty="0" err="1"/>
              <a:t>hút</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giữ</a:t>
            </a:r>
            <a:r>
              <a:rPr lang="en-US" baseline="0" dirty="0"/>
              <a:t> </a:t>
            </a:r>
            <a:r>
              <a:rPr lang="en-US" baseline="0" dirty="0" err="1"/>
              <a:t>chân</a:t>
            </a:r>
            <a:r>
              <a:rPr lang="en-US" baseline="0" dirty="0"/>
              <a:t> </a:t>
            </a:r>
            <a:r>
              <a:rPr lang="en-US" baseline="0" dirty="0" err="1"/>
              <a:t>nhân</a:t>
            </a:r>
            <a:r>
              <a:rPr lang="en-US" baseline="0" dirty="0"/>
              <a:t> </a:t>
            </a:r>
            <a:r>
              <a:rPr lang="en-US" baseline="0" dirty="0" err="1"/>
              <a:t>sự</a:t>
            </a:r>
            <a:r>
              <a:rPr lang="en-US" baseline="0" dirty="0"/>
              <a:t> </a:t>
            </a:r>
            <a:r>
              <a:rPr lang="en-US" baseline="0" dirty="0" err="1"/>
              <a:t>phù</a:t>
            </a:r>
            <a:r>
              <a:rPr lang="en-US" baseline="0" dirty="0"/>
              <a:t> </a:t>
            </a:r>
            <a:r>
              <a:rPr lang="en-US" baseline="0" dirty="0" err="1"/>
              <a:t>hợp</a:t>
            </a:r>
            <a:r>
              <a:rPr lang="en-US" baseline="0" dirty="0"/>
              <a:t> </a:t>
            </a:r>
            <a:r>
              <a:rPr lang="en-US" baseline="0" dirty="0" err="1"/>
              <a:t>với</a:t>
            </a:r>
            <a:r>
              <a:rPr lang="en-US" baseline="0" dirty="0"/>
              <a:t> </a:t>
            </a:r>
            <a:r>
              <a:rPr lang="en-US" baseline="0" dirty="0" err="1"/>
              <a:t>khung</a:t>
            </a:r>
            <a:r>
              <a:rPr lang="en-US" baseline="0" dirty="0"/>
              <a:t> </a:t>
            </a:r>
            <a:r>
              <a:rPr lang="en-US" baseline="0" dirty="0" err="1"/>
              <a:t>năng</a:t>
            </a:r>
            <a:r>
              <a:rPr lang="en-US" baseline="0" dirty="0"/>
              <a:t> </a:t>
            </a:r>
            <a:r>
              <a:rPr lang="en-US" baseline="0" dirty="0" err="1"/>
              <a:t>lực</a:t>
            </a:r>
            <a:r>
              <a:rPr lang="en-US" baseline="0" dirty="0"/>
              <a:t> QTRR </a:t>
            </a:r>
            <a:r>
              <a:rPr lang="en-US" baseline="0" dirty="0" err="1"/>
              <a:t>đã</a:t>
            </a:r>
            <a:r>
              <a:rPr lang="en-US" baseline="0" dirty="0"/>
              <a:t> </a:t>
            </a:r>
            <a:r>
              <a:rPr lang="en-US" baseline="0" dirty="0" err="1"/>
              <a:t>xây</a:t>
            </a:r>
            <a:r>
              <a:rPr lang="en-US" baseline="0" dirty="0"/>
              <a:t> </a:t>
            </a:r>
            <a:r>
              <a:rPr lang="en-US" baseline="0" dirty="0" err="1"/>
              <a:t>dựng</a:t>
            </a:r>
            <a:endParaRPr lang="en-US" baseline="0" dirty="0"/>
          </a:p>
          <a:p>
            <a:pPr marL="171450" indent="-171450">
              <a:buFontTx/>
              <a:buChar char="-"/>
            </a:pPr>
            <a:r>
              <a:rPr lang="en-US" baseline="0" dirty="0" err="1"/>
              <a:t>Tổ</a:t>
            </a:r>
            <a:r>
              <a:rPr lang="en-US" baseline="0" dirty="0"/>
              <a:t> </a:t>
            </a:r>
            <a:r>
              <a:rPr lang="en-US" baseline="0" dirty="0" err="1"/>
              <a:t>chức</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cơ</a:t>
            </a:r>
            <a:r>
              <a:rPr lang="en-US" baseline="0" dirty="0"/>
              <a:t> </a:t>
            </a:r>
            <a:r>
              <a:rPr lang="en-US" baseline="0" dirty="0" err="1"/>
              <a:t>chế</a:t>
            </a:r>
            <a:r>
              <a:rPr lang="en-US" baseline="0" dirty="0"/>
              <a:t> </a:t>
            </a:r>
            <a:r>
              <a:rPr lang="en-US" baseline="0" dirty="0" err="1"/>
              <a:t>khuyến</a:t>
            </a:r>
            <a:r>
              <a:rPr lang="en-US" baseline="0" dirty="0"/>
              <a:t> </a:t>
            </a:r>
            <a:r>
              <a:rPr lang="en-US" baseline="0" dirty="0" err="1"/>
              <a:t>khích</a:t>
            </a:r>
            <a:r>
              <a:rPr lang="en-US" baseline="0" dirty="0"/>
              <a:t>, </a:t>
            </a:r>
            <a:r>
              <a:rPr lang="en-US" baseline="0" dirty="0" err="1"/>
              <a:t>đãi</a:t>
            </a:r>
            <a:r>
              <a:rPr lang="en-US" baseline="0" dirty="0"/>
              <a:t> </a:t>
            </a:r>
            <a:r>
              <a:rPr lang="en-US" baseline="0" dirty="0" err="1"/>
              <a:t>ngộ</a:t>
            </a:r>
            <a:r>
              <a:rPr lang="en-US" baseline="0" dirty="0"/>
              <a:t> </a:t>
            </a:r>
            <a:r>
              <a:rPr lang="en-US" baseline="0" dirty="0" err="1"/>
              <a:t>liên</a:t>
            </a:r>
            <a:r>
              <a:rPr lang="en-US" baseline="0" dirty="0"/>
              <a:t> </a:t>
            </a:r>
            <a:r>
              <a:rPr lang="en-US" baseline="0" dirty="0" err="1"/>
              <a:t>quan</a:t>
            </a:r>
            <a:r>
              <a:rPr lang="en-US" baseline="0" dirty="0"/>
              <a:t> </a:t>
            </a:r>
            <a:r>
              <a:rPr lang="en-US" baseline="0" dirty="0" err="1"/>
              <a:t>tới</a:t>
            </a:r>
            <a:r>
              <a:rPr lang="en-US" baseline="0" dirty="0"/>
              <a:t> </a:t>
            </a:r>
            <a:r>
              <a:rPr lang="en-US" baseline="0" dirty="0" err="1"/>
              <a:t>hoạt</a:t>
            </a:r>
            <a:r>
              <a:rPr lang="en-US" baseline="0" dirty="0"/>
              <a:t> </a:t>
            </a:r>
            <a:r>
              <a:rPr lang="en-US" baseline="0" dirty="0" err="1"/>
              <a:t>động</a:t>
            </a:r>
            <a:r>
              <a:rPr lang="en-US" baseline="0" dirty="0"/>
              <a:t> QTRR</a:t>
            </a:r>
          </a:p>
          <a:p>
            <a:pPr marL="171450" indent="-171450">
              <a:buFontTx/>
              <a:buChar char="-"/>
            </a:pPr>
            <a:r>
              <a:rPr lang="en-US" baseline="0" dirty="0" err="1"/>
              <a:t>Tổ</a:t>
            </a:r>
            <a:r>
              <a:rPr lang="en-US" baseline="0" dirty="0"/>
              <a:t> </a:t>
            </a:r>
            <a:r>
              <a:rPr lang="en-US" baseline="0" dirty="0" err="1"/>
              <a:t>chức</a:t>
            </a:r>
            <a:r>
              <a:rPr lang="en-US" baseline="0" dirty="0"/>
              <a:t> </a:t>
            </a:r>
            <a:r>
              <a:rPr lang="en-US" baseline="0" dirty="0" err="1"/>
              <a:t>đánh</a:t>
            </a:r>
            <a:r>
              <a:rPr lang="en-US" baseline="0" dirty="0"/>
              <a:t> </a:t>
            </a:r>
            <a:r>
              <a:rPr lang="en-US" baseline="0" dirty="0" err="1"/>
              <a:t>giá</a:t>
            </a:r>
            <a:r>
              <a:rPr lang="en-US" baseline="0" dirty="0"/>
              <a:t> </a:t>
            </a:r>
            <a:r>
              <a:rPr lang="en-US" baseline="0" dirty="0" err="1"/>
              <a:t>và</a:t>
            </a:r>
            <a:r>
              <a:rPr lang="en-US" baseline="0" dirty="0"/>
              <a:t> </a:t>
            </a:r>
            <a:r>
              <a:rPr lang="en-US" baseline="0" dirty="0" err="1"/>
              <a:t>quản</a:t>
            </a:r>
            <a:r>
              <a:rPr lang="en-US" baseline="0" dirty="0"/>
              <a:t> </a:t>
            </a:r>
            <a:r>
              <a:rPr lang="en-US" baseline="0" dirty="0" err="1"/>
              <a:t>lý</a:t>
            </a:r>
            <a:r>
              <a:rPr lang="en-US" baseline="0" dirty="0"/>
              <a:t> </a:t>
            </a:r>
            <a:r>
              <a:rPr lang="en-US" baseline="0" dirty="0" err="1"/>
              <a:t>áp</a:t>
            </a:r>
            <a:r>
              <a:rPr lang="en-US" baseline="0" dirty="0"/>
              <a:t> </a:t>
            </a:r>
            <a:r>
              <a:rPr lang="en-US" baseline="0" dirty="0" err="1"/>
              <a:t>lực</a:t>
            </a:r>
            <a:r>
              <a:rPr lang="en-US" baseline="0" dirty="0"/>
              <a:t> </a:t>
            </a:r>
            <a:r>
              <a:rPr lang="en-US" baseline="0" dirty="0" err="1"/>
              <a:t>đối</a:t>
            </a:r>
            <a:r>
              <a:rPr lang="en-US" baseline="0" dirty="0"/>
              <a:t> </a:t>
            </a:r>
            <a:r>
              <a:rPr lang="en-US" baseline="0" dirty="0" err="1"/>
              <a:t>với</a:t>
            </a:r>
            <a:r>
              <a:rPr lang="en-US" baseline="0" dirty="0"/>
              <a:t> </a:t>
            </a:r>
            <a:r>
              <a:rPr lang="en-US" baseline="0" dirty="0" err="1"/>
              <a:t>nhân</a:t>
            </a:r>
            <a:r>
              <a:rPr lang="en-US" baseline="0" dirty="0"/>
              <a:t> </a:t>
            </a:r>
            <a:r>
              <a:rPr lang="en-US" baseline="0" dirty="0" err="1"/>
              <a:t>sự</a:t>
            </a:r>
            <a:endParaRPr lang="en-US" baseline="0" dirty="0"/>
          </a:p>
          <a:p>
            <a:pPr marL="171450" indent="-171450">
              <a:buFontTx/>
              <a:buChar char="-"/>
            </a:pPr>
            <a:r>
              <a:rPr lang="en-US" baseline="0" dirty="0" err="1"/>
              <a:t>Tổ</a:t>
            </a:r>
            <a:r>
              <a:rPr lang="en-US" baseline="0" dirty="0"/>
              <a:t> </a:t>
            </a:r>
            <a:r>
              <a:rPr lang="en-US" baseline="0" dirty="0" err="1"/>
              <a:t>chức</a:t>
            </a:r>
            <a:r>
              <a:rPr lang="en-US" baseline="0" dirty="0"/>
              <a:t> </a:t>
            </a:r>
            <a:r>
              <a:rPr lang="en-US" baseline="0" dirty="0" err="1"/>
              <a:t>thiết</a:t>
            </a:r>
            <a:r>
              <a:rPr lang="en-US" baseline="0" dirty="0"/>
              <a:t> </a:t>
            </a:r>
            <a:r>
              <a:rPr lang="en-US" baseline="0" dirty="0" err="1"/>
              <a:t>lập</a:t>
            </a:r>
            <a:r>
              <a:rPr lang="en-US" baseline="0" dirty="0"/>
              <a:t> </a:t>
            </a:r>
            <a:r>
              <a:rPr lang="en-US" baseline="0" dirty="0" err="1"/>
              <a:t>kế</a:t>
            </a:r>
            <a:r>
              <a:rPr lang="en-US" baseline="0" dirty="0"/>
              <a:t> </a:t>
            </a:r>
            <a:r>
              <a:rPr lang="en-US" baseline="0" dirty="0" err="1"/>
              <a:t>hoạch</a:t>
            </a:r>
            <a:r>
              <a:rPr lang="en-US" baseline="0" dirty="0"/>
              <a:t> </a:t>
            </a:r>
            <a:r>
              <a:rPr lang="en-US" baseline="0" dirty="0" err="1"/>
              <a:t>kế</a:t>
            </a:r>
            <a:r>
              <a:rPr lang="en-US" baseline="0" dirty="0"/>
              <a:t> </a:t>
            </a:r>
            <a:r>
              <a:rPr lang="en-US" baseline="0" dirty="0" err="1"/>
              <a:t>thừa</a:t>
            </a:r>
            <a:r>
              <a:rPr lang="en-US" baseline="0" dirty="0"/>
              <a:t> </a:t>
            </a:r>
            <a:r>
              <a:rPr lang="en-US" baseline="0" dirty="0" err="1"/>
              <a:t>các</a:t>
            </a:r>
            <a:r>
              <a:rPr lang="en-US" baseline="0" dirty="0"/>
              <a:t> </a:t>
            </a:r>
            <a:r>
              <a:rPr lang="en-US" baseline="0" dirty="0" err="1"/>
              <a:t>vị</a:t>
            </a:r>
            <a:r>
              <a:rPr lang="en-US" baseline="0" dirty="0"/>
              <a:t> </a:t>
            </a:r>
            <a:r>
              <a:rPr lang="en-US" baseline="0" dirty="0" err="1"/>
              <a:t>trí</a:t>
            </a:r>
            <a:r>
              <a:rPr lang="en-US" baseline="0" dirty="0"/>
              <a:t> </a:t>
            </a:r>
            <a:r>
              <a:rPr lang="en-US" baseline="0" dirty="0" err="1"/>
              <a:t>chủ</a:t>
            </a:r>
            <a:r>
              <a:rPr lang="en-US" baseline="0" dirty="0"/>
              <a:t> </a:t>
            </a:r>
            <a:r>
              <a:rPr lang="en-US" baseline="0" dirty="0" err="1"/>
              <a:t>chốt</a:t>
            </a:r>
            <a:r>
              <a:rPr lang="en-US" baseline="0" dirty="0"/>
              <a:t> </a:t>
            </a:r>
            <a:r>
              <a:rPr lang="en-US" baseline="0" dirty="0" err="1"/>
              <a:t>trong</a:t>
            </a:r>
            <a:r>
              <a:rPr lang="en-US" baseline="0" dirty="0"/>
              <a:t> </a:t>
            </a:r>
            <a:r>
              <a:rPr lang="en-US" baseline="0" dirty="0" err="1"/>
              <a:t>hoạt</a:t>
            </a:r>
            <a:r>
              <a:rPr lang="en-US" baseline="0" dirty="0"/>
              <a:t> </a:t>
            </a:r>
            <a:r>
              <a:rPr lang="en-US" baseline="0" dirty="0" err="1"/>
              <a:t>động</a:t>
            </a:r>
            <a:r>
              <a:rPr lang="en-US" baseline="0" dirty="0"/>
              <a:t> QTRR</a:t>
            </a:r>
          </a:p>
        </p:txBody>
      </p:sp>
      <p:sp>
        <p:nvSpPr>
          <p:cNvPr id="4" name="Slide Number Placeholder 3"/>
          <p:cNvSpPr>
            <a:spLocks noGrp="1"/>
          </p:cNvSpPr>
          <p:nvPr>
            <p:ph type="sldNum" sz="quarter" idx="10"/>
          </p:nvPr>
        </p:nvSpPr>
        <p:spPr/>
        <p:txBody>
          <a:bodyPr/>
          <a:lstStyle/>
          <a:p>
            <a:fld id="{1DC2BFA4-BC98-498D-B621-723460117A7F}" type="slidenum">
              <a:rPr lang="en-US" smtClean="0"/>
              <a:pPr/>
              <a:t>22</a:t>
            </a:fld>
            <a:endParaRPr lang="en-US" dirty="0"/>
          </a:p>
        </p:txBody>
      </p:sp>
    </p:spTree>
    <p:extLst>
      <p:ext uri="{BB962C8B-B14F-4D97-AF65-F5344CB8AC3E}">
        <p14:creationId xmlns:p14="http://schemas.microsoft.com/office/powerpoint/2010/main" val="55362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1" kern="1200" dirty="0" err="1">
                <a:solidFill>
                  <a:schemeClr val="tx1"/>
                </a:solidFill>
                <a:effectLst/>
                <a:latin typeface="Arial" panose="020B0604020202020204" pitchFamily="34" charset="0"/>
                <a:ea typeface="+mn-ea"/>
                <a:cs typeface="+mn-cs"/>
              </a:rPr>
              <a:t>Nhóm</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thứ</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hai</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là</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Chiến</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lược</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và</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Thiết</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lập</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mục</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tiêu</a:t>
            </a:r>
            <a:endParaRPr lang="en-US" sz="1200" kern="1200" dirty="0">
              <a:solidFill>
                <a:schemeClr val="tx1"/>
              </a:solidFill>
              <a:effectLst/>
              <a:latin typeface="Arial" panose="020B0604020202020204" pitchFamily="34" charset="0"/>
              <a:ea typeface="+mn-ea"/>
              <a:cs typeface="+mn-cs"/>
            </a:endParaRPr>
          </a:p>
          <a:p>
            <a:pPr marL="171450" indent="-171450">
              <a:buFontTx/>
              <a:buChar char="-"/>
            </a:pPr>
            <a:r>
              <a:rPr lang="en-US" sz="1200" kern="1200" dirty="0">
                <a:solidFill>
                  <a:schemeClr val="tx1"/>
                </a:solidFill>
                <a:effectLst/>
                <a:latin typeface="Arial" panose="020B0604020202020204" pitchFamily="34" charset="0"/>
                <a:ea typeface="+mn-ea"/>
                <a:cs typeface="+mn-cs"/>
              </a:rPr>
              <a:t>Nguyên </a:t>
            </a:r>
            <a:r>
              <a:rPr lang="en-US" sz="1200" kern="1200" dirty="0" err="1">
                <a:solidFill>
                  <a:schemeClr val="tx1"/>
                </a:solidFill>
                <a:effectLst/>
                <a:latin typeface="Arial" panose="020B0604020202020204" pitchFamily="34" charset="0"/>
                <a:ea typeface="+mn-ea"/>
                <a:cs typeface="+mn-cs"/>
              </a:rPr>
              <a:t>tắc</a:t>
            </a:r>
            <a:r>
              <a:rPr lang="en-US" sz="1200"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Phân</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tích</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bối</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cảnh</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kinh</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doanh</a:t>
            </a:r>
            <a:r>
              <a:rPr lang="en-US" sz="1200" b="1"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b="1" kern="1200" dirty="0">
                <a:solidFill>
                  <a:schemeClr val="tx1"/>
                </a:solidFill>
                <a:effectLst/>
                <a:latin typeface="Arial" panose="020B0604020202020204" pitchFamily="34" charset="0"/>
                <a:ea typeface="+mn-ea"/>
                <a:cs typeface="+mn-cs"/>
              </a:rPr>
              <a:t>Đánh </a:t>
            </a:r>
            <a:r>
              <a:rPr lang="en-US" sz="1200" b="1" kern="1200" dirty="0" err="1">
                <a:solidFill>
                  <a:schemeClr val="tx1"/>
                </a:solidFill>
                <a:effectLst/>
                <a:latin typeface="Arial" panose="020B0604020202020204" pitchFamily="34" charset="0"/>
                <a:ea typeface="+mn-ea"/>
                <a:cs typeface="+mn-cs"/>
              </a:rPr>
              <a:t>giá</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phương</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án</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chiến</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lược</a:t>
            </a:r>
            <a:r>
              <a:rPr lang="en-US" sz="1200" b="1"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đáp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ứng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tốt</a:t>
            </a:r>
            <a:r>
              <a:rPr lang="en-US" sz="1200" kern="1200" dirty="0">
                <a:solidFill>
                  <a:schemeClr val="tx1"/>
                </a:solidFill>
                <a:effectLst/>
                <a:latin typeface="Arial" panose="020B0604020202020204" pitchFamily="34" charset="0"/>
                <a:ea typeface="+mn-ea"/>
                <a:cs typeface="+mn-cs"/>
              </a:rPr>
              <a:t> — VDS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hiện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phân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tích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môi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trường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kinh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doanh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diện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trong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chiến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đánh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kịch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thể</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xảy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ra</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lựa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chọn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phương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vi-VN" sz="1200" kern="1200" dirty="0">
                <a:solidFill>
                  <a:schemeClr val="tx1"/>
                </a:solidFill>
                <a:effectLst/>
                <a:latin typeface="Arial" panose="020B0604020202020204" pitchFamily="34" charset="0"/>
                <a:ea typeface="+mn-ea"/>
                <a:cs typeface="+mn-cs"/>
              </a:rPr>
              <a:t>Nguyên tắc </a:t>
            </a:r>
            <a:r>
              <a:rPr lang="vi-VN" sz="1200" b="1" kern="1200" dirty="0">
                <a:solidFill>
                  <a:schemeClr val="tx1"/>
                </a:solidFill>
                <a:effectLst/>
                <a:latin typeface="Arial" panose="020B0604020202020204" pitchFamily="34" charset="0"/>
                <a:ea typeface="+mn-ea"/>
                <a:cs typeface="+mn-cs"/>
              </a:rPr>
              <a:t>Xác định khẩu vị rủi ro hiện chưa đáp ứng</a:t>
            </a:r>
            <a:r>
              <a:rPr lang="vi-VN" sz="1200" kern="1200" dirty="0">
                <a:solidFill>
                  <a:schemeClr val="tx1"/>
                </a:solidFill>
                <a:effectLst/>
                <a:latin typeface="Arial" panose="020B0604020202020204" pitchFamily="34" charset="0"/>
                <a:ea typeface="+mn-ea"/>
                <a:cs typeface="+mn-cs"/>
              </a:rPr>
              <a:t>: Công ty chưa ban hành tuyên bố khẩu vị rủi ro cấp tổng công ty, thước đo rủi ro mới dừng ở cấp quy trình, và không có cơ chế cập nhật định kỳ. Đây là điểm khởi đầu then chốt của toàn bộ khung ERM — khi chưa có khẩu vị rủi ro, mọi mục tiêu kinh doanh đều thiếu căn cứ để gắn kết với rủi ro.</a:t>
            </a:r>
            <a:endParaRPr lang="en-US" sz="1200" kern="1200" dirty="0">
              <a:solidFill>
                <a:schemeClr val="tx1"/>
              </a:solidFill>
              <a:effectLst/>
              <a:latin typeface="Arial" panose="020B0604020202020204" pitchFamily="34" charset="0"/>
              <a:ea typeface="+mn-ea"/>
              <a:cs typeface="+mn-cs"/>
            </a:endParaRPr>
          </a:p>
          <a:p>
            <a:pPr marL="171450" indent="-171450">
              <a:buFontTx/>
              <a:buChar char="-"/>
            </a:pPr>
            <a:r>
              <a:rPr lang="en-US" sz="1200" kern="1200" dirty="0">
                <a:solidFill>
                  <a:schemeClr val="tx1"/>
                </a:solidFill>
                <a:effectLst/>
                <a:latin typeface="Arial" panose="020B0604020202020204" pitchFamily="34" charset="0"/>
                <a:ea typeface="+mn-ea"/>
                <a:cs typeface="+mn-cs"/>
              </a:rPr>
              <a:t>Nguyên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tắc</a:t>
            </a:r>
            <a:r>
              <a:rPr lang="en-US" sz="1200" kern="1200" baseline="0" dirty="0">
                <a:solidFill>
                  <a:schemeClr val="tx1"/>
                </a:solidFill>
                <a:effectLst/>
                <a:latin typeface="Arial" panose="020B0604020202020204" pitchFamily="34" charset="0"/>
                <a:ea typeface="+mn-ea"/>
                <a:cs typeface="+mn-cs"/>
              </a:rPr>
              <a:t> </a:t>
            </a:r>
            <a:r>
              <a:rPr lang="en-US" sz="1200" b="1" kern="1200" baseline="0" dirty="0">
                <a:solidFill>
                  <a:schemeClr val="tx1"/>
                </a:solidFill>
                <a:effectLst/>
                <a:latin typeface="Arial" panose="020B0604020202020204" pitchFamily="34" charset="0"/>
                <a:ea typeface="+mn-ea"/>
                <a:cs typeface="+mn-cs"/>
              </a:rPr>
              <a:t>Xây </a:t>
            </a:r>
            <a:r>
              <a:rPr lang="en-US" sz="1200" b="1" kern="1200" baseline="0" dirty="0" err="1">
                <a:solidFill>
                  <a:schemeClr val="tx1"/>
                </a:solidFill>
                <a:effectLst/>
                <a:latin typeface="Arial" panose="020B0604020202020204" pitchFamily="34" charset="0"/>
                <a:ea typeface="+mn-ea"/>
                <a:cs typeface="+mn-cs"/>
              </a:rPr>
              <a:t>dựng</a:t>
            </a:r>
            <a:r>
              <a:rPr lang="en-US" sz="1200" b="1" kern="1200" baseline="0" dirty="0">
                <a:solidFill>
                  <a:schemeClr val="tx1"/>
                </a:solidFill>
                <a:effectLst/>
                <a:latin typeface="Arial" panose="020B0604020202020204" pitchFamily="34" charset="0"/>
                <a:ea typeface="+mn-ea"/>
                <a:cs typeface="+mn-cs"/>
              </a:rPr>
              <a:t> m</a:t>
            </a:r>
            <a:r>
              <a:rPr lang="vi-VN" sz="1200" b="1" kern="1200" dirty="0">
                <a:solidFill>
                  <a:schemeClr val="tx1"/>
                </a:solidFill>
                <a:effectLst/>
                <a:latin typeface="Arial" panose="020B0604020202020204" pitchFamily="34" charset="0"/>
                <a:ea typeface="+mn-ea"/>
                <a:cs typeface="+mn-cs"/>
              </a:rPr>
              <a:t>ục tiêu kinh doanh đáp ứng một phần </a:t>
            </a:r>
            <a:r>
              <a:rPr lang="vi-VN" sz="1200" kern="1200" dirty="0">
                <a:solidFill>
                  <a:schemeClr val="tx1"/>
                </a:solidFill>
                <a:effectLst/>
                <a:latin typeface="Arial" panose="020B0604020202020204" pitchFamily="34" charset="0"/>
                <a:ea typeface="+mn-ea"/>
                <a:cs typeface="+mn-cs"/>
              </a:rPr>
              <a:t>vì đã được đánh giá rủi 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hội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xây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dựng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mục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tiêu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kinh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doanh</a:t>
            </a:r>
            <a:r>
              <a:rPr lang="vi-VN" sz="1200" kern="1200" dirty="0">
                <a:solidFill>
                  <a:schemeClr val="tx1"/>
                </a:solidFill>
                <a:effectLst/>
                <a:latin typeface="Arial" panose="020B0604020202020204" pitchFamily="34" charset="0"/>
                <a:ea typeface="+mn-ea"/>
                <a:cs typeface="+mn-cs"/>
              </a:rPr>
              <a:t> và gắn với chiến lược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chung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của</a:t>
            </a:r>
            <a:r>
              <a:rPr lang="en-US" sz="1200" kern="1200" baseline="0" dirty="0">
                <a:solidFill>
                  <a:schemeClr val="tx1"/>
                </a:solidFill>
                <a:effectLst/>
                <a:latin typeface="Arial" panose="020B0604020202020204" pitchFamily="34" charset="0"/>
                <a:ea typeface="+mn-ea"/>
                <a:cs typeface="+mn-cs"/>
              </a:rPr>
              <a:t> TCT</a:t>
            </a:r>
            <a:r>
              <a:rPr lang="vi-VN" sz="1200" kern="1200" dirty="0">
                <a:solidFill>
                  <a:schemeClr val="tx1"/>
                </a:solidFill>
                <a:effectLst/>
                <a:latin typeface="Arial" panose="020B0604020202020204" pitchFamily="34" charset="0"/>
                <a:ea typeface="+mn-ea"/>
                <a:cs typeface="+mn-cs"/>
              </a:rPr>
              <a:t>, song chưa liên kết được với khẩu vị rủi ro do điểm thiếu </a:t>
            </a:r>
            <a:r>
              <a:rPr lang="en-US" sz="1200" kern="1200" dirty="0" err="1">
                <a:solidFill>
                  <a:schemeClr val="tx1"/>
                </a:solidFill>
                <a:effectLst/>
                <a:latin typeface="Arial" panose="020B0604020202020204" pitchFamily="34" charset="0"/>
                <a:ea typeface="+mn-ea"/>
                <a:cs typeface="+mn-cs"/>
              </a:rPr>
              <a:t>về</a:t>
            </a:r>
            <a:r>
              <a:rPr lang="en-US" sz="1200" kern="1200" baseline="0" dirty="0">
                <a:solidFill>
                  <a:schemeClr val="tx1"/>
                </a:solidFill>
                <a:effectLst/>
                <a:latin typeface="Arial" panose="020B0604020202020204" pitchFamily="34" charset="0"/>
                <a:ea typeface="+mn-ea"/>
                <a:cs typeface="+mn-cs"/>
              </a:rPr>
              <a:t> KVRR </a:t>
            </a:r>
            <a:r>
              <a:rPr lang="en-US" sz="1200" kern="1200" baseline="0" dirty="0" err="1">
                <a:solidFill>
                  <a:schemeClr val="tx1"/>
                </a:solidFill>
                <a:effectLst/>
                <a:latin typeface="Arial" panose="020B0604020202020204" pitchFamily="34" charset="0"/>
                <a:ea typeface="+mn-ea"/>
                <a:cs typeface="+mn-cs"/>
              </a:rPr>
              <a:t>vừa</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nêu</a:t>
            </a:r>
            <a:r>
              <a:rPr lang="en-US" sz="1200" kern="1200" baseline="0" dirty="0">
                <a:solidFill>
                  <a:schemeClr val="tx1"/>
                </a:solidFill>
                <a:effectLst/>
                <a:latin typeface="Arial" panose="020B0604020202020204" pitchFamily="34" charset="0"/>
                <a:ea typeface="+mn-ea"/>
                <a:cs typeface="+mn-cs"/>
              </a:rPr>
              <a:t>.</a:t>
            </a:r>
          </a:p>
          <a:p>
            <a:pPr marL="171450" indent="-171450">
              <a:buFontTx/>
              <a:buChar char="-"/>
            </a:pPr>
            <a:endParaRPr lang="en-US" sz="1200" kern="1200" dirty="0">
              <a:solidFill>
                <a:schemeClr val="tx1"/>
              </a:solidFill>
              <a:effectLst/>
              <a:latin typeface="Arial" panose="020B0604020202020204" pitchFamily="34" charset="0"/>
              <a:ea typeface="+mn-ea"/>
              <a:cs typeface="+mn-cs"/>
            </a:endParaRPr>
          </a:p>
          <a:p>
            <a:r>
              <a:rPr lang="en-US" dirty="0"/>
              <a:t>-----------------------</a:t>
            </a:r>
          </a:p>
          <a:p>
            <a:endParaRPr lang="en-US" dirty="0"/>
          </a:p>
          <a:p>
            <a:r>
              <a:rPr lang="en-US" dirty="0"/>
              <a:t>6. </a:t>
            </a:r>
            <a:r>
              <a:rPr lang="en-US" dirty="0" err="1"/>
              <a:t>Phân</a:t>
            </a:r>
            <a:r>
              <a:rPr lang="en-US" baseline="0" dirty="0"/>
              <a:t> </a:t>
            </a:r>
            <a:r>
              <a:rPr lang="en-US" baseline="0" dirty="0" err="1"/>
              <a:t>tích</a:t>
            </a:r>
            <a:r>
              <a:rPr lang="en-US" baseline="0" dirty="0"/>
              <a:t> </a:t>
            </a:r>
            <a:r>
              <a:rPr lang="en-US" baseline="0" dirty="0" err="1"/>
              <a:t>bối</a:t>
            </a:r>
            <a:r>
              <a:rPr lang="en-US" baseline="0" dirty="0"/>
              <a:t> </a:t>
            </a:r>
            <a:r>
              <a:rPr lang="en-US" baseline="0" dirty="0" err="1"/>
              <a:t>cảnh</a:t>
            </a:r>
            <a:r>
              <a:rPr lang="en-US" baseline="0" dirty="0"/>
              <a:t> </a:t>
            </a:r>
            <a:r>
              <a:rPr lang="en-US" baseline="0" dirty="0" err="1"/>
              <a:t>kinh</a:t>
            </a:r>
            <a:r>
              <a:rPr lang="en-US" baseline="0" dirty="0"/>
              <a:t> </a:t>
            </a:r>
            <a:r>
              <a:rPr lang="en-US" baseline="0" dirty="0" err="1"/>
              <a:t>doanh</a:t>
            </a:r>
            <a:r>
              <a:rPr lang="en-US" baseline="0" dirty="0"/>
              <a:t>:</a:t>
            </a:r>
          </a:p>
          <a:p>
            <a:pPr marL="171450" indent="-171450">
              <a:buFontTx/>
              <a:buChar char="-"/>
            </a:pPr>
            <a:r>
              <a:rPr lang="en-US" baseline="0" dirty="0" err="1"/>
              <a:t>Tổ</a:t>
            </a:r>
            <a:r>
              <a:rPr lang="en-US" baseline="0" dirty="0"/>
              <a:t> </a:t>
            </a:r>
            <a:r>
              <a:rPr lang="en-US" baseline="0" dirty="0" err="1"/>
              <a:t>chức</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bối</a:t>
            </a:r>
            <a:r>
              <a:rPr lang="en-US" baseline="0" dirty="0"/>
              <a:t> </a:t>
            </a:r>
            <a:r>
              <a:rPr lang="en-US" baseline="0" dirty="0" err="1"/>
              <a:t>cảnh</a:t>
            </a:r>
            <a:r>
              <a:rPr lang="en-US" baseline="0" dirty="0"/>
              <a:t> </a:t>
            </a:r>
            <a:r>
              <a:rPr lang="en-US" baseline="0" dirty="0" err="1"/>
              <a:t>kinh</a:t>
            </a:r>
            <a:r>
              <a:rPr lang="en-US" baseline="0" dirty="0"/>
              <a:t> </a:t>
            </a:r>
            <a:r>
              <a:rPr lang="en-US" baseline="0" dirty="0" err="1"/>
              <a:t>doanh</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các</a:t>
            </a:r>
            <a:r>
              <a:rPr lang="en-US" baseline="0" dirty="0"/>
              <a:t> </a:t>
            </a:r>
            <a:r>
              <a:rPr lang="en-US" baseline="0" dirty="0" err="1"/>
              <a:t>bên</a:t>
            </a:r>
            <a:r>
              <a:rPr lang="en-US" baseline="0" dirty="0"/>
              <a:t> </a:t>
            </a:r>
            <a:r>
              <a:rPr lang="en-US" baseline="0" dirty="0" err="1"/>
              <a:t>liên</a:t>
            </a:r>
            <a:r>
              <a:rPr lang="en-US" baseline="0" dirty="0"/>
              <a:t> </a:t>
            </a:r>
            <a:r>
              <a:rPr lang="en-US" baseline="0" dirty="0" err="1"/>
              <a:t>quan</a:t>
            </a:r>
            <a:r>
              <a:rPr lang="en-US" baseline="0" dirty="0"/>
              <a:t> (bao </a:t>
            </a:r>
            <a:r>
              <a:rPr lang="en-US" baseline="0" dirty="0" err="1"/>
              <a:t>gồm</a:t>
            </a:r>
            <a:r>
              <a:rPr lang="en-US" baseline="0" dirty="0"/>
              <a:t> </a:t>
            </a:r>
            <a:r>
              <a:rPr lang="en-US" baseline="0" dirty="0" err="1"/>
              <a:t>bên</a:t>
            </a:r>
            <a:r>
              <a:rPr lang="en-US" baseline="0" dirty="0"/>
              <a:t> </a:t>
            </a:r>
            <a:r>
              <a:rPr lang="en-US" baseline="0" dirty="0" err="1"/>
              <a:t>ngoài</a:t>
            </a:r>
            <a:r>
              <a:rPr lang="en-US" baseline="0" dirty="0"/>
              <a:t> </a:t>
            </a:r>
            <a:r>
              <a:rPr lang="en-US" baseline="0" dirty="0" err="1"/>
              <a:t>và</a:t>
            </a:r>
            <a:r>
              <a:rPr lang="en-US" baseline="0" dirty="0"/>
              <a:t> </a:t>
            </a:r>
            <a:r>
              <a:rPr lang="en-US" baseline="0" dirty="0" err="1"/>
              <a:t>nội</a:t>
            </a:r>
            <a:r>
              <a:rPr lang="en-US" baseline="0" dirty="0"/>
              <a:t> </a:t>
            </a:r>
            <a:r>
              <a:rPr lang="en-US" baseline="0" dirty="0" err="1"/>
              <a:t>bộ</a:t>
            </a:r>
            <a:r>
              <a:rPr lang="en-US" baseline="0" dirty="0"/>
              <a:t>), </a:t>
            </a:r>
            <a:r>
              <a:rPr lang="en-US" baseline="0" dirty="0" err="1"/>
              <a:t>và</a:t>
            </a:r>
            <a:r>
              <a:rPr lang="en-US" baseline="0" dirty="0"/>
              <a:t> </a:t>
            </a:r>
            <a:r>
              <a:rPr lang="en-US" baseline="0" dirty="0" err="1"/>
              <a:t>đánh</a:t>
            </a:r>
            <a:r>
              <a:rPr lang="en-US" baseline="0" dirty="0"/>
              <a:t> </a:t>
            </a:r>
            <a:r>
              <a:rPr lang="en-US" baseline="0" dirty="0" err="1"/>
              <a:t>giá</a:t>
            </a:r>
            <a:r>
              <a:rPr lang="en-US" baseline="0" dirty="0"/>
              <a:t> </a:t>
            </a:r>
            <a:r>
              <a:rPr lang="en-US" baseline="0" dirty="0" err="1"/>
              <a:t>tác</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bối</a:t>
            </a:r>
            <a:r>
              <a:rPr lang="en-US" baseline="0" dirty="0"/>
              <a:t> </a:t>
            </a:r>
            <a:r>
              <a:rPr lang="en-US" baseline="0" dirty="0" err="1"/>
              <a:t>cảnh</a:t>
            </a:r>
            <a:r>
              <a:rPr lang="en-US" baseline="0" dirty="0"/>
              <a:t> </a:t>
            </a:r>
            <a:r>
              <a:rPr lang="en-US" baseline="0" dirty="0" err="1"/>
              <a:t>kinh</a:t>
            </a:r>
            <a:r>
              <a:rPr lang="en-US" baseline="0" dirty="0"/>
              <a:t> </a:t>
            </a:r>
            <a:r>
              <a:rPr lang="en-US" baseline="0" dirty="0" err="1"/>
              <a:t>doanh</a:t>
            </a:r>
            <a:r>
              <a:rPr lang="en-US" baseline="0" dirty="0"/>
              <a:t> </a:t>
            </a:r>
            <a:r>
              <a:rPr lang="en-US" baseline="0" dirty="0" err="1"/>
              <a:t>tới</a:t>
            </a:r>
            <a:r>
              <a:rPr lang="en-US" baseline="0" dirty="0"/>
              <a:t> </a:t>
            </a:r>
            <a:r>
              <a:rPr lang="en-US" baseline="0" dirty="0" err="1"/>
              <a:t>doanh</a:t>
            </a:r>
            <a:r>
              <a:rPr lang="en-US" baseline="0" dirty="0"/>
              <a:t> </a:t>
            </a:r>
            <a:r>
              <a:rPr lang="en-US" baseline="0" dirty="0" err="1"/>
              <a:t>nghiệp</a:t>
            </a:r>
            <a:r>
              <a:rPr lang="en-US" baseline="0" dirty="0"/>
              <a:t> </a:t>
            </a:r>
            <a:r>
              <a:rPr lang="en-US" baseline="0" dirty="0" err="1"/>
              <a:t>đối</a:t>
            </a:r>
            <a:r>
              <a:rPr lang="en-US" baseline="0" dirty="0"/>
              <a:t> </a:t>
            </a:r>
            <a:r>
              <a:rPr lang="en-US" baseline="0" dirty="0" err="1"/>
              <a:t>với</a:t>
            </a:r>
            <a:r>
              <a:rPr lang="en-US" baseline="0" dirty="0"/>
              <a:t> </a:t>
            </a:r>
            <a:r>
              <a:rPr lang="en-US" baseline="0" dirty="0" err="1"/>
              <a:t>từng</a:t>
            </a:r>
            <a:r>
              <a:rPr lang="en-US" baseline="0" dirty="0"/>
              <a:t> </a:t>
            </a:r>
            <a:r>
              <a:rPr lang="en-US" baseline="0" dirty="0" err="1"/>
              <a:t>cấu</a:t>
            </a:r>
            <a:r>
              <a:rPr lang="en-US" baseline="0" dirty="0"/>
              <a:t> </a:t>
            </a:r>
            <a:r>
              <a:rPr lang="en-US" baseline="0" dirty="0" err="1"/>
              <a:t>phần</a:t>
            </a:r>
            <a:r>
              <a:rPr lang="en-US" baseline="0" dirty="0"/>
              <a:t> </a:t>
            </a:r>
            <a:r>
              <a:rPr lang="en-US" baseline="0" dirty="0" err="1"/>
              <a:t>của</a:t>
            </a:r>
            <a:r>
              <a:rPr lang="en-US" baseline="0" dirty="0"/>
              <a:t> </a:t>
            </a:r>
            <a:r>
              <a:rPr lang="en-US" baseline="0" dirty="0" err="1"/>
              <a:t>khung</a:t>
            </a:r>
            <a:r>
              <a:rPr lang="en-US" baseline="0" dirty="0"/>
              <a:t> COSO ERM</a:t>
            </a:r>
          </a:p>
          <a:p>
            <a:pPr marL="0" indent="0">
              <a:buFontTx/>
              <a:buNone/>
            </a:pPr>
            <a:endParaRPr lang="en-US" baseline="0" dirty="0"/>
          </a:p>
          <a:p>
            <a:pPr marL="0" indent="0">
              <a:buFontTx/>
              <a:buNone/>
            </a:pPr>
            <a:r>
              <a:rPr lang="en-US" baseline="0" dirty="0"/>
              <a:t>7. </a:t>
            </a:r>
            <a:r>
              <a:rPr lang="en-US" baseline="0" dirty="0" err="1"/>
              <a:t>Xác</a:t>
            </a:r>
            <a:r>
              <a:rPr lang="en-US" baseline="0" dirty="0"/>
              <a:t> </a:t>
            </a:r>
            <a:r>
              <a:rPr lang="en-US" baseline="0" dirty="0" err="1"/>
              <a:t>định</a:t>
            </a:r>
            <a:r>
              <a:rPr lang="en-US" baseline="0" dirty="0"/>
              <a:t> </a:t>
            </a:r>
            <a:r>
              <a:rPr lang="en-US" baseline="0" dirty="0" err="1"/>
              <a:t>khẩu</a:t>
            </a:r>
            <a:r>
              <a:rPr lang="en-US" baseline="0" dirty="0"/>
              <a:t> </a:t>
            </a:r>
            <a:r>
              <a:rPr lang="en-US" baseline="0" dirty="0" err="1"/>
              <a:t>vị</a:t>
            </a:r>
            <a:r>
              <a:rPr lang="en-US" baseline="0" dirty="0"/>
              <a:t> </a:t>
            </a:r>
            <a:r>
              <a:rPr lang="en-US" baseline="0" dirty="0" err="1"/>
              <a:t>rủi</a:t>
            </a:r>
            <a:r>
              <a:rPr lang="en-US" baseline="0" dirty="0"/>
              <a:t> </a:t>
            </a:r>
            <a:r>
              <a:rPr lang="en-US" baseline="0" dirty="0" err="1"/>
              <a:t>ro</a:t>
            </a:r>
            <a:endParaRPr lang="en-US" baseline="0" dirty="0"/>
          </a:p>
          <a:p>
            <a:pPr marL="171450" indent="-171450">
              <a:buFontTx/>
              <a:buChar char="-"/>
            </a:pPr>
            <a:r>
              <a:rPr lang="en-US" baseline="0" dirty="0" err="1"/>
              <a:t>Tổ</a:t>
            </a:r>
            <a:r>
              <a:rPr lang="en-US" baseline="0" dirty="0"/>
              <a:t> </a:t>
            </a:r>
            <a:r>
              <a:rPr lang="en-US" baseline="0" dirty="0" err="1"/>
              <a:t>chức</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và</a:t>
            </a:r>
            <a:r>
              <a:rPr lang="en-US" baseline="0" dirty="0"/>
              <a:t> ban </a:t>
            </a:r>
            <a:r>
              <a:rPr lang="en-US" baseline="0" dirty="0" err="1"/>
              <a:t>hành</a:t>
            </a:r>
            <a:r>
              <a:rPr lang="en-US" baseline="0" dirty="0"/>
              <a:t> </a:t>
            </a:r>
            <a:r>
              <a:rPr lang="en-US" baseline="0" dirty="0" err="1"/>
              <a:t>tuyên</a:t>
            </a:r>
            <a:r>
              <a:rPr lang="en-US" baseline="0" dirty="0"/>
              <a:t> </a:t>
            </a:r>
            <a:r>
              <a:rPr lang="en-US" baseline="0" dirty="0" err="1"/>
              <a:t>ngôn</a:t>
            </a:r>
            <a:r>
              <a:rPr lang="en-US" baseline="0" dirty="0"/>
              <a:t> KVRR </a:t>
            </a:r>
            <a:r>
              <a:rPr lang="en-US" baseline="0" dirty="0" err="1"/>
              <a:t>dựa</a:t>
            </a:r>
            <a:r>
              <a:rPr lang="en-US" baseline="0" dirty="0"/>
              <a:t> </a:t>
            </a:r>
            <a:r>
              <a:rPr lang="en-US" baseline="0" dirty="0" err="1"/>
              <a:t>trên</a:t>
            </a:r>
            <a:r>
              <a:rPr lang="en-US" baseline="0" dirty="0"/>
              <a:t> </a:t>
            </a:r>
            <a:r>
              <a:rPr lang="en-US" baseline="0" dirty="0" err="1"/>
              <a:t>các</a:t>
            </a:r>
            <a:r>
              <a:rPr lang="en-US" baseline="0" dirty="0"/>
              <a:t> </a:t>
            </a:r>
            <a:r>
              <a:rPr lang="en-US" baseline="0" dirty="0" err="1"/>
              <a:t>thước</a:t>
            </a:r>
            <a:r>
              <a:rPr lang="en-US" baseline="0" dirty="0"/>
              <a:t> </a:t>
            </a:r>
            <a:r>
              <a:rPr lang="en-US" baseline="0" dirty="0" err="1"/>
              <a:t>đo</a:t>
            </a:r>
            <a:r>
              <a:rPr lang="en-US" baseline="0" dirty="0"/>
              <a:t> </a:t>
            </a:r>
            <a:r>
              <a:rPr lang="en-US" baseline="0" dirty="0" err="1"/>
              <a:t>về</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tài</a:t>
            </a:r>
            <a:r>
              <a:rPr lang="en-US" baseline="0" dirty="0"/>
              <a:t> </a:t>
            </a:r>
            <a:r>
              <a:rPr lang="en-US" baseline="0" dirty="0" err="1"/>
              <a:t>chính</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và</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các</a:t>
            </a:r>
            <a:r>
              <a:rPr lang="en-US" baseline="0" dirty="0"/>
              <a:t> </a:t>
            </a:r>
            <a:r>
              <a:rPr lang="en-US" baseline="0" dirty="0" err="1"/>
              <a:t>ngưỡng</a:t>
            </a:r>
            <a:r>
              <a:rPr lang="en-US" baseline="0" dirty="0"/>
              <a:t> </a:t>
            </a:r>
            <a:r>
              <a:rPr lang="en-US" baseline="0" dirty="0" err="1"/>
              <a:t>rủi</a:t>
            </a:r>
            <a:r>
              <a:rPr lang="en-US" baseline="0" dirty="0"/>
              <a:t> </a:t>
            </a:r>
            <a:r>
              <a:rPr lang="en-US" baseline="0" dirty="0" err="1"/>
              <a:t>ro</a:t>
            </a:r>
            <a:r>
              <a:rPr lang="en-US" baseline="0" dirty="0"/>
              <a:t> (</a:t>
            </a:r>
            <a:r>
              <a:rPr lang="en-US" baseline="0" dirty="0" err="1"/>
              <a:t>khẩu</a:t>
            </a:r>
            <a:r>
              <a:rPr lang="en-US" baseline="0" dirty="0"/>
              <a:t> </a:t>
            </a:r>
            <a:r>
              <a:rPr lang="en-US" baseline="0" dirty="0" err="1"/>
              <a:t>vị</a:t>
            </a:r>
            <a:r>
              <a:rPr lang="en-US" baseline="0" dirty="0"/>
              <a:t> </a:t>
            </a:r>
            <a:r>
              <a:rPr lang="en-US" baseline="0" dirty="0" err="1"/>
              <a:t>rủi</a:t>
            </a:r>
            <a:r>
              <a:rPr lang="en-US" baseline="0" dirty="0"/>
              <a:t> </a:t>
            </a:r>
            <a:r>
              <a:rPr lang="en-US" baseline="0" dirty="0" err="1"/>
              <a:t>ro</a:t>
            </a:r>
            <a:r>
              <a:rPr lang="en-US" baseline="0" dirty="0"/>
              <a:t>, </a:t>
            </a:r>
            <a:r>
              <a:rPr lang="en-US" baseline="0" dirty="0" err="1"/>
              <a:t>năng</a:t>
            </a:r>
            <a:r>
              <a:rPr lang="en-US" baseline="0" dirty="0"/>
              <a:t> </a:t>
            </a:r>
            <a:r>
              <a:rPr lang="en-US" baseline="0" dirty="0" err="1"/>
              <a:t>lực</a:t>
            </a:r>
            <a:r>
              <a:rPr lang="en-US" baseline="0" dirty="0"/>
              <a:t> </a:t>
            </a:r>
            <a:r>
              <a:rPr lang="en-US" baseline="0" dirty="0" err="1"/>
              <a:t>chịu</a:t>
            </a:r>
            <a:r>
              <a:rPr lang="en-US" baseline="0" dirty="0"/>
              <a:t> </a:t>
            </a:r>
            <a:r>
              <a:rPr lang="en-US" baseline="0" dirty="0" err="1"/>
              <a:t>đựng</a:t>
            </a:r>
            <a:r>
              <a:rPr lang="en-US" baseline="0" dirty="0"/>
              <a:t> </a:t>
            </a:r>
            <a:r>
              <a:rPr lang="en-US" baseline="0" dirty="0" err="1"/>
              <a:t>rủi</a:t>
            </a:r>
            <a:r>
              <a:rPr lang="en-US" baseline="0" dirty="0"/>
              <a:t> </a:t>
            </a:r>
            <a:r>
              <a:rPr lang="en-US" baseline="0" dirty="0" err="1"/>
              <a:t>ro</a:t>
            </a:r>
            <a:r>
              <a:rPr lang="en-US" baseline="0" dirty="0"/>
              <a:t>, </a:t>
            </a:r>
            <a:r>
              <a:rPr lang="en-US" baseline="0" dirty="0" err="1"/>
              <a:t>ngưỡng</a:t>
            </a:r>
            <a:r>
              <a:rPr lang="en-US" baseline="0" dirty="0"/>
              <a:t> </a:t>
            </a:r>
            <a:r>
              <a:rPr lang="en-US" baseline="0" dirty="0" err="1"/>
              <a:t>chấp</a:t>
            </a:r>
            <a:r>
              <a:rPr lang="en-US" baseline="0" dirty="0"/>
              <a:t> </a:t>
            </a:r>
            <a:r>
              <a:rPr lang="en-US" baseline="0" dirty="0" err="1"/>
              <a:t>nhận</a:t>
            </a:r>
            <a:r>
              <a:rPr lang="en-US" baseline="0" dirty="0"/>
              <a:t> </a:t>
            </a:r>
            <a:r>
              <a:rPr lang="en-US" baseline="0" dirty="0" err="1"/>
              <a:t>rủi</a:t>
            </a:r>
            <a:r>
              <a:rPr lang="en-US" baseline="0" dirty="0"/>
              <a:t> </a:t>
            </a:r>
            <a:r>
              <a:rPr lang="en-US" baseline="0" dirty="0" err="1"/>
              <a:t>ro</a:t>
            </a:r>
            <a:r>
              <a:rPr lang="en-US" baseline="0" dirty="0"/>
              <a:t>)</a:t>
            </a:r>
          </a:p>
          <a:p>
            <a:pPr marL="171450" indent="-171450">
              <a:buFontTx/>
              <a:buChar char="-"/>
            </a:pPr>
            <a:r>
              <a:rPr lang="en-US" baseline="0" dirty="0" err="1"/>
              <a:t>Khẩu</a:t>
            </a:r>
            <a:r>
              <a:rPr lang="en-US" baseline="0" dirty="0"/>
              <a:t> </a:t>
            </a:r>
            <a:r>
              <a:rPr lang="en-US" baseline="0" dirty="0" err="1"/>
              <a:t>vị</a:t>
            </a:r>
            <a:r>
              <a:rPr lang="en-US" baseline="0" dirty="0"/>
              <a:t> </a:t>
            </a:r>
            <a:r>
              <a:rPr lang="en-US" baseline="0" dirty="0" err="1"/>
              <a:t>rủi</a:t>
            </a:r>
            <a:r>
              <a:rPr lang="en-US" baseline="0" dirty="0"/>
              <a:t> </a:t>
            </a:r>
            <a:r>
              <a:rPr lang="en-US" baseline="0" dirty="0" err="1"/>
              <a:t>ro</a:t>
            </a:r>
            <a:r>
              <a:rPr lang="en-US" baseline="0" dirty="0"/>
              <a:t>, </a:t>
            </a:r>
            <a:r>
              <a:rPr lang="en-US" baseline="0" dirty="0" err="1"/>
              <a:t>ngưỡng</a:t>
            </a:r>
            <a:r>
              <a:rPr lang="en-US" baseline="0" dirty="0"/>
              <a:t> </a:t>
            </a:r>
            <a:r>
              <a:rPr lang="en-US" baseline="0" dirty="0" err="1"/>
              <a:t>chấp</a:t>
            </a:r>
            <a:r>
              <a:rPr lang="en-US" baseline="0" dirty="0"/>
              <a:t> </a:t>
            </a:r>
            <a:r>
              <a:rPr lang="en-US" baseline="0" dirty="0" err="1"/>
              <a:t>nhận</a:t>
            </a:r>
            <a:r>
              <a:rPr lang="en-US" baseline="0" dirty="0"/>
              <a:t> </a:t>
            </a:r>
            <a:r>
              <a:rPr lang="en-US" baseline="0" dirty="0" err="1"/>
              <a:t>rủi</a:t>
            </a:r>
            <a:r>
              <a:rPr lang="en-US" baseline="0" dirty="0"/>
              <a:t> </a:t>
            </a:r>
            <a:r>
              <a:rPr lang="en-US" baseline="0" dirty="0" err="1"/>
              <a:t>ro</a:t>
            </a:r>
            <a:r>
              <a:rPr lang="en-US" baseline="0" dirty="0"/>
              <a:t> </a:t>
            </a:r>
            <a:r>
              <a:rPr lang="en-US" baseline="0" dirty="0" err="1"/>
              <a:t>và</a:t>
            </a:r>
            <a:r>
              <a:rPr lang="en-US" baseline="0" dirty="0"/>
              <a:t> </a:t>
            </a:r>
            <a:r>
              <a:rPr lang="en-US" baseline="0" dirty="0" err="1"/>
              <a:t>các</a:t>
            </a:r>
            <a:r>
              <a:rPr lang="en-US" baseline="0" dirty="0"/>
              <a:t> </a:t>
            </a:r>
            <a:r>
              <a:rPr lang="en-US" baseline="0" dirty="0" err="1"/>
              <a:t>chỉ</a:t>
            </a:r>
            <a:r>
              <a:rPr lang="en-US" baseline="0" dirty="0"/>
              <a:t> </a:t>
            </a:r>
            <a:r>
              <a:rPr lang="en-US" baseline="0" dirty="0" err="1"/>
              <a:t>số</a:t>
            </a:r>
            <a:r>
              <a:rPr lang="en-US" baseline="0" dirty="0"/>
              <a:t> </a:t>
            </a:r>
            <a:r>
              <a:rPr lang="en-US" baseline="0" dirty="0" err="1"/>
              <a:t>cảnh</a:t>
            </a:r>
            <a:r>
              <a:rPr lang="en-US" baseline="0" dirty="0"/>
              <a:t> </a:t>
            </a:r>
            <a:r>
              <a:rPr lang="en-US" baseline="0" dirty="0" err="1"/>
              <a:t>báo</a:t>
            </a:r>
            <a:r>
              <a:rPr lang="en-US" baseline="0" dirty="0"/>
              <a:t> </a:t>
            </a:r>
            <a:r>
              <a:rPr lang="en-US" baseline="0" dirty="0" err="1"/>
              <a:t>được</a:t>
            </a:r>
            <a:r>
              <a:rPr lang="en-US" baseline="0" dirty="0"/>
              <a:t> </a:t>
            </a:r>
            <a:r>
              <a:rPr lang="en-US" baseline="0" dirty="0" err="1"/>
              <a:t>tích</a:t>
            </a:r>
            <a:r>
              <a:rPr lang="en-US" baseline="0" dirty="0"/>
              <a:t> </a:t>
            </a:r>
            <a:r>
              <a:rPr lang="en-US" baseline="0" dirty="0" err="1"/>
              <a:t>hợp</a:t>
            </a:r>
            <a:r>
              <a:rPr lang="en-US" baseline="0" dirty="0"/>
              <a:t> </a:t>
            </a:r>
            <a:r>
              <a:rPr lang="en-US" baseline="0" dirty="0" err="1"/>
              <a:t>trong</a:t>
            </a:r>
            <a:r>
              <a:rPr lang="en-US" baseline="0" dirty="0"/>
              <a:t> </a:t>
            </a:r>
            <a:r>
              <a:rPr lang="en-US" baseline="0" dirty="0" err="1"/>
              <a:t>quá</a:t>
            </a:r>
            <a:r>
              <a:rPr lang="en-US" baseline="0" dirty="0"/>
              <a:t> </a:t>
            </a:r>
            <a:r>
              <a:rPr lang="en-US" baseline="0" dirty="0" err="1"/>
              <a:t>trình</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của</a:t>
            </a:r>
            <a:r>
              <a:rPr lang="en-US" baseline="0" dirty="0"/>
              <a:t> </a:t>
            </a:r>
            <a:r>
              <a:rPr lang="en-US" baseline="0" dirty="0" err="1"/>
              <a:t>tổ</a:t>
            </a:r>
            <a:r>
              <a:rPr lang="en-US" baseline="0" dirty="0"/>
              <a:t> </a:t>
            </a:r>
            <a:r>
              <a:rPr lang="en-US" baseline="0" dirty="0" err="1"/>
              <a:t>chức</a:t>
            </a:r>
            <a:endParaRPr lang="en-US" baseline="0" dirty="0"/>
          </a:p>
          <a:p>
            <a:pPr marL="171450" indent="-171450">
              <a:buFontTx/>
              <a:buChar char="-"/>
            </a:pPr>
            <a:r>
              <a:rPr lang="en-US" baseline="0" dirty="0" err="1"/>
              <a:t>Khẩu</a:t>
            </a:r>
            <a:r>
              <a:rPr lang="en-US" baseline="0" dirty="0"/>
              <a:t> </a:t>
            </a:r>
            <a:r>
              <a:rPr lang="en-US" baseline="0" dirty="0" err="1"/>
              <a:t>vị</a:t>
            </a:r>
            <a:r>
              <a:rPr lang="en-US" baseline="0" dirty="0"/>
              <a:t> </a:t>
            </a:r>
            <a:r>
              <a:rPr lang="en-US" baseline="0" dirty="0" err="1"/>
              <a:t>rủi</a:t>
            </a:r>
            <a:r>
              <a:rPr lang="en-US" baseline="0" dirty="0"/>
              <a:t> </a:t>
            </a:r>
            <a:r>
              <a:rPr lang="en-US" baseline="0" dirty="0" err="1"/>
              <a:t>ro</a:t>
            </a:r>
            <a:r>
              <a:rPr lang="en-US" baseline="0" dirty="0"/>
              <a:t> </a:t>
            </a:r>
            <a:r>
              <a:rPr lang="en-US" baseline="0" dirty="0" err="1"/>
              <a:t>được</a:t>
            </a:r>
            <a:r>
              <a:rPr lang="en-US" baseline="0" dirty="0"/>
              <a:t> </a:t>
            </a:r>
            <a:r>
              <a:rPr lang="en-US" baseline="0" dirty="0" err="1"/>
              <a:t>hiệu</a:t>
            </a:r>
            <a:r>
              <a:rPr lang="en-US" baseline="0" dirty="0"/>
              <a:t> </a:t>
            </a:r>
            <a:r>
              <a:rPr lang="en-US" baseline="0" dirty="0" err="1"/>
              <a:t>chỉnh</a:t>
            </a:r>
            <a:r>
              <a:rPr lang="en-US" baseline="0" dirty="0"/>
              <a:t> </a:t>
            </a:r>
            <a:r>
              <a:rPr lang="en-US" baseline="0" dirty="0" err="1"/>
              <a:t>phù</a:t>
            </a:r>
            <a:r>
              <a:rPr lang="en-US" baseline="0" dirty="0"/>
              <a:t> </a:t>
            </a:r>
            <a:r>
              <a:rPr lang="en-US" baseline="0" dirty="0" err="1"/>
              <a:t>hợp</a:t>
            </a:r>
            <a:r>
              <a:rPr lang="en-US" baseline="0" dirty="0"/>
              <a:t> </a:t>
            </a:r>
            <a:r>
              <a:rPr lang="en-US" baseline="0" dirty="0" err="1"/>
              <a:t>với</a:t>
            </a:r>
            <a:r>
              <a:rPr lang="en-US" baseline="0" dirty="0"/>
              <a:t> </a:t>
            </a:r>
            <a:r>
              <a:rPr lang="en-US" baseline="0" dirty="0" err="1"/>
              <a:t>quan</a:t>
            </a:r>
            <a:r>
              <a:rPr lang="en-US" baseline="0" dirty="0"/>
              <a:t> </a:t>
            </a:r>
            <a:r>
              <a:rPr lang="en-US" baseline="0" dirty="0" err="1"/>
              <a:t>điểm</a:t>
            </a:r>
            <a:r>
              <a:rPr lang="en-US" baseline="0" dirty="0"/>
              <a:t> </a:t>
            </a:r>
            <a:r>
              <a:rPr lang="en-US" baseline="0" dirty="0" err="1"/>
              <a:t>của</a:t>
            </a:r>
            <a:r>
              <a:rPr lang="en-US" baseline="0" dirty="0"/>
              <a:t> </a:t>
            </a:r>
            <a:r>
              <a:rPr lang="en-US" baseline="0" dirty="0" err="1"/>
              <a:t>tổ</a:t>
            </a:r>
            <a:r>
              <a:rPr lang="en-US" baseline="0" dirty="0"/>
              <a:t> </a:t>
            </a:r>
            <a:r>
              <a:rPr lang="en-US" baseline="0" dirty="0" err="1"/>
              <a:t>chức</a:t>
            </a:r>
            <a:r>
              <a:rPr lang="en-US" baseline="0" dirty="0"/>
              <a:t> </a:t>
            </a:r>
            <a:r>
              <a:rPr lang="en-US" baseline="0" dirty="0" err="1"/>
              <a:t>và</a:t>
            </a:r>
            <a:r>
              <a:rPr lang="en-US" baseline="0" dirty="0"/>
              <a:t> </a:t>
            </a:r>
            <a:r>
              <a:rPr lang="en-US" baseline="0" dirty="0" err="1"/>
              <a:t>bối</a:t>
            </a:r>
            <a:r>
              <a:rPr lang="en-US" baseline="0" dirty="0"/>
              <a:t> </a:t>
            </a:r>
            <a:r>
              <a:rPr lang="en-US" baseline="0" dirty="0" err="1"/>
              <a:t>cảnh</a:t>
            </a:r>
            <a:r>
              <a:rPr lang="en-US" baseline="0" dirty="0"/>
              <a:t> </a:t>
            </a:r>
            <a:r>
              <a:rPr lang="en-US" baseline="0" dirty="0" err="1"/>
              <a:t>kinh</a:t>
            </a:r>
            <a:r>
              <a:rPr lang="en-US" baseline="0" dirty="0"/>
              <a:t> </a:t>
            </a:r>
            <a:r>
              <a:rPr lang="en-US" baseline="0" dirty="0" err="1"/>
              <a:t>doanh</a:t>
            </a:r>
            <a:endParaRPr lang="en-US" baseline="0" dirty="0"/>
          </a:p>
          <a:p>
            <a:pPr marL="171450" indent="-171450">
              <a:buFontTx/>
              <a:buChar char="-"/>
            </a:pPr>
            <a:endParaRPr lang="en-US" baseline="0" dirty="0"/>
          </a:p>
          <a:p>
            <a:pPr marL="0" indent="0">
              <a:buFontTx/>
              <a:buNone/>
            </a:pPr>
            <a:r>
              <a:rPr lang="en-US" baseline="0" dirty="0"/>
              <a:t>8. Đánh </a:t>
            </a:r>
            <a:r>
              <a:rPr lang="en-US" baseline="0" dirty="0" err="1"/>
              <a:t>giá</a:t>
            </a:r>
            <a:r>
              <a:rPr lang="en-US" baseline="0" dirty="0"/>
              <a:t> </a:t>
            </a:r>
            <a:r>
              <a:rPr lang="en-US" baseline="0" dirty="0" err="1"/>
              <a:t>các</a:t>
            </a:r>
            <a:r>
              <a:rPr lang="en-US" baseline="0" dirty="0"/>
              <a:t> </a:t>
            </a:r>
            <a:r>
              <a:rPr lang="en-US" baseline="0" dirty="0" err="1"/>
              <a:t>phương</a:t>
            </a:r>
            <a:r>
              <a:rPr lang="en-US" baseline="0" dirty="0"/>
              <a:t> </a:t>
            </a:r>
            <a:r>
              <a:rPr lang="en-US" baseline="0" dirty="0" err="1"/>
              <a:t>án</a:t>
            </a:r>
            <a:r>
              <a:rPr lang="en-US" baseline="0" dirty="0"/>
              <a:t> </a:t>
            </a:r>
            <a:r>
              <a:rPr lang="en-US" baseline="0" dirty="0" err="1"/>
              <a:t>chiến</a:t>
            </a:r>
            <a:r>
              <a:rPr lang="en-US" baseline="0" dirty="0"/>
              <a:t> </a:t>
            </a:r>
            <a:r>
              <a:rPr lang="en-US" baseline="0" dirty="0" err="1"/>
              <a:t>lược</a:t>
            </a:r>
            <a:r>
              <a:rPr lang="en-US" baseline="0" dirty="0"/>
              <a:t>:</a:t>
            </a:r>
            <a:br>
              <a:rPr lang="en-US" baseline="0" dirty="0"/>
            </a:br>
            <a:r>
              <a:rPr lang="en-US" baseline="0" dirty="0"/>
              <a:t>- Các </a:t>
            </a:r>
            <a:r>
              <a:rPr lang="en-US" baseline="0" dirty="0" err="1"/>
              <a:t>phương</a:t>
            </a:r>
            <a:r>
              <a:rPr lang="en-US" baseline="0" dirty="0"/>
              <a:t> </a:t>
            </a:r>
            <a:r>
              <a:rPr lang="en-US" baseline="0" dirty="0" err="1"/>
              <a:t>án</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được</a:t>
            </a:r>
            <a:r>
              <a:rPr lang="en-US" baseline="0" dirty="0"/>
              <a:t> </a:t>
            </a:r>
            <a:r>
              <a:rPr lang="en-US" baseline="0" dirty="0" err="1"/>
              <a:t>cân</a:t>
            </a:r>
            <a:r>
              <a:rPr lang="en-US" baseline="0" dirty="0"/>
              <a:t> </a:t>
            </a:r>
            <a:r>
              <a:rPr lang="en-US" baseline="0" dirty="0" err="1"/>
              <a:t>nhắc</a:t>
            </a:r>
            <a:r>
              <a:rPr lang="en-US" baseline="0" dirty="0"/>
              <a:t> </a:t>
            </a:r>
            <a:r>
              <a:rPr lang="en-US" baseline="0" dirty="0" err="1"/>
              <a:t>về</a:t>
            </a:r>
            <a:r>
              <a:rPr lang="en-US" baseline="0" dirty="0"/>
              <a:t> </a:t>
            </a:r>
            <a:r>
              <a:rPr lang="en-US" baseline="0" dirty="0" err="1"/>
              <a:t>rủi</a:t>
            </a:r>
            <a:r>
              <a:rPr lang="en-US" baseline="0" dirty="0"/>
              <a:t> </a:t>
            </a:r>
            <a:r>
              <a:rPr lang="en-US" baseline="0" dirty="0" err="1"/>
              <a:t>ro</a:t>
            </a:r>
            <a:r>
              <a:rPr lang="en-US" baseline="0" dirty="0"/>
              <a:t> </a:t>
            </a:r>
            <a:r>
              <a:rPr lang="en-US" baseline="0" dirty="0" err="1"/>
              <a:t>tiềm</a:t>
            </a:r>
            <a:r>
              <a:rPr lang="en-US" baseline="0" dirty="0"/>
              <a:t> </a:t>
            </a:r>
            <a:r>
              <a:rPr lang="en-US" baseline="0" dirty="0" err="1"/>
              <a:t>tàng</a:t>
            </a:r>
            <a:r>
              <a:rPr lang="en-US" baseline="0" dirty="0"/>
              <a:t> </a:t>
            </a:r>
            <a:r>
              <a:rPr lang="en-US" baseline="0" dirty="0" err="1"/>
              <a:t>và</a:t>
            </a:r>
            <a:r>
              <a:rPr lang="en-US" baseline="0" dirty="0"/>
              <a:t> </a:t>
            </a:r>
            <a:r>
              <a:rPr lang="en-US" baseline="0" dirty="0" err="1"/>
              <a:t>cơ</a:t>
            </a:r>
            <a:r>
              <a:rPr lang="en-US" baseline="0" dirty="0"/>
              <a:t> </a:t>
            </a:r>
            <a:r>
              <a:rPr lang="en-US" baseline="0" dirty="0" err="1"/>
              <a:t>hội</a:t>
            </a:r>
            <a:r>
              <a:rPr lang="en-US" baseline="0" dirty="0"/>
              <a:t> </a:t>
            </a:r>
            <a:r>
              <a:rPr lang="en-US" baseline="0" dirty="0" err="1"/>
              <a:t>đem</a:t>
            </a:r>
            <a:r>
              <a:rPr lang="en-US" baseline="0" dirty="0"/>
              <a:t> </a:t>
            </a:r>
            <a:r>
              <a:rPr lang="en-US" baseline="0" dirty="0" err="1"/>
              <a:t>lại</a:t>
            </a:r>
            <a:r>
              <a:rPr lang="en-US" baseline="0" dirty="0"/>
              <a:t>, </a:t>
            </a:r>
            <a:r>
              <a:rPr lang="en-US" baseline="0" dirty="0" err="1"/>
              <a:t>cũng</a:t>
            </a:r>
            <a:r>
              <a:rPr lang="en-US" baseline="0" dirty="0"/>
              <a:t> </a:t>
            </a:r>
            <a:r>
              <a:rPr lang="en-US" baseline="0" dirty="0" err="1"/>
              <a:t>như</a:t>
            </a:r>
            <a:r>
              <a:rPr lang="en-US" baseline="0" dirty="0"/>
              <a:t> </a:t>
            </a:r>
            <a:r>
              <a:rPr lang="en-US" baseline="0" dirty="0" err="1"/>
              <a:t>được</a:t>
            </a:r>
            <a:r>
              <a:rPr lang="en-US" baseline="0" dirty="0"/>
              <a:t> </a:t>
            </a:r>
            <a:r>
              <a:rPr lang="en-US" baseline="0" dirty="0" err="1"/>
              <a:t>đánh</a:t>
            </a:r>
            <a:r>
              <a:rPr lang="en-US" baseline="0" dirty="0"/>
              <a:t> </a:t>
            </a:r>
            <a:r>
              <a:rPr lang="en-US" baseline="0" dirty="0" err="1"/>
              <a:t>giá</a:t>
            </a:r>
            <a:r>
              <a:rPr lang="en-US" baseline="0" dirty="0"/>
              <a:t> </a:t>
            </a:r>
            <a:r>
              <a:rPr lang="en-US" baseline="0" dirty="0" err="1"/>
              <a:t>mức</a:t>
            </a:r>
            <a:r>
              <a:rPr lang="en-US" baseline="0" dirty="0"/>
              <a:t> </a:t>
            </a:r>
            <a:r>
              <a:rPr lang="en-US" baseline="0" dirty="0" err="1"/>
              <a:t>tuân</a:t>
            </a:r>
            <a:r>
              <a:rPr lang="en-US" baseline="0" dirty="0"/>
              <a:t> </a:t>
            </a:r>
            <a:r>
              <a:rPr lang="en-US" baseline="0" dirty="0" err="1"/>
              <a:t>thủ</a:t>
            </a:r>
            <a:r>
              <a:rPr lang="en-US" baseline="0" dirty="0"/>
              <a:t> </a:t>
            </a:r>
            <a:r>
              <a:rPr lang="en-US" baseline="0" dirty="0" err="1"/>
              <a:t>với</a:t>
            </a:r>
            <a:r>
              <a:rPr lang="en-US" baseline="0" dirty="0"/>
              <a:t> </a:t>
            </a:r>
            <a:r>
              <a:rPr lang="en-US" baseline="0" dirty="0" err="1"/>
              <a:t>khẩu</a:t>
            </a:r>
            <a:r>
              <a:rPr lang="en-US" baseline="0" dirty="0"/>
              <a:t> </a:t>
            </a:r>
            <a:r>
              <a:rPr lang="en-US" baseline="0" dirty="0" err="1"/>
              <a:t>vị</a:t>
            </a:r>
            <a:r>
              <a:rPr lang="en-US" baseline="0" dirty="0"/>
              <a:t> </a:t>
            </a:r>
            <a:r>
              <a:rPr lang="en-US" baseline="0" dirty="0" err="1"/>
              <a:t>rủi</a:t>
            </a:r>
            <a:r>
              <a:rPr lang="en-US" baseline="0" dirty="0"/>
              <a:t> </a:t>
            </a:r>
            <a:r>
              <a:rPr lang="en-US" baseline="0" dirty="0" err="1"/>
              <a:t>ro</a:t>
            </a:r>
            <a:endParaRPr lang="en-US" baseline="0" dirty="0"/>
          </a:p>
          <a:p>
            <a:pPr marL="0" indent="0">
              <a:buFontTx/>
              <a:buNone/>
            </a:pPr>
            <a:endParaRPr lang="en-US" baseline="0" dirty="0"/>
          </a:p>
          <a:p>
            <a:pPr marL="0" indent="0">
              <a:buFontTx/>
              <a:buNone/>
            </a:pPr>
            <a:r>
              <a:rPr lang="en-US" baseline="0" dirty="0"/>
              <a:t>9. Xây </a:t>
            </a:r>
            <a:r>
              <a:rPr lang="en-US" baseline="0" dirty="0" err="1"/>
              <a:t>dựng</a:t>
            </a:r>
            <a:r>
              <a:rPr lang="en-US" baseline="0" dirty="0"/>
              <a:t> </a:t>
            </a:r>
            <a:r>
              <a:rPr lang="en-US" baseline="0" dirty="0" err="1"/>
              <a:t>mục</a:t>
            </a:r>
            <a:r>
              <a:rPr lang="en-US" baseline="0" dirty="0"/>
              <a:t> </a:t>
            </a:r>
            <a:r>
              <a:rPr lang="en-US" baseline="0" dirty="0" err="1"/>
              <a:t>tiêu</a:t>
            </a:r>
            <a:r>
              <a:rPr lang="en-US" baseline="0" dirty="0"/>
              <a:t> </a:t>
            </a:r>
            <a:r>
              <a:rPr lang="en-US" baseline="0" dirty="0" err="1"/>
              <a:t>kinh</a:t>
            </a:r>
            <a:r>
              <a:rPr lang="en-US" baseline="0" dirty="0"/>
              <a:t> </a:t>
            </a:r>
            <a:r>
              <a:rPr lang="en-US" baseline="0" dirty="0" err="1"/>
              <a:t>doanh</a:t>
            </a:r>
            <a:r>
              <a:rPr lang="en-US" baseline="0" dirty="0"/>
              <a:t>:</a:t>
            </a:r>
          </a:p>
          <a:p>
            <a:pPr marL="171450" indent="-171450">
              <a:buFontTx/>
              <a:buChar char="-"/>
            </a:pPr>
            <a:r>
              <a:rPr lang="en-US" baseline="0" dirty="0"/>
              <a:t>Các </a:t>
            </a:r>
            <a:r>
              <a:rPr lang="en-US" baseline="0" dirty="0" err="1"/>
              <a:t>mục</a:t>
            </a:r>
            <a:r>
              <a:rPr lang="en-US" baseline="0" dirty="0"/>
              <a:t> </a:t>
            </a:r>
            <a:r>
              <a:rPr lang="en-US" baseline="0" dirty="0" err="1"/>
              <a:t>tiêu</a:t>
            </a:r>
            <a:r>
              <a:rPr lang="en-US" baseline="0" dirty="0"/>
              <a:t> </a:t>
            </a:r>
            <a:r>
              <a:rPr lang="en-US" baseline="0" dirty="0" err="1"/>
              <a:t>kinh</a:t>
            </a:r>
            <a:r>
              <a:rPr lang="en-US" baseline="0" dirty="0"/>
              <a:t> </a:t>
            </a:r>
            <a:r>
              <a:rPr lang="en-US" baseline="0" dirty="0" err="1"/>
              <a:t>doanh</a:t>
            </a:r>
            <a:r>
              <a:rPr lang="en-US" baseline="0" dirty="0"/>
              <a:t> </a:t>
            </a:r>
            <a:r>
              <a:rPr lang="en-US" baseline="0" dirty="0" err="1"/>
              <a:t>cần</a:t>
            </a:r>
            <a:r>
              <a:rPr lang="en-US" baseline="0" dirty="0"/>
              <a:t> </a:t>
            </a:r>
            <a:r>
              <a:rPr lang="en-US" baseline="0" dirty="0" err="1"/>
              <a:t>được</a:t>
            </a:r>
            <a:r>
              <a:rPr lang="en-US" baseline="0" dirty="0"/>
              <a:t> </a:t>
            </a:r>
            <a:r>
              <a:rPr lang="en-US" baseline="0" dirty="0" err="1"/>
              <a:t>xây</a:t>
            </a:r>
            <a:r>
              <a:rPr lang="en-US" baseline="0" dirty="0"/>
              <a:t> </a:t>
            </a:r>
            <a:r>
              <a:rPr lang="en-US" baseline="0" dirty="0" err="1"/>
              <a:t>dựng</a:t>
            </a:r>
            <a:r>
              <a:rPr lang="en-US" baseline="0" dirty="0"/>
              <a:t> </a:t>
            </a:r>
            <a:r>
              <a:rPr lang="en-US" baseline="0" dirty="0" err="1"/>
              <a:t>trên</a:t>
            </a:r>
            <a:r>
              <a:rPr lang="en-US" baseline="0" dirty="0"/>
              <a:t> </a:t>
            </a:r>
            <a:r>
              <a:rPr lang="en-US" baseline="0" dirty="0" err="1"/>
              <a:t>cơ</a:t>
            </a:r>
            <a:r>
              <a:rPr lang="en-US" baseline="0" dirty="0"/>
              <a:t> </a:t>
            </a:r>
            <a:r>
              <a:rPr lang="en-US" baseline="0" dirty="0" err="1"/>
              <a:t>sở</a:t>
            </a:r>
            <a:r>
              <a:rPr lang="en-US" baseline="0" dirty="0"/>
              <a:t> </a:t>
            </a:r>
            <a:r>
              <a:rPr lang="en-US" baseline="0" dirty="0" err="1"/>
              <a:t>phù</a:t>
            </a:r>
            <a:r>
              <a:rPr lang="en-US" baseline="0" dirty="0"/>
              <a:t> </a:t>
            </a:r>
            <a:r>
              <a:rPr lang="en-US" baseline="0" dirty="0" err="1"/>
              <a:t>hợp</a:t>
            </a:r>
            <a:r>
              <a:rPr lang="en-US" baseline="0" dirty="0"/>
              <a:t> </a:t>
            </a:r>
            <a:r>
              <a:rPr lang="en-US" baseline="0" dirty="0" err="1"/>
              <a:t>với</a:t>
            </a:r>
            <a:r>
              <a:rPr lang="en-US" baseline="0" dirty="0"/>
              <a:t> </a:t>
            </a:r>
            <a:r>
              <a:rPr lang="en-US" baseline="0" dirty="0" err="1"/>
              <a:t>chiến</a:t>
            </a:r>
            <a:r>
              <a:rPr lang="en-US" baseline="0" dirty="0"/>
              <a:t> </a:t>
            </a:r>
            <a:r>
              <a:rPr lang="en-US" baseline="0" dirty="0" err="1"/>
              <a:t>lược</a:t>
            </a:r>
            <a:r>
              <a:rPr lang="en-US" baseline="0" dirty="0"/>
              <a:t> </a:t>
            </a:r>
            <a:r>
              <a:rPr lang="en-US" baseline="0" dirty="0" err="1"/>
              <a:t>và</a:t>
            </a:r>
            <a:r>
              <a:rPr lang="en-US" baseline="0" dirty="0"/>
              <a:t> </a:t>
            </a:r>
            <a:r>
              <a:rPr lang="en-US" baseline="0" dirty="0" err="1"/>
              <a:t>tuân</a:t>
            </a:r>
            <a:r>
              <a:rPr lang="en-US" baseline="0" dirty="0"/>
              <a:t> </a:t>
            </a:r>
            <a:r>
              <a:rPr lang="en-US" baseline="0" dirty="0" err="1"/>
              <a:t>thủ</a:t>
            </a:r>
            <a:r>
              <a:rPr lang="en-US" baseline="0" dirty="0"/>
              <a:t> </a:t>
            </a:r>
            <a:r>
              <a:rPr lang="en-US" baseline="0" dirty="0" err="1"/>
              <a:t>theo</a:t>
            </a:r>
            <a:r>
              <a:rPr lang="en-US" baseline="0" dirty="0"/>
              <a:t> </a:t>
            </a:r>
            <a:r>
              <a:rPr lang="en-US" baseline="0" dirty="0" err="1"/>
              <a:t>khẩu</a:t>
            </a:r>
            <a:r>
              <a:rPr lang="en-US" baseline="0" dirty="0"/>
              <a:t> </a:t>
            </a:r>
            <a:r>
              <a:rPr lang="en-US" baseline="0" dirty="0" err="1"/>
              <a:t>vị</a:t>
            </a:r>
            <a:r>
              <a:rPr lang="en-US" baseline="0" dirty="0"/>
              <a:t> </a:t>
            </a:r>
            <a:r>
              <a:rPr lang="en-US" baseline="0" dirty="0" err="1"/>
              <a:t>rủi</a:t>
            </a:r>
            <a:r>
              <a:rPr lang="en-US" baseline="0" dirty="0"/>
              <a:t> </a:t>
            </a:r>
            <a:r>
              <a:rPr lang="en-US" baseline="0" dirty="0" err="1"/>
              <a:t>ro</a:t>
            </a:r>
            <a:r>
              <a:rPr lang="en-US" baseline="0" dirty="0"/>
              <a:t> </a:t>
            </a:r>
            <a:r>
              <a:rPr lang="en-US" baseline="0" dirty="0" err="1"/>
              <a:t>và</a:t>
            </a:r>
            <a:r>
              <a:rPr lang="en-US" baseline="0" dirty="0"/>
              <a:t> </a:t>
            </a:r>
            <a:r>
              <a:rPr lang="en-US" baseline="0" dirty="0" err="1"/>
              <a:t>theo</a:t>
            </a:r>
            <a:r>
              <a:rPr lang="en-US" baseline="0" dirty="0"/>
              <a:t> </a:t>
            </a:r>
            <a:r>
              <a:rPr lang="en-US" baseline="0" dirty="0" err="1"/>
              <a:t>nguyên</a:t>
            </a:r>
            <a:r>
              <a:rPr lang="en-US" baseline="0" dirty="0"/>
              <a:t> </a:t>
            </a:r>
            <a:r>
              <a:rPr lang="en-US" baseline="0" dirty="0" err="1"/>
              <a:t>tắc</a:t>
            </a:r>
            <a:r>
              <a:rPr lang="en-US" baseline="0" dirty="0"/>
              <a:t> SMART</a:t>
            </a:r>
          </a:p>
          <a:p>
            <a:pPr marL="171450" indent="-171450">
              <a:buFontTx/>
              <a:buChar char="-"/>
            </a:pPr>
            <a:r>
              <a:rPr lang="en-US" baseline="0" dirty="0"/>
              <a:t>Các </a:t>
            </a:r>
            <a:r>
              <a:rPr lang="en-US" baseline="0" dirty="0" err="1"/>
              <a:t>mục</a:t>
            </a:r>
            <a:r>
              <a:rPr lang="en-US" baseline="0" dirty="0"/>
              <a:t> </a:t>
            </a:r>
            <a:r>
              <a:rPr lang="en-US" baseline="0" dirty="0" err="1"/>
              <a:t>tiêu</a:t>
            </a:r>
            <a:r>
              <a:rPr lang="en-US" baseline="0" dirty="0"/>
              <a:t> </a:t>
            </a:r>
            <a:r>
              <a:rPr lang="en-US" baseline="0" dirty="0" err="1"/>
              <a:t>kinh</a:t>
            </a:r>
            <a:r>
              <a:rPr lang="en-US" baseline="0" dirty="0"/>
              <a:t> </a:t>
            </a:r>
            <a:r>
              <a:rPr lang="en-US" baseline="0" dirty="0" err="1"/>
              <a:t>doanh</a:t>
            </a:r>
            <a:r>
              <a:rPr lang="en-US" baseline="0" dirty="0"/>
              <a:t> </a:t>
            </a:r>
            <a:r>
              <a:rPr lang="en-US" baseline="0" dirty="0" err="1"/>
              <a:t>cần</a:t>
            </a:r>
            <a:r>
              <a:rPr lang="en-US" baseline="0" dirty="0"/>
              <a:t> </a:t>
            </a:r>
            <a:r>
              <a:rPr lang="en-US" baseline="0" dirty="0" err="1"/>
              <a:t>được</a:t>
            </a:r>
            <a:r>
              <a:rPr lang="en-US" baseline="0" dirty="0"/>
              <a:t> </a:t>
            </a:r>
            <a:r>
              <a:rPr lang="en-US" baseline="0" dirty="0" err="1"/>
              <a:t>đánh</a:t>
            </a:r>
            <a:r>
              <a:rPr lang="en-US" baseline="0" dirty="0"/>
              <a:t> </a:t>
            </a:r>
            <a:r>
              <a:rPr lang="en-US" baseline="0" dirty="0" err="1"/>
              <a:t>giá</a:t>
            </a:r>
            <a:r>
              <a:rPr lang="en-US" baseline="0" dirty="0"/>
              <a:t>, </a:t>
            </a:r>
            <a:r>
              <a:rPr lang="en-US" baseline="0" dirty="0" err="1"/>
              <a:t>xác</a:t>
            </a:r>
            <a:r>
              <a:rPr lang="en-US" baseline="0" dirty="0"/>
              <a:t> </a:t>
            </a:r>
            <a:r>
              <a:rPr lang="en-US" baseline="0" dirty="0" err="1"/>
              <a:t>định</a:t>
            </a:r>
            <a:r>
              <a:rPr lang="en-US" baseline="0" dirty="0"/>
              <a:t> </a:t>
            </a:r>
            <a:r>
              <a:rPr lang="en-US" baseline="0" dirty="0" err="1"/>
              <a:t>các</a:t>
            </a:r>
            <a:r>
              <a:rPr lang="en-US" baseline="0" dirty="0"/>
              <a:t> </a:t>
            </a:r>
            <a:r>
              <a:rPr lang="en-US" baseline="0" dirty="0" err="1"/>
              <a:t>chỉ</a:t>
            </a:r>
            <a:r>
              <a:rPr lang="en-US" baseline="0" dirty="0"/>
              <a:t> </a:t>
            </a:r>
            <a:r>
              <a:rPr lang="en-US" baseline="0" dirty="0" err="1"/>
              <a:t>số</a:t>
            </a:r>
            <a:r>
              <a:rPr lang="en-US" baseline="0" dirty="0"/>
              <a:t> </a:t>
            </a:r>
            <a:r>
              <a:rPr lang="en-US" baseline="0" dirty="0" err="1"/>
              <a:t>ngưỡng</a:t>
            </a:r>
            <a:r>
              <a:rPr lang="en-US" baseline="0" dirty="0"/>
              <a:t> </a:t>
            </a:r>
            <a:r>
              <a:rPr lang="en-US" baseline="0" dirty="0" err="1"/>
              <a:t>cần</a:t>
            </a:r>
            <a:r>
              <a:rPr lang="en-US" baseline="0" dirty="0"/>
              <a:t> </a:t>
            </a:r>
            <a:r>
              <a:rPr lang="en-US" baseline="0" dirty="0" err="1"/>
              <a:t>tuân</a:t>
            </a:r>
            <a:r>
              <a:rPr lang="en-US" baseline="0" dirty="0"/>
              <a:t> </a:t>
            </a:r>
            <a:r>
              <a:rPr lang="en-US" baseline="0" dirty="0" err="1"/>
              <a:t>thủ</a:t>
            </a:r>
            <a:endParaRPr lang="en-US" baseline="0" dirty="0"/>
          </a:p>
          <a:p>
            <a:pPr marL="0" indent="0">
              <a:buFontTx/>
              <a:buNone/>
            </a:pPr>
            <a:endParaRPr lang="en-US" baseline="0" dirty="0"/>
          </a:p>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23</a:t>
            </a:fld>
            <a:endParaRPr lang="en-US" dirty="0"/>
          </a:p>
        </p:txBody>
      </p:sp>
    </p:spTree>
    <p:extLst>
      <p:ext uri="{BB962C8B-B14F-4D97-AF65-F5344CB8AC3E}">
        <p14:creationId xmlns:p14="http://schemas.microsoft.com/office/powerpoint/2010/main" val="40346343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Nhóm</a:t>
            </a:r>
            <a:r>
              <a:rPr lang="en-US" dirty="0"/>
              <a:t> </a:t>
            </a:r>
            <a:r>
              <a:rPr lang="en-US" b="1" dirty="0" err="1"/>
              <a:t>Thực</a:t>
            </a:r>
            <a:r>
              <a:rPr lang="en-US" b="1" dirty="0"/>
              <a:t> </a:t>
            </a:r>
            <a:r>
              <a:rPr lang="en-US" b="1" dirty="0" err="1"/>
              <a:t>thi</a:t>
            </a:r>
            <a:r>
              <a:rPr lang="en-US" b="1" dirty="0"/>
              <a:t> </a:t>
            </a:r>
            <a:r>
              <a:rPr lang="en-US" dirty="0" err="1"/>
              <a:t>là</a:t>
            </a:r>
            <a:r>
              <a:rPr lang="en-US" dirty="0"/>
              <a:t> </a:t>
            </a:r>
            <a:r>
              <a:rPr lang="en-US" dirty="0" err="1"/>
              <a:t>nhóm</a:t>
            </a:r>
            <a:r>
              <a:rPr lang="en-US" dirty="0"/>
              <a:t> </a:t>
            </a:r>
            <a:r>
              <a:rPr lang="en-US" dirty="0" err="1"/>
              <a:t>có</a:t>
            </a:r>
            <a:r>
              <a:rPr lang="en-US" dirty="0"/>
              <a:t> </a:t>
            </a:r>
            <a:r>
              <a:rPr lang="en-US" dirty="0" err="1"/>
              <a:t>nhiều</a:t>
            </a:r>
            <a:r>
              <a:rPr lang="en-US" dirty="0"/>
              <a:t> </a:t>
            </a:r>
            <a:r>
              <a:rPr lang="en-US" dirty="0" err="1"/>
              <a:t>khoảng</a:t>
            </a:r>
            <a:r>
              <a:rPr lang="en-US" dirty="0"/>
              <a:t> </a:t>
            </a:r>
            <a:r>
              <a:rPr lang="en-US" dirty="0" err="1"/>
              <a:t>chưa</a:t>
            </a:r>
            <a:r>
              <a:rPr lang="en-US" baseline="0" dirty="0"/>
              <a:t> </a:t>
            </a:r>
            <a:r>
              <a:rPr lang="en-US" baseline="0" dirty="0" err="1"/>
              <a:t>đáp</a:t>
            </a:r>
            <a:r>
              <a:rPr lang="en-US" baseline="0" dirty="0"/>
              <a:t> </a:t>
            </a:r>
            <a:r>
              <a:rPr lang="en-US" baseline="0" dirty="0" err="1"/>
              <a:t>ứng</a:t>
            </a:r>
            <a:r>
              <a:rPr lang="en-US" baseline="0" dirty="0"/>
              <a:t> </a:t>
            </a:r>
            <a:r>
              <a:rPr lang="en-US" baseline="0" dirty="0" err="1"/>
              <a:t>đầy</a:t>
            </a:r>
            <a:r>
              <a:rPr lang="en-US" baseline="0" dirty="0"/>
              <a:t> </a:t>
            </a:r>
            <a:r>
              <a:rPr lang="en-US" baseline="0" dirty="0" err="1"/>
              <a:t>đủ</a:t>
            </a:r>
            <a:r>
              <a:rPr lang="en-US" baseline="0" dirty="0"/>
              <a:t> </a:t>
            </a:r>
            <a:r>
              <a:rPr lang="en-US" baseline="0" dirty="0" err="1"/>
              <a:t>nhất</a:t>
            </a:r>
            <a:r>
              <a:rPr lang="en-US" baseline="0" dirty="0"/>
              <a:t> </a:t>
            </a:r>
            <a:r>
              <a:rPr lang="en-US" baseline="0" dirty="0" err="1"/>
              <a:t>và</a:t>
            </a:r>
            <a:r>
              <a:rPr lang="en-US" baseline="0" dirty="0"/>
              <a:t> </a:t>
            </a:r>
            <a:r>
              <a:rPr lang="en-US" dirty="0" err="1"/>
              <a:t>là</a:t>
            </a:r>
            <a:r>
              <a:rPr lang="en-US" dirty="0"/>
              <a:t> </a:t>
            </a:r>
            <a:r>
              <a:rPr lang="en-US" dirty="0" err="1"/>
              <a:t>lý</a:t>
            </a:r>
            <a:r>
              <a:rPr lang="en-US" dirty="0"/>
              <a:t> do </a:t>
            </a:r>
            <a:r>
              <a:rPr lang="en-US" dirty="0" err="1"/>
              <a:t>cốt</a:t>
            </a:r>
            <a:r>
              <a:rPr lang="en-US" dirty="0"/>
              <a:t> </a:t>
            </a:r>
            <a:r>
              <a:rPr lang="en-US" dirty="0" err="1"/>
              <a:t>lõi</a:t>
            </a:r>
            <a:r>
              <a:rPr lang="en-US" dirty="0"/>
              <a:t> </a:t>
            </a:r>
            <a:r>
              <a:rPr lang="en-US" dirty="0" err="1"/>
              <a:t>để</a:t>
            </a:r>
            <a:r>
              <a:rPr lang="en-US" dirty="0"/>
              <a:t> </a:t>
            </a:r>
            <a:r>
              <a:rPr lang="en-US" dirty="0" err="1"/>
              <a:t>triển</a:t>
            </a:r>
            <a:r>
              <a:rPr lang="en-US" dirty="0"/>
              <a:t> </a:t>
            </a:r>
            <a:r>
              <a:rPr lang="en-US" dirty="0" err="1"/>
              <a:t>khai</a:t>
            </a:r>
            <a:r>
              <a:rPr lang="en-US" dirty="0"/>
              <a:t> </a:t>
            </a:r>
            <a:r>
              <a:rPr lang="en-US" dirty="0" err="1"/>
              <a:t>dự</a:t>
            </a:r>
            <a:r>
              <a:rPr lang="en-US" dirty="0"/>
              <a:t> </a:t>
            </a:r>
            <a:r>
              <a:rPr lang="en-US" dirty="0" err="1"/>
              <a:t>án</a:t>
            </a:r>
            <a:r>
              <a:rPr lang="en-US" dirty="0"/>
              <a:t> ERM:</a:t>
            </a:r>
          </a:p>
          <a:p>
            <a:pPr marL="171450" indent="-171450">
              <a:buFontTx/>
              <a:buChar char="-"/>
            </a:pPr>
            <a:r>
              <a:rPr lang="vi-VN" dirty="0"/>
              <a:t>Nguyên tắc </a:t>
            </a:r>
            <a:r>
              <a:rPr lang="vi-VN" b="1" dirty="0"/>
              <a:t>nhận diện rủi ro đáp ứng một phần</a:t>
            </a:r>
            <a:r>
              <a:rPr lang="vi-VN" dirty="0"/>
              <a:t>: đã có quy trình yêu cầu tuyến 1 tự đánh giá rủi ro, nhưng chưa có thư viện rủi ro</a:t>
            </a:r>
            <a:r>
              <a:rPr lang="en-US" dirty="0"/>
              <a:t>,</a:t>
            </a:r>
            <a:r>
              <a:rPr lang="en-US" baseline="0" dirty="0"/>
              <a:t> </a:t>
            </a:r>
            <a:r>
              <a:rPr lang="vi-VN" dirty="0"/>
              <a:t>danh mục rủi ro trọng yếu ở cấp doanh nghiệp</a:t>
            </a:r>
            <a:endParaRPr lang="en-US" dirty="0"/>
          </a:p>
          <a:p>
            <a:pPr marL="171450" indent="-171450">
              <a:buFontTx/>
              <a:buChar char="-"/>
            </a:pPr>
            <a:r>
              <a:rPr lang="en-US" dirty="0"/>
              <a:t>Hai</a:t>
            </a:r>
            <a:r>
              <a:rPr lang="vi-VN" dirty="0"/>
              <a:t> nguyên tắc về </a:t>
            </a:r>
            <a:r>
              <a:rPr lang="vi-VN" b="1" dirty="0"/>
              <a:t>đánh giá và xếp hạng rủi ro </a:t>
            </a:r>
            <a:r>
              <a:rPr lang="vi-VN" dirty="0"/>
              <a:t>— tức nguyên tắc </a:t>
            </a:r>
            <a:r>
              <a:rPr lang="vi-VN" b="1" dirty="0"/>
              <a:t>11, 12 </a:t>
            </a:r>
            <a:r>
              <a:rPr lang="vi-VN" dirty="0"/>
              <a:t>— đều </a:t>
            </a:r>
            <a:r>
              <a:rPr lang="vi-VN" b="1" dirty="0"/>
              <a:t>chưa đáp ứng</a:t>
            </a:r>
            <a:r>
              <a:rPr lang="vi-VN" dirty="0"/>
              <a:t>: </a:t>
            </a:r>
            <a:r>
              <a:rPr lang="en-US" dirty="0"/>
              <a:t>Do VDS </a:t>
            </a:r>
            <a:r>
              <a:rPr lang="vi-VN" dirty="0"/>
              <a:t>chưa </a:t>
            </a:r>
            <a:r>
              <a:rPr lang="en-US" dirty="0" err="1"/>
              <a:t>hoàn</a:t>
            </a:r>
            <a:r>
              <a:rPr lang="en-US" baseline="0" dirty="0"/>
              <a:t> </a:t>
            </a:r>
            <a:r>
              <a:rPr lang="en-US" baseline="0" dirty="0" err="1"/>
              <a:t>thiện</a:t>
            </a:r>
            <a:r>
              <a:rPr lang="vi-VN" dirty="0"/>
              <a:t> phương pháp đánh giá</a:t>
            </a:r>
            <a:r>
              <a:rPr lang="en-US" dirty="0"/>
              <a:t> </a:t>
            </a:r>
            <a:r>
              <a:rPr lang="en-US" dirty="0" err="1"/>
              <a:t>rủi</a:t>
            </a:r>
            <a:r>
              <a:rPr lang="en-US" baseline="0" dirty="0"/>
              <a:t> </a:t>
            </a:r>
            <a:r>
              <a:rPr lang="en-US" baseline="0" dirty="0" err="1"/>
              <a:t>ro</a:t>
            </a:r>
            <a:r>
              <a:rPr lang="vi-VN" dirty="0"/>
              <a:t> định tính và định lượng cấp doanh nghiệp, chưa có danh mục rủi ro trọng yếu được Tổng giám đốc phê duyệt, và chưa có quy trình cập nhật </a:t>
            </a:r>
            <a:r>
              <a:rPr lang="en-US" dirty="0" err="1"/>
              <a:t>rủi</a:t>
            </a:r>
            <a:r>
              <a:rPr lang="en-US" baseline="0" dirty="0"/>
              <a:t> </a:t>
            </a:r>
            <a:r>
              <a:rPr lang="en-US" baseline="0" dirty="0" err="1"/>
              <a:t>ro</a:t>
            </a:r>
            <a:r>
              <a:rPr lang="en-US" baseline="0" dirty="0"/>
              <a:t> </a:t>
            </a:r>
            <a:r>
              <a:rPr lang="en-US" baseline="0" dirty="0" err="1"/>
              <a:t>trọng</a:t>
            </a:r>
            <a:r>
              <a:rPr lang="en-US" baseline="0" dirty="0"/>
              <a:t> </a:t>
            </a:r>
            <a:r>
              <a:rPr lang="en-US" baseline="0" dirty="0" err="1"/>
              <a:t>yếu</a:t>
            </a:r>
            <a:r>
              <a:rPr lang="en-US" baseline="0" dirty="0"/>
              <a:t> </a:t>
            </a:r>
            <a:r>
              <a:rPr lang="vi-VN" dirty="0"/>
              <a:t>định kỳ.</a:t>
            </a:r>
            <a:endParaRPr lang="en-US"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a:solidFill>
                  <a:schemeClr val="tx1"/>
                </a:solidFill>
                <a:effectLst/>
                <a:latin typeface="Arial" panose="020B0604020202020204" pitchFamily="34" charset="0"/>
                <a:ea typeface="+mn-ea"/>
                <a:cs typeface="+mn-cs"/>
              </a:rPr>
              <a:t>Nguyên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tắc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về</a:t>
            </a:r>
            <a:r>
              <a:rPr lang="en-US" sz="1200" kern="1200" baseline="0" dirty="0">
                <a:solidFill>
                  <a:schemeClr val="tx1"/>
                </a:solidFill>
                <a:effectLst/>
                <a:latin typeface="Arial" panose="020B0604020202020204" pitchFamily="34" charset="0"/>
                <a:ea typeface="+mn-ea"/>
                <a:cs typeface="+mn-cs"/>
              </a:rPr>
              <a:t> </a:t>
            </a:r>
            <a:r>
              <a:rPr lang="en-US" sz="1200" b="1" kern="1200" baseline="0" dirty="0" err="1">
                <a:solidFill>
                  <a:schemeClr val="tx1"/>
                </a:solidFill>
                <a:effectLst/>
                <a:latin typeface="Arial" panose="020B0604020202020204" pitchFamily="34" charset="0"/>
                <a:ea typeface="+mn-ea"/>
                <a:cs typeface="+mn-cs"/>
              </a:rPr>
              <a:t>triển</a:t>
            </a:r>
            <a:r>
              <a:rPr lang="en-US" sz="1200" b="1" kern="1200" baseline="0" dirty="0">
                <a:solidFill>
                  <a:schemeClr val="tx1"/>
                </a:solidFill>
                <a:effectLst/>
                <a:latin typeface="Arial" panose="020B0604020202020204" pitchFamily="34" charset="0"/>
                <a:ea typeface="+mn-ea"/>
                <a:cs typeface="+mn-cs"/>
              </a:rPr>
              <a:t> </a:t>
            </a:r>
            <a:r>
              <a:rPr lang="en-US" sz="1200" b="1" kern="1200" baseline="0" dirty="0" err="1">
                <a:solidFill>
                  <a:schemeClr val="tx1"/>
                </a:solidFill>
                <a:effectLst/>
                <a:latin typeface="Arial" panose="020B0604020202020204" pitchFamily="34" charset="0"/>
                <a:ea typeface="+mn-ea"/>
                <a:cs typeface="+mn-cs"/>
              </a:rPr>
              <a:t>khai</a:t>
            </a:r>
            <a:r>
              <a:rPr lang="en-US" sz="1200" b="1" kern="1200" baseline="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kế</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hoạch</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hành</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động</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xử</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lý</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rủi</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ro</a:t>
            </a:r>
            <a:r>
              <a:rPr lang="en-US" sz="1200" b="1"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hồ</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sơ</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rủi</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ro</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tổng</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quan</a:t>
            </a:r>
            <a:r>
              <a:rPr lang="en-US" sz="1200" b="1"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đang</a:t>
            </a:r>
            <a:r>
              <a:rPr lang="en-US" sz="1200" kern="1200" dirty="0">
                <a:solidFill>
                  <a:schemeClr val="tx1"/>
                </a:solidFill>
                <a:effectLst/>
                <a:latin typeface="Arial" panose="020B0604020202020204" pitchFamily="34" charset="0"/>
                <a:ea typeface="+mn-ea"/>
                <a:cs typeface="+mn-cs"/>
              </a:rPr>
              <a:t> ở </a:t>
            </a:r>
            <a:r>
              <a:rPr lang="en-US" sz="1200" b="1" kern="1200" dirty="0" err="1">
                <a:solidFill>
                  <a:schemeClr val="tx1"/>
                </a:solidFill>
                <a:effectLst/>
                <a:latin typeface="Arial" panose="020B0604020202020204" pitchFamily="34" charset="0"/>
                <a:ea typeface="+mn-ea"/>
                <a:cs typeface="+mn-cs"/>
              </a:rPr>
              <a:t>mức</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đáp</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ứng</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một</a:t>
            </a:r>
            <a:r>
              <a:rPr lang="en-US" sz="1200" b="1" kern="1200" dirty="0">
                <a:solidFill>
                  <a:schemeClr val="tx1"/>
                </a:solidFill>
                <a:effectLst/>
                <a:latin typeface="Arial" panose="020B0604020202020204" pitchFamily="34" charset="0"/>
                <a:ea typeface="+mn-ea"/>
                <a:cs typeface="+mn-cs"/>
              </a:rPr>
              <a:t> </a:t>
            </a:r>
            <a:r>
              <a:rPr lang="en-US" sz="1200" b="1" kern="1200" dirty="0" err="1">
                <a:solidFill>
                  <a:schemeClr val="tx1"/>
                </a:solidFill>
                <a:effectLst/>
                <a:latin typeface="Arial" panose="020B0604020202020204" pitchFamily="34" charset="0"/>
                <a:ea typeface="+mn-ea"/>
                <a:cs typeface="+mn-cs"/>
              </a:rPr>
              <a:t>phần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khung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việc</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ứng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nhưng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hành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hoạch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hành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động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cụ</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thể</a:t>
            </a:r>
            <a:r>
              <a:rPr lang="en-US" sz="1200" kern="1200" dirty="0">
                <a:solidFill>
                  <a:schemeClr val="tx1"/>
                </a:solidFill>
                <a:effectLst/>
                <a:latin typeface="Arial" panose="020B0604020202020204" pitchFamily="34" charset="0"/>
                <a:ea typeface="+mn-ea"/>
                <a:cs typeface="+mn-cs"/>
              </a:rPr>
              <a:t> do </a:t>
            </a:r>
            <a:r>
              <a:rPr lang="en-US" sz="1200" kern="1200" dirty="0" err="1">
                <a:solidFill>
                  <a:schemeClr val="tx1"/>
                </a:solidFill>
                <a:effectLst/>
                <a:latin typeface="Arial" panose="020B0604020202020204" pitchFamily="34" charset="0"/>
                <a:ea typeface="+mn-ea"/>
                <a:cs typeface="+mn-cs"/>
              </a:rPr>
              <a:t>chưa</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có</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danh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mục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rủi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ro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trọng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yếu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KRI.</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Hồ</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dừng</a:t>
            </a:r>
            <a:r>
              <a:rPr lang="en-US" sz="1200" kern="1200" dirty="0">
                <a:solidFill>
                  <a:schemeClr val="tx1"/>
                </a:solidFill>
                <a:effectLst/>
                <a:latin typeface="Arial" panose="020B0604020202020204" pitchFamily="34" charset="0"/>
                <a:ea typeface="+mn-ea"/>
                <a:cs typeface="+mn-cs"/>
              </a:rPr>
              <a:t> ở </a:t>
            </a:r>
            <a:r>
              <a:rPr lang="en-US" sz="1200" kern="1200" dirty="0" err="1">
                <a:solidFill>
                  <a:schemeClr val="tx1"/>
                </a:solidFill>
                <a:effectLst/>
                <a:latin typeface="Arial" panose="020B0604020202020204" pitchFamily="34" charset="0"/>
                <a:ea typeface="+mn-ea"/>
                <a:cs typeface="+mn-cs"/>
              </a:rPr>
              <a:t>cấp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trình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đơn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thuần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ghi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nhận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lại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các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sự</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cố</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sự</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kiện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tổn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thất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nhìn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cấp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chức</a:t>
            </a:r>
            <a:r>
              <a:rPr lang="en-US" sz="1200" kern="1200" dirty="0">
                <a:solidFill>
                  <a:schemeClr val="tx1"/>
                </a:solidFill>
                <a:effectLst/>
                <a:latin typeface="Arial" panose="020B0604020202020204" pitchFamily="34" charset="0"/>
                <a:ea typeface="+mn-ea"/>
                <a:cs typeface="+mn-cs"/>
              </a:rPr>
              <a:t>.</a:t>
            </a:r>
          </a:p>
          <a:p>
            <a:endParaRPr lang="en-US"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24</a:t>
            </a:fld>
            <a:endParaRPr lang="en-US" dirty="0"/>
          </a:p>
        </p:txBody>
      </p:sp>
    </p:spTree>
    <p:extLst>
      <p:ext uri="{BB962C8B-B14F-4D97-AF65-F5344CB8AC3E}">
        <p14:creationId xmlns:p14="http://schemas.microsoft.com/office/powerpoint/2010/main" val="2788223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Nhóm</a:t>
            </a:r>
            <a:r>
              <a:rPr lang="en-US" dirty="0"/>
              <a:t> </a:t>
            </a:r>
            <a:r>
              <a:rPr lang="en-US" b="1" dirty="0" err="1"/>
              <a:t>Rà</a:t>
            </a:r>
            <a:r>
              <a:rPr lang="en-US" b="1" dirty="0"/>
              <a:t> </a:t>
            </a:r>
            <a:r>
              <a:rPr lang="en-US" b="1" dirty="0" err="1"/>
              <a:t>soát</a:t>
            </a:r>
            <a:r>
              <a:rPr lang="en-US" b="1" dirty="0"/>
              <a:t> </a:t>
            </a:r>
            <a:r>
              <a:rPr lang="en-US" b="1" dirty="0" err="1"/>
              <a:t>và</a:t>
            </a:r>
            <a:r>
              <a:rPr lang="en-US" b="1" dirty="0"/>
              <a:t> </a:t>
            </a:r>
            <a:r>
              <a:rPr lang="en-US" b="1" dirty="0" err="1"/>
              <a:t>Điều</a:t>
            </a:r>
            <a:r>
              <a:rPr lang="en-US" b="1" dirty="0"/>
              <a:t> </a:t>
            </a:r>
            <a:r>
              <a:rPr lang="en-US" b="1" dirty="0" err="1"/>
              <a:t>chỉnh</a:t>
            </a:r>
            <a:r>
              <a:rPr lang="en-US" b="1" dirty="0"/>
              <a:t> </a:t>
            </a:r>
            <a:r>
              <a:rPr lang="en-US" dirty="0" err="1"/>
              <a:t>gồm</a:t>
            </a:r>
            <a:r>
              <a:rPr lang="en-US" dirty="0"/>
              <a:t> </a:t>
            </a:r>
            <a:r>
              <a:rPr lang="en-US" dirty="0" err="1"/>
              <a:t>ba</a:t>
            </a:r>
            <a:r>
              <a:rPr lang="en-US" dirty="0"/>
              <a:t> </a:t>
            </a:r>
            <a:r>
              <a:rPr lang="en-US" dirty="0" err="1"/>
              <a:t>nguyên</a:t>
            </a:r>
            <a:r>
              <a:rPr lang="en-US" dirty="0"/>
              <a:t> </a:t>
            </a:r>
            <a:r>
              <a:rPr lang="en-US" dirty="0" err="1"/>
              <a:t>tắc</a:t>
            </a:r>
            <a:r>
              <a:rPr lang="en-US" dirty="0"/>
              <a:t>, </a:t>
            </a:r>
            <a:r>
              <a:rPr lang="en-US" dirty="0" err="1"/>
              <a:t>tất</a:t>
            </a:r>
            <a:r>
              <a:rPr lang="en-US" dirty="0"/>
              <a:t> </a:t>
            </a:r>
            <a:r>
              <a:rPr lang="en-US" dirty="0" err="1"/>
              <a:t>cả</a:t>
            </a:r>
            <a:r>
              <a:rPr lang="en-US" dirty="0"/>
              <a:t> </a:t>
            </a:r>
            <a:r>
              <a:rPr lang="en-US" dirty="0" err="1"/>
              <a:t>đều</a:t>
            </a:r>
            <a:r>
              <a:rPr lang="en-US" dirty="0"/>
              <a:t> ở </a:t>
            </a:r>
            <a:r>
              <a:rPr lang="en-US" dirty="0" err="1"/>
              <a:t>mức</a:t>
            </a:r>
            <a:r>
              <a:rPr lang="en-US" dirty="0"/>
              <a:t> </a:t>
            </a:r>
            <a:r>
              <a:rPr lang="en-US" dirty="0" err="1"/>
              <a:t>đáp</a:t>
            </a:r>
            <a:r>
              <a:rPr lang="en-US" dirty="0"/>
              <a:t> </a:t>
            </a:r>
            <a:r>
              <a:rPr lang="en-US" dirty="0" err="1"/>
              <a:t>ứng</a:t>
            </a:r>
            <a:r>
              <a:rPr lang="en-US" dirty="0"/>
              <a:t> </a:t>
            </a:r>
            <a:r>
              <a:rPr lang="en-US" dirty="0" err="1"/>
              <a:t>một</a:t>
            </a:r>
            <a:r>
              <a:rPr lang="en-US" dirty="0"/>
              <a:t> </a:t>
            </a:r>
            <a:r>
              <a:rPr lang="en-US" dirty="0" err="1"/>
              <a:t>phần</a:t>
            </a:r>
            <a:r>
              <a:rPr lang="en-US" dirty="0"/>
              <a:t>:</a:t>
            </a:r>
          </a:p>
          <a:p>
            <a:pPr marL="171450" indent="-171450">
              <a:buFontTx/>
              <a:buChar char="-"/>
            </a:pPr>
            <a:r>
              <a:rPr lang="vi-VN" dirty="0"/>
              <a:t>Về </a:t>
            </a:r>
            <a:r>
              <a:rPr lang="en-US" dirty="0" err="1"/>
              <a:t>nguyên</a:t>
            </a:r>
            <a:r>
              <a:rPr lang="en-US" baseline="0" dirty="0"/>
              <a:t> </a:t>
            </a:r>
            <a:r>
              <a:rPr lang="en-US" baseline="0" dirty="0" err="1"/>
              <a:t>tắc</a:t>
            </a:r>
            <a:r>
              <a:rPr lang="en-US" baseline="0" dirty="0"/>
              <a:t> </a:t>
            </a:r>
            <a:r>
              <a:rPr lang="en-US" baseline="0" dirty="0" err="1"/>
              <a:t>đánh</a:t>
            </a:r>
            <a:r>
              <a:rPr lang="en-US" baseline="0" dirty="0"/>
              <a:t> </a:t>
            </a:r>
            <a:r>
              <a:rPr lang="en-US" baseline="0" dirty="0" err="1"/>
              <a:t>giá</a:t>
            </a:r>
            <a:r>
              <a:rPr lang="vi-VN" dirty="0"/>
              <a:t> thay đổi trọng yếu: Bộ phận </a:t>
            </a:r>
            <a:r>
              <a:rPr lang="en-US" dirty="0"/>
              <a:t>C</a:t>
            </a:r>
            <a:r>
              <a:rPr lang="vi-VN" dirty="0"/>
              <a:t>hiến lược </a:t>
            </a:r>
            <a:r>
              <a:rPr lang="en-US" dirty="0" err="1"/>
              <a:t>và</a:t>
            </a:r>
            <a:r>
              <a:rPr lang="en-US" baseline="0" dirty="0"/>
              <a:t> Kinh </a:t>
            </a:r>
            <a:r>
              <a:rPr lang="en-US" baseline="0" dirty="0" err="1"/>
              <a:t>doanh</a:t>
            </a:r>
            <a:r>
              <a:rPr lang="en-US" baseline="0" dirty="0"/>
              <a:t> </a:t>
            </a:r>
            <a:r>
              <a:rPr lang="en-US" baseline="0" dirty="0" err="1"/>
              <a:t>có</a:t>
            </a:r>
            <a:r>
              <a:rPr lang="en-US" dirty="0"/>
              <a:t> </a:t>
            </a:r>
            <a:r>
              <a:rPr lang="en-US" dirty="0" err="1"/>
              <a:t>thực</a:t>
            </a:r>
            <a:r>
              <a:rPr lang="en-US" baseline="0" dirty="0"/>
              <a:t> </a:t>
            </a:r>
            <a:r>
              <a:rPr lang="en-US" baseline="0" dirty="0" err="1"/>
              <a:t>hiện</a:t>
            </a:r>
            <a:r>
              <a:rPr lang="en-US" baseline="0" dirty="0"/>
              <a:t> </a:t>
            </a:r>
            <a:r>
              <a:rPr lang="vi-VN" dirty="0"/>
              <a:t>theo dõi và đánh giá các thay đổi môi trường kinh doanh và pháp lý, nhưng chưa xây dựng được KRI cảnh báo sớm khi các thay đổi này xảy ra.</a:t>
            </a:r>
            <a:endParaRPr lang="en-US" dirty="0"/>
          </a:p>
          <a:p>
            <a:pPr marL="171450" indent="-171450">
              <a:buFontTx/>
              <a:buChar char="-"/>
            </a:pPr>
            <a:r>
              <a:rPr lang="vi-VN" dirty="0"/>
              <a:t>Về </a:t>
            </a:r>
            <a:r>
              <a:rPr lang="en-US" dirty="0" err="1"/>
              <a:t>nguyên</a:t>
            </a:r>
            <a:r>
              <a:rPr lang="en-US" baseline="0" dirty="0"/>
              <a:t> </a:t>
            </a:r>
            <a:r>
              <a:rPr lang="en-US" baseline="0" dirty="0" err="1"/>
              <a:t>tắc</a:t>
            </a:r>
            <a:r>
              <a:rPr lang="en-US" baseline="0" dirty="0"/>
              <a:t> </a:t>
            </a:r>
            <a:r>
              <a:rPr lang="vi-VN" dirty="0"/>
              <a:t>rà soát rủi ro và hiệu quả triển khai: đã có luồng báo cáo sự kiện rủi ro định kỳ, tuy nhiên chưa đánh giá được hiệu quả công tác QTRR vì chưa có bộ chỉ số KRI để đo lường.</a:t>
            </a:r>
            <a:endParaRPr lang="en-US" dirty="0"/>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cải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tiến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tục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công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tác</a:t>
            </a:r>
            <a:r>
              <a:rPr lang="en-US" sz="1200" kern="1200" baseline="0" dirty="0">
                <a:solidFill>
                  <a:schemeClr val="tx1"/>
                </a:solidFill>
                <a:effectLst/>
                <a:latin typeface="Arial" panose="020B0604020202020204" pitchFamily="34" charset="0"/>
                <a:ea typeface="+mn-ea"/>
                <a:cs typeface="+mn-cs"/>
              </a:rPr>
              <a:t> QTRR</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rút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bài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học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kinh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nghiệm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chủ</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yếu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dụng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sau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cố</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riêng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lẻ</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hệ</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thống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hóa</a:t>
            </a:r>
            <a:r>
              <a:rPr lang="en-US" sz="1200" kern="1200" dirty="0">
                <a:solidFill>
                  <a:schemeClr val="tx1"/>
                </a:solidFill>
                <a:effectLst/>
                <a:latin typeface="Arial" panose="020B0604020202020204" pitchFamily="34" charset="0"/>
                <a:ea typeface="+mn-ea"/>
                <a:cs typeface="+mn-cs"/>
              </a:rPr>
              <a:t> ở </a:t>
            </a:r>
            <a:r>
              <a:rPr lang="en-US" sz="1200" kern="1200" dirty="0" err="1">
                <a:solidFill>
                  <a:schemeClr val="tx1"/>
                </a:solidFill>
                <a:effectLst/>
                <a:latin typeface="Arial" panose="020B0604020202020204" pitchFamily="34" charset="0"/>
                <a:ea typeface="+mn-ea"/>
                <a:cs typeface="+mn-cs"/>
              </a:rPr>
              <a:t>cấp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doanh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nghiệp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đánh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trưởng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thành</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kỳ</a:t>
            </a:r>
            <a:r>
              <a:rPr lang="en-US" sz="1200" kern="1200" dirty="0">
                <a:solidFill>
                  <a:schemeClr val="tx1"/>
                </a:solidFill>
                <a:effectLst/>
                <a:latin typeface="Arial" panose="020B0604020202020204" pitchFamily="34" charset="0"/>
                <a:ea typeface="+mn-ea"/>
                <a:cs typeface="+mn-cs"/>
              </a:rPr>
              <a:t>.</a:t>
            </a:r>
          </a:p>
          <a:p>
            <a:pPr marL="0" indent="0">
              <a:buFontTx/>
              <a:buNone/>
            </a:pPr>
            <a:r>
              <a:rPr lang="en-US" sz="1200" kern="1200" dirty="0">
                <a:solidFill>
                  <a:schemeClr val="tx1"/>
                </a:solidFill>
                <a:effectLst/>
                <a:latin typeface="Arial" panose="020B0604020202020204" pitchFamily="34" charset="0"/>
                <a:ea typeface="+mn-ea"/>
                <a:cs typeface="+mn-cs"/>
              </a:rPr>
              <a:t>=&gt;</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Tóm</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lại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nhóm</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khía</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cạnh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này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có</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nền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tảng</a:t>
            </a:r>
            <a:r>
              <a:rPr lang="en-US" sz="1200" kern="1200" baseline="0" dirty="0">
                <a:solidFill>
                  <a:schemeClr val="tx1"/>
                </a:solidFill>
                <a:effectLst/>
                <a:latin typeface="Arial" panose="020B0604020202020204" pitchFamily="34" charset="0"/>
                <a:ea typeface="+mn-ea"/>
                <a:cs typeface="+mn-cs"/>
              </a:rPr>
              <a:t> ở </a:t>
            </a:r>
            <a:r>
              <a:rPr lang="en-US" sz="1200" kern="1200" baseline="0" dirty="0" err="1">
                <a:solidFill>
                  <a:schemeClr val="tx1"/>
                </a:solidFill>
                <a:effectLst/>
                <a:latin typeface="Arial" panose="020B0604020202020204" pitchFamily="34" charset="0"/>
                <a:ea typeface="+mn-ea"/>
                <a:cs typeface="+mn-cs"/>
              </a:rPr>
              <a:t>mức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quy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trình</a:t>
            </a:r>
            <a:r>
              <a:rPr lang="en-US" sz="1200" kern="1200" baseline="0" dirty="0">
                <a:solidFill>
                  <a:schemeClr val="tx1"/>
                </a:solidFill>
                <a:effectLst/>
                <a:latin typeface="Arial" panose="020B0604020202020204" pitchFamily="34" charset="0"/>
                <a:ea typeface="+mn-ea"/>
                <a:cs typeface="+mn-cs"/>
              </a:rPr>
              <a:t>, SPDV, </a:t>
            </a:r>
            <a:r>
              <a:rPr lang="en-US" sz="1200" kern="1200" baseline="0" dirty="0" err="1">
                <a:solidFill>
                  <a:schemeClr val="tx1"/>
                </a:solidFill>
                <a:effectLst/>
                <a:latin typeface="Arial" panose="020B0604020202020204" pitchFamily="34" charset="0"/>
                <a:ea typeface="+mn-ea"/>
                <a:cs typeface="+mn-cs"/>
              </a:rPr>
              <a:t>tuy</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nhiên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đang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thiếu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công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cụ</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lường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là</a:t>
            </a:r>
            <a:r>
              <a:rPr lang="en-US" sz="1200" kern="1200" baseline="0" dirty="0">
                <a:solidFill>
                  <a:schemeClr val="tx1"/>
                </a:solidFill>
                <a:effectLst/>
                <a:latin typeface="Arial" panose="020B0604020202020204" pitchFamily="34" charset="0"/>
                <a:ea typeface="+mn-ea"/>
                <a:cs typeface="+mn-cs"/>
              </a:rPr>
              <a:t> KRI </a:t>
            </a:r>
            <a:r>
              <a:rPr lang="en-US" sz="1200" kern="1200" baseline="0" dirty="0" err="1">
                <a:solidFill>
                  <a:schemeClr val="tx1"/>
                </a:solidFill>
                <a:effectLst/>
                <a:latin typeface="Arial" panose="020B0604020202020204" pitchFamily="34" charset="0"/>
                <a:ea typeface="+mn-ea"/>
                <a:cs typeface="+mn-cs"/>
              </a:rPr>
              <a:t>để</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vận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hành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hiệu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quả</a:t>
            </a:r>
            <a:r>
              <a:rPr lang="en-US" sz="1200" kern="1200" dirty="0">
                <a:solidFill>
                  <a:schemeClr val="tx1"/>
                </a:solidFill>
                <a:effectLst/>
                <a:latin typeface="Arial" panose="020B0604020202020204" pitchFamily="34" charset="0"/>
                <a:ea typeface="+mn-ea"/>
                <a:cs typeface="+mn-cs"/>
              </a:rPr>
              <a:t> </a:t>
            </a:r>
            <a:endParaRPr lang="en-US" dirty="0"/>
          </a:p>
          <a:p>
            <a:endParaRPr lang="en-US"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25</a:t>
            </a:fld>
            <a:endParaRPr lang="en-US" dirty="0"/>
          </a:p>
        </p:txBody>
      </p:sp>
    </p:spTree>
    <p:extLst>
      <p:ext uri="{BB962C8B-B14F-4D97-AF65-F5344CB8AC3E}">
        <p14:creationId xmlns:p14="http://schemas.microsoft.com/office/powerpoint/2010/main" val="27135960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err="1"/>
              <a:t>Nhóm</a:t>
            </a:r>
            <a:r>
              <a:rPr lang="en-US" dirty="0"/>
              <a:t> </a:t>
            </a:r>
            <a:r>
              <a:rPr lang="en-US" dirty="0" err="1"/>
              <a:t>cuối</a:t>
            </a:r>
            <a:r>
              <a:rPr lang="en-US" dirty="0"/>
              <a:t> </a:t>
            </a:r>
            <a:r>
              <a:rPr lang="en-US" dirty="0" err="1"/>
              <a:t>là</a:t>
            </a:r>
            <a:r>
              <a:rPr lang="en-US" dirty="0"/>
              <a:t> </a:t>
            </a:r>
            <a:r>
              <a:rPr lang="en-US" dirty="0" err="1"/>
              <a:t>khía</a:t>
            </a:r>
            <a:r>
              <a:rPr lang="en-US" baseline="0" dirty="0"/>
              <a:t> </a:t>
            </a:r>
            <a:r>
              <a:rPr lang="en-US" baseline="0" dirty="0" err="1"/>
              <a:t>cạnh</a:t>
            </a:r>
            <a:r>
              <a:rPr lang="en-US" baseline="0" dirty="0"/>
              <a:t> </a:t>
            </a:r>
            <a:r>
              <a:rPr lang="en-US" b="1" dirty="0"/>
              <a:t>Thông tin, </a:t>
            </a:r>
            <a:r>
              <a:rPr lang="en-US" b="1" dirty="0" err="1"/>
              <a:t>Truyền</a:t>
            </a:r>
            <a:r>
              <a:rPr lang="en-US" b="1" dirty="0"/>
              <a:t> </a:t>
            </a:r>
            <a:r>
              <a:rPr lang="en-US" b="1" dirty="0" err="1"/>
              <a:t>thông</a:t>
            </a:r>
            <a:r>
              <a:rPr lang="en-US" b="1" dirty="0"/>
              <a:t> </a:t>
            </a:r>
            <a:r>
              <a:rPr lang="en-US" b="1" dirty="0" err="1"/>
              <a:t>và</a:t>
            </a:r>
            <a:r>
              <a:rPr lang="en-US" b="1" dirty="0"/>
              <a:t> Báo </a:t>
            </a:r>
            <a:r>
              <a:rPr lang="en-US" b="1" dirty="0" err="1"/>
              <a:t>cáo</a:t>
            </a:r>
            <a:r>
              <a:rPr lang="en-US" b="1" dirty="0"/>
              <a:t>:</a:t>
            </a:r>
          </a:p>
          <a:p>
            <a:pPr marL="171450" indent="-171450">
              <a:buFontTx/>
              <a:buChar char="-"/>
            </a:pPr>
            <a:r>
              <a:rPr lang="vi-VN" b="0" dirty="0"/>
              <a:t>Điểm đáng ghi nhận</a:t>
            </a:r>
            <a:r>
              <a:rPr lang="en-US" b="0" baseline="0" dirty="0"/>
              <a:t> </a:t>
            </a:r>
            <a:r>
              <a:rPr lang="en-US" b="0" baseline="0" dirty="0" err="1"/>
              <a:t>là</a:t>
            </a:r>
            <a:r>
              <a:rPr lang="vi-VN" b="0" dirty="0"/>
              <a:t> Nguyên tắc truyền thông thông tin rủi ro đã được đáp ứng</a:t>
            </a:r>
            <a:r>
              <a:rPr lang="en-US" b="0" dirty="0"/>
              <a:t> do VDS </a:t>
            </a:r>
            <a:r>
              <a:rPr lang="en-US" b="0" dirty="0" err="1"/>
              <a:t>đã</a:t>
            </a:r>
            <a:r>
              <a:rPr lang="vi-VN" b="0" dirty="0"/>
              <a:t> có cơ chế báo cáo và phối hợp thông tin</a:t>
            </a:r>
            <a:r>
              <a:rPr lang="en-US" b="0" dirty="0"/>
              <a:t> SKRR</a:t>
            </a:r>
            <a:r>
              <a:rPr lang="vi-VN" b="0" dirty="0"/>
              <a:t> giữa các phòng ban, và </a:t>
            </a:r>
            <a:r>
              <a:rPr lang="en-US" b="0" dirty="0" err="1"/>
              <a:t>có</a:t>
            </a:r>
            <a:r>
              <a:rPr lang="en-US" b="0" baseline="0" dirty="0"/>
              <a:t> </a:t>
            </a:r>
            <a:r>
              <a:rPr lang="en-US" b="0" baseline="0" dirty="0" err="1"/>
              <a:t>thực</a:t>
            </a:r>
            <a:r>
              <a:rPr lang="en-US" b="0" baseline="0" dirty="0"/>
              <a:t> </a:t>
            </a:r>
            <a:r>
              <a:rPr lang="en-US" b="0" baseline="0" dirty="0" err="1"/>
              <a:t>hiện</a:t>
            </a:r>
            <a:r>
              <a:rPr lang="vi-VN" b="0" dirty="0"/>
              <a:t> tổ chức đào tạo QTRR định kỳ.</a:t>
            </a:r>
            <a:endParaRPr lang="en-US" b="0" dirty="0"/>
          </a:p>
          <a:p>
            <a:pPr marL="171450" indent="-171450">
              <a:buFontTx/>
              <a:buChar char="-"/>
            </a:pPr>
            <a:r>
              <a:rPr lang="en-US" sz="1200" kern="1200" dirty="0">
                <a:solidFill>
                  <a:schemeClr val="tx1"/>
                </a:solidFill>
                <a:effectLst/>
                <a:latin typeface="Arial" panose="020B0604020202020204" pitchFamily="34" charset="0"/>
                <a:ea typeface="+mn-ea"/>
                <a:cs typeface="+mn-cs"/>
              </a:rPr>
              <a:t>Nguyên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tắc</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thông</a:t>
            </a:r>
            <a:r>
              <a:rPr lang="en-US" sz="1200" kern="1200" dirty="0">
                <a:solidFill>
                  <a:schemeClr val="tx1"/>
                </a:solidFill>
                <a:effectLst/>
                <a:latin typeface="Arial" panose="020B0604020202020204" pitchFamily="34" charset="0"/>
                <a:ea typeface="+mn-ea"/>
                <a:cs typeface="+mn-cs"/>
              </a:rPr>
              <a:t> tin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công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nghệ</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đang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đáp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ứng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một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chính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lý</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dữ</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nhưng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dữ</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rủi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từ</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nguồn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như</a:t>
            </a:r>
            <a:r>
              <a:rPr lang="en-US" sz="1200" kern="1200" dirty="0">
                <a:solidFill>
                  <a:schemeClr val="tx1"/>
                </a:solidFill>
                <a:effectLst/>
                <a:latin typeface="Arial" panose="020B0604020202020204" pitchFamily="34" charset="0"/>
                <a:ea typeface="+mn-ea"/>
                <a:cs typeface="+mn-cs"/>
              </a:rPr>
              <a:t> CNTT, </a:t>
            </a:r>
            <a:r>
              <a:rPr lang="en-US" sz="1200" kern="1200" dirty="0" err="1">
                <a:solidFill>
                  <a:schemeClr val="tx1"/>
                </a:solidFill>
                <a:effectLst/>
                <a:latin typeface="Arial" panose="020B0604020202020204" pitchFamily="34" charset="0"/>
                <a:ea typeface="+mn-ea"/>
                <a:cs typeface="+mn-cs"/>
              </a:rPr>
              <a:t>khiếu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nại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gian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danh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tiếng</a:t>
            </a:r>
            <a:r>
              <a:rPr lang="en-US" sz="1200" kern="1200" baseline="0" dirty="0">
                <a:solidFill>
                  <a:schemeClr val="tx1"/>
                </a:solidFill>
                <a:effectLst/>
                <a:latin typeface="Arial" panose="020B0604020202020204" pitchFamily="34" charset="0"/>
                <a:ea typeface="+mn-ea"/>
                <a:cs typeface="+mn-cs"/>
              </a:rPr>
              <a:t> – </a:t>
            </a:r>
            <a:r>
              <a:rPr lang="en-US" sz="1200" kern="1200" baseline="0" dirty="0" err="1">
                <a:solidFill>
                  <a:schemeClr val="tx1"/>
                </a:solidFill>
                <a:effectLst/>
                <a:latin typeface="Arial" panose="020B0604020202020204" pitchFamily="34" charset="0"/>
                <a:ea typeface="+mn-ea"/>
                <a:cs typeface="+mn-cs"/>
              </a:rPr>
              <a:t>tức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rủi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ro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trong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nhiều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khía</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cạnh</a:t>
            </a:r>
            <a:r>
              <a:rPr lang="en-US" sz="1200" kern="1200" baseline="0" dirty="0">
                <a:solidFill>
                  <a:schemeClr val="tx1"/>
                </a:solidFill>
                <a:effectLst/>
                <a:latin typeface="Arial" panose="020B0604020202020204" pitchFamily="34" charset="0"/>
                <a:ea typeface="+mn-ea"/>
                <a:cs typeface="+mn-cs"/>
              </a:rPr>
              <a: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đang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phân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trị</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trung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công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cụ</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cáo</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hiện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còn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thủ</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công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chưa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dashboard </a:t>
            </a:r>
            <a:r>
              <a:rPr lang="en-US" sz="1200" kern="1200" dirty="0" err="1">
                <a:solidFill>
                  <a:schemeClr val="tx1"/>
                </a:solidFill>
                <a:effectLst/>
                <a:latin typeface="Arial" panose="020B0604020202020204" pitchFamily="34" charset="0"/>
                <a:ea typeface="+mn-ea"/>
                <a:cs typeface="+mn-cs"/>
              </a:rPr>
              <a:t>tích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hợp</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vi-VN" b="0" dirty="0"/>
              <a:t>Về </a:t>
            </a:r>
            <a:r>
              <a:rPr lang="en-US" b="0" dirty="0" err="1"/>
              <a:t>nguyên</a:t>
            </a:r>
            <a:r>
              <a:rPr lang="en-US" b="0" baseline="0" dirty="0"/>
              <a:t> </a:t>
            </a:r>
            <a:r>
              <a:rPr lang="en-US" b="0" baseline="0" dirty="0" err="1"/>
              <a:t>tắc</a:t>
            </a:r>
            <a:r>
              <a:rPr lang="en-US" b="0" baseline="0" dirty="0"/>
              <a:t> </a:t>
            </a:r>
            <a:r>
              <a:rPr lang="en-US" b="0" dirty="0"/>
              <a:t>B</a:t>
            </a:r>
            <a:r>
              <a:rPr lang="vi-VN" b="0" dirty="0"/>
              <a:t>áo cáo rủi ro</a:t>
            </a:r>
            <a:r>
              <a:rPr lang="en-US" b="0" dirty="0"/>
              <a:t>,</a:t>
            </a:r>
            <a:r>
              <a:rPr lang="en-US" b="0" baseline="0" dirty="0"/>
              <a:t> </a:t>
            </a:r>
            <a:r>
              <a:rPr lang="en-US" b="0" baseline="0" dirty="0" err="1"/>
              <a:t>văn</a:t>
            </a:r>
            <a:r>
              <a:rPr lang="en-US" b="0" baseline="0" dirty="0"/>
              <a:t> </a:t>
            </a:r>
            <a:r>
              <a:rPr lang="en-US" b="0" baseline="0" dirty="0" err="1"/>
              <a:t>hóa</a:t>
            </a:r>
            <a:r>
              <a:rPr lang="vi-VN" b="0" dirty="0"/>
              <a:t> và hiệu quả hoạt động: Bộ phận QTRR đã cung cấp báo cáo định kỳ và chuyên đề cho Ban Tổng giám đốc, nhưng chưa có báo cáo đánh giá hiệu quả hoạt động QTRR một cách có hệ thống.</a:t>
            </a:r>
            <a:endParaRPr lang="en-US" b="0" dirty="0"/>
          </a:p>
          <a:p>
            <a:pPr marL="171450" indent="-171450">
              <a:buFontTx/>
              <a:buChar char="-"/>
            </a:pPr>
            <a:endParaRPr lang="en-US" b="0" dirty="0"/>
          </a:p>
          <a:p>
            <a:pPr marL="0" indent="0">
              <a:buFontTx/>
              <a:buNone/>
            </a:pPr>
            <a:r>
              <a:rPr lang="en-US" sz="1200" kern="1200" dirty="0" err="1">
                <a:solidFill>
                  <a:schemeClr val="tx1"/>
                </a:solidFill>
                <a:effectLst/>
                <a:latin typeface="Arial" panose="020B0604020202020204" pitchFamily="34" charset="0"/>
                <a:ea typeface="+mn-ea"/>
                <a:cs typeface="+mn-cs"/>
              </a:rPr>
              <a:t>Nhìn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thể</a:t>
            </a:r>
            <a:r>
              <a:rPr lang="en-US" sz="1200" kern="1200" dirty="0">
                <a:solidFill>
                  <a:schemeClr val="tx1"/>
                </a:solidFill>
                <a:effectLst/>
                <a:latin typeface="Arial" panose="020B0604020202020204" pitchFamily="34" charset="0"/>
                <a:ea typeface="+mn-ea"/>
                <a:cs typeface="+mn-cs"/>
              </a:rPr>
              <a:t>, VDS </a:t>
            </a:r>
            <a:r>
              <a:rPr lang="en-US" sz="1200" kern="1200" dirty="0" err="1">
                <a:solidFill>
                  <a:schemeClr val="tx1"/>
                </a:solidFill>
                <a:effectLst/>
                <a:latin typeface="Arial" panose="020B0604020202020204" pitchFamily="34" charset="0"/>
                <a:ea typeface="+mn-ea"/>
                <a:cs typeface="+mn-cs"/>
              </a:rPr>
              <a:t>đang</a:t>
            </a:r>
            <a:r>
              <a:rPr lang="en-US" sz="1200" kern="1200" dirty="0">
                <a:solidFill>
                  <a:schemeClr val="tx1"/>
                </a:solidFill>
                <a:effectLst/>
                <a:latin typeface="Arial" panose="020B0604020202020204" pitchFamily="34" charset="0"/>
                <a:ea typeface="+mn-ea"/>
                <a:cs typeface="+mn-cs"/>
              </a:rPr>
              <a:t> ở </a:t>
            </a:r>
            <a:r>
              <a:rPr lang="en-US" sz="1200" kern="1200" dirty="0" err="1">
                <a:solidFill>
                  <a:schemeClr val="tx1"/>
                </a:solidFill>
                <a:effectLst/>
                <a:latin typeface="Arial" panose="020B0604020202020204" pitchFamily="34" charset="0"/>
                <a:ea typeface="+mn-ea"/>
                <a:cs typeface="+mn-cs"/>
              </a:rPr>
              <a:t>giai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đoạn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đặt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nền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móng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cho</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doanh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nghiệp</a:t>
            </a:r>
            <a:r>
              <a:rPr lang="en-US" sz="1200" kern="1200" baseline="0" dirty="0">
                <a:solidFill>
                  <a:schemeClr val="tx1"/>
                </a:solidFill>
                <a:effectLst/>
                <a:latin typeface="Arial" panose="020B0604020202020204" pitchFamily="34" charset="0"/>
                <a:ea typeface="+mn-ea"/>
                <a:cs typeface="+mn-cs"/>
              </a:rPr>
              <a:t> </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cấu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trúc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trị</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nâng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cao</a:t>
            </a:r>
            <a:r>
              <a:rPr lang="en-US" sz="1200" kern="1200" baseline="0" dirty="0">
                <a:solidFill>
                  <a:schemeClr val="tx1"/>
                </a:solidFill>
                <a:effectLst/>
                <a:latin typeface="Arial" panose="020B0604020202020204" pitchFamily="34" charset="0"/>
                <a:ea typeface="+mn-ea"/>
                <a:cs typeface="+mn-cs"/>
              </a:rPr>
              <a:t> 1 </a:t>
            </a:r>
            <a:r>
              <a:rPr lang="en-US" sz="1200" kern="1200" baseline="0" dirty="0" err="1">
                <a:solidFill>
                  <a:schemeClr val="tx1"/>
                </a:solidFill>
                <a:effectLst/>
                <a:latin typeface="Arial" panose="020B0604020202020204" pitchFamily="34" charset="0"/>
                <a:ea typeface="+mn-ea"/>
                <a:cs typeface="+mn-cs"/>
              </a:rPr>
              <a:t>số</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cấu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phần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lên</a:t>
            </a:r>
            <a:r>
              <a:rPr lang="en-US" sz="1200" kern="1200" baseline="0" dirty="0">
                <a:solidFill>
                  <a:schemeClr val="tx1"/>
                </a:solidFill>
                <a:effectLst/>
                <a:latin typeface="Arial" panose="020B0604020202020204" pitchFamily="34" charset="0"/>
                <a:ea typeface="+mn-ea"/>
                <a:cs typeface="+mn-cs"/>
              </a:rPr>
              <a:t> level QTRR </a:t>
            </a:r>
            <a:r>
              <a:rPr lang="en-US" sz="1200" kern="1200" baseline="0" dirty="0" err="1">
                <a:solidFill>
                  <a:schemeClr val="tx1"/>
                </a:solidFill>
                <a:effectLst/>
                <a:latin typeface="Arial" panose="020B0604020202020204" pitchFamily="34" charset="0"/>
                <a:ea typeface="+mn-ea"/>
                <a:cs typeface="+mn-cs"/>
              </a:rPr>
              <a:t>doanh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nghiệp</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hoàn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thiện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công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cụ</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dữ</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nghiên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cứu</a:t>
            </a:r>
            <a:r>
              <a:rPr lang="en-US" sz="1200" kern="1200" baseline="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hành</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hiệu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quả</a:t>
            </a:r>
            <a:r>
              <a:rPr lang="en-US" sz="1200" kern="1200" dirty="0">
                <a:solidFill>
                  <a:schemeClr val="tx1"/>
                </a:solidFill>
                <a:effectLst/>
                <a:latin typeface="Arial" panose="020B0604020202020204" pitchFamily="34" charset="0"/>
                <a:ea typeface="+mn-ea"/>
                <a:cs typeface="+mn-cs"/>
              </a:rPr>
              <a:t>. Do </a:t>
            </a:r>
            <a:r>
              <a:rPr lang="en-US" sz="1200" kern="1200" dirty="0" err="1">
                <a:solidFill>
                  <a:schemeClr val="tx1"/>
                </a:solidFill>
                <a:effectLst/>
                <a:latin typeface="Arial" panose="020B0604020202020204" pitchFamily="34" charset="0"/>
                <a:ea typeface="+mn-ea"/>
                <a:cs typeface="+mn-cs"/>
              </a:rPr>
              <a:t>đó</a:t>
            </a:r>
            <a:r>
              <a:rPr lang="en-US" sz="1200" kern="1200" dirty="0">
                <a:solidFill>
                  <a:schemeClr val="tx1"/>
                </a:solidFill>
                <a:effectLst/>
                <a:latin typeface="Arial" panose="020B0604020202020204" pitchFamily="34" charset="0"/>
                <a:ea typeface="+mn-ea"/>
                <a:cs typeface="+mn-cs"/>
              </a:rPr>
              <a:t>,</a:t>
            </a:r>
            <a:r>
              <a:rPr lang="en-US" sz="1200" kern="1200" baseline="0" dirty="0">
                <a:solidFill>
                  <a:schemeClr val="tx1"/>
                </a:solidFill>
                <a:effectLst/>
                <a:latin typeface="Arial" panose="020B0604020202020204" pitchFamily="34" charset="0"/>
                <a:ea typeface="+mn-ea"/>
                <a:cs typeface="+mn-cs"/>
              </a:rPr>
              <a:t> team </a:t>
            </a:r>
            <a:r>
              <a:rPr lang="en-US" sz="1200" kern="1200" baseline="0" dirty="0" err="1">
                <a:solidFill>
                  <a:schemeClr val="tx1"/>
                </a:solidFill>
                <a:effectLst/>
                <a:latin typeface="Arial" panose="020B0604020202020204" pitchFamily="34" charset="0"/>
                <a:ea typeface="+mn-ea"/>
                <a:cs typeface="+mn-cs"/>
              </a:rPr>
              <a:t>đề</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xuất</a:t>
            </a:r>
            <a:r>
              <a:rPr lang="en-US" sz="1200" kern="1200" baseline="0" dirty="0">
                <a:solidFill>
                  <a:schemeClr val="tx1"/>
                </a:solidFill>
                <a:effectLst/>
                <a:latin typeface="Arial" panose="020B0604020202020204" pitchFamily="34" charset="0"/>
                <a:ea typeface="+mn-ea"/>
                <a:cs typeface="+mn-cs"/>
              </a:rPr>
              <a:t> 1 </a:t>
            </a:r>
            <a:r>
              <a:rPr lang="en-US" sz="1200" kern="1200" baseline="0" dirty="0" err="1">
                <a:solidFill>
                  <a:schemeClr val="tx1"/>
                </a:solidFill>
                <a:effectLst/>
                <a:latin typeface="Arial" panose="020B0604020202020204" pitchFamily="34" charset="0"/>
                <a:ea typeface="+mn-ea"/>
                <a:cs typeface="+mn-cs"/>
              </a:rPr>
              <a:t>lộ</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trình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hoàn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thiện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khung</a:t>
            </a:r>
            <a:r>
              <a:rPr lang="en-US" sz="1200" kern="1200" baseline="0" dirty="0">
                <a:solidFill>
                  <a:schemeClr val="tx1"/>
                </a:solidFill>
                <a:effectLst/>
                <a:latin typeface="Arial" panose="020B0604020202020204" pitchFamily="34" charset="0"/>
                <a:ea typeface="+mn-ea"/>
                <a:cs typeface="+mn-cs"/>
              </a:rPr>
              <a:t> ERM </a:t>
            </a:r>
            <a:r>
              <a:rPr lang="en-US" sz="1200" kern="1200" baseline="0" dirty="0" err="1">
                <a:solidFill>
                  <a:schemeClr val="tx1"/>
                </a:solidFill>
                <a:effectLst/>
                <a:latin typeface="Arial" panose="020B0604020202020204" pitchFamily="34" charset="0"/>
                <a:ea typeface="+mn-ea"/>
                <a:cs typeface="+mn-cs"/>
              </a:rPr>
              <a:t>gồm</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có</a:t>
            </a:r>
            <a:r>
              <a:rPr lang="en-US" sz="1200" kern="1200" baseline="0" dirty="0">
                <a:solidFill>
                  <a:schemeClr val="tx1"/>
                </a:solidFill>
                <a:effectLst/>
                <a:latin typeface="Arial" panose="020B0604020202020204" pitchFamily="34" charset="0"/>
                <a:ea typeface="+mn-ea"/>
                <a:cs typeface="+mn-cs"/>
              </a:rPr>
              <a:t> 5 </a:t>
            </a:r>
            <a:r>
              <a:rPr lang="en-US" sz="1200" kern="1200" baseline="0" dirty="0" err="1">
                <a:solidFill>
                  <a:schemeClr val="tx1"/>
                </a:solidFill>
                <a:effectLst/>
                <a:latin typeface="Arial" panose="020B0604020202020204" pitchFamily="34" charset="0"/>
                <a:ea typeface="+mn-ea"/>
                <a:cs typeface="+mn-cs"/>
              </a:rPr>
              <a:t>giai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đoạn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nhằm</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nâng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cao</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mức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độ</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đáp</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ứng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của</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khung</a:t>
            </a:r>
            <a:r>
              <a:rPr lang="en-US" sz="1200" kern="1200" baseline="0" dirty="0">
                <a:solidFill>
                  <a:schemeClr val="tx1"/>
                </a:solidFill>
                <a:effectLst/>
                <a:latin typeface="Arial" panose="020B0604020202020204" pitchFamily="34" charset="0"/>
                <a:ea typeface="+mn-ea"/>
                <a:cs typeface="+mn-cs"/>
              </a:rPr>
              <a:t> QTRR </a:t>
            </a:r>
            <a:r>
              <a:rPr lang="en-US" sz="1200" kern="1200" baseline="0" dirty="0" err="1">
                <a:solidFill>
                  <a:schemeClr val="tx1"/>
                </a:solidFill>
                <a:effectLst/>
                <a:latin typeface="Arial" panose="020B0604020202020204" pitchFamily="34" charset="0"/>
                <a:ea typeface="+mn-ea"/>
                <a:cs typeface="+mn-cs"/>
              </a:rPr>
              <a:t>tại</a:t>
            </a:r>
            <a:r>
              <a:rPr lang="en-US" sz="1200" kern="1200" baseline="0" dirty="0">
                <a:solidFill>
                  <a:schemeClr val="tx1"/>
                </a:solidFill>
                <a:effectLst/>
                <a:latin typeface="Arial" panose="020B0604020202020204" pitchFamily="34" charset="0"/>
                <a:ea typeface="+mn-ea"/>
                <a:cs typeface="+mn-cs"/>
              </a:rPr>
              <a:t> VDS so </a:t>
            </a:r>
            <a:r>
              <a:rPr lang="en-US" sz="1200" kern="1200" baseline="0" dirty="0" err="1">
                <a:solidFill>
                  <a:schemeClr val="tx1"/>
                </a:solidFill>
                <a:effectLst/>
                <a:latin typeface="Arial" panose="020B0604020202020204" pitchFamily="34" charset="0"/>
                <a:ea typeface="+mn-ea"/>
                <a:cs typeface="+mn-cs"/>
              </a:rPr>
              <a:t>với</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tiêu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chuẩn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của</a:t>
            </a:r>
            <a:r>
              <a:rPr lang="en-US" sz="1200" kern="1200" baseline="0" dirty="0">
                <a:solidFill>
                  <a:schemeClr val="tx1"/>
                </a:solidFill>
                <a:effectLst/>
                <a:latin typeface="Arial" panose="020B0604020202020204" pitchFamily="34" charset="0"/>
                <a:ea typeface="+mn-ea"/>
                <a:cs typeface="+mn-cs"/>
              </a:rPr>
              <a:t> COSO.</a:t>
            </a:r>
            <a:endParaRPr lang="en-US" b="0" dirty="0"/>
          </a:p>
          <a:p>
            <a:endParaRPr lang="en-US"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26</a:t>
            </a:fld>
            <a:endParaRPr lang="en-US" dirty="0"/>
          </a:p>
        </p:txBody>
      </p:sp>
    </p:spTree>
    <p:extLst>
      <p:ext uri="{BB962C8B-B14F-4D97-AF65-F5344CB8AC3E}">
        <p14:creationId xmlns:p14="http://schemas.microsoft.com/office/powerpoint/2010/main" val="19815197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mn-cs"/>
              </a:rPr>
              <a:t>Giai </a:t>
            </a:r>
            <a:r>
              <a:rPr lang="en-US" sz="1200" kern="1200" dirty="0" err="1">
                <a:solidFill>
                  <a:schemeClr val="tx1"/>
                </a:solidFill>
                <a:effectLst/>
                <a:latin typeface="Arial" panose="020B0604020202020204" pitchFamily="34" charset="0"/>
                <a:ea typeface="+mn-ea"/>
                <a:cs typeface="+mn-cs"/>
              </a:rPr>
              <a:t>đoạn</a:t>
            </a:r>
            <a:r>
              <a:rPr lang="en-US" sz="1200" kern="1200" dirty="0">
                <a:solidFill>
                  <a:schemeClr val="tx1"/>
                </a:solidFill>
                <a:effectLst/>
                <a:latin typeface="Arial" panose="020B0604020202020204" pitchFamily="34" charset="0"/>
                <a:ea typeface="+mn-ea"/>
                <a:cs typeface="+mn-cs"/>
              </a:rPr>
              <a:t> A </a:t>
            </a:r>
            <a:r>
              <a:rPr lang="en-US" sz="1200" kern="1200" dirty="0" err="1">
                <a:solidFill>
                  <a:schemeClr val="tx1"/>
                </a:solidFill>
                <a:effectLst/>
                <a:latin typeface="Arial" panose="020B0604020202020204" pitchFamily="34" charset="0"/>
                <a:ea typeface="+mn-ea"/>
                <a:cs typeface="+mn-cs"/>
              </a:rPr>
              <a:t>kéo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dài</a:t>
            </a:r>
            <a:r>
              <a:rPr lang="en-US" sz="1200" kern="1200" dirty="0">
                <a:solidFill>
                  <a:schemeClr val="tx1"/>
                </a:solidFill>
                <a:effectLst/>
                <a:latin typeface="Arial" panose="020B0604020202020204" pitchFamily="34" charset="0"/>
                <a:ea typeface="+mn-ea"/>
                <a:cs typeface="+mn-cs"/>
              </a:rPr>
              <a:t> 2 </a:t>
            </a:r>
            <a:r>
              <a:rPr lang="en-US" sz="1200" kern="1200" dirty="0" err="1">
                <a:solidFill>
                  <a:schemeClr val="tx1"/>
                </a:solidFill>
                <a:effectLst/>
                <a:latin typeface="Arial" panose="020B0604020202020204" pitchFamily="34" charset="0"/>
                <a:ea typeface="+mn-ea"/>
                <a:cs typeface="+mn-cs"/>
              </a:rPr>
              <a:t>tháng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chính</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kern="1200" dirty="0" err="1">
                <a:solidFill>
                  <a:schemeClr val="tx1"/>
                </a:solidFill>
                <a:effectLst/>
                <a:latin typeface="Arial" panose="020B0604020202020204" pitchFamily="34" charset="0"/>
                <a:ea typeface="+mn-ea"/>
                <a:cs typeface="+mn-cs"/>
              </a:rPr>
              <a:t>Tháng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phận</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chủ</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trì</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Đề</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triển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khai</a:t>
            </a:r>
            <a:r>
              <a:rPr lang="en-US" sz="1200" kern="1200" dirty="0">
                <a:solidFill>
                  <a:schemeClr val="tx1"/>
                </a:solidFill>
                <a:effectLst/>
                <a:latin typeface="Arial" panose="020B0604020202020204" pitchFamily="34" charset="0"/>
                <a:ea typeface="+mn-ea"/>
                <a:cs typeface="+mn-cs"/>
              </a:rPr>
              <a:t> QTRRDN — </a:t>
            </a:r>
            <a:r>
              <a:rPr lang="en-US" sz="1200" kern="1200" dirty="0" err="1">
                <a:solidFill>
                  <a:schemeClr val="tx1"/>
                </a:solidFill>
                <a:effectLst/>
                <a:latin typeface="Arial" panose="020B0604020202020204" pitchFamily="34" charset="0"/>
                <a:ea typeface="+mn-ea"/>
                <a:cs typeface="+mn-cs"/>
              </a:rPr>
              <a:t>tài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này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hợp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hiện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mục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tiêu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phạm</a:t>
            </a:r>
            <a:r>
              <a:rPr lang="en-US" sz="1200" kern="1200" dirty="0">
                <a:solidFill>
                  <a:schemeClr val="tx1"/>
                </a:solidFill>
                <a:effectLst/>
                <a:latin typeface="Arial" panose="020B0604020202020204" pitchFamily="34" charset="0"/>
                <a:ea typeface="+mn-ea"/>
                <a:cs typeface="+mn-cs"/>
              </a:rPr>
              <a:t> vi, </a:t>
            </a:r>
            <a:r>
              <a:rPr lang="en-US" sz="1200" kern="1200" dirty="0" err="1">
                <a:solidFill>
                  <a:schemeClr val="tx1"/>
                </a:solidFill>
                <a:effectLst/>
                <a:latin typeface="Arial" panose="020B0604020202020204" pitchFamily="34" charset="0"/>
                <a:ea typeface="+mn-ea"/>
                <a:cs typeface="+mn-cs"/>
              </a:rPr>
              <a:t>lộ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trình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nguồn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toán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ngân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trình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lên</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đốc</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dựa</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trên</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khung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kế</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hoạch</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đang</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đề</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xuất</a:t>
            </a:r>
            <a:r>
              <a:rPr lang="en-US" sz="1200" kern="1200" baseline="0" dirty="0">
                <a:solidFill>
                  <a:schemeClr val="tx1"/>
                </a:solidFill>
                <a:effectLst/>
                <a:latin typeface="Arial" panose="020B0604020202020204" pitchFamily="34" charset="0"/>
                <a:ea typeface="+mn-ea"/>
                <a:cs typeface="+mn-cs"/>
              </a:rPr>
              <a:t> </a:t>
            </a:r>
            <a:r>
              <a:rPr lang="en-US" sz="1200" kern="1200" baseline="0" dirty="0" err="1">
                <a:solidFill>
                  <a:schemeClr val="tx1"/>
                </a:solidFill>
                <a:effectLst/>
                <a:latin typeface="Arial" panose="020B0604020202020204" pitchFamily="34" charset="0"/>
                <a:ea typeface="+mn-ea"/>
                <a:cs typeface="+mn-cs"/>
              </a:rPr>
              <a:t>hôm</a:t>
            </a:r>
            <a:r>
              <a:rPr lang="en-US" sz="1200" kern="1200" baseline="0" dirty="0">
                <a:solidFill>
                  <a:schemeClr val="tx1"/>
                </a:solidFill>
                <a:effectLst/>
                <a:latin typeface="Arial" panose="020B0604020202020204" pitchFamily="34" charset="0"/>
                <a:ea typeface="+mn-ea"/>
                <a:cs typeface="+mn-cs"/>
              </a:rPr>
              <a:t> nay.</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dirty="0" err="1">
                <a:solidFill>
                  <a:schemeClr val="tx1"/>
                </a:solidFill>
                <a:effectLst/>
                <a:latin typeface="Arial" panose="020B0604020202020204" pitchFamily="34" charset="0"/>
                <a:ea typeface="+mn-ea"/>
                <a:cs typeface="+mn-cs"/>
              </a:rPr>
              <a:t>Tháng</a:t>
            </a:r>
            <a:r>
              <a:rPr lang="en-US" sz="1200" kern="1200" dirty="0">
                <a:solidFill>
                  <a:schemeClr val="tx1"/>
                </a:solidFill>
                <a:effectLst/>
                <a:latin typeface="Arial" panose="020B0604020202020204" pitchFamily="34" charset="0"/>
                <a:ea typeface="+mn-ea"/>
                <a:cs typeface="+mn-cs"/>
              </a:rPr>
              <a:t> 2, </a:t>
            </a:r>
            <a:r>
              <a:rPr lang="en-US" sz="1200" kern="1200" dirty="0" err="1">
                <a:solidFill>
                  <a:schemeClr val="tx1"/>
                </a:solidFill>
                <a:effectLst/>
                <a:latin typeface="Arial" panose="020B0604020202020204" pitchFamily="34" charset="0"/>
                <a:ea typeface="+mn-ea"/>
                <a:cs typeface="+mn-cs"/>
              </a:rPr>
              <a:t>đề</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được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trình</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đốc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phê</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duyệt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hành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chỉ</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thị</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triển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toàn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công</a:t>
            </a:r>
            <a:r>
              <a:rPr lang="en-US" sz="1200" kern="1200" dirty="0">
                <a:solidFill>
                  <a:schemeClr val="tx1"/>
                </a:solidFill>
                <a:effectLst/>
                <a:latin typeface="Arial" panose="020B0604020202020204" pitchFamily="34" charset="0"/>
                <a:ea typeface="+mn-ea"/>
                <a:cs typeface="+mn-cs"/>
              </a:rPr>
              <a:t> ty. </a:t>
            </a:r>
            <a:r>
              <a:rPr lang="en-US" sz="1200" kern="1200" dirty="0" err="1">
                <a:solidFill>
                  <a:schemeClr val="tx1"/>
                </a:solidFill>
                <a:effectLst/>
                <a:latin typeface="Arial" panose="020B0604020202020204" pitchFamily="34" charset="0"/>
                <a:ea typeface="+mn-ea"/>
                <a:cs typeface="+mn-cs"/>
              </a:rPr>
              <a:t>Chỉ</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thị</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này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chính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biết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rằng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chỉ</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từ</a:t>
            </a:r>
            <a:r>
              <a:rPr lang="en-US" sz="1200" kern="1200" dirty="0">
                <a:solidFill>
                  <a:schemeClr val="tx1"/>
                </a:solidFill>
                <a:effectLst/>
                <a:latin typeface="Arial" panose="020B0604020202020204" pitchFamily="34" charset="0"/>
                <a:ea typeface="+mn-ea"/>
                <a:cs typeface="+mn-cs"/>
              </a:rPr>
              <a:t> BTGĐ</a:t>
            </a:r>
            <a:endParaRPr lang="en-US" sz="1200" kern="1200" baseline="0" dirty="0">
              <a:solidFill>
                <a:schemeClr val="tx1"/>
              </a:solidFill>
              <a:effectLst/>
              <a:latin typeface="Arial" panose="020B0604020202020204" pitchFamily="34" charset="0"/>
              <a:ea typeface="+mn-ea"/>
              <a:cs typeface="+mn-cs"/>
            </a:endParaRPr>
          </a:p>
          <a:p>
            <a:endParaRPr lang="en-US" dirty="0"/>
          </a:p>
          <a:p>
            <a:endParaRPr lang="en-US" dirty="0"/>
          </a:p>
        </p:txBody>
      </p:sp>
      <p:sp>
        <p:nvSpPr>
          <p:cNvPr id="4" name="Slide Number Placeholder 3"/>
          <p:cNvSpPr>
            <a:spLocks noGrp="1"/>
          </p:cNvSpPr>
          <p:nvPr>
            <p:ph type="sldNum" sz="quarter" idx="10"/>
          </p:nvPr>
        </p:nvSpPr>
        <p:spPr/>
        <p:txBody>
          <a:bodyPr/>
          <a:lstStyle/>
          <a:p>
            <a:fld id="{3DB39D0F-1D40-49CC-9A18-B15E6CC2C5CE}" type="slidenum">
              <a:rPr lang="en-US" smtClean="0"/>
              <a:t>27</a:t>
            </a:fld>
            <a:endParaRPr lang="en-US"/>
          </a:p>
        </p:txBody>
      </p:sp>
    </p:spTree>
    <p:extLst>
      <p:ext uri="{BB962C8B-B14F-4D97-AF65-F5344CB8AC3E}">
        <p14:creationId xmlns:p14="http://schemas.microsoft.com/office/powerpoint/2010/main" val="1826778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mn-cs"/>
              </a:rPr>
              <a:t>Giai </a:t>
            </a:r>
            <a:r>
              <a:rPr lang="en-US" sz="1200" kern="1200" dirty="0" err="1">
                <a:solidFill>
                  <a:schemeClr val="tx1"/>
                </a:solidFill>
                <a:effectLst/>
                <a:latin typeface="Arial" panose="020B0604020202020204" pitchFamily="34" charset="0"/>
                <a:ea typeface="+mn-ea"/>
                <a:cs typeface="+mn-cs"/>
              </a:rPr>
              <a:t>đoạn</a:t>
            </a:r>
            <a:r>
              <a:rPr lang="en-US" sz="1200" kern="1200" dirty="0">
                <a:solidFill>
                  <a:schemeClr val="tx1"/>
                </a:solidFill>
                <a:effectLst/>
                <a:latin typeface="Arial" panose="020B0604020202020204" pitchFamily="34" charset="0"/>
                <a:ea typeface="+mn-ea"/>
                <a:cs typeface="+mn-cs"/>
              </a:rPr>
              <a:t> B </a:t>
            </a:r>
            <a:r>
              <a:rPr lang="en-US" sz="1200" kern="1200" dirty="0" err="1">
                <a:solidFill>
                  <a:schemeClr val="tx1"/>
                </a:solidFill>
                <a:effectLst/>
                <a:latin typeface="Arial" panose="020B0604020202020204" pitchFamily="34" charset="0"/>
                <a:ea typeface="+mn-ea"/>
                <a:cs typeface="+mn-cs"/>
              </a:rPr>
              <a:t>tập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trung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máy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tại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hành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yêu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mỗi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cử</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một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chính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một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phòng</a:t>
            </a:r>
            <a:r>
              <a:rPr lang="en-US" sz="1200" kern="1200" dirty="0">
                <a:solidFill>
                  <a:schemeClr val="tx1"/>
                </a:solidFill>
                <a:effectLst/>
                <a:latin typeface="Arial" panose="020B0604020202020204" pitchFamily="34" charset="0"/>
                <a:ea typeface="+mn-ea"/>
                <a:cs typeface="+mn-cs"/>
              </a:rPr>
              <a:t>. Văn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sẽ</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rõ</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nhiệm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tham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kênh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trao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đổi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lịch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họp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lưới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phận</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hợp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triển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xuyên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suốt</a:t>
            </a:r>
            <a:r>
              <a:rPr lang="en-US" sz="1200" kern="1200" dirty="0">
                <a:solidFill>
                  <a:schemeClr val="tx1"/>
                </a:solidFill>
                <a:effectLst/>
                <a:latin typeface="Arial" panose="020B0604020202020204" pitchFamily="34" charset="0"/>
                <a:ea typeface="+mn-ea"/>
                <a:cs typeface="+mn-cs"/>
              </a:rPr>
              <a:t> 24 </a:t>
            </a:r>
            <a:r>
              <a:rPr lang="en-US" sz="1200" kern="1200" dirty="0" err="1">
                <a:solidFill>
                  <a:schemeClr val="tx1"/>
                </a:solidFill>
                <a:effectLst/>
                <a:latin typeface="Arial" panose="020B0604020202020204" pitchFamily="34" charset="0"/>
                <a:ea typeface="+mn-ea"/>
                <a:cs typeface="+mn-cs"/>
              </a:rPr>
              <a:t>tháng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tư</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đào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cho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lãnh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phòng</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Mục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tiêu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đảm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tất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hiểu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rõ</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đang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gì</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mình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đóng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góp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gì</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hợp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như</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nào</a:t>
            </a:r>
            <a:r>
              <a:rPr lang="en-US" sz="1200" kern="1200" dirty="0">
                <a:solidFill>
                  <a:schemeClr val="tx1"/>
                </a:solidFill>
                <a:effectLst/>
                <a:latin typeface="Arial" panose="020B0604020202020204" pitchFamily="34" charset="0"/>
                <a:ea typeface="+mn-ea"/>
                <a:cs typeface="+mn-cs"/>
              </a:rPr>
              <a:t> </a:t>
            </a:r>
          </a:p>
          <a:p>
            <a:pPr marL="0" indent="0">
              <a:buFontTx/>
              <a:buNone/>
            </a:pPr>
            <a:r>
              <a:rPr lang="en-US" sz="1200" kern="1200" dirty="0" err="1">
                <a:solidFill>
                  <a:schemeClr val="tx1"/>
                </a:solidFill>
                <a:effectLst/>
                <a:latin typeface="Arial" panose="020B0604020202020204" pitchFamily="34" charset="0"/>
                <a:ea typeface="+mn-ea"/>
                <a:cs typeface="+mn-cs"/>
              </a:rPr>
              <a:t>Cả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phê</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duyệt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đồng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thuận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từ</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đốc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a:t>
            </a:r>
          </a:p>
          <a:p>
            <a:r>
              <a:rPr lang="en-US" sz="1200" i="1" kern="1200" dirty="0" err="1">
                <a:solidFill>
                  <a:schemeClr val="tx1"/>
                </a:solidFill>
                <a:effectLst/>
                <a:latin typeface="Arial" panose="020B0604020202020204" pitchFamily="34" charset="0"/>
                <a:ea typeface="+mn-ea"/>
                <a:cs typeface="+mn-cs"/>
              </a:rPr>
              <a:t>Nếu</a:t>
            </a:r>
            <a:r>
              <a:rPr lang="en-US" sz="1200" i="1" kern="1200" baseline="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không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có</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chỉ</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thị</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từ</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cấp</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trên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Điều</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phối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viên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rất</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khó</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dành</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thời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gian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cho</a:t>
            </a:r>
            <a:r>
              <a:rPr lang="en-US" sz="1200" i="1" kern="1200" dirty="0">
                <a:solidFill>
                  <a:schemeClr val="tx1"/>
                </a:solidFill>
                <a:effectLst/>
                <a:latin typeface="Arial" panose="020B0604020202020204" pitchFamily="34" charset="0"/>
                <a:ea typeface="+mn-ea"/>
                <a:cs typeface="+mn-cs"/>
              </a:rPr>
              <a:t> QTRR song </a:t>
            </a:r>
            <a:r>
              <a:rPr lang="en-US" sz="1200" i="1" kern="1200" dirty="0" err="1">
                <a:solidFill>
                  <a:schemeClr val="tx1"/>
                </a:solidFill>
                <a:effectLst/>
                <a:latin typeface="Arial" panose="020B0604020202020204" pitchFamily="34" charset="0"/>
                <a:ea typeface="+mn-ea"/>
                <a:cs typeface="+mn-cs"/>
              </a:rPr>
              <a:t>song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với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công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việc</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chuyên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môn</a:t>
            </a:r>
            <a:endParaRPr lang="en-US" dirty="0"/>
          </a:p>
          <a:p>
            <a:endParaRPr lang="en-US" dirty="0"/>
          </a:p>
        </p:txBody>
      </p:sp>
      <p:sp>
        <p:nvSpPr>
          <p:cNvPr id="4" name="Slide Number Placeholder 3"/>
          <p:cNvSpPr>
            <a:spLocks noGrp="1"/>
          </p:cNvSpPr>
          <p:nvPr>
            <p:ph type="sldNum" sz="quarter" idx="10"/>
          </p:nvPr>
        </p:nvSpPr>
        <p:spPr/>
        <p:txBody>
          <a:bodyPr/>
          <a:lstStyle/>
          <a:p>
            <a:fld id="{3DB39D0F-1D40-49CC-9A18-B15E6CC2C5CE}" type="slidenum">
              <a:rPr lang="en-US" smtClean="0"/>
              <a:t>28</a:t>
            </a:fld>
            <a:endParaRPr lang="en-US"/>
          </a:p>
        </p:txBody>
      </p:sp>
    </p:spTree>
    <p:extLst>
      <p:ext uri="{BB962C8B-B14F-4D97-AF65-F5344CB8AC3E}">
        <p14:creationId xmlns:p14="http://schemas.microsoft.com/office/powerpoint/2010/main" val="17131191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mn-cs"/>
              </a:rPr>
              <a:t>Giai </a:t>
            </a:r>
            <a:r>
              <a:rPr lang="en-US" sz="1200" kern="1200" dirty="0" err="1">
                <a:solidFill>
                  <a:schemeClr val="tx1"/>
                </a:solidFill>
                <a:effectLst/>
                <a:latin typeface="Arial" panose="020B0604020202020204" pitchFamily="34" charset="0"/>
                <a:ea typeface="+mn-ea"/>
                <a:cs typeface="+mn-cs"/>
              </a:rPr>
              <a:t>đoạn</a:t>
            </a:r>
            <a:r>
              <a:rPr lang="en-US" sz="1200" kern="1200" dirty="0">
                <a:solidFill>
                  <a:schemeClr val="tx1"/>
                </a:solidFill>
                <a:effectLst/>
                <a:latin typeface="Arial" panose="020B0604020202020204" pitchFamily="34" charset="0"/>
                <a:ea typeface="+mn-ea"/>
                <a:cs typeface="+mn-cs"/>
              </a:rPr>
              <a:t> B </a:t>
            </a:r>
            <a:r>
              <a:rPr lang="en-US" sz="1200" kern="1200" dirty="0" err="1">
                <a:solidFill>
                  <a:schemeClr val="tx1"/>
                </a:solidFill>
                <a:effectLst/>
                <a:latin typeface="Arial" panose="020B0604020202020204" pitchFamily="34" charset="0"/>
                <a:ea typeface="+mn-ea"/>
                <a:cs typeface="+mn-cs"/>
              </a:rPr>
              <a:t>tập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trung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máy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tại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hành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yêu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mỗi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cử</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một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chính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một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phòng</a:t>
            </a:r>
            <a:r>
              <a:rPr lang="en-US" sz="1200" kern="1200" dirty="0">
                <a:solidFill>
                  <a:schemeClr val="tx1"/>
                </a:solidFill>
                <a:effectLst/>
                <a:latin typeface="Arial" panose="020B0604020202020204" pitchFamily="34" charset="0"/>
                <a:ea typeface="+mn-ea"/>
                <a:cs typeface="+mn-cs"/>
              </a:rPr>
              <a:t>. Văn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sẽ</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rõ</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nhiệm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tham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kênh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trao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đổi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lịch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họp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lưới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phận</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hợp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triển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xuyên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suốt</a:t>
            </a:r>
            <a:r>
              <a:rPr lang="en-US" sz="1200" kern="1200" dirty="0">
                <a:solidFill>
                  <a:schemeClr val="tx1"/>
                </a:solidFill>
                <a:effectLst/>
                <a:latin typeface="Arial" panose="020B0604020202020204" pitchFamily="34" charset="0"/>
                <a:ea typeface="+mn-ea"/>
                <a:cs typeface="+mn-cs"/>
              </a:rPr>
              <a:t> 24 </a:t>
            </a:r>
            <a:r>
              <a:rPr lang="en-US" sz="1200" kern="1200" dirty="0" err="1">
                <a:solidFill>
                  <a:schemeClr val="tx1"/>
                </a:solidFill>
                <a:effectLst/>
                <a:latin typeface="Arial" panose="020B0604020202020204" pitchFamily="34" charset="0"/>
                <a:ea typeface="+mn-ea"/>
                <a:cs typeface="+mn-cs"/>
              </a:rPr>
              <a:t>tháng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tư</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đào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cho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lãnh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phòng</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Mục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tiêu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đảm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tất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hiểu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rõ</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đang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gì</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mình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đóng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góp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gì</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hợp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như</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nào</a:t>
            </a:r>
            <a:r>
              <a:rPr lang="en-US" sz="1200" kern="1200" dirty="0">
                <a:solidFill>
                  <a:schemeClr val="tx1"/>
                </a:solidFill>
                <a:effectLst/>
                <a:latin typeface="Arial" panose="020B0604020202020204" pitchFamily="34" charset="0"/>
                <a:ea typeface="+mn-ea"/>
                <a:cs typeface="+mn-cs"/>
              </a:rPr>
              <a:t> </a:t>
            </a:r>
          </a:p>
          <a:p>
            <a:pPr marL="0" indent="0">
              <a:buFontTx/>
              <a:buNone/>
            </a:pPr>
            <a:r>
              <a:rPr lang="en-US" sz="1200" kern="1200" dirty="0" err="1">
                <a:solidFill>
                  <a:schemeClr val="tx1"/>
                </a:solidFill>
                <a:effectLst/>
                <a:latin typeface="Arial" panose="020B0604020202020204" pitchFamily="34" charset="0"/>
                <a:ea typeface="+mn-ea"/>
                <a:cs typeface="+mn-cs"/>
              </a:rPr>
              <a:t>Cả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phê</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duyệt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đồng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thuận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từ</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đốc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a:t>
            </a:r>
          </a:p>
          <a:p>
            <a:r>
              <a:rPr lang="en-US" sz="1200" i="1" kern="1200" dirty="0" err="1">
                <a:solidFill>
                  <a:schemeClr val="tx1"/>
                </a:solidFill>
                <a:effectLst/>
                <a:latin typeface="Arial" panose="020B0604020202020204" pitchFamily="34" charset="0"/>
                <a:ea typeface="+mn-ea"/>
                <a:cs typeface="+mn-cs"/>
              </a:rPr>
              <a:t>Nếu</a:t>
            </a:r>
            <a:r>
              <a:rPr lang="en-US" sz="1200" i="1" kern="1200" baseline="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không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có</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chỉ</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thị</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từ</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cấp</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trên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Điều</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phối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viên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rất</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khó</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dành</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thời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gian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cho</a:t>
            </a:r>
            <a:r>
              <a:rPr lang="en-US" sz="1200" i="1" kern="1200" dirty="0">
                <a:solidFill>
                  <a:schemeClr val="tx1"/>
                </a:solidFill>
                <a:effectLst/>
                <a:latin typeface="Arial" panose="020B0604020202020204" pitchFamily="34" charset="0"/>
                <a:ea typeface="+mn-ea"/>
                <a:cs typeface="+mn-cs"/>
              </a:rPr>
              <a:t> QTRR song </a:t>
            </a:r>
            <a:r>
              <a:rPr lang="en-US" sz="1200" i="1" kern="1200" dirty="0" err="1">
                <a:solidFill>
                  <a:schemeClr val="tx1"/>
                </a:solidFill>
                <a:effectLst/>
                <a:latin typeface="Arial" panose="020B0604020202020204" pitchFamily="34" charset="0"/>
                <a:ea typeface="+mn-ea"/>
                <a:cs typeface="+mn-cs"/>
              </a:rPr>
              <a:t>song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với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công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việc</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chuyên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môn</a:t>
            </a:r>
            <a:endParaRPr lang="en-US" dirty="0"/>
          </a:p>
          <a:p>
            <a:endParaRPr lang="en-US" dirty="0"/>
          </a:p>
        </p:txBody>
      </p:sp>
      <p:sp>
        <p:nvSpPr>
          <p:cNvPr id="4" name="Slide Number Placeholder 3"/>
          <p:cNvSpPr>
            <a:spLocks noGrp="1"/>
          </p:cNvSpPr>
          <p:nvPr>
            <p:ph type="sldNum" sz="quarter" idx="10"/>
          </p:nvPr>
        </p:nvSpPr>
        <p:spPr/>
        <p:txBody>
          <a:bodyPr/>
          <a:lstStyle/>
          <a:p>
            <a:fld id="{3DB39D0F-1D40-49CC-9A18-B15E6CC2C5CE}" type="slidenum">
              <a:rPr lang="en-US" smtClean="0"/>
              <a:t>29</a:t>
            </a:fld>
            <a:endParaRPr lang="en-US"/>
          </a:p>
        </p:txBody>
      </p:sp>
    </p:spTree>
    <p:extLst>
      <p:ext uri="{BB962C8B-B14F-4D97-AF65-F5344CB8AC3E}">
        <p14:creationId xmlns:p14="http://schemas.microsoft.com/office/powerpoint/2010/main" val="11327895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kern="1200" dirty="0">
                <a:solidFill>
                  <a:schemeClr val="tx1"/>
                </a:solidFill>
                <a:effectLst/>
                <a:latin typeface="Arial" panose="020B0604020202020204" pitchFamily="34" charset="0"/>
                <a:ea typeface="+mn-ea"/>
                <a:cs typeface="+mn-cs"/>
              </a:rPr>
              <a:t>Giai </a:t>
            </a:r>
            <a:r>
              <a:rPr lang="en-US" sz="1200" kern="1200" dirty="0" err="1">
                <a:solidFill>
                  <a:schemeClr val="tx1"/>
                </a:solidFill>
                <a:effectLst/>
                <a:latin typeface="Arial" panose="020B0604020202020204" pitchFamily="34" charset="0"/>
                <a:ea typeface="+mn-ea"/>
                <a:cs typeface="+mn-cs"/>
              </a:rPr>
              <a:t>đoạn</a:t>
            </a:r>
            <a:r>
              <a:rPr lang="en-US" sz="1200" kern="1200" dirty="0">
                <a:solidFill>
                  <a:schemeClr val="tx1"/>
                </a:solidFill>
                <a:effectLst/>
                <a:latin typeface="Arial" panose="020B0604020202020204" pitchFamily="34" charset="0"/>
                <a:ea typeface="+mn-ea"/>
                <a:cs typeface="+mn-cs"/>
              </a:rPr>
              <a:t> B </a:t>
            </a:r>
            <a:r>
              <a:rPr lang="en-US" sz="1200" kern="1200" dirty="0" err="1">
                <a:solidFill>
                  <a:schemeClr val="tx1"/>
                </a:solidFill>
                <a:effectLst/>
                <a:latin typeface="Arial" panose="020B0604020202020204" pitchFamily="34" charset="0"/>
                <a:ea typeface="+mn-ea"/>
                <a:cs typeface="+mn-cs"/>
              </a:rPr>
              <a:t>tập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trung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máy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tại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hành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yêu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mỗi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cử</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một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chính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một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phòng</a:t>
            </a:r>
            <a:r>
              <a:rPr lang="en-US" sz="1200" kern="1200" dirty="0">
                <a:solidFill>
                  <a:schemeClr val="tx1"/>
                </a:solidFill>
                <a:effectLst/>
                <a:latin typeface="Arial" panose="020B0604020202020204" pitchFamily="34" charset="0"/>
                <a:ea typeface="+mn-ea"/>
                <a:cs typeface="+mn-cs"/>
              </a:rPr>
              <a:t>. Văn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sẽ</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quy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rõ</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nhiệm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tham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gia</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thiết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lập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kênh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trao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đổi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lịch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họp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định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Đây</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lưới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kết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Bộ</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phận</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hợp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triển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khai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xuyên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suốt</a:t>
            </a:r>
            <a:r>
              <a:rPr lang="en-US" sz="1200" kern="1200" dirty="0">
                <a:solidFill>
                  <a:schemeClr val="tx1"/>
                </a:solidFill>
                <a:effectLst/>
                <a:latin typeface="Arial" panose="020B0604020202020204" pitchFamily="34" charset="0"/>
                <a:ea typeface="+mn-ea"/>
                <a:cs typeface="+mn-cs"/>
              </a:rPr>
              <a:t> 24 </a:t>
            </a:r>
            <a:r>
              <a:rPr lang="en-US" sz="1200" kern="1200" dirty="0" err="1">
                <a:solidFill>
                  <a:schemeClr val="tx1"/>
                </a:solidFill>
                <a:effectLst/>
                <a:latin typeface="Arial" panose="020B0604020202020204" pitchFamily="34" charset="0"/>
                <a:ea typeface="+mn-ea"/>
                <a:cs typeface="+mn-cs"/>
              </a:rPr>
              <a:t>tháng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a:t>
            </a:r>
          </a:p>
          <a:p>
            <a:pPr marL="171450" indent="-171450">
              <a:buFontTx/>
              <a:buChar char="-"/>
            </a:pP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tư</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tổ</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chức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đào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thức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cơ</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về</a:t>
            </a:r>
            <a:r>
              <a:rPr lang="en-US" sz="1200" kern="1200" dirty="0">
                <a:solidFill>
                  <a:schemeClr val="tx1"/>
                </a:solidFill>
                <a:effectLst/>
                <a:latin typeface="Arial" panose="020B0604020202020204" pitchFamily="34" charset="0"/>
                <a:ea typeface="+mn-ea"/>
                <a:cs typeface="+mn-cs"/>
              </a:rPr>
              <a:t> QTRR </a:t>
            </a:r>
            <a:r>
              <a:rPr lang="en-US" sz="1200" kern="1200" dirty="0" err="1">
                <a:solidFill>
                  <a:schemeClr val="tx1"/>
                </a:solidFill>
                <a:effectLst/>
                <a:latin typeface="Arial" panose="020B0604020202020204" pitchFamily="34" charset="0"/>
                <a:ea typeface="+mn-ea"/>
                <a:cs typeface="+mn-cs"/>
              </a:rPr>
              <a:t>cho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lãnh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đạo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phòng</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Điều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viên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Mục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tiêu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đảm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bảo</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tất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hiểu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rõ</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đang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làm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gì</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mình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đóng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góp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gì</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cách</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phối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hợp</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như</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thế</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nào</a:t>
            </a:r>
            <a:r>
              <a:rPr lang="en-US" sz="1200" kern="1200" dirty="0">
                <a:solidFill>
                  <a:schemeClr val="tx1"/>
                </a:solidFill>
                <a:effectLst/>
                <a:latin typeface="Arial" panose="020B0604020202020204" pitchFamily="34" charset="0"/>
                <a:ea typeface="+mn-ea"/>
                <a:cs typeface="+mn-cs"/>
              </a:rPr>
              <a:t> </a:t>
            </a:r>
          </a:p>
          <a:p>
            <a:pPr marL="0" indent="0">
              <a:buFontTx/>
              <a:buNone/>
            </a:pPr>
            <a:r>
              <a:rPr lang="en-US" sz="1200" kern="1200" dirty="0" err="1">
                <a:solidFill>
                  <a:schemeClr val="tx1"/>
                </a:solidFill>
                <a:effectLst/>
                <a:latin typeface="Arial" panose="020B0604020202020204" pitchFamily="34" charset="0"/>
                <a:ea typeface="+mn-ea"/>
                <a:cs typeface="+mn-cs"/>
              </a:rPr>
              <a:t>Cả</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hai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đầu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việc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đều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cần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sự</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phê</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duyệt</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và</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đồng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thuận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từ</a:t>
            </a:r>
            <a:r>
              <a:rPr lang="en-US" sz="1200" kern="1200" dirty="0">
                <a:solidFill>
                  <a:schemeClr val="tx1"/>
                </a:solidFill>
                <a:effectLst/>
                <a:latin typeface="Arial" panose="020B0604020202020204" pitchFamily="34" charset="0"/>
                <a:ea typeface="+mn-ea"/>
                <a:cs typeface="+mn-cs"/>
              </a:rPr>
              <a:t> Ban </a:t>
            </a:r>
            <a:r>
              <a:rPr lang="en-US" sz="1200" kern="1200" dirty="0" err="1">
                <a:solidFill>
                  <a:schemeClr val="tx1"/>
                </a:solidFill>
                <a:effectLst/>
                <a:latin typeface="Arial" panose="020B0604020202020204" pitchFamily="34" charset="0"/>
                <a:ea typeface="+mn-ea"/>
                <a:cs typeface="+mn-cs"/>
              </a:rPr>
              <a:t>Tổng</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giám</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đốc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để</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có</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hiệu</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lực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với</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các</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đơn</a:t>
            </a:r>
            <a:r>
              <a:rPr lang="en-US" sz="1200" kern="1200" dirty="0">
                <a:solidFill>
                  <a:schemeClr val="tx1"/>
                </a:solidFill>
                <a:effectLst/>
                <a:latin typeface="Arial" panose="020B0604020202020204" pitchFamily="34" charset="0"/>
                <a:ea typeface="+mn-ea"/>
                <a:cs typeface="+mn-cs"/>
              </a:rPr>
              <a:t> </a:t>
            </a:r>
            <a:r>
              <a:rPr lang="en-US" sz="1200" kern="1200" dirty="0" err="1">
                <a:solidFill>
                  <a:schemeClr val="tx1"/>
                </a:solidFill>
                <a:effectLst/>
                <a:latin typeface="Arial" panose="020B0604020202020204" pitchFamily="34" charset="0"/>
                <a:ea typeface="+mn-ea"/>
                <a:cs typeface="+mn-cs"/>
              </a:rPr>
              <a:t>vị</a:t>
            </a:r>
            <a:r>
              <a:rPr lang="en-US" sz="1200" kern="1200" dirty="0">
                <a:solidFill>
                  <a:schemeClr val="tx1"/>
                </a:solidFill>
                <a:effectLst/>
                <a:latin typeface="Arial" panose="020B0604020202020204" pitchFamily="34" charset="0"/>
                <a:ea typeface="+mn-ea"/>
                <a:cs typeface="+mn-cs"/>
              </a:rPr>
              <a:t>.</a:t>
            </a:r>
          </a:p>
          <a:p>
            <a:r>
              <a:rPr lang="en-US" sz="1200" i="1" kern="1200" dirty="0" err="1">
                <a:solidFill>
                  <a:schemeClr val="tx1"/>
                </a:solidFill>
                <a:effectLst/>
                <a:latin typeface="Arial" panose="020B0604020202020204" pitchFamily="34" charset="0"/>
                <a:ea typeface="+mn-ea"/>
                <a:cs typeface="+mn-cs"/>
              </a:rPr>
              <a:t>Nếu</a:t>
            </a:r>
            <a:r>
              <a:rPr lang="en-US" sz="1200" i="1" kern="1200" baseline="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không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có</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chỉ</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thị</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từ</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cấp</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trên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Điều</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phối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viên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rất</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khó</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dành</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thời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gian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cho</a:t>
            </a:r>
            <a:r>
              <a:rPr lang="en-US" sz="1200" i="1" kern="1200" dirty="0">
                <a:solidFill>
                  <a:schemeClr val="tx1"/>
                </a:solidFill>
                <a:effectLst/>
                <a:latin typeface="Arial" panose="020B0604020202020204" pitchFamily="34" charset="0"/>
                <a:ea typeface="+mn-ea"/>
                <a:cs typeface="+mn-cs"/>
              </a:rPr>
              <a:t> QTRR song </a:t>
            </a:r>
            <a:r>
              <a:rPr lang="en-US" sz="1200" i="1" kern="1200" dirty="0" err="1">
                <a:solidFill>
                  <a:schemeClr val="tx1"/>
                </a:solidFill>
                <a:effectLst/>
                <a:latin typeface="Arial" panose="020B0604020202020204" pitchFamily="34" charset="0"/>
                <a:ea typeface="+mn-ea"/>
                <a:cs typeface="+mn-cs"/>
              </a:rPr>
              <a:t>song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với</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công</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việc</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chuyên</a:t>
            </a:r>
            <a:r>
              <a:rPr lang="en-US" sz="1200" i="1" kern="1200" dirty="0">
                <a:solidFill>
                  <a:schemeClr val="tx1"/>
                </a:solidFill>
                <a:effectLst/>
                <a:latin typeface="Arial" panose="020B0604020202020204" pitchFamily="34" charset="0"/>
                <a:ea typeface="+mn-ea"/>
                <a:cs typeface="+mn-cs"/>
              </a:rPr>
              <a:t> </a:t>
            </a:r>
            <a:r>
              <a:rPr lang="en-US" sz="1200" i="1" kern="1200" dirty="0" err="1">
                <a:solidFill>
                  <a:schemeClr val="tx1"/>
                </a:solidFill>
                <a:effectLst/>
                <a:latin typeface="Arial" panose="020B0604020202020204" pitchFamily="34" charset="0"/>
                <a:ea typeface="+mn-ea"/>
                <a:cs typeface="+mn-cs"/>
              </a:rPr>
              <a:t>môn</a:t>
            </a:r>
            <a:endParaRPr lang="en-US" dirty="0"/>
          </a:p>
          <a:p>
            <a:endParaRPr lang="en-US" dirty="0"/>
          </a:p>
        </p:txBody>
      </p:sp>
      <p:sp>
        <p:nvSpPr>
          <p:cNvPr id="4" name="Slide Number Placeholder 3"/>
          <p:cNvSpPr>
            <a:spLocks noGrp="1"/>
          </p:cNvSpPr>
          <p:nvPr>
            <p:ph type="sldNum" sz="quarter" idx="10"/>
          </p:nvPr>
        </p:nvSpPr>
        <p:spPr/>
        <p:txBody>
          <a:bodyPr/>
          <a:lstStyle/>
          <a:p>
            <a:fld id="{3DB39D0F-1D40-49CC-9A18-B15E6CC2C5CE}" type="slidenum">
              <a:rPr lang="en-US" smtClean="0"/>
              <a:t>30</a:t>
            </a:fld>
            <a:endParaRPr lang="en-US"/>
          </a:p>
        </p:txBody>
      </p:sp>
    </p:spTree>
    <p:extLst>
      <p:ext uri="{BB962C8B-B14F-4D97-AF65-F5344CB8AC3E}">
        <p14:creationId xmlns:p14="http://schemas.microsoft.com/office/powerpoint/2010/main" val="19546090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C2BFA4-BC98-498D-B621-723460117A7F}" type="slidenum">
              <a:rPr lang="en-US" smtClean="0"/>
              <a:pPr/>
              <a:t>31</a:t>
            </a:fld>
            <a:endParaRPr lang="en-US" dirty="0"/>
          </a:p>
        </p:txBody>
      </p:sp>
    </p:spTree>
    <p:extLst>
      <p:ext uri="{BB962C8B-B14F-4D97-AF65-F5344CB8AC3E}">
        <p14:creationId xmlns:p14="http://schemas.microsoft.com/office/powerpoint/2010/main" val="27855382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07332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C2BFA4-BC98-498D-B621-723460117A7F}"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94792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15084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4260851"/>
            <a:ext cx="15544800" cy="2940050"/>
          </a:xfrm>
        </p:spPr>
        <p:txBody>
          <a:bodyPr/>
          <a:lstStyle/>
          <a:p>
            <a:r>
              <a:rPr lang="en-US"/>
              <a:t>Click to edit Master title style</a:t>
            </a:r>
          </a:p>
        </p:txBody>
      </p:sp>
      <p:sp>
        <p:nvSpPr>
          <p:cNvPr id="3" name="Subtitle 2"/>
          <p:cNvSpPr>
            <a:spLocks noGrp="1"/>
          </p:cNvSpPr>
          <p:nvPr>
            <p:ph type="subTitle" idx="1"/>
          </p:nvPr>
        </p:nvSpPr>
        <p:spPr>
          <a:xfrm>
            <a:off x="2743200" y="7772400"/>
            <a:ext cx="12801600" cy="3505200"/>
          </a:xfrm>
        </p:spPr>
        <p:txBody>
          <a:bodyPr/>
          <a:lstStyle>
            <a:lvl1pPr marL="0" indent="0" algn="ctr">
              <a:buNone/>
              <a:defRPr>
                <a:solidFill>
                  <a:schemeClr val="tx1">
                    <a:tint val="75000"/>
                  </a:schemeClr>
                </a:solidFill>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0053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8775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4626" y="8813801"/>
            <a:ext cx="15544800" cy="2724150"/>
          </a:xfrm>
        </p:spPr>
        <p:txBody>
          <a:bodyPr anchor="t"/>
          <a:lstStyle>
            <a:lvl1pPr algn="l">
              <a:defRPr sz="8000" b="1" cap="all"/>
            </a:lvl1pPr>
          </a:lstStyle>
          <a:p>
            <a:r>
              <a:rPr lang="en-US"/>
              <a:t>Click to edit Master title style</a:t>
            </a:r>
          </a:p>
        </p:txBody>
      </p:sp>
      <p:sp>
        <p:nvSpPr>
          <p:cNvPr id="3" name="Text Placeholder 2"/>
          <p:cNvSpPr>
            <a:spLocks noGrp="1"/>
          </p:cNvSpPr>
          <p:nvPr>
            <p:ph type="body" idx="1"/>
          </p:nvPr>
        </p:nvSpPr>
        <p:spPr>
          <a:xfrm>
            <a:off x="1444626" y="5813427"/>
            <a:ext cx="15544800" cy="3000374"/>
          </a:xfrm>
        </p:spPr>
        <p:txBody>
          <a:bodyPr anchor="b"/>
          <a:lstStyle>
            <a:lvl1pPr marL="0" indent="0">
              <a:buNone/>
              <a:defRPr sz="4000">
                <a:solidFill>
                  <a:schemeClr val="tx1">
                    <a:tint val="7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8788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3200401"/>
            <a:ext cx="8077200" cy="9051926"/>
          </a:xfrm>
        </p:spPr>
        <p:txBody>
          <a:bodyPr/>
          <a:lstStyle>
            <a:lvl1pPr>
              <a:defRPr sz="5600"/>
            </a:lvl1pPr>
            <a:lvl2pPr>
              <a:defRPr sz="4800"/>
            </a:lvl2pPr>
            <a:lvl3pPr>
              <a:defRPr sz="40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9296400" y="3200401"/>
            <a:ext cx="8077200" cy="9051926"/>
          </a:xfrm>
        </p:spPr>
        <p:txBody>
          <a:bodyPr/>
          <a:lstStyle>
            <a:lvl1pPr>
              <a:defRPr sz="5600"/>
            </a:lvl1pPr>
            <a:lvl2pPr>
              <a:defRPr sz="4800"/>
            </a:lvl2pPr>
            <a:lvl3pPr>
              <a:defRPr sz="4000"/>
            </a:lvl3pPr>
            <a:lvl4pPr>
              <a:defRPr sz="3600"/>
            </a:lvl4pPr>
            <a:lvl5pPr>
              <a:defRPr sz="36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63972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3070226"/>
            <a:ext cx="8080376" cy="12795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4" name="Content Placeholder 3"/>
          <p:cNvSpPr>
            <a:spLocks noGrp="1"/>
          </p:cNvSpPr>
          <p:nvPr>
            <p:ph sz="half" idx="2"/>
          </p:nvPr>
        </p:nvSpPr>
        <p:spPr>
          <a:xfrm>
            <a:off x="914400" y="4349750"/>
            <a:ext cx="8080376" cy="7902576"/>
          </a:xfrm>
        </p:spPr>
        <p:txBody>
          <a:bodyPr/>
          <a:lstStyle>
            <a:lvl1pPr>
              <a:defRPr sz="48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9290051" y="3070226"/>
            <a:ext cx="8083550" cy="12795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US"/>
              <a:t>Click to edit Master text styles</a:t>
            </a:r>
          </a:p>
        </p:txBody>
      </p:sp>
      <p:sp>
        <p:nvSpPr>
          <p:cNvPr id="6" name="Content Placeholder 5"/>
          <p:cNvSpPr>
            <a:spLocks noGrp="1"/>
          </p:cNvSpPr>
          <p:nvPr>
            <p:ph sz="quarter" idx="4"/>
          </p:nvPr>
        </p:nvSpPr>
        <p:spPr>
          <a:xfrm>
            <a:off x="9290051" y="4349750"/>
            <a:ext cx="8083550" cy="7902576"/>
          </a:xfrm>
        </p:spPr>
        <p:txBody>
          <a:bodyPr/>
          <a:lstStyle>
            <a:lvl1pPr>
              <a:defRPr sz="4800"/>
            </a:lvl1pPr>
            <a:lvl2pPr>
              <a:defRPr sz="4000"/>
            </a:lvl2pPr>
            <a:lvl3pPr>
              <a:defRPr sz="3600"/>
            </a:lvl3pPr>
            <a:lvl4pPr>
              <a:defRPr sz="3200"/>
            </a:lvl4pPr>
            <a:lvl5pPr>
              <a:defRPr sz="3200"/>
            </a:lvl5pPr>
            <a:lvl6pPr>
              <a:defRPr sz="3200"/>
            </a:lvl6pPr>
            <a:lvl7pPr>
              <a:defRPr sz="3200"/>
            </a:lvl7pPr>
            <a:lvl8pPr>
              <a:defRPr sz="3200"/>
            </a:lvl8pPr>
            <a:lvl9pPr>
              <a:defRPr sz="3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39244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66649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07050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1" y="546100"/>
            <a:ext cx="6016626" cy="2324100"/>
          </a:xfrm>
        </p:spPr>
        <p:txBody>
          <a:bodyPr anchor="b"/>
          <a:lstStyle>
            <a:lvl1pPr algn="l">
              <a:defRPr sz="4000" b="1"/>
            </a:lvl1pPr>
          </a:lstStyle>
          <a:p>
            <a:r>
              <a:rPr lang="en-US"/>
              <a:t>Click to edit Master title style</a:t>
            </a:r>
          </a:p>
        </p:txBody>
      </p:sp>
      <p:sp>
        <p:nvSpPr>
          <p:cNvPr id="3" name="Content Placeholder 2"/>
          <p:cNvSpPr>
            <a:spLocks noGrp="1"/>
          </p:cNvSpPr>
          <p:nvPr>
            <p:ph idx="1"/>
          </p:nvPr>
        </p:nvSpPr>
        <p:spPr>
          <a:xfrm>
            <a:off x="7150100" y="546101"/>
            <a:ext cx="10223500" cy="11706226"/>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914401" y="2870201"/>
            <a:ext cx="6016626" cy="9382126"/>
          </a:xfrm>
        </p:spPr>
        <p:txBody>
          <a:bodyPr/>
          <a:lstStyle>
            <a:lvl1pPr marL="0" indent="0">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43915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84576" y="9601200"/>
            <a:ext cx="10972800" cy="1133476"/>
          </a:xfrm>
        </p:spPr>
        <p:txBody>
          <a:bodyPr anchor="b"/>
          <a:lstStyle>
            <a:lvl1pPr algn="l">
              <a:defRPr sz="4000" b="1"/>
            </a:lvl1pPr>
          </a:lstStyle>
          <a:p>
            <a:r>
              <a:rPr lang="en-US"/>
              <a:t>Click to edit Master title style</a:t>
            </a:r>
          </a:p>
        </p:txBody>
      </p:sp>
      <p:sp>
        <p:nvSpPr>
          <p:cNvPr id="3" name="Picture Placeholder 2"/>
          <p:cNvSpPr>
            <a:spLocks noGrp="1"/>
          </p:cNvSpPr>
          <p:nvPr>
            <p:ph type="pic" idx="1"/>
          </p:nvPr>
        </p:nvSpPr>
        <p:spPr>
          <a:xfrm>
            <a:off x="3584576" y="1225550"/>
            <a:ext cx="10972800" cy="8229600"/>
          </a:xfr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endParaRPr lang="en-US"/>
          </a:p>
        </p:txBody>
      </p:sp>
      <p:sp>
        <p:nvSpPr>
          <p:cNvPr id="4" name="Text Placeholder 3"/>
          <p:cNvSpPr>
            <a:spLocks noGrp="1"/>
          </p:cNvSpPr>
          <p:nvPr>
            <p:ph type="body" sz="half" idx="2"/>
          </p:nvPr>
        </p:nvSpPr>
        <p:spPr>
          <a:xfrm>
            <a:off x="3584576" y="10734676"/>
            <a:ext cx="10972800" cy="1609724"/>
          </a:xfrm>
        </p:spPr>
        <p:txBody>
          <a:bodyPr/>
          <a:lstStyle>
            <a:lvl1pPr marL="0" indent="0">
              <a:buNone/>
              <a:defRPr sz="28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70632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26978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258800" y="549277"/>
            <a:ext cx="4114800" cy="117030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549277"/>
            <a:ext cx="12039600" cy="11703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solidFill>
                  <a:prstClr val="black">
                    <a:tint val="75000"/>
                  </a:prstClr>
                </a:solidFill>
              </a:rPr>
              <a:pPr/>
              <a:t>8/24/26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77394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Title Placeholder 1"/>
          <p:cNvSpPr>
            <a:spLocks noGrp="1"/>
          </p:cNvSpPr>
          <p:nvPr>
            <p:ph type="title" hasCustomPrompt="1"/>
          </p:nvPr>
        </p:nvSpPr>
        <p:spPr>
          <a:xfrm>
            <a:off x="0" y="0"/>
            <a:ext cx="18288000" cy="1028700"/>
          </a:xfrm>
          <a:prstGeom prst="rect">
            <a:avLst/>
          </a:prstGeom>
        </p:spPr>
        <p:txBody>
          <a:bodyPr vert="horz" lIns="91440" tIns="45720" rIns="91440" bIns="45720" rtlCol="0" anchor="ctr">
            <a:normAutofit/>
          </a:bodyPr>
          <a:lstStyle>
            <a:lvl1pPr>
              <a:defRPr baseline="0">
                <a:solidFill>
                  <a:srgbClr val="FF0000"/>
                </a:solidFill>
              </a:defRPr>
            </a:lvl1p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Tree>
    <p:extLst>
      <p:ext uri="{BB962C8B-B14F-4D97-AF65-F5344CB8AC3E}">
        <p14:creationId xmlns:p14="http://schemas.microsoft.com/office/powerpoint/2010/main" val="10177108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Title Placeholder 1"/>
          <p:cNvSpPr>
            <a:spLocks noGrp="1"/>
          </p:cNvSpPr>
          <p:nvPr>
            <p:ph type="title" hasCustomPrompt="1"/>
          </p:nvPr>
        </p:nvSpPr>
        <p:spPr>
          <a:xfrm>
            <a:off x="0" y="0"/>
            <a:ext cx="18288000" cy="1028700"/>
          </a:xfrm>
          <a:prstGeom prst="rect">
            <a:avLst/>
          </a:prstGeom>
        </p:spPr>
        <p:txBody>
          <a:bodyPr vert="horz" lIns="91440" tIns="45720" rIns="91440" bIns="45720" rtlCol="0" anchor="ctr">
            <a:normAutofit/>
          </a:bodyPr>
          <a:lstStyle>
            <a:lvl1pPr>
              <a:defRPr baseline="0">
                <a:solidFill>
                  <a:srgbClr val="FF0000"/>
                </a:solidFill>
              </a:defRPr>
            </a:lvl1p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Tree>
    <p:extLst>
      <p:ext uri="{BB962C8B-B14F-4D97-AF65-F5344CB8AC3E}">
        <p14:creationId xmlns:p14="http://schemas.microsoft.com/office/powerpoint/2010/main" val="13386372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2066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Placeholder 1"/>
          <p:cNvSpPr txBox="1">
            <a:spLocks/>
          </p:cNvSpPr>
          <p:nvPr userDrawn="1"/>
        </p:nvSpPr>
        <p:spPr>
          <a:xfrm>
            <a:off x="0" y="0"/>
            <a:ext cx="18288000" cy="10287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800" b="1" kern="1200">
                <a:solidFill>
                  <a:srgbClr val="FF0000"/>
                </a:solidFill>
                <a:latin typeface="Arial" panose="020B0604020202020204" pitchFamily="34" charset="0"/>
                <a:ea typeface="+mj-ea"/>
                <a:cs typeface="Arial" panose="020B0604020202020204" pitchFamily="34" charset="0"/>
              </a:defRPr>
            </a:lvl1p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Tree>
    <p:extLst>
      <p:ext uri="{BB962C8B-B14F-4D97-AF65-F5344CB8AC3E}">
        <p14:creationId xmlns:p14="http://schemas.microsoft.com/office/powerpoint/2010/main" val="192318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648687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Placeholder 1"/>
          <p:cNvSpPr txBox="1">
            <a:spLocks/>
          </p:cNvSpPr>
          <p:nvPr userDrawn="1"/>
        </p:nvSpPr>
        <p:spPr>
          <a:xfrm>
            <a:off x="0" y="0"/>
            <a:ext cx="18288000" cy="1028700"/>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800" b="1" kern="1200">
                <a:solidFill>
                  <a:srgbClr val="FF0000"/>
                </a:solidFill>
                <a:latin typeface="Arial" panose="020B0604020202020204" pitchFamily="34" charset="0"/>
                <a:ea typeface="+mj-ea"/>
                <a:cs typeface="Arial" panose="020B0604020202020204" pitchFamily="34" charset="0"/>
              </a:defRPr>
            </a:lvl1p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Tree>
    <p:extLst>
      <p:ext uri="{BB962C8B-B14F-4D97-AF65-F5344CB8AC3E}">
        <p14:creationId xmlns:p14="http://schemas.microsoft.com/office/powerpoint/2010/main" val="37744948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Title Placeholder 1"/>
          <p:cNvSpPr>
            <a:spLocks noGrp="1"/>
          </p:cNvSpPr>
          <p:nvPr>
            <p:ph type="title"/>
          </p:nvPr>
        </p:nvSpPr>
        <p:spPr>
          <a:xfrm>
            <a:off x="0" y="0"/>
            <a:ext cx="18288000" cy="1028700"/>
          </a:xfrm>
          <a:prstGeom prst="rect">
            <a:avLst/>
          </a:prstGeom>
        </p:spPr>
        <p:txBody>
          <a:bodyPr vert="horz" lIns="91440" tIns="45720" rIns="91440" bIns="45720" rtlCol="0" anchor="ctr">
            <a:normAutofit/>
          </a:body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Tree>
    <p:extLst>
      <p:ext uri="{BB962C8B-B14F-4D97-AF65-F5344CB8AC3E}">
        <p14:creationId xmlns:p14="http://schemas.microsoft.com/office/powerpoint/2010/main" val="29937512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Title Placeholder 1"/>
          <p:cNvSpPr>
            <a:spLocks noGrp="1"/>
          </p:cNvSpPr>
          <p:nvPr>
            <p:ph type="title"/>
          </p:nvPr>
        </p:nvSpPr>
        <p:spPr>
          <a:xfrm>
            <a:off x="0" y="0"/>
            <a:ext cx="18288000" cy="1028700"/>
          </a:xfrm>
          <a:prstGeom prst="rect">
            <a:avLst/>
          </a:prstGeom>
        </p:spPr>
        <p:txBody>
          <a:bodyPr vert="horz" lIns="91440" tIns="45720" rIns="91440" bIns="45720" rtlCol="0" anchor="ctr">
            <a:normAutofit/>
          </a:body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Tree>
    <p:extLst>
      <p:ext uri="{BB962C8B-B14F-4D97-AF65-F5344CB8AC3E}">
        <p14:creationId xmlns:p14="http://schemas.microsoft.com/office/powerpoint/2010/main" val="2731551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D8BD707-D9CF-40AE-B4C6-C98DA3205C09}" type="datetimeFigureOut">
              <a:rPr lang="en-US" smtClean="0"/>
              <a:pPr/>
              <a:t>8/24/26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Title Placeholder 1"/>
          <p:cNvSpPr>
            <a:spLocks noGrp="1"/>
          </p:cNvSpPr>
          <p:nvPr>
            <p:ph type="title"/>
          </p:nvPr>
        </p:nvSpPr>
        <p:spPr>
          <a:xfrm>
            <a:off x="0" y="0"/>
            <a:ext cx="18288000" cy="1028700"/>
          </a:xfrm>
          <a:prstGeom prst="rect">
            <a:avLst/>
          </a:prstGeom>
        </p:spPr>
        <p:txBody>
          <a:bodyPr vert="horz" lIns="91440" tIns="45720" rIns="91440" bIns="45720" rtlCol="0" anchor="ctr">
            <a:normAutofit/>
          </a:body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Tree>
    <p:extLst>
      <p:ext uri="{BB962C8B-B14F-4D97-AF65-F5344CB8AC3E}">
        <p14:creationId xmlns:p14="http://schemas.microsoft.com/office/powerpoint/2010/main" val="36580285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Title Placeholder 1"/>
          <p:cNvSpPr>
            <a:spLocks noGrp="1"/>
          </p:cNvSpPr>
          <p:nvPr>
            <p:ph type="title" hasCustomPrompt="1"/>
          </p:nvPr>
        </p:nvSpPr>
        <p:spPr>
          <a:xfrm>
            <a:off x="0" y="0"/>
            <a:ext cx="18288000" cy="1028700"/>
          </a:xfrm>
          <a:prstGeom prst="rect">
            <a:avLst/>
          </a:prstGeom>
        </p:spPr>
        <p:txBody>
          <a:bodyPr vert="horz" lIns="91440" tIns="45720" rIns="91440" bIns="45720" rtlCol="0" anchor="ctr">
            <a:normAutofit/>
          </a:bodyPr>
          <a:lstStyle>
            <a:lvl1pPr>
              <a:defRPr baseline="0">
                <a:solidFill>
                  <a:srgbClr val="FF0000"/>
                </a:solidFill>
              </a:defRPr>
            </a:lvl1p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Tree>
    <p:extLst>
      <p:ext uri="{BB962C8B-B14F-4D97-AF65-F5344CB8AC3E}">
        <p14:creationId xmlns:p14="http://schemas.microsoft.com/office/powerpoint/2010/main" val="31562957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7358947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188158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823561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6586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4400" y="549276"/>
            <a:ext cx="16459200" cy="2286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914400" y="3200401"/>
            <a:ext cx="16459200" cy="905192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914400" y="12712701"/>
            <a:ext cx="4267200" cy="730250"/>
          </a:xfrm>
          <a:prstGeom prst="rect">
            <a:avLst/>
          </a:prstGeom>
        </p:spPr>
        <p:txBody>
          <a:bodyPr vert="horz" lIns="91440" tIns="45720" rIns="91440" bIns="45720" rtlCol="0" anchor="ctr"/>
          <a:lstStyle>
            <a:lvl1pPr algn="l">
              <a:defRPr sz="2400">
                <a:solidFill>
                  <a:schemeClr val="tx1">
                    <a:tint val="75000"/>
                  </a:schemeClr>
                </a:solidFill>
                <a:latin typeface="Arial" panose="020B0604020202020204" pitchFamily="34" charset="0"/>
              </a:defRPr>
            </a:lvl1pPr>
          </a:lstStyle>
          <a:p>
            <a:fld id="{5BCAD085-E8A6-8845-BD4E-CB4CCA059FC4}" type="datetimeFigureOut">
              <a:rPr lang="en-US" smtClean="0">
                <a:solidFill>
                  <a:prstClr val="black">
                    <a:tint val="75000"/>
                  </a:prstClr>
                </a:solidFill>
              </a:rPr>
              <a:pPr/>
              <a:t>8/24/26</a:t>
            </a:fld>
            <a:endParaRPr lang="en-US" dirty="0">
              <a:solidFill>
                <a:prstClr val="black">
                  <a:tint val="75000"/>
                </a:prstClr>
              </a:solidFill>
            </a:endParaRPr>
          </a:p>
        </p:txBody>
      </p:sp>
      <p:sp>
        <p:nvSpPr>
          <p:cNvPr id="5" name="Footer Placeholder 4"/>
          <p:cNvSpPr>
            <a:spLocks noGrp="1"/>
          </p:cNvSpPr>
          <p:nvPr>
            <p:ph type="ftr" sz="quarter" idx="3"/>
          </p:nvPr>
        </p:nvSpPr>
        <p:spPr>
          <a:xfrm>
            <a:off x="6248400" y="12712701"/>
            <a:ext cx="5791200" cy="730250"/>
          </a:xfrm>
          <a:prstGeom prst="rect">
            <a:avLst/>
          </a:prstGeom>
        </p:spPr>
        <p:txBody>
          <a:bodyPr vert="horz" lIns="91440" tIns="45720" rIns="91440" bIns="45720" rtlCol="0" anchor="ctr"/>
          <a:lstStyle>
            <a:lvl1pPr algn="ctr">
              <a:defRPr sz="2400">
                <a:solidFill>
                  <a:schemeClr val="tx1">
                    <a:tint val="75000"/>
                  </a:schemeClr>
                </a:solidFill>
                <a:latin typeface="Arial" panose="020B0604020202020204" pitchFamily="34"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13106400" y="12712701"/>
            <a:ext cx="4267200" cy="730250"/>
          </a:xfrm>
          <a:prstGeom prst="rect">
            <a:avLst/>
          </a:prstGeom>
        </p:spPr>
        <p:txBody>
          <a:bodyPr vert="horz" lIns="91440" tIns="45720" rIns="91440" bIns="45720" rtlCol="0" anchor="ctr"/>
          <a:lstStyle>
            <a:lvl1pPr algn="r">
              <a:defRPr sz="2400">
                <a:solidFill>
                  <a:schemeClr val="tx1">
                    <a:tint val="75000"/>
                  </a:schemeClr>
                </a:solidFill>
                <a:latin typeface="Arial" panose="020B0604020202020204" pitchFamily="34" charset="0"/>
              </a:defRPr>
            </a:lvl1pPr>
          </a:lstStyle>
          <a:p>
            <a:fld id="{C1FF6DA9-008F-8B48-92A6-B652298478BF}"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5459554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4" r:id="rId12"/>
    <p:sldLayoutId id="2147483679" r:id="rId13"/>
    <p:sldLayoutId id="2147483680" r:id="rId14"/>
  </p:sldLayoutIdLst>
  <p:txStyles>
    <p:titleStyle>
      <a:lvl1pPr algn="ctr" defTabSz="914400" rtl="0" eaLnBrk="1" latinLnBrk="0" hangingPunct="1">
        <a:spcBef>
          <a:spcPct val="0"/>
        </a:spcBef>
        <a:buNone/>
        <a:defRPr sz="8800" kern="1200">
          <a:solidFill>
            <a:schemeClr val="tx1"/>
          </a:solidFill>
          <a:latin typeface="Arial" panose="020B0604020202020204" pitchFamily="34" charset="0"/>
          <a:ea typeface="+mj-ea"/>
          <a:cs typeface="+mj-cs"/>
        </a:defRPr>
      </a:lvl1pPr>
    </p:titleStyle>
    <p:bodyStyle>
      <a:lvl1pPr marL="685800" indent="-685800" algn="l" defTabSz="914400" rtl="0" eaLnBrk="1" latinLnBrk="0" hangingPunct="1">
        <a:spcBef>
          <a:spcPct val="20000"/>
        </a:spcBef>
        <a:buFont typeface="Arial"/>
        <a:buChar char="•"/>
        <a:defRPr sz="6400" kern="1200">
          <a:solidFill>
            <a:schemeClr val="tx1"/>
          </a:solidFill>
          <a:latin typeface="Arial" panose="020B0604020202020204" pitchFamily="34" charset="0"/>
          <a:ea typeface="+mn-ea"/>
          <a:cs typeface="+mn-cs"/>
        </a:defRPr>
      </a:lvl1pPr>
      <a:lvl2pPr marL="1485900" indent="-571500" algn="l" defTabSz="914400" rtl="0" eaLnBrk="1" latinLnBrk="0" hangingPunct="1">
        <a:spcBef>
          <a:spcPct val="20000"/>
        </a:spcBef>
        <a:buFont typeface="Arial"/>
        <a:buChar char="–"/>
        <a:defRPr sz="5600" kern="1200">
          <a:solidFill>
            <a:schemeClr val="tx1"/>
          </a:solidFill>
          <a:latin typeface="Arial" panose="020B0604020202020204" pitchFamily="34" charset="0"/>
          <a:ea typeface="+mn-ea"/>
          <a:cs typeface="+mn-cs"/>
        </a:defRPr>
      </a:lvl2pPr>
      <a:lvl3pPr marL="2286000" indent="-457200" algn="l" defTabSz="914400" rtl="0" eaLnBrk="1" latinLnBrk="0" hangingPunct="1">
        <a:spcBef>
          <a:spcPct val="20000"/>
        </a:spcBef>
        <a:buFont typeface="Arial"/>
        <a:buChar char="•"/>
        <a:defRPr sz="4800" kern="1200">
          <a:solidFill>
            <a:schemeClr val="tx1"/>
          </a:solidFill>
          <a:latin typeface="Arial" panose="020B0604020202020204" pitchFamily="34" charset="0"/>
          <a:ea typeface="+mn-ea"/>
          <a:cs typeface="+mn-cs"/>
        </a:defRPr>
      </a:lvl3pPr>
      <a:lvl4pPr marL="3200400" indent="-457200" algn="l" defTabSz="914400" rtl="0" eaLnBrk="1" latinLnBrk="0" hangingPunct="1">
        <a:spcBef>
          <a:spcPct val="20000"/>
        </a:spcBef>
        <a:buFont typeface="Arial"/>
        <a:buChar char="–"/>
        <a:defRPr sz="4000" kern="1200">
          <a:solidFill>
            <a:schemeClr val="tx1"/>
          </a:solidFill>
          <a:latin typeface="Arial" panose="020B0604020202020204" pitchFamily="34" charset="0"/>
          <a:ea typeface="+mn-ea"/>
          <a:cs typeface="+mn-cs"/>
        </a:defRPr>
      </a:lvl4pPr>
      <a:lvl5pPr marL="4114800" indent="-457200" algn="l" defTabSz="914400" rtl="0" eaLnBrk="1" latinLnBrk="0" hangingPunct="1">
        <a:spcBef>
          <a:spcPct val="20000"/>
        </a:spcBef>
        <a:buFont typeface="Arial"/>
        <a:buChar char="»"/>
        <a:defRPr sz="4000" kern="1200">
          <a:solidFill>
            <a:schemeClr val="tx1"/>
          </a:solidFill>
          <a:latin typeface="Arial" panose="020B0604020202020204" pitchFamily="34" charset="0"/>
          <a:ea typeface="+mn-ea"/>
          <a:cs typeface="+mn-cs"/>
        </a:defRPr>
      </a:lvl5pPr>
      <a:lvl6pPr marL="5029200" indent="-457200" algn="l" defTabSz="914400" rtl="0" eaLnBrk="1" latinLnBrk="0" hangingPunct="1">
        <a:spcBef>
          <a:spcPct val="20000"/>
        </a:spcBef>
        <a:buFont typeface="Arial"/>
        <a:buChar char="•"/>
        <a:defRPr sz="4000" kern="1200">
          <a:solidFill>
            <a:schemeClr val="tx1"/>
          </a:solidFill>
          <a:latin typeface="+mn-lt"/>
          <a:ea typeface="+mn-ea"/>
          <a:cs typeface="+mn-cs"/>
        </a:defRPr>
      </a:lvl6pPr>
      <a:lvl7pPr marL="5943600" indent="-457200" algn="l" defTabSz="914400" rtl="0" eaLnBrk="1" latinLnBrk="0" hangingPunct="1">
        <a:spcBef>
          <a:spcPct val="20000"/>
        </a:spcBef>
        <a:buFont typeface="Arial"/>
        <a:buChar char="•"/>
        <a:defRPr sz="4000" kern="1200">
          <a:solidFill>
            <a:schemeClr val="tx1"/>
          </a:solidFill>
          <a:latin typeface="+mn-lt"/>
          <a:ea typeface="+mn-ea"/>
          <a:cs typeface="+mn-cs"/>
        </a:defRPr>
      </a:lvl7pPr>
      <a:lvl8pPr marL="6858000" indent="-457200" algn="l" defTabSz="914400" rtl="0" eaLnBrk="1" latinLnBrk="0" hangingPunct="1">
        <a:spcBef>
          <a:spcPct val="20000"/>
        </a:spcBef>
        <a:buFont typeface="Arial"/>
        <a:buChar char="•"/>
        <a:defRPr sz="4000" kern="1200">
          <a:solidFill>
            <a:schemeClr val="tx1"/>
          </a:solidFill>
          <a:latin typeface="+mn-lt"/>
          <a:ea typeface="+mn-ea"/>
          <a:cs typeface="+mn-cs"/>
        </a:defRPr>
      </a:lvl8pPr>
      <a:lvl9pPr marL="7772400" indent="-457200" algn="l" defTabSz="914400" rtl="0" eaLnBrk="1" latinLnBrk="0" hangingPunct="1">
        <a:spcBef>
          <a:spcPct val="20000"/>
        </a:spcBef>
        <a:buFont typeface="Arial"/>
        <a:buChar char="•"/>
        <a:defRPr sz="4000" kern="1200">
          <a:solidFill>
            <a:schemeClr val="tx1"/>
          </a:solidFill>
          <a:latin typeface="+mn-lt"/>
          <a:ea typeface="+mn-ea"/>
          <a:cs typeface="+mn-cs"/>
        </a:defRPr>
      </a:lvl9pPr>
    </p:bodyStyle>
    <p:other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0"/>
            <a:ext cx="18288000" cy="1028700"/>
          </a:xfrm>
          <a:prstGeom prst="rect">
            <a:avLst/>
          </a:prstGeom>
        </p:spPr>
        <p:txBody>
          <a:bodyPr vert="horz" lIns="91440" tIns="45720" rIns="91440" bIns="45720" rtlCol="0" anchor="ctr">
            <a:normAutofit/>
          </a:bodyPr>
          <a:lstStyle/>
          <a:p>
            <a:r>
              <a:rPr lang="en-US" dirty="0"/>
              <a:t>Phương </a:t>
            </a:r>
            <a:r>
              <a:rPr lang="en-US" dirty="0" err="1"/>
              <a:t>án</a:t>
            </a:r>
            <a:r>
              <a:rPr lang="en-US" dirty="0"/>
              <a:t> </a:t>
            </a:r>
            <a:r>
              <a:rPr lang="en-US" dirty="0" err="1"/>
              <a:t>xây</a:t>
            </a:r>
            <a:r>
              <a:rPr lang="en-US" dirty="0"/>
              <a:t> </a:t>
            </a:r>
            <a:r>
              <a:rPr lang="en-US" dirty="0" err="1"/>
              <a:t>dựng</a:t>
            </a:r>
            <a:r>
              <a:rPr lang="en-US" dirty="0"/>
              <a:t> </a:t>
            </a:r>
            <a:r>
              <a:rPr lang="en-US" dirty="0" err="1"/>
              <a:t>khung</a:t>
            </a:r>
            <a:r>
              <a:rPr lang="en-US" dirty="0"/>
              <a:t> QTRRDN </a:t>
            </a:r>
            <a:r>
              <a:rPr lang="en-US" dirty="0" err="1"/>
              <a:t>tại</a:t>
            </a:r>
            <a:r>
              <a:rPr lang="en-US" dirty="0"/>
              <a:t> VDS</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1D8BD707-D9CF-40AE-B4C6-C98DA3205C09}" type="datetimeFigureOut">
              <a:rPr lang="en-US" smtClean="0"/>
              <a:pPr/>
              <a:t>8/24/26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6211198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xStyles>
    <p:titleStyle>
      <a:lvl1pPr algn="l" defTabSz="914400" rtl="0" eaLnBrk="1" latinLnBrk="0" hangingPunct="1">
        <a:spcBef>
          <a:spcPct val="0"/>
        </a:spcBef>
        <a:buNone/>
        <a:defRPr sz="3800" b="1" kern="1200">
          <a:solidFill>
            <a:srgbClr val="FF0000"/>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3.xml"/><Relationship Id="rId6" Type="http://schemas.openxmlformats.org/officeDocument/2006/relationships/image" Target="../media/image39.png"/><Relationship Id="rId11" Type="http://schemas.openxmlformats.org/officeDocument/2006/relationships/image" Target="../media/image43.png"/><Relationship Id="rId5" Type="http://schemas.openxmlformats.org/officeDocument/2006/relationships/image" Target="../media/image38.png"/><Relationship Id="rId10" Type="http://schemas.openxmlformats.org/officeDocument/2006/relationships/image" Target="../media/image42.png"/><Relationship Id="rId4" Type="http://schemas.openxmlformats.org/officeDocument/2006/relationships/image" Target="../media/image37.png"/><Relationship Id="rId9"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4.xml"/><Relationship Id="rId1" Type="http://schemas.openxmlformats.org/officeDocument/2006/relationships/slideLayout" Target="../slideLayouts/slideLayout14.xml"/><Relationship Id="rId5" Type="http://schemas.openxmlformats.org/officeDocument/2006/relationships/image" Target="../media/image44.png"/><Relationship Id="rId4" Type="http://schemas.openxmlformats.org/officeDocument/2006/relationships/chart" Target="../charts/chart2.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14.xml"/><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62800" y="3543300"/>
            <a:ext cx="10795736" cy="2277547"/>
          </a:xfrm>
          <a:prstGeom prst="rect">
            <a:avLst/>
          </a:prstGeom>
        </p:spPr>
        <p:txBody>
          <a:bodyPr wrap="square" lIns="0" tIns="0" rIns="0" bIns="0" rtlCol="0" anchor="t">
            <a:spAutoFit/>
          </a:bodyPr>
          <a:lstStyle/>
          <a:p>
            <a:pPr algn="r"/>
            <a:r>
              <a:rPr lang="en-US" sz="4400" b="1" i="1" dirty="0" err="1">
                <a:solidFill>
                  <a:schemeClr val="tx1">
                    <a:lumMod val="65000"/>
                    <a:lumOff val="35000"/>
                  </a:schemeClr>
                </a:solidFill>
                <a:latin typeface="Arial" panose="020B0604020202020204" pitchFamily="34" charset="0"/>
                <a:ea typeface="Segoe UI Black" panose="020B0A02040204020203" pitchFamily="34" charset="0"/>
                <a:cs typeface="Arial" panose="020B0604020202020204" pitchFamily="34" charset="0"/>
                <a:sym typeface="Futura Ultra-Bold"/>
              </a:rPr>
              <a:t>Hội</a:t>
            </a:r>
            <a:r>
              <a:rPr lang="en-US" sz="4400" b="1" i="1" dirty="0">
                <a:solidFill>
                  <a:schemeClr val="tx1">
                    <a:lumMod val="65000"/>
                    <a:lumOff val="35000"/>
                  </a:schemeClr>
                </a:solidFill>
                <a:latin typeface="Arial" panose="020B0604020202020204" pitchFamily="34" charset="0"/>
                <a:ea typeface="Segoe UI Black" panose="020B0A02040204020203" pitchFamily="34" charset="0"/>
                <a:cs typeface="Arial" panose="020B0604020202020204" pitchFamily="34" charset="0"/>
                <a:sym typeface="Futura Ultra-Bold"/>
              </a:rPr>
              <a:t> </a:t>
            </a:r>
            <a:r>
              <a:rPr lang="en-US" sz="4400" b="1" i="1" dirty="0" err="1">
                <a:solidFill>
                  <a:schemeClr val="tx1">
                    <a:lumMod val="65000"/>
                    <a:lumOff val="35000"/>
                  </a:schemeClr>
                </a:solidFill>
                <a:latin typeface="Arial" panose="020B0604020202020204" pitchFamily="34" charset="0"/>
                <a:ea typeface="Segoe UI Black" panose="020B0A02040204020203" pitchFamily="34" charset="0"/>
                <a:cs typeface="Arial" panose="020B0604020202020204" pitchFamily="34" charset="0"/>
                <a:sym typeface="Futura Ultra-Bold"/>
              </a:rPr>
              <a:t>thảo</a:t>
            </a:r>
            <a:endParaRPr lang="en-US" sz="6000" b="1" i="1" dirty="0">
              <a:solidFill>
                <a:schemeClr val="tx1">
                  <a:lumMod val="65000"/>
                  <a:lumOff val="35000"/>
                </a:schemeClr>
              </a:solidFill>
              <a:latin typeface="Arial" panose="020B0604020202020204" pitchFamily="34" charset="0"/>
              <a:ea typeface="Segoe UI Black" panose="020B0A02040204020203" pitchFamily="34" charset="0"/>
              <a:cs typeface="Arial" panose="020B0604020202020204" pitchFamily="34" charset="0"/>
              <a:sym typeface="Futura Ultra-Bold"/>
            </a:endParaRPr>
          </a:p>
          <a:p>
            <a:pPr algn="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Kick-off </a:t>
            </a:r>
            <a:r>
              <a:rPr lang="en-US" sz="5200" b="1" dirty="0" err="1">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triển</a:t>
            </a: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 </a:t>
            </a:r>
            <a:r>
              <a:rPr lang="en-US" sz="5200" b="1" dirty="0" err="1">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khai</a:t>
            </a: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 </a:t>
            </a:r>
            <a:r>
              <a:rPr lang="en-US" sz="5200" b="1" dirty="0" err="1">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kế</a:t>
            </a: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 </a:t>
            </a:r>
            <a:r>
              <a:rPr lang="en-US" sz="5200" b="1" dirty="0" err="1">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hoạch</a:t>
            </a: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 </a:t>
            </a:r>
          </a:p>
          <a:p>
            <a:pPr algn="r"/>
            <a:r>
              <a:rPr lang="en-US" sz="5200" b="1" dirty="0" err="1">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xây</a:t>
            </a: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 </a:t>
            </a:r>
            <a:r>
              <a:rPr lang="en-US" sz="5200" b="1" dirty="0" err="1">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dựng</a:t>
            </a: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 </a:t>
            </a:r>
            <a:r>
              <a:rPr lang="en-US" sz="5200" b="1" dirty="0" err="1">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khung</a:t>
            </a: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 QTRRDN </a:t>
            </a:r>
            <a:r>
              <a:rPr lang="en-US" sz="5200" b="1" dirty="0" err="1">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tại</a:t>
            </a:r>
            <a:r>
              <a:rPr lang="en-US" sz="5200" b="1" dirty="0">
                <a:solidFill>
                  <a:srgbClr val="EF233C"/>
                </a:solidFill>
                <a:latin typeface="Arial" panose="020B0604020202020204" pitchFamily="34" charset="0"/>
                <a:ea typeface="Segoe UI Black" panose="020B0A02040204020203" pitchFamily="34" charset="0"/>
                <a:cs typeface="Arial" panose="020B0604020202020204" pitchFamily="34" charset="0"/>
                <a:sym typeface="Futura Ultra-Bold"/>
              </a:rPr>
              <a:t> VDS</a:t>
            </a:r>
          </a:p>
        </p:txBody>
      </p:sp>
      <p:grpSp>
        <p:nvGrpSpPr>
          <p:cNvPr id="3" name="Group 3"/>
          <p:cNvGrpSpPr/>
          <p:nvPr/>
        </p:nvGrpSpPr>
        <p:grpSpPr>
          <a:xfrm>
            <a:off x="3664214" y="0"/>
            <a:ext cx="5658816" cy="2538160"/>
            <a:chOff x="0" y="0"/>
            <a:chExt cx="7545088" cy="3384214"/>
          </a:xfrm>
        </p:grpSpPr>
        <p:sp>
          <p:nvSpPr>
            <p:cNvPr id="4" name="Freeform 4"/>
            <p:cNvSpPr/>
            <p:nvPr/>
          </p:nvSpPr>
          <p:spPr>
            <a:xfrm>
              <a:off x="0" y="0"/>
              <a:ext cx="7545129" cy="3384228"/>
            </a:xfrm>
            <a:custGeom>
              <a:avLst/>
              <a:gdLst/>
              <a:ahLst/>
              <a:cxnLst/>
              <a:rect l="l" t="t" r="r" b="b"/>
              <a:pathLst>
                <a:path w="7545129" h="3384228">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EF233C"/>
            </a:solidFill>
          </p:spPr>
          <p:txBody>
            <a:bodyPr/>
            <a:lstStyle/>
            <a:p>
              <a:endParaRPr lang="en-US" dirty="0"/>
            </a:p>
          </p:txBody>
        </p:sp>
      </p:grpSp>
      <p:grpSp>
        <p:nvGrpSpPr>
          <p:cNvPr id="5" name="Group 5"/>
          <p:cNvGrpSpPr/>
          <p:nvPr/>
        </p:nvGrpSpPr>
        <p:grpSpPr>
          <a:xfrm>
            <a:off x="1" y="952500"/>
            <a:ext cx="7162800" cy="9334500"/>
            <a:chOff x="0" y="0"/>
            <a:chExt cx="11715570" cy="12644642"/>
          </a:xfrm>
        </p:grpSpPr>
        <p:sp>
          <p:nvSpPr>
            <p:cNvPr id="6" name="Freeform 6"/>
            <p:cNvSpPr/>
            <p:nvPr/>
          </p:nvSpPr>
          <p:spPr>
            <a:xfrm>
              <a:off x="0" y="-31"/>
              <a:ext cx="11715574" cy="12644660"/>
            </a:xfrm>
            <a:custGeom>
              <a:avLst/>
              <a:gdLst/>
              <a:ahLst/>
              <a:cxnLst/>
              <a:rect l="l" t="t" r="r" b="b"/>
              <a:pathLst>
                <a:path w="11715574" h="12644660">
                  <a:moveTo>
                    <a:pt x="2338324" y="1809"/>
                  </a:moveTo>
                  <a:cubicBezTo>
                    <a:pt x="3612515" y="-26766"/>
                    <a:pt x="4910328" y="282606"/>
                    <a:pt x="6094730" y="966374"/>
                  </a:cubicBezTo>
                  <a:lnTo>
                    <a:pt x="8112506" y="2131345"/>
                  </a:lnTo>
                  <a:cubicBezTo>
                    <a:pt x="11558016" y="4120546"/>
                    <a:pt x="12738481" y="8526303"/>
                    <a:pt x="10749280" y="11971813"/>
                  </a:cubicBezTo>
                  <a:cubicBezTo>
                    <a:pt x="10624947" y="12187206"/>
                    <a:pt x="10491216" y="12393707"/>
                    <a:pt x="10348849" y="12591066"/>
                  </a:cubicBezTo>
                  <a:lnTo>
                    <a:pt x="10305923" y="12644659"/>
                  </a:lnTo>
                  <a:lnTo>
                    <a:pt x="0" y="12644659"/>
                  </a:lnTo>
                  <a:lnTo>
                    <a:pt x="0" y="446817"/>
                  </a:lnTo>
                  <a:lnTo>
                    <a:pt x="296799" y="344074"/>
                  </a:lnTo>
                  <a:cubicBezTo>
                    <a:pt x="955421" y="133508"/>
                    <a:pt x="1643380" y="17430"/>
                    <a:pt x="2338324" y="1809"/>
                  </a:cubicBezTo>
                  <a:close/>
                </a:path>
              </a:pathLst>
            </a:custGeom>
            <a:blipFill>
              <a:blip r:embed="rId2"/>
              <a:stretch>
                <a:fillRect l="-61895"/>
              </a:stretch>
            </a:blipFill>
          </p:spPr>
          <p:txBody>
            <a:bodyPr/>
            <a:lstStyle/>
            <a:p>
              <a:endParaRPr lang="en-US"/>
            </a:p>
          </p:txBody>
        </p:sp>
      </p:grpSp>
      <p:grpSp>
        <p:nvGrpSpPr>
          <p:cNvPr id="7" name="Group 7"/>
          <p:cNvGrpSpPr/>
          <p:nvPr/>
        </p:nvGrpSpPr>
        <p:grpSpPr>
          <a:xfrm rot="1800000">
            <a:off x="5011489" y="1324627"/>
            <a:ext cx="2536481" cy="411363"/>
            <a:chOff x="0" y="0"/>
            <a:chExt cx="3381974" cy="548484"/>
          </a:xfrm>
        </p:grpSpPr>
        <p:sp>
          <p:nvSpPr>
            <p:cNvPr id="8" name="Freeform 8"/>
            <p:cNvSpPr/>
            <p:nvPr/>
          </p:nvSpPr>
          <p:spPr>
            <a:xfrm>
              <a:off x="0" y="0"/>
              <a:ext cx="3381883" cy="548386"/>
            </a:xfrm>
            <a:custGeom>
              <a:avLst/>
              <a:gdLst/>
              <a:ahLst/>
              <a:cxnLst/>
              <a:rect l="l" t="t" r="r" b="b"/>
              <a:pathLst>
                <a:path w="3381883" h="548386">
                  <a:moveTo>
                    <a:pt x="0" y="274193"/>
                  </a:moveTo>
                  <a:cubicBezTo>
                    <a:pt x="0" y="122809"/>
                    <a:pt x="122809" y="0"/>
                    <a:pt x="274193" y="0"/>
                  </a:cubicBezTo>
                  <a:lnTo>
                    <a:pt x="3107690" y="0"/>
                  </a:lnTo>
                  <a:cubicBezTo>
                    <a:pt x="3259201" y="0"/>
                    <a:pt x="3381883" y="122809"/>
                    <a:pt x="3381883" y="274193"/>
                  </a:cubicBezTo>
                  <a:cubicBezTo>
                    <a:pt x="3381883" y="425577"/>
                    <a:pt x="3259074" y="548386"/>
                    <a:pt x="3107690" y="548386"/>
                  </a:cubicBezTo>
                  <a:lnTo>
                    <a:pt x="274193" y="548386"/>
                  </a:lnTo>
                  <a:cubicBezTo>
                    <a:pt x="122809" y="548513"/>
                    <a:pt x="0" y="425704"/>
                    <a:pt x="0" y="274193"/>
                  </a:cubicBezTo>
                  <a:close/>
                </a:path>
              </a:pathLst>
            </a:custGeom>
            <a:solidFill>
              <a:srgbClr val="F2F2F2"/>
            </a:solidFill>
          </p:spPr>
          <p:txBody>
            <a:bodyPr/>
            <a:lstStyle/>
            <a:p>
              <a:endParaRPr lang="en-US"/>
            </a:p>
          </p:txBody>
        </p:sp>
      </p:grpSp>
      <p:grpSp>
        <p:nvGrpSpPr>
          <p:cNvPr id="9" name="Group 9"/>
          <p:cNvGrpSpPr/>
          <p:nvPr/>
        </p:nvGrpSpPr>
        <p:grpSpPr>
          <a:xfrm>
            <a:off x="5392881" y="8654158"/>
            <a:ext cx="3956217" cy="1632842"/>
            <a:chOff x="0" y="0"/>
            <a:chExt cx="5274956" cy="2177122"/>
          </a:xfrm>
        </p:grpSpPr>
        <p:sp>
          <p:nvSpPr>
            <p:cNvPr id="10" name="Freeform 10"/>
            <p:cNvSpPr/>
            <p:nvPr/>
          </p:nvSpPr>
          <p:spPr>
            <a:xfrm>
              <a:off x="3" y="27"/>
              <a:ext cx="5274942" cy="2177134"/>
            </a:xfrm>
            <a:custGeom>
              <a:avLst/>
              <a:gdLst/>
              <a:ahLst/>
              <a:cxnLst/>
              <a:rect l="l" t="t" r="r" b="b"/>
              <a:pathLst>
                <a:path w="5274942" h="2177134">
                  <a:moveTo>
                    <a:pt x="1268727" y="3402"/>
                  </a:moveTo>
                  <a:cubicBezTo>
                    <a:pt x="1530728" y="-15140"/>
                    <a:pt x="1800730" y="41756"/>
                    <a:pt x="2045332" y="182853"/>
                  </a:cubicBezTo>
                  <a:lnTo>
                    <a:pt x="4863335" y="1809850"/>
                  </a:lnTo>
                  <a:cubicBezTo>
                    <a:pt x="5026403" y="1903957"/>
                    <a:pt x="5162547" y="2026639"/>
                    <a:pt x="5269354" y="2167990"/>
                  </a:cubicBezTo>
                  <a:lnTo>
                    <a:pt x="5274942" y="2177134"/>
                  </a:lnTo>
                  <a:lnTo>
                    <a:pt x="270253" y="2177134"/>
                  </a:lnTo>
                  <a:lnTo>
                    <a:pt x="138173" y="1961615"/>
                  </a:lnTo>
                  <a:cubicBezTo>
                    <a:pt x="-53343" y="1568042"/>
                    <a:pt x="-52454" y="1089506"/>
                    <a:pt x="182877" y="681963"/>
                  </a:cubicBezTo>
                  <a:cubicBezTo>
                    <a:pt x="418208" y="274420"/>
                    <a:pt x="832101" y="34263"/>
                    <a:pt x="1268727" y="3402"/>
                  </a:cubicBezTo>
                  <a:close/>
                </a:path>
              </a:pathLst>
            </a:custGeom>
            <a:solidFill>
              <a:srgbClr val="EF233C"/>
            </a:solidFill>
          </p:spPr>
          <p:txBody>
            <a:bodyPr/>
            <a:lstStyle/>
            <a:p>
              <a:endParaRPr lang="en-US"/>
            </a:p>
          </p:txBody>
        </p:sp>
      </p:grpSp>
      <p:sp>
        <p:nvSpPr>
          <p:cNvPr id="11" name="TextBox 11"/>
          <p:cNvSpPr txBox="1"/>
          <p:nvPr/>
        </p:nvSpPr>
        <p:spPr>
          <a:xfrm>
            <a:off x="7629123" y="5998457"/>
            <a:ext cx="10329413" cy="821443"/>
          </a:xfrm>
          <a:prstGeom prst="rect">
            <a:avLst/>
          </a:prstGeom>
        </p:spPr>
        <p:txBody>
          <a:bodyPr wrap="square" lIns="0" tIns="0" rIns="0" bIns="0" rtlCol="0" anchor="t">
            <a:spAutoFit/>
          </a:bodyPr>
          <a:lstStyle/>
          <a:p>
            <a:pPr algn="r">
              <a:lnSpc>
                <a:spcPts val="3359"/>
              </a:lnSpc>
            </a:pPr>
            <a:r>
              <a:rPr lang="en-US" sz="2000" i="1" dirty="0">
                <a:solidFill>
                  <a:srgbClr val="000000"/>
                </a:solidFill>
                <a:latin typeface="Arial" panose="020B0604020202020204" pitchFamily="34" charset="0"/>
                <a:ea typeface="Futura"/>
                <a:cs typeface="Arial" panose="020B0604020202020204" pitchFamily="34" charset="0"/>
                <a:sym typeface="Futura"/>
              </a:rPr>
              <a:t>PHÒNG QUẢN TRỊ RỦI RO – TRUNG TÂM VẬN HÀNH KHAI THÁC</a:t>
            </a:r>
          </a:p>
          <a:p>
            <a:pPr algn="r">
              <a:lnSpc>
                <a:spcPts val="3359"/>
              </a:lnSpc>
            </a:pPr>
            <a:r>
              <a:rPr lang="en-US" sz="2000" i="1" dirty="0">
                <a:solidFill>
                  <a:srgbClr val="000000"/>
                </a:solidFill>
                <a:latin typeface="Arial" panose="020B0604020202020204" pitchFamily="34" charset="0"/>
                <a:ea typeface="Futura"/>
                <a:cs typeface="Arial" panose="020B0604020202020204" pitchFamily="34" charset="0"/>
                <a:sym typeface="Futura"/>
              </a:rPr>
              <a:t>THÁNG 8/2026</a:t>
            </a:r>
          </a:p>
        </p:txBody>
      </p:sp>
    </p:spTree>
    <p:extLst>
      <p:ext uri="{BB962C8B-B14F-4D97-AF65-F5344CB8AC3E}">
        <p14:creationId xmlns:p14="http://schemas.microsoft.com/office/powerpoint/2010/main" val="2978998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10371557" y="0"/>
            <a:ext cx="7182512" cy="3378476"/>
            <a:chOff x="0" y="0"/>
            <a:chExt cx="9576682" cy="4504634"/>
          </a:xfrm>
          <a:solidFill>
            <a:srgbClr val="EF233C"/>
          </a:solidFill>
        </p:grpSpPr>
        <p:sp>
          <p:nvSpPr>
            <p:cNvPr id="5" name="Freeform 5"/>
            <p:cNvSpPr/>
            <p:nvPr/>
          </p:nvSpPr>
          <p:spPr>
            <a:xfrm>
              <a:off x="0" y="0"/>
              <a:ext cx="9576708" cy="4504708"/>
            </a:xfrm>
            <a:custGeom>
              <a:avLst/>
              <a:gdLst/>
              <a:ahLst/>
              <a:cxnLst/>
              <a:rect l="l" t="t" r="r" b="b"/>
              <a:pathLst>
                <a:path w="9576708" h="4504708">
                  <a:moveTo>
                    <a:pt x="0" y="0"/>
                  </a:moveTo>
                  <a:lnTo>
                    <a:pt x="5598287" y="0"/>
                  </a:lnTo>
                  <a:lnTo>
                    <a:pt x="8876665" y="1892808"/>
                  </a:lnTo>
                  <a:cubicBezTo>
                    <a:pt x="9546082" y="2279269"/>
                    <a:pt x="9775444" y="3135249"/>
                    <a:pt x="9388983" y="3804666"/>
                  </a:cubicBezTo>
                  <a:cubicBezTo>
                    <a:pt x="9002523" y="4474083"/>
                    <a:pt x="8146542" y="4703445"/>
                    <a:pt x="7477125" y="4316984"/>
                  </a:cubicBezTo>
                  <a:close/>
                </a:path>
              </a:pathLst>
            </a:custGeom>
            <a:grpFill/>
          </p:spPr>
          <p:txBody>
            <a:bodyPr/>
            <a:lstStyle/>
            <a:p>
              <a:endParaRPr lang="en-US"/>
            </a:p>
          </p:txBody>
        </p:sp>
      </p:grpSp>
      <p:grpSp>
        <p:nvGrpSpPr>
          <p:cNvPr id="6" name="Group 6"/>
          <p:cNvGrpSpPr/>
          <p:nvPr/>
        </p:nvGrpSpPr>
        <p:grpSpPr>
          <a:xfrm>
            <a:off x="10105380" y="1163770"/>
            <a:ext cx="8182620" cy="9123230"/>
            <a:chOff x="0" y="0"/>
            <a:chExt cx="10910160" cy="12164306"/>
          </a:xfrm>
        </p:grpSpPr>
        <p:sp>
          <p:nvSpPr>
            <p:cNvPr id="7" name="Freeform 7"/>
            <p:cNvSpPr/>
            <p:nvPr/>
          </p:nvSpPr>
          <p:spPr>
            <a:xfrm>
              <a:off x="12" y="-25"/>
              <a:ext cx="10910177" cy="12164339"/>
            </a:xfrm>
            <a:custGeom>
              <a:avLst/>
              <a:gdLst/>
              <a:ahLst/>
              <a:cxnLst/>
              <a:rect l="l" t="t" r="r" b="b"/>
              <a:pathLst>
                <a:path w="10910177" h="12164339">
                  <a:moveTo>
                    <a:pt x="4732135" y="1549"/>
                  </a:moveTo>
                  <a:cubicBezTo>
                    <a:pt x="5474831" y="20853"/>
                    <a:pt x="6223496" y="220497"/>
                    <a:pt x="6912217" y="618134"/>
                  </a:cubicBezTo>
                  <a:lnTo>
                    <a:pt x="10910177" y="2926359"/>
                  </a:lnTo>
                  <a:lnTo>
                    <a:pt x="10910177" y="12164339"/>
                  </a:lnTo>
                  <a:lnTo>
                    <a:pt x="8595094" y="12164339"/>
                  </a:lnTo>
                  <a:lnTo>
                    <a:pt x="8387703" y="12083440"/>
                  </a:lnTo>
                  <a:cubicBezTo>
                    <a:pt x="8245717" y="12019560"/>
                    <a:pt x="8105510" y="11948058"/>
                    <a:pt x="7967841" y="11868429"/>
                  </a:cubicBezTo>
                  <a:lnTo>
                    <a:pt x="2304530" y="8598814"/>
                  </a:lnTo>
                  <a:cubicBezTo>
                    <a:pt x="100826" y="7326401"/>
                    <a:pt x="-654316" y="4508398"/>
                    <a:pt x="618097" y="2304567"/>
                  </a:cubicBezTo>
                  <a:cubicBezTo>
                    <a:pt x="1492873" y="789457"/>
                    <a:pt x="3098153" y="-40869"/>
                    <a:pt x="4732135" y="1549"/>
                  </a:cubicBezTo>
                  <a:close/>
                </a:path>
              </a:pathLst>
            </a:custGeom>
            <a:blipFill>
              <a:blip r:embed="rId2"/>
              <a:stretch>
                <a:fillRect l="-33673" r="-33673"/>
              </a:stretch>
            </a:blipFill>
          </p:spPr>
          <p:txBody>
            <a:bodyPr/>
            <a:lstStyle/>
            <a:p>
              <a:endParaRPr lang="en-US"/>
            </a:p>
          </p:txBody>
        </p:sp>
      </p:grpSp>
      <p:grpSp>
        <p:nvGrpSpPr>
          <p:cNvPr id="8" name="Group 8"/>
          <p:cNvGrpSpPr/>
          <p:nvPr/>
        </p:nvGrpSpPr>
        <p:grpSpPr>
          <a:xfrm rot="1800000">
            <a:off x="12396354" y="8405928"/>
            <a:ext cx="2629551" cy="601176"/>
            <a:chOff x="0" y="0"/>
            <a:chExt cx="3506068" cy="801568"/>
          </a:xfrm>
        </p:grpSpPr>
        <p:sp>
          <p:nvSpPr>
            <p:cNvPr id="9" name="Freeform 9"/>
            <p:cNvSpPr/>
            <p:nvPr/>
          </p:nvSpPr>
          <p:spPr>
            <a:xfrm>
              <a:off x="0" y="0"/>
              <a:ext cx="3506089" cy="801624"/>
            </a:xfrm>
            <a:custGeom>
              <a:avLst/>
              <a:gdLst/>
              <a:ahLst/>
              <a:cxnLst/>
              <a:rect l="l" t="t" r="r" b="b"/>
              <a:pathLst>
                <a:path w="3506089" h="801624">
                  <a:moveTo>
                    <a:pt x="0" y="400812"/>
                  </a:moveTo>
                  <a:cubicBezTo>
                    <a:pt x="0" y="179451"/>
                    <a:pt x="179451" y="0"/>
                    <a:pt x="400812" y="0"/>
                  </a:cubicBezTo>
                  <a:lnTo>
                    <a:pt x="3105277" y="0"/>
                  </a:lnTo>
                  <a:cubicBezTo>
                    <a:pt x="3326638" y="0"/>
                    <a:pt x="3506089" y="179451"/>
                    <a:pt x="3506089" y="400812"/>
                  </a:cubicBezTo>
                  <a:cubicBezTo>
                    <a:pt x="3506089" y="622173"/>
                    <a:pt x="3326638" y="801624"/>
                    <a:pt x="3105277" y="801624"/>
                  </a:cubicBezTo>
                  <a:lnTo>
                    <a:pt x="400812" y="801624"/>
                  </a:lnTo>
                  <a:cubicBezTo>
                    <a:pt x="179451" y="801624"/>
                    <a:pt x="0" y="622173"/>
                    <a:pt x="0" y="400812"/>
                  </a:cubicBezTo>
                  <a:close/>
                </a:path>
              </a:pathLst>
            </a:custGeom>
            <a:solidFill>
              <a:srgbClr val="EF233C"/>
            </a:solidFill>
          </p:spPr>
          <p:txBody>
            <a:bodyPr/>
            <a:lstStyle/>
            <a:p>
              <a:endParaRPr lang="en-US"/>
            </a:p>
          </p:txBody>
        </p:sp>
      </p:grpSp>
      <p:grpSp>
        <p:nvGrpSpPr>
          <p:cNvPr id="10" name="Group 10"/>
          <p:cNvGrpSpPr/>
          <p:nvPr/>
        </p:nvGrpSpPr>
        <p:grpSpPr>
          <a:xfrm rot="1800000">
            <a:off x="15257803" y="1541500"/>
            <a:ext cx="1750264" cy="1145520"/>
            <a:chOff x="0" y="0"/>
            <a:chExt cx="2333686" cy="1527360"/>
          </a:xfrm>
        </p:grpSpPr>
        <p:sp>
          <p:nvSpPr>
            <p:cNvPr id="11" name="Freeform 11"/>
            <p:cNvSpPr/>
            <p:nvPr/>
          </p:nvSpPr>
          <p:spPr>
            <a:xfrm>
              <a:off x="0" y="0"/>
              <a:ext cx="2333625" cy="1527302"/>
            </a:xfrm>
            <a:custGeom>
              <a:avLst/>
              <a:gdLst/>
              <a:ahLst/>
              <a:cxnLst/>
              <a:rect l="l" t="t" r="r" b="b"/>
              <a:pathLst>
                <a:path w="2333625" h="1527302">
                  <a:moveTo>
                    <a:pt x="0" y="763651"/>
                  </a:moveTo>
                  <a:cubicBezTo>
                    <a:pt x="0" y="341884"/>
                    <a:pt x="341884" y="0"/>
                    <a:pt x="763651" y="0"/>
                  </a:cubicBezTo>
                  <a:lnTo>
                    <a:pt x="1569974" y="0"/>
                  </a:lnTo>
                  <a:cubicBezTo>
                    <a:pt x="1991741" y="0"/>
                    <a:pt x="2333625" y="341884"/>
                    <a:pt x="2333625" y="763651"/>
                  </a:cubicBezTo>
                  <a:cubicBezTo>
                    <a:pt x="2333625" y="1185418"/>
                    <a:pt x="1991741" y="1527302"/>
                    <a:pt x="1569974" y="1527302"/>
                  </a:cubicBezTo>
                  <a:lnTo>
                    <a:pt x="763651" y="1527302"/>
                  </a:lnTo>
                  <a:cubicBezTo>
                    <a:pt x="341884" y="1527302"/>
                    <a:pt x="0" y="1185418"/>
                    <a:pt x="0" y="763651"/>
                  </a:cubicBezTo>
                  <a:close/>
                </a:path>
              </a:pathLst>
            </a:custGeom>
            <a:solidFill>
              <a:srgbClr val="FFFFFF"/>
            </a:solidFill>
          </p:spPr>
          <p:txBody>
            <a:bodyPr/>
            <a:lstStyle/>
            <a:p>
              <a:endParaRPr lang="en-US"/>
            </a:p>
          </p:txBody>
        </p:sp>
      </p:grpSp>
      <p:sp>
        <p:nvSpPr>
          <p:cNvPr id="16" name="Rounded Rectangle 15"/>
          <p:cNvSpPr/>
          <p:nvPr/>
        </p:nvSpPr>
        <p:spPr>
          <a:xfrm>
            <a:off x="559332" y="3895497"/>
            <a:ext cx="1023258" cy="1023258"/>
          </a:xfrm>
          <a:prstGeom prst="round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a:latin typeface="Arial" panose="020B0604020202020204" pitchFamily="34" charset="0"/>
                <a:cs typeface="Arial" panose="020B0604020202020204" pitchFamily="34" charset="0"/>
              </a:rPr>
              <a:t>02</a:t>
            </a:r>
            <a:endParaRPr lang="vi-VN" sz="4000" b="1" dirty="0">
              <a:latin typeface="Arial" panose="020B0604020202020204" pitchFamily="34" charset="0"/>
              <a:cs typeface="Arial" panose="020B0604020202020204" pitchFamily="34" charset="0"/>
            </a:endParaRPr>
          </a:p>
        </p:txBody>
      </p:sp>
      <p:sp>
        <p:nvSpPr>
          <p:cNvPr id="17" name="Rounded Rectangle 16"/>
          <p:cNvSpPr/>
          <p:nvPr/>
        </p:nvSpPr>
        <p:spPr>
          <a:xfrm>
            <a:off x="559332" y="5607723"/>
            <a:ext cx="1023258" cy="1023258"/>
          </a:xfrm>
          <a:prstGeom prst="round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a:latin typeface="Arial" panose="020B0604020202020204" pitchFamily="34" charset="0"/>
                <a:cs typeface="Arial" panose="020B0604020202020204" pitchFamily="34" charset="0"/>
              </a:rPr>
              <a:t>03</a:t>
            </a:r>
            <a:endParaRPr lang="vi-VN" sz="4000" b="1" dirty="0">
              <a:latin typeface="Arial" panose="020B0604020202020204" pitchFamily="34" charset="0"/>
              <a:cs typeface="Arial" panose="020B0604020202020204" pitchFamily="34" charset="0"/>
            </a:endParaRPr>
          </a:p>
        </p:txBody>
      </p:sp>
      <p:sp>
        <p:nvSpPr>
          <p:cNvPr id="18" name="Rounded Rectangle 17"/>
          <p:cNvSpPr/>
          <p:nvPr/>
        </p:nvSpPr>
        <p:spPr>
          <a:xfrm>
            <a:off x="559332" y="7277100"/>
            <a:ext cx="1023258" cy="1023258"/>
          </a:xfrm>
          <a:prstGeom prst="round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a:latin typeface="Arial" panose="020B0604020202020204" pitchFamily="34" charset="0"/>
                <a:cs typeface="Arial" panose="020B0604020202020204" pitchFamily="34" charset="0"/>
              </a:rPr>
              <a:t>04</a:t>
            </a:r>
            <a:endParaRPr lang="vi-VN" sz="4000" b="1" dirty="0">
              <a:latin typeface="Arial" panose="020B0604020202020204" pitchFamily="34" charset="0"/>
              <a:cs typeface="Arial" panose="020B0604020202020204" pitchFamily="34" charset="0"/>
            </a:endParaRPr>
          </a:p>
        </p:txBody>
      </p:sp>
      <p:sp>
        <p:nvSpPr>
          <p:cNvPr id="21" name="Rectangle 20"/>
          <p:cNvSpPr/>
          <p:nvPr/>
        </p:nvSpPr>
        <p:spPr>
          <a:xfrm>
            <a:off x="1680236" y="3959106"/>
            <a:ext cx="8137164" cy="646331"/>
          </a:xfrm>
          <a:prstGeom prst="rect">
            <a:avLst/>
          </a:prstGeom>
        </p:spPr>
        <p:txBody>
          <a:bodyPr wrap="none">
            <a:spAutoFit/>
          </a:bodyPr>
          <a:lstStyle/>
          <a:p>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Mục</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tiêu</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bối</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cảnh</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và</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phạm</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vi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dự</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án</a:t>
            </a:r>
            <a:endPar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sp>
        <p:nvSpPr>
          <p:cNvPr id="22" name="Rectangle 21"/>
          <p:cNvSpPr/>
          <p:nvPr/>
        </p:nvSpPr>
        <p:spPr>
          <a:xfrm>
            <a:off x="1680236" y="4524771"/>
            <a:ext cx="6412333" cy="400110"/>
          </a:xfrm>
          <a:prstGeom prst="rect">
            <a:avLst/>
          </a:prstGeom>
        </p:spPr>
        <p:txBody>
          <a:bodyPr wrap="none">
            <a:spAutoFit/>
          </a:bodyPr>
          <a:lstStyle/>
          <a:p>
            <a:pPr marL="342900" indent="-342900">
              <a:buFontTx/>
              <a:buChar char="-"/>
            </a:pPr>
            <a:r>
              <a:rPr lang="en-US" sz="2000" dirty="0" err="1">
                <a:latin typeface="Arial" panose="020B0604020202020204" pitchFamily="34" charset="0"/>
                <a:ea typeface="Calibri" pitchFamily="34" charset="-122"/>
                <a:cs typeface="Arial" panose="020B0604020202020204" pitchFamily="34" charset="0"/>
              </a:rPr>
              <a:t>Mục</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tiêu</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bối</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cảnh</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và</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phạm</a:t>
            </a:r>
            <a:r>
              <a:rPr lang="en-US" sz="2000" dirty="0">
                <a:latin typeface="Arial" panose="020B0604020202020204" pitchFamily="34" charset="0"/>
                <a:ea typeface="Calibri" pitchFamily="34" charset="-122"/>
                <a:cs typeface="Arial" panose="020B0604020202020204" pitchFamily="34" charset="0"/>
              </a:rPr>
              <a:t> vi </a:t>
            </a:r>
            <a:r>
              <a:rPr lang="en-US" sz="2000" dirty="0" err="1">
                <a:latin typeface="Arial" panose="020B0604020202020204" pitchFamily="34" charset="0"/>
                <a:ea typeface="Calibri" pitchFamily="34" charset="-122"/>
                <a:cs typeface="Arial" panose="020B0604020202020204" pitchFamily="34" charset="0"/>
              </a:rPr>
              <a:t>triển</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khai</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dự</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án</a:t>
            </a:r>
            <a:r>
              <a:rPr lang="en-US" sz="2000" dirty="0">
                <a:latin typeface="Arial" panose="020B0604020202020204" pitchFamily="34" charset="0"/>
                <a:ea typeface="Calibri" pitchFamily="34" charset="-122"/>
                <a:cs typeface="Arial" panose="020B0604020202020204" pitchFamily="34" charset="0"/>
              </a:rPr>
              <a:t> ERM</a:t>
            </a:r>
          </a:p>
        </p:txBody>
      </p:sp>
      <p:sp>
        <p:nvSpPr>
          <p:cNvPr id="24" name="Rectangle 23"/>
          <p:cNvSpPr/>
          <p:nvPr/>
        </p:nvSpPr>
        <p:spPr>
          <a:xfrm>
            <a:off x="1676400" y="5567961"/>
            <a:ext cx="6211957" cy="646331"/>
          </a:xfrm>
          <a:prstGeom prst="rect">
            <a:avLst/>
          </a:prstGeom>
        </p:spPr>
        <p:txBody>
          <a:bodyPr wrap="none">
            <a:spAutoFit/>
          </a:bodyPr>
          <a:lstStyle/>
          <a:p>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Lộ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trình</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triển</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khai</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kế</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hoạch</a:t>
            </a:r>
            <a:endPar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sp>
        <p:nvSpPr>
          <p:cNvPr id="25" name="Rectangle 24"/>
          <p:cNvSpPr/>
          <p:nvPr/>
        </p:nvSpPr>
        <p:spPr>
          <a:xfrm>
            <a:off x="1676400" y="6155475"/>
            <a:ext cx="3679212" cy="400110"/>
          </a:xfrm>
          <a:prstGeom prst="rect">
            <a:avLst/>
          </a:prstGeom>
        </p:spPr>
        <p:txBody>
          <a:bodyPr wrap="none">
            <a:spAutoFit/>
          </a:bodyPr>
          <a:lstStyle/>
          <a:p>
            <a:pPr marL="342900" indent="-342900">
              <a:buFontTx/>
              <a:buChar char="-"/>
            </a:pPr>
            <a:r>
              <a:rPr lang="en-US" sz="2000" dirty="0">
                <a:latin typeface="Arial" panose="020B0604020202020204" pitchFamily="34" charset="0"/>
                <a:ea typeface="Calibri" pitchFamily="34" charset="-122"/>
                <a:cs typeface="Arial" panose="020B0604020202020204" pitchFamily="34" charset="0"/>
              </a:rPr>
              <a:t>Ba </a:t>
            </a:r>
            <a:r>
              <a:rPr lang="en-US" sz="2000" dirty="0" err="1">
                <a:latin typeface="Arial" panose="020B0604020202020204" pitchFamily="34" charset="0"/>
                <a:ea typeface="Calibri" pitchFamily="34" charset="-122"/>
                <a:cs typeface="Arial" panose="020B0604020202020204" pitchFamily="34" charset="0"/>
              </a:rPr>
              <a:t>giai</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đoạn</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trong</a:t>
            </a:r>
            <a:r>
              <a:rPr lang="en-US" sz="2000" dirty="0">
                <a:latin typeface="Arial" panose="020B0604020202020204" pitchFamily="34" charset="0"/>
                <a:ea typeface="Calibri" pitchFamily="34" charset="-122"/>
                <a:cs typeface="Arial" panose="020B0604020202020204" pitchFamily="34" charset="0"/>
              </a:rPr>
              <a:t> 14 </a:t>
            </a:r>
            <a:r>
              <a:rPr lang="en-US" sz="2000" dirty="0" err="1">
                <a:latin typeface="Arial" panose="020B0604020202020204" pitchFamily="34" charset="0"/>
                <a:ea typeface="Calibri" pitchFamily="34" charset="-122"/>
                <a:cs typeface="Arial" panose="020B0604020202020204" pitchFamily="34" charset="0"/>
              </a:rPr>
              <a:t>tháng</a:t>
            </a:r>
            <a:endParaRPr lang="en-US" sz="2000" dirty="0">
              <a:latin typeface="Arial" panose="020B0604020202020204" pitchFamily="34" charset="0"/>
              <a:ea typeface="Calibri" pitchFamily="34" charset="-122"/>
              <a:cs typeface="Arial" panose="020B0604020202020204" pitchFamily="34" charset="0"/>
            </a:endParaRPr>
          </a:p>
        </p:txBody>
      </p:sp>
      <p:sp>
        <p:nvSpPr>
          <p:cNvPr id="28" name="Rectangle 27"/>
          <p:cNvSpPr/>
          <p:nvPr/>
        </p:nvSpPr>
        <p:spPr>
          <a:xfrm>
            <a:off x="1676400" y="7314180"/>
            <a:ext cx="7742825" cy="646331"/>
          </a:xfrm>
          <a:prstGeom prst="rect">
            <a:avLst/>
          </a:prstGeom>
        </p:spPr>
        <p:txBody>
          <a:bodyPr wrap="none">
            <a:spAutoFit/>
          </a:bodyPr>
          <a:lstStyle/>
          <a:p>
            <a:r>
              <a:rPr lang="vi-VN"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Cơ cấu tổ chức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và</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luồng</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phối</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hợp</a:t>
            </a:r>
            <a:endParaRPr lang="vi-VN" sz="36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sp>
        <p:nvSpPr>
          <p:cNvPr id="29" name="Rectangle 28"/>
          <p:cNvSpPr/>
          <p:nvPr/>
        </p:nvSpPr>
        <p:spPr>
          <a:xfrm>
            <a:off x="1676400" y="7879845"/>
            <a:ext cx="6790833" cy="400110"/>
          </a:xfrm>
          <a:prstGeom prst="rect">
            <a:avLst/>
          </a:prstGeom>
        </p:spPr>
        <p:txBody>
          <a:bodyPr wrap="none">
            <a:spAutoFit/>
          </a:bodyPr>
          <a:lstStyle/>
          <a:p>
            <a:pPr marL="342900" indent="-342900">
              <a:buFontTx/>
              <a:buChar char="-"/>
            </a:pPr>
            <a:r>
              <a:rPr lang="en-US" sz="2000" dirty="0">
                <a:latin typeface="Arial" panose="020B0604020202020204" pitchFamily="34" charset="0"/>
                <a:ea typeface="Calibri" pitchFamily="34" charset="-122"/>
                <a:cs typeface="Arial" panose="020B0604020202020204" pitchFamily="34" charset="0"/>
              </a:rPr>
              <a:t>Vai </a:t>
            </a:r>
            <a:r>
              <a:rPr lang="en-US" sz="2000" dirty="0" err="1">
                <a:latin typeface="Arial" panose="020B0604020202020204" pitchFamily="34" charset="0"/>
                <a:ea typeface="Calibri" pitchFamily="34" charset="-122"/>
                <a:cs typeface="Arial" panose="020B0604020202020204" pitchFamily="34" charset="0"/>
              </a:rPr>
              <a:t>trò</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các</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bên</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trong</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dự</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án</a:t>
            </a:r>
            <a:r>
              <a:rPr lang="en-US" sz="2000" dirty="0">
                <a:latin typeface="Arial" panose="020B0604020202020204" pitchFamily="34" charset="0"/>
                <a:ea typeface="Calibri" pitchFamily="34" charset="-122"/>
                <a:cs typeface="Arial" panose="020B0604020202020204" pitchFamily="34" charset="0"/>
              </a:rPr>
              <a:t> &amp; </a:t>
            </a:r>
            <a:r>
              <a:rPr lang="en-US" sz="2000" dirty="0" err="1">
                <a:latin typeface="Arial" panose="020B0604020202020204" pitchFamily="34" charset="0"/>
                <a:ea typeface="Calibri" pitchFamily="34" charset="-122"/>
                <a:cs typeface="Arial" panose="020B0604020202020204" pitchFamily="34" charset="0"/>
              </a:rPr>
              <a:t>luồng</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phối</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hợp</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công</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việc</a:t>
            </a:r>
            <a:endParaRPr lang="en-US" sz="2000" dirty="0">
              <a:latin typeface="Arial" panose="020B0604020202020204" pitchFamily="34" charset="0"/>
              <a:ea typeface="Calibri" pitchFamily="34" charset="-122"/>
              <a:cs typeface="Arial" panose="020B0604020202020204" pitchFamily="34" charset="0"/>
            </a:endParaRPr>
          </a:p>
        </p:txBody>
      </p:sp>
      <p:sp>
        <p:nvSpPr>
          <p:cNvPr id="26" name="Rounded Rectangle 25"/>
          <p:cNvSpPr/>
          <p:nvPr/>
        </p:nvSpPr>
        <p:spPr>
          <a:xfrm>
            <a:off x="559332" y="2123730"/>
            <a:ext cx="1023258" cy="1023258"/>
          </a:xfrm>
          <a:prstGeom prst="round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000" b="1">
                <a:latin typeface="Arial" panose="020B0604020202020204" pitchFamily="34" charset="0"/>
                <a:cs typeface="Arial" panose="020B0604020202020204" pitchFamily="34" charset="0"/>
              </a:rPr>
              <a:t>01</a:t>
            </a:r>
            <a:endParaRPr lang="vi-VN" sz="4000" b="1" dirty="0">
              <a:latin typeface="Arial" panose="020B0604020202020204" pitchFamily="34" charset="0"/>
              <a:cs typeface="Arial" panose="020B0604020202020204" pitchFamily="34" charset="0"/>
            </a:endParaRPr>
          </a:p>
        </p:txBody>
      </p:sp>
      <p:sp>
        <p:nvSpPr>
          <p:cNvPr id="31" name="Rectangle 30"/>
          <p:cNvSpPr/>
          <p:nvPr/>
        </p:nvSpPr>
        <p:spPr>
          <a:xfrm>
            <a:off x="1676400" y="2160810"/>
            <a:ext cx="9238426" cy="646331"/>
          </a:xfrm>
          <a:prstGeom prst="rect">
            <a:avLst/>
          </a:prstGeom>
        </p:spPr>
        <p:txBody>
          <a:bodyPr wrap="none">
            <a:spAutoFit/>
          </a:bodyPr>
          <a:lstStyle/>
          <a:p>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Tổng</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quan</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về</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QTRR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doanh</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a:t>
            </a:r>
            <a:r>
              <a:rPr lang="en-US" sz="3600" b="1" dirty="0" err="1">
                <a:solidFill>
                  <a:srgbClr val="EF233C"/>
                </a:solidFill>
                <a:latin typeface="Arial" panose="020B0604020202020204" pitchFamily="34" charset="0"/>
                <a:ea typeface="Segoe UI Black" panose="020B0A02040204020203" pitchFamily="34" charset="0"/>
                <a:cs typeface="Arial" panose="020B0604020202020204" pitchFamily="34" charset="0"/>
              </a:rPr>
              <a:t>nghiệp</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(ERM)</a:t>
            </a:r>
          </a:p>
        </p:txBody>
      </p:sp>
      <p:sp>
        <p:nvSpPr>
          <p:cNvPr id="32" name="Rectangle 31"/>
          <p:cNvSpPr/>
          <p:nvPr/>
        </p:nvSpPr>
        <p:spPr>
          <a:xfrm>
            <a:off x="1676400" y="2726475"/>
            <a:ext cx="3493264" cy="707886"/>
          </a:xfrm>
          <a:prstGeom prst="rect">
            <a:avLst/>
          </a:prstGeom>
        </p:spPr>
        <p:txBody>
          <a:bodyPr wrap="none">
            <a:spAutoFit/>
          </a:bodyPr>
          <a:lstStyle/>
          <a:p>
            <a:pPr marL="342900" indent="-342900">
              <a:buFontTx/>
              <a:buChar char="-"/>
            </a:pPr>
            <a:r>
              <a:rPr lang="en-US" sz="2000" dirty="0" err="1">
                <a:latin typeface="Arial" panose="020B0604020202020204" pitchFamily="34" charset="0"/>
                <a:ea typeface="Calibri" pitchFamily="34" charset="-122"/>
                <a:cs typeface="Arial" panose="020B0604020202020204" pitchFamily="34" charset="0"/>
              </a:rPr>
              <a:t>Tổng</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quan</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về</a:t>
            </a:r>
            <a:r>
              <a:rPr lang="en-US" sz="2000" dirty="0">
                <a:latin typeface="Arial" panose="020B0604020202020204" pitchFamily="34" charset="0"/>
                <a:ea typeface="Calibri" pitchFamily="34" charset="-122"/>
                <a:cs typeface="Arial" panose="020B0604020202020204" pitchFamily="34" charset="0"/>
              </a:rPr>
              <a:t> ERM  </a:t>
            </a:r>
          </a:p>
          <a:p>
            <a:pPr marL="342900" indent="-342900">
              <a:buFontTx/>
              <a:buChar char="-"/>
            </a:pPr>
            <a:r>
              <a:rPr lang="en-US" sz="2000" dirty="0" err="1">
                <a:latin typeface="Arial" panose="020B0604020202020204" pitchFamily="34" charset="0"/>
                <a:ea typeface="Calibri" pitchFamily="34" charset="-122"/>
                <a:cs typeface="Arial" panose="020B0604020202020204" pitchFamily="34" charset="0"/>
              </a:rPr>
              <a:t>Vì</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sao</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cần</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triển</a:t>
            </a:r>
            <a:r>
              <a:rPr lang="en-US" sz="2000" dirty="0">
                <a:latin typeface="Arial" panose="020B0604020202020204" pitchFamily="34" charset="0"/>
                <a:ea typeface="Calibri" pitchFamily="34" charset="-122"/>
                <a:cs typeface="Arial" panose="020B0604020202020204" pitchFamily="34" charset="0"/>
              </a:rPr>
              <a:t> </a:t>
            </a:r>
            <a:r>
              <a:rPr lang="en-US" sz="2000" dirty="0" err="1">
                <a:latin typeface="Arial" panose="020B0604020202020204" pitchFamily="34" charset="0"/>
                <a:ea typeface="Calibri" pitchFamily="34" charset="-122"/>
                <a:cs typeface="Arial" panose="020B0604020202020204" pitchFamily="34" charset="0"/>
              </a:rPr>
              <a:t>khai</a:t>
            </a:r>
            <a:r>
              <a:rPr lang="en-US" sz="2000" dirty="0">
                <a:latin typeface="Arial" panose="020B0604020202020204" pitchFamily="34" charset="0"/>
                <a:ea typeface="Calibri" pitchFamily="34" charset="-122"/>
                <a:cs typeface="Arial" panose="020B0604020202020204" pitchFamily="34" charset="0"/>
              </a:rPr>
              <a:t> ERM</a:t>
            </a:r>
          </a:p>
        </p:txBody>
      </p:sp>
    </p:spTree>
    <p:extLst>
      <p:ext uri="{BB962C8B-B14F-4D97-AF65-F5344CB8AC3E}">
        <p14:creationId xmlns:p14="http://schemas.microsoft.com/office/powerpoint/2010/main" val="1489132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664214" y="0"/>
            <a:ext cx="5658816" cy="2538160"/>
            <a:chOff x="0" y="0"/>
            <a:chExt cx="7545088" cy="3384214"/>
          </a:xfrm>
        </p:grpSpPr>
        <p:sp>
          <p:nvSpPr>
            <p:cNvPr id="4" name="Freeform 4"/>
            <p:cNvSpPr/>
            <p:nvPr/>
          </p:nvSpPr>
          <p:spPr>
            <a:xfrm>
              <a:off x="0" y="0"/>
              <a:ext cx="7545129" cy="3384228"/>
            </a:xfrm>
            <a:custGeom>
              <a:avLst/>
              <a:gdLst/>
              <a:ahLst/>
              <a:cxnLst/>
              <a:rect l="l" t="t" r="r" b="b"/>
              <a:pathLst>
                <a:path w="7545129" h="3384228">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EF233C"/>
            </a:solidFill>
          </p:spPr>
          <p:txBody>
            <a:bodyPr/>
            <a:lstStyle/>
            <a:p>
              <a:endParaRPr lang="en-US"/>
            </a:p>
          </p:txBody>
        </p:sp>
      </p:grpSp>
      <p:grpSp>
        <p:nvGrpSpPr>
          <p:cNvPr id="5" name="Group 5"/>
          <p:cNvGrpSpPr/>
          <p:nvPr/>
        </p:nvGrpSpPr>
        <p:grpSpPr>
          <a:xfrm>
            <a:off x="0" y="803518"/>
            <a:ext cx="8786678" cy="9483482"/>
            <a:chOff x="0" y="0"/>
            <a:chExt cx="11715570" cy="12644642"/>
          </a:xfrm>
        </p:grpSpPr>
        <p:sp>
          <p:nvSpPr>
            <p:cNvPr id="6" name="Freeform 6"/>
            <p:cNvSpPr/>
            <p:nvPr/>
          </p:nvSpPr>
          <p:spPr>
            <a:xfrm>
              <a:off x="0" y="-31"/>
              <a:ext cx="11715574" cy="12644660"/>
            </a:xfrm>
            <a:custGeom>
              <a:avLst/>
              <a:gdLst/>
              <a:ahLst/>
              <a:cxnLst/>
              <a:rect l="l" t="t" r="r" b="b"/>
              <a:pathLst>
                <a:path w="11715574" h="12644660">
                  <a:moveTo>
                    <a:pt x="2338324" y="1809"/>
                  </a:moveTo>
                  <a:cubicBezTo>
                    <a:pt x="3612515" y="-26766"/>
                    <a:pt x="4910328" y="282606"/>
                    <a:pt x="6094730" y="966374"/>
                  </a:cubicBezTo>
                  <a:lnTo>
                    <a:pt x="8112506" y="2131345"/>
                  </a:lnTo>
                  <a:cubicBezTo>
                    <a:pt x="11558016" y="4120546"/>
                    <a:pt x="12738481" y="8526303"/>
                    <a:pt x="10749280" y="11971813"/>
                  </a:cubicBezTo>
                  <a:cubicBezTo>
                    <a:pt x="10624947" y="12187206"/>
                    <a:pt x="10491216" y="12393707"/>
                    <a:pt x="10348849" y="12591066"/>
                  </a:cubicBezTo>
                  <a:lnTo>
                    <a:pt x="10305923" y="12644659"/>
                  </a:lnTo>
                  <a:lnTo>
                    <a:pt x="0" y="12644659"/>
                  </a:lnTo>
                  <a:lnTo>
                    <a:pt x="0" y="446817"/>
                  </a:lnTo>
                  <a:lnTo>
                    <a:pt x="296799" y="344074"/>
                  </a:lnTo>
                  <a:cubicBezTo>
                    <a:pt x="955421" y="133508"/>
                    <a:pt x="1643380" y="17430"/>
                    <a:pt x="2338324" y="1809"/>
                  </a:cubicBezTo>
                  <a:close/>
                </a:path>
              </a:pathLst>
            </a:custGeom>
            <a:blipFill>
              <a:blip r:embed="rId2"/>
              <a:stretch>
                <a:fillRect l="-25591" r="-36303"/>
              </a:stretch>
            </a:blipFill>
          </p:spPr>
          <p:txBody>
            <a:bodyPr/>
            <a:lstStyle/>
            <a:p>
              <a:endParaRPr lang="en-US"/>
            </a:p>
          </p:txBody>
        </p:sp>
      </p:grpSp>
      <p:grpSp>
        <p:nvGrpSpPr>
          <p:cNvPr id="7" name="Group 7"/>
          <p:cNvGrpSpPr/>
          <p:nvPr/>
        </p:nvGrpSpPr>
        <p:grpSpPr>
          <a:xfrm rot="1800000">
            <a:off x="5011489" y="1324627"/>
            <a:ext cx="2536481" cy="411363"/>
            <a:chOff x="0" y="0"/>
            <a:chExt cx="3381974" cy="548484"/>
          </a:xfrm>
        </p:grpSpPr>
        <p:sp>
          <p:nvSpPr>
            <p:cNvPr id="8" name="Freeform 8"/>
            <p:cNvSpPr/>
            <p:nvPr/>
          </p:nvSpPr>
          <p:spPr>
            <a:xfrm>
              <a:off x="0" y="0"/>
              <a:ext cx="3381883" cy="548386"/>
            </a:xfrm>
            <a:custGeom>
              <a:avLst/>
              <a:gdLst/>
              <a:ahLst/>
              <a:cxnLst/>
              <a:rect l="l" t="t" r="r" b="b"/>
              <a:pathLst>
                <a:path w="3381883" h="548386">
                  <a:moveTo>
                    <a:pt x="0" y="274193"/>
                  </a:moveTo>
                  <a:cubicBezTo>
                    <a:pt x="0" y="122809"/>
                    <a:pt x="122809" y="0"/>
                    <a:pt x="274193" y="0"/>
                  </a:cubicBezTo>
                  <a:lnTo>
                    <a:pt x="3107690" y="0"/>
                  </a:lnTo>
                  <a:cubicBezTo>
                    <a:pt x="3259201" y="0"/>
                    <a:pt x="3381883" y="122809"/>
                    <a:pt x="3381883" y="274193"/>
                  </a:cubicBezTo>
                  <a:cubicBezTo>
                    <a:pt x="3381883" y="425577"/>
                    <a:pt x="3259074" y="548386"/>
                    <a:pt x="3107690" y="548386"/>
                  </a:cubicBezTo>
                  <a:lnTo>
                    <a:pt x="274193" y="548386"/>
                  </a:lnTo>
                  <a:cubicBezTo>
                    <a:pt x="122809" y="548513"/>
                    <a:pt x="0" y="425704"/>
                    <a:pt x="0" y="274193"/>
                  </a:cubicBezTo>
                  <a:close/>
                </a:path>
              </a:pathLst>
            </a:custGeom>
            <a:solidFill>
              <a:srgbClr val="F2F2F2"/>
            </a:solidFill>
          </p:spPr>
          <p:txBody>
            <a:bodyPr/>
            <a:lstStyle/>
            <a:p>
              <a:endParaRPr lang="en-US"/>
            </a:p>
          </p:txBody>
        </p:sp>
      </p:grpSp>
      <p:grpSp>
        <p:nvGrpSpPr>
          <p:cNvPr id="9" name="Group 9"/>
          <p:cNvGrpSpPr/>
          <p:nvPr/>
        </p:nvGrpSpPr>
        <p:grpSpPr>
          <a:xfrm>
            <a:off x="5392881" y="8654158"/>
            <a:ext cx="3956217" cy="1632842"/>
            <a:chOff x="0" y="0"/>
            <a:chExt cx="5274956" cy="2177122"/>
          </a:xfrm>
        </p:grpSpPr>
        <p:sp>
          <p:nvSpPr>
            <p:cNvPr id="10" name="Freeform 10"/>
            <p:cNvSpPr/>
            <p:nvPr/>
          </p:nvSpPr>
          <p:spPr>
            <a:xfrm>
              <a:off x="3" y="27"/>
              <a:ext cx="5274942" cy="2177134"/>
            </a:xfrm>
            <a:custGeom>
              <a:avLst/>
              <a:gdLst/>
              <a:ahLst/>
              <a:cxnLst/>
              <a:rect l="l" t="t" r="r" b="b"/>
              <a:pathLst>
                <a:path w="5274942" h="2177134">
                  <a:moveTo>
                    <a:pt x="1268727" y="3402"/>
                  </a:moveTo>
                  <a:cubicBezTo>
                    <a:pt x="1530728" y="-15140"/>
                    <a:pt x="1800730" y="41756"/>
                    <a:pt x="2045332" y="182853"/>
                  </a:cubicBezTo>
                  <a:lnTo>
                    <a:pt x="4863335" y="1809850"/>
                  </a:lnTo>
                  <a:cubicBezTo>
                    <a:pt x="5026403" y="1903957"/>
                    <a:pt x="5162547" y="2026639"/>
                    <a:pt x="5269354" y="2167990"/>
                  </a:cubicBezTo>
                  <a:lnTo>
                    <a:pt x="5274942" y="2177134"/>
                  </a:lnTo>
                  <a:lnTo>
                    <a:pt x="270253" y="2177134"/>
                  </a:lnTo>
                  <a:lnTo>
                    <a:pt x="138173" y="1961615"/>
                  </a:lnTo>
                  <a:cubicBezTo>
                    <a:pt x="-53343" y="1568042"/>
                    <a:pt x="-52454" y="1089506"/>
                    <a:pt x="182877" y="681963"/>
                  </a:cubicBezTo>
                  <a:cubicBezTo>
                    <a:pt x="418208" y="274420"/>
                    <a:pt x="832101" y="34263"/>
                    <a:pt x="1268727" y="3402"/>
                  </a:cubicBezTo>
                  <a:close/>
                </a:path>
              </a:pathLst>
            </a:custGeom>
            <a:solidFill>
              <a:srgbClr val="EF233C"/>
            </a:solidFill>
          </p:spPr>
          <p:txBody>
            <a:bodyPr/>
            <a:lstStyle/>
            <a:p>
              <a:endParaRPr lang="en-US"/>
            </a:p>
          </p:txBody>
        </p:sp>
      </p:grpSp>
      <p:sp>
        <p:nvSpPr>
          <p:cNvPr id="11" name="Rectangle 10"/>
          <p:cNvSpPr/>
          <p:nvPr/>
        </p:nvSpPr>
        <p:spPr>
          <a:xfrm>
            <a:off x="8786681" y="5362462"/>
            <a:ext cx="8931427" cy="1200329"/>
          </a:xfrm>
          <a:prstGeom prst="rect">
            <a:avLst/>
          </a:prstGeom>
        </p:spPr>
        <p:txBody>
          <a:bodyPr wrap="square">
            <a:spAutoFit/>
          </a:bodyPr>
          <a:lstStyle/>
          <a:p>
            <a:pPr algn="r"/>
            <a:r>
              <a:rPr lang="en-US" sz="3600" b="1">
                <a:solidFill>
                  <a:srgbClr val="EF233C"/>
                </a:solidFill>
                <a:latin typeface="Arial" panose="020B0604020202020204" pitchFamily="34" charset="0"/>
                <a:ea typeface="Segoe UI Black" panose="020B0A02040204020203" pitchFamily="34" charset="0"/>
                <a:cs typeface="Arial" panose="020B0604020202020204" pitchFamily="34" charset="0"/>
              </a:rPr>
              <a:t>TỔNG QUAN VỀ QTRR DOANH NGHIỆP </a:t>
            </a:r>
          </a:p>
          <a:p>
            <a:pPr algn="r"/>
            <a:r>
              <a:rPr lang="en-US" sz="3600" b="1">
                <a:solidFill>
                  <a:srgbClr val="EF233C"/>
                </a:solidFill>
                <a:latin typeface="Arial" panose="020B0604020202020204" pitchFamily="34" charset="0"/>
                <a:ea typeface="Segoe UI Black" panose="020B0A02040204020203" pitchFamily="34" charset="0"/>
                <a:cs typeface="Arial" panose="020B0604020202020204" pitchFamily="34" charset="0"/>
              </a:rPr>
              <a:t>(ERM)</a:t>
            </a:r>
            <a:endPar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sp>
        <p:nvSpPr>
          <p:cNvPr id="12" name="Rectangle 11"/>
          <p:cNvSpPr/>
          <p:nvPr/>
        </p:nvSpPr>
        <p:spPr>
          <a:xfrm>
            <a:off x="16764000" y="4076700"/>
            <a:ext cx="954108" cy="1200329"/>
          </a:xfrm>
          <a:prstGeom prst="rect">
            <a:avLst/>
          </a:prstGeom>
        </p:spPr>
        <p:txBody>
          <a:bodyPr wrap="none">
            <a:spAutoFit/>
          </a:bodyPr>
          <a:lstStyle/>
          <a:p>
            <a:pPr algn="r"/>
            <a:r>
              <a:rPr lang="en-US" sz="7200" b="1">
                <a:solidFill>
                  <a:srgbClr val="EF233C"/>
                </a:solidFill>
                <a:latin typeface="Arial" panose="020B0604020202020204" pitchFamily="34" charset="0"/>
                <a:ea typeface="Segoe UI Black" panose="020B0A02040204020203" pitchFamily="34" charset="0"/>
                <a:cs typeface="Arial" panose="020B0604020202020204" pitchFamily="34" charset="0"/>
              </a:rPr>
              <a:t>1.</a:t>
            </a:r>
            <a:endParaRPr lang="en-US" sz="72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pic>
        <p:nvPicPr>
          <p:cNvPr id="13" name="Picture 30">
            <a:extLst>
              <a:ext uri="{FF2B5EF4-FFF2-40B4-BE49-F238E27FC236}">
                <a16:creationId xmlns:a16="http://schemas.microsoft.com/office/drawing/2014/main" id="{2D7FB2D5-E8B9-462F-A151-A61F197B4A37}"/>
              </a:ext>
            </a:extLst>
          </p:cNvPr>
          <p:cNvPicPr>
            <a:picLocks noChangeAspect="1"/>
          </p:cNvPicPr>
          <p:nvPr/>
        </p:nvPicPr>
        <p:blipFill>
          <a:blip r:embed="rId3">
            <a:alphaModFix amt="16000"/>
          </a:blip>
          <a:stretch>
            <a:fillRect/>
          </a:stretch>
        </p:blipFill>
        <p:spPr>
          <a:xfrm>
            <a:off x="0" y="-3079557"/>
            <a:ext cx="12268725" cy="12268725"/>
          </a:xfrm>
          <a:prstGeom prst="rect">
            <a:avLst/>
          </a:prstGeom>
        </p:spPr>
      </p:pic>
    </p:spTree>
    <p:extLst>
      <p:ext uri="{BB962C8B-B14F-4D97-AF65-F5344CB8AC3E}">
        <p14:creationId xmlns:p14="http://schemas.microsoft.com/office/powerpoint/2010/main" val="9386072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2" name="Group 5"/>
          <p:cNvGrpSpPr/>
          <p:nvPr/>
        </p:nvGrpSpPr>
        <p:grpSpPr>
          <a:xfrm>
            <a:off x="0" y="1927860"/>
            <a:ext cx="7162800" cy="8359140"/>
            <a:chOff x="0" y="0"/>
            <a:chExt cx="11715570" cy="12644642"/>
          </a:xfrm>
        </p:grpSpPr>
        <p:sp>
          <p:nvSpPr>
            <p:cNvPr id="183" name="Freeform 6"/>
            <p:cNvSpPr/>
            <p:nvPr/>
          </p:nvSpPr>
          <p:spPr>
            <a:xfrm>
              <a:off x="0" y="-31"/>
              <a:ext cx="11715574" cy="12644660"/>
            </a:xfrm>
            <a:custGeom>
              <a:avLst/>
              <a:gdLst/>
              <a:ahLst/>
              <a:cxnLst/>
              <a:rect l="l" t="t" r="r" b="b"/>
              <a:pathLst>
                <a:path w="11715574" h="12644660">
                  <a:moveTo>
                    <a:pt x="2338324" y="1809"/>
                  </a:moveTo>
                  <a:cubicBezTo>
                    <a:pt x="3612515" y="-26766"/>
                    <a:pt x="4910328" y="282606"/>
                    <a:pt x="6094730" y="966374"/>
                  </a:cubicBezTo>
                  <a:lnTo>
                    <a:pt x="8112506" y="2131345"/>
                  </a:lnTo>
                  <a:cubicBezTo>
                    <a:pt x="11558016" y="4120546"/>
                    <a:pt x="12738481" y="8526303"/>
                    <a:pt x="10749280" y="11971813"/>
                  </a:cubicBezTo>
                  <a:cubicBezTo>
                    <a:pt x="10624947" y="12187206"/>
                    <a:pt x="10491216" y="12393707"/>
                    <a:pt x="10348849" y="12591066"/>
                  </a:cubicBezTo>
                  <a:lnTo>
                    <a:pt x="10305923" y="12644659"/>
                  </a:lnTo>
                  <a:lnTo>
                    <a:pt x="0" y="12644659"/>
                  </a:lnTo>
                  <a:lnTo>
                    <a:pt x="0" y="446817"/>
                  </a:lnTo>
                  <a:lnTo>
                    <a:pt x="296799" y="344074"/>
                  </a:lnTo>
                  <a:cubicBezTo>
                    <a:pt x="955421" y="133508"/>
                    <a:pt x="1643380" y="17430"/>
                    <a:pt x="2338324" y="1809"/>
                  </a:cubicBezTo>
                  <a:close/>
                </a:path>
              </a:pathLst>
            </a:custGeom>
            <a:blipFill>
              <a:blip r:embed="rId3"/>
              <a:stretch>
                <a:fillRect l="-25591" r="-36303"/>
              </a:stretch>
            </a:blipFill>
          </p:spPr>
          <p:txBody>
            <a:bodyPr/>
            <a:lstStyle/>
            <a:p>
              <a:endParaRPr lang="en-US"/>
            </a:p>
          </p:txBody>
        </p:sp>
      </p:grpSp>
      <p:grpSp>
        <p:nvGrpSpPr>
          <p:cNvPr id="36" name="Group 2"/>
          <p:cNvGrpSpPr/>
          <p:nvPr/>
        </p:nvGrpSpPr>
        <p:grpSpPr>
          <a:xfrm>
            <a:off x="0" y="114299"/>
            <a:ext cx="12115800" cy="1097280"/>
            <a:chOff x="0" y="-2"/>
            <a:chExt cx="22925487" cy="1664815"/>
          </a:xfrm>
          <a:solidFill>
            <a:schemeClr val="bg1">
              <a:lumMod val="95000"/>
            </a:schemeClr>
          </a:solidFill>
        </p:grpSpPr>
        <p:sp>
          <p:nvSpPr>
            <p:cNvPr id="37" name="Freeform 3"/>
            <p:cNvSpPr/>
            <p:nvPr/>
          </p:nvSpPr>
          <p:spPr>
            <a:xfrm>
              <a:off x="0" y="-2"/>
              <a:ext cx="22925487"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1.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Tổng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quan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về</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doanh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nghiệp</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(ERM)</a:t>
              </a: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Định</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nghĩa</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mục</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tiêu</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của</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a:latin typeface="Arial" panose="020B0604020202020204" pitchFamily="34" charset="0"/>
                  <a:ea typeface="Futura Ultra-Bold"/>
                  <a:cs typeface="Arial" panose="020B0604020202020204" pitchFamily="34" charset="0"/>
                  <a:sym typeface="Futura Ultra-Bold"/>
                </a:rPr>
                <a:t>ERM</a:t>
              </a:r>
            </a:p>
          </p:txBody>
        </p:sp>
      </p:grpSp>
      <p:grpSp>
        <p:nvGrpSpPr>
          <p:cNvPr id="38" name="Group 4"/>
          <p:cNvGrpSpPr/>
          <p:nvPr/>
        </p:nvGrpSpPr>
        <p:grpSpPr>
          <a:xfrm>
            <a:off x="0" y="114299"/>
            <a:ext cx="936307" cy="1097280"/>
            <a:chOff x="0" y="0"/>
            <a:chExt cx="1248410" cy="1554290"/>
          </a:xfrm>
        </p:grpSpPr>
        <p:sp>
          <p:nvSpPr>
            <p:cNvPr id="4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4" name="Arc 3"/>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sp>
        <p:nvSpPr>
          <p:cNvPr id="117" name="Shape 2"/>
          <p:cNvSpPr/>
          <p:nvPr/>
        </p:nvSpPr>
        <p:spPr>
          <a:xfrm>
            <a:off x="762000" y="1927860"/>
            <a:ext cx="7872775" cy="7801356"/>
          </a:xfrm>
          <a:prstGeom prst="roundRect">
            <a:avLst>
              <a:gd name="adj" fmla="val 4545"/>
            </a:avLst>
          </a:prstGeom>
          <a:solidFill>
            <a:srgbClr val="C00000"/>
          </a:solidFill>
          <a:ln w="12700">
            <a:noFill/>
            <a:prstDash val="solid"/>
          </a:ln>
        </p:spPr>
        <p:txBody>
          <a:bodyPr/>
          <a:lstStyle/>
          <a:p>
            <a:endParaRPr lang="en-US"/>
          </a:p>
        </p:txBody>
      </p:sp>
      <p:sp>
        <p:nvSpPr>
          <p:cNvPr id="123" name="Text 3"/>
          <p:cNvSpPr/>
          <p:nvPr/>
        </p:nvSpPr>
        <p:spPr>
          <a:xfrm>
            <a:off x="944881" y="1744980"/>
            <a:ext cx="1280160" cy="1463040"/>
          </a:xfrm>
          <a:prstGeom prst="rect">
            <a:avLst/>
          </a:prstGeom>
          <a:noFill/>
          <a:ln/>
        </p:spPr>
        <p:txBody>
          <a:bodyPr wrap="square" lIns="0" tIns="0" rIns="0" bIns="0" rtlCol="0" anchor="ctr"/>
          <a:lstStyle/>
          <a:p>
            <a:r>
              <a:rPr lang="en-US" sz="12000" b="1" dirty="0">
                <a:solidFill>
                  <a:schemeClr val="bg1"/>
                </a:solidFill>
                <a:latin typeface="Arial" pitchFamily="34" charset="0"/>
                <a:ea typeface="Arial" pitchFamily="34" charset="-122"/>
                <a:cs typeface="Arial" pitchFamily="34" charset="-120"/>
              </a:rPr>
              <a:t>“</a:t>
            </a:r>
            <a:endParaRPr lang="en-US" sz="12000" dirty="0">
              <a:solidFill>
                <a:schemeClr val="bg1"/>
              </a:solidFill>
              <a:latin typeface="Arial" panose="020B0604020202020204" pitchFamily="34" charset="0"/>
            </a:endParaRPr>
          </a:p>
        </p:txBody>
      </p:sp>
      <p:sp>
        <p:nvSpPr>
          <p:cNvPr id="124" name="Text 4"/>
          <p:cNvSpPr/>
          <p:nvPr/>
        </p:nvSpPr>
        <p:spPr>
          <a:xfrm>
            <a:off x="1243834" y="4076700"/>
            <a:ext cx="6909106" cy="3291840"/>
          </a:xfrm>
          <a:prstGeom prst="rect">
            <a:avLst/>
          </a:prstGeom>
          <a:noFill/>
          <a:ln/>
        </p:spPr>
        <p:txBody>
          <a:bodyPr wrap="square" rtlCol="0" anchor="ctr"/>
          <a:lstStyle/>
          <a:p>
            <a:pPr algn="just"/>
            <a:r>
              <a:rPr lang="en-US" sz="2700" b="1" i="1" dirty="0">
                <a:solidFill>
                  <a:srgbClr val="FFFFFF"/>
                </a:solidFill>
                <a:latin typeface="Arial" pitchFamily="34" charset="0"/>
                <a:ea typeface="Arial" pitchFamily="34" charset="-122"/>
                <a:cs typeface="Arial" pitchFamily="34" charset="-120"/>
              </a:rPr>
              <a:t>ERM </a:t>
            </a:r>
            <a:r>
              <a:rPr lang="en-US" sz="2700" b="1" i="1" dirty="0" err="1">
                <a:solidFill>
                  <a:srgbClr val="FFFFFF"/>
                </a:solidFill>
                <a:latin typeface="Arial" pitchFamily="34" charset="0"/>
                <a:ea typeface="Arial" pitchFamily="34" charset="-122"/>
                <a:cs typeface="Arial" pitchFamily="34" charset="-120"/>
              </a:rPr>
              <a:t>được</a:t>
            </a:r>
            <a:r>
              <a:rPr lang="en-US" sz="2700" b="1" i="1" dirty="0">
                <a:solidFill>
                  <a:srgbClr val="FFFFFF"/>
                </a:solidFill>
                <a:latin typeface="Arial" pitchFamily="34" charset="0"/>
                <a:ea typeface="Arial" pitchFamily="34" charset="-122"/>
                <a:cs typeface="Arial" pitchFamily="34" charset="-120"/>
              </a:rPr>
              <a:t> </a:t>
            </a:r>
            <a:r>
              <a:rPr lang="en-US" sz="2700" b="1" i="1" dirty="0" err="1">
                <a:solidFill>
                  <a:srgbClr val="FFFFFF"/>
                </a:solidFill>
                <a:latin typeface="Arial" pitchFamily="34" charset="0"/>
                <a:ea typeface="Arial" pitchFamily="34" charset="-122"/>
                <a:cs typeface="Arial" pitchFamily="34" charset="-120"/>
              </a:rPr>
              <a:t>định</a:t>
            </a:r>
            <a:r>
              <a:rPr lang="en-US" sz="2700" b="1" i="1" dirty="0">
                <a:solidFill>
                  <a:srgbClr val="FFFFFF"/>
                </a:solidFill>
                <a:latin typeface="Arial" pitchFamily="34" charset="0"/>
                <a:ea typeface="Arial" pitchFamily="34" charset="-122"/>
                <a:cs typeface="Arial" pitchFamily="34" charset="-120"/>
              </a:rPr>
              <a:t> </a:t>
            </a:r>
            <a:r>
              <a:rPr lang="en-US" sz="2700" b="1" i="1" dirty="0" err="1">
                <a:solidFill>
                  <a:srgbClr val="FFFFFF"/>
                </a:solidFill>
                <a:latin typeface="Arial" pitchFamily="34" charset="0"/>
                <a:ea typeface="Arial" pitchFamily="34" charset="-122"/>
                <a:cs typeface="Arial" pitchFamily="34" charset="-120"/>
              </a:rPr>
              <a:t>nghĩa</a:t>
            </a:r>
            <a:r>
              <a:rPr lang="en-US" sz="2700" b="1" i="1" dirty="0">
                <a:solidFill>
                  <a:srgbClr val="FFFFFF"/>
                </a:solidFill>
                <a:latin typeface="Arial" pitchFamily="34" charset="0"/>
                <a:ea typeface="Arial" pitchFamily="34" charset="-122"/>
                <a:cs typeface="Arial" pitchFamily="34" charset="-120"/>
              </a:rPr>
              <a:t> </a:t>
            </a:r>
            <a:r>
              <a:rPr lang="en-US" sz="2700" b="1" i="1" dirty="0" err="1">
                <a:solidFill>
                  <a:srgbClr val="FFFFFF"/>
                </a:solidFill>
                <a:latin typeface="Arial" pitchFamily="34" charset="0"/>
                <a:ea typeface="Arial" pitchFamily="34" charset="-122"/>
                <a:cs typeface="Arial" pitchFamily="34" charset="-120"/>
              </a:rPr>
              <a:t>là</a:t>
            </a:r>
            <a:r>
              <a:rPr lang="en-US" sz="2700" b="1" i="1" dirty="0">
                <a:solidFill>
                  <a:srgbClr val="FFFFFF"/>
                </a:solidFill>
                <a:latin typeface="Arial" pitchFamily="34" charset="0"/>
                <a:ea typeface="Arial" pitchFamily="34" charset="-122"/>
                <a:cs typeface="Arial" pitchFamily="34" charset="-120"/>
              </a:rPr>
              <a:t>: </a:t>
            </a:r>
            <a:r>
              <a:rPr lang="vi-VN" sz="2700" b="1" i="1" dirty="0">
                <a:solidFill>
                  <a:srgbClr val="FFFFFF"/>
                </a:solidFill>
                <a:ea typeface="Arial" pitchFamily="34" charset="-122"/>
                <a:cs typeface="Arial" pitchFamily="34" charset="-120"/>
              </a:rPr>
              <a:t>tổng thể văn hóa, năng lực và thông lệ quản lý rủi ro, được tích hợp vào chiến lược và hoạt động của tổ chức, nhằm tạo dựng, bảo toàn và hiện thực hóa giá trị.</a:t>
            </a:r>
            <a:endParaRPr lang="en-US" sz="2700" b="1" i="1" dirty="0">
              <a:solidFill>
                <a:srgbClr val="FFFFFF"/>
              </a:solidFill>
              <a:latin typeface="Arial" pitchFamily="34" charset="0"/>
              <a:ea typeface="Arial" pitchFamily="34" charset="-122"/>
              <a:cs typeface="Arial" pitchFamily="34" charset="-120"/>
            </a:endParaRPr>
          </a:p>
          <a:p>
            <a:pPr algn="just"/>
            <a:endParaRPr lang="en-US" sz="2700" b="1" i="1" dirty="0">
              <a:solidFill>
                <a:srgbClr val="FFFFFF"/>
              </a:solidFill>
              <a:latin typeface="Arial" pitchFamily="34" charset="0"/>
              <a:ea typeface="Arial" pitchFamily="34" charset="-122"/>
              <a:cs typeface="Arial" pitchFamily="34" charset="-120"/>
            </a:endParaRPr>
          </a:p>
          <a:p>
            <a:pPr algn="just"/>
            <a:r>
              <a:rPr lang="en-US" sz="2700" b="1" i="1" dirty="0" err="1">
                <a:solidFill>
                  <a:srgbClr val="FFFFFF"/>
                </a:solidFill>
                <a:latin typeface="Arial" pitchFamily="34" charset="0"/>
                <a:ea typeface="Arial" pitchFamily="34" charset="-122"/>
                <a:cs typeface="Arial" pitchFamily="34" charset="-120"/>
              </a:rPr>
              <a:t>Việc</a:t>
            </a:r>
            <a:r>
              <a:rPr lang="en-US" sz="2700" b="1" i="1" dirty="0">
                <a:solidFill>
                  <a:srgbClr val="FFFFFF"/>
                </a:solidFill>
                <a:latin typeface="Arial" pitchFamily="34" charset="0"/>
                <a:ea typeface="Arial" pitchFamily="34" charset="-122"/>
                <a:cs typeface="Arial" pitchFamily="34" charset="-120"/>
              </a:rPr>
              <a:t> </a:t>
            </a:r>
            <a:r>
              <a:rPr lang="en-US" sz="2700" b="1" i="1" dirty="0" err="1">
                <a:solidFill>
                  <a:srgbClr val="FFFFFF"/>
                </a:solidFill>
                <a:latin typeface="Arial" pitchFamily="34" charset="0"/>
                <a:ea typeface="Arial" pitchFamily="34" charset="-122"/>
                <a:cs typeface="Arial" pitchFamily="34" charset="-120"/>
              </a:rPr>
              <a:t>thực</a:t>
            </a:r>
            <a:r>
              <a:rPr lang="en-US" sz="2700" b="1" i="1" dirty="0">
                <a:solidFill>
                  <a:srgbClr val="FFFFFF"/>
                </a:solidFill>
                <a:latin typeface="Arial" pitchFamily="34" charset="0"/>
                <a:ea typeface="Arial" pitchFamily="34" charset="-122"/>
                <a:cs typeface="Arial" pitchFamily="34" charset="-120"/>
              </a:rPr>
              <a:t> </a:t>
            </a:r>
            <a:r>
              <a:rPr lang="en-US" sz="2700" b="1" i="1" dirty="0" err="1">
                <a:solidFill>
                  <a:srgbClr val="FFFFFF"/>
                </a:solidFill>
                <a:latin typeface="Arial" pitchFamily="34" charset="0"/>
                <a:ea typeface="Arial" pitchFamily="34" charset="-122"/>
                <a:cs typeface="Arial" pitchFamily="34" charset="-120"/>
              </a:rPr>
              <a:t>hiện</a:t>
            </a:r>
            <a:r>
              <a:rPr lang="en-US" sz="2700" b="1" i="1" dirty="0">
                <a:solidFill>
                  <a:srgbClr val="FFFFFF"/>
                </a:solidFill>
                <a:latin typeface="Arial" pitchFamily="34" charset="0"/>
                <a:ea typeface="Arial" pitchFamily="34" charset="-122"/>
                <a:cs typeface="Arial" pitchFamily="34" charset="-120"/>
              </a:rPr>
              <a:t> ERM </a:t>
            </a:r>
            <a:r>
              <a:rPr lang="en-US" sz="2700" b="1" i="1" dirty="0" err="1">
                <a:solidFill>
                  <a:srgbClr val="FFFFFF"/>
                </a:solidFill>
                <a:latin typeface="Arial" pitchFamily="34" charset="0"/>
                <a:ea typeface="Arial" pitchFamily="34" charset="-122"/>
                <a:cs typeface="Arial" pitchFamily="34" charset="-120"/>
              </a:rPr>
              <a:t>giúp</a:t>
            </a:r>
            <a:r>
              <a:rPr lang="en-US" sz="2700" b="1" i="1" dirty="0">
                <a:solidFill>
                  <a:srgbClr val="FFFFFF"/>
                </a:solidFill>
                <a:latin typeface="Arial" pitchFamily="34" charset="0"/>
                <a:ea typeface="Arial" pitchFamily="34" charset="-122"/>
                <a:cs typeface="Arial" pitchFamily="34" charset="-120"/>
              </a:rPr>
              <a:t> tổ chức nhận diện, </a:t>
            </a:r>
            <a:r>
              <a:rPr lang="en-US" sz="2700" b="1" i="1" dirty="0" err="1">
                <a:solidFill>
                  <a:srgbClr val="FFFFFF"/>
                </a:solidFill>
                <a:latin typeface="Arial" pitchFamily="34" charset="0"/>
                <a:ea typeface="Arial" pitchFamily="34" charset="-122"/>
                <a:cs typeface="Arial" pitchFamily="34" charset="-120"/>
              </a:rPr>
              <a:t>đánh</a:t>
            </a:r>
            <a:r>
              <a:rPr lang="en-US" sz="2700" b="1" i="1" dirty="0">
                <a:solidFill>
                  <a:srgbClr val="FFFFFF"/>
                </a:solidFill>
                <a:latin typeface="Arial" pitchFamily="34" charset="0"/>
                <a:ea typeface="Arial" pitchFamily="34" charset="-122"/>
                <a:cs typeface="Arial" pitchFamily="34" charset="-120"/>
              </a:rPr>
              <a:t> giá và kiểm soát rủi ro một cách có hệ thống — thay vì xử lý từng sự cố riêng lẻ sau khi đã xảy ra.</a:t>
            </a:r>
            <a:endParaRPr lang="en-US" sz="2700" b="1" i="1" dirty="0">
              <a:latin typeface="Arial" panose="020B0604020202020204" pitchFamily="34" charset="0"/>
            </a:endParaRPr>
          </a:p>
        </p:txBody>
      </p:sp>
      <p:sp>
        <p:nvSpPr>
          <p:cNvPr id="125" name="Text 6"/>
          <p:cNvSpPr/>
          <p:nvPr/>
        </p:nvSpPr>
        <p:spPr>
          <a:xfrm>
            <a:off x="3810000" y="8801100"/>
            <a:ext cx="6583680" cy="694944"/>
          </a:xfrm>
          <a:prstGeom prst="rect">
            <a:avLst/>
          </a:prstGeom>
          <a:noFill/>
          <a:ln/>
        </p:spPr>
        <p:txBody>
          <a:bodyPr wrap="square" lIns="0" tIns="0" rIns="0" bIns="0" rtlCol="0" anchor="ctr"/>
          <a:lstStyle/>
          <a:p>
            <a:pPr algn="ctr"/>
            <a:r>
              <a:rPr lang="en-US" sz="2000" b="1" dirty="0">
                <a:solidFill>
                  <a:schemeClr val="bg1"/>
                </a:solidFill>
                <a:latin typeface="Arial" pitchFamily="34" charset="0"/>
                <a:ea typeface="Arial" pitchFamily="34" charset="-122"/>
                <a:cs typeface="Arial" pitchFamily="34" charset="-120"/>
              </a:rPr>
              <a:t>Theo COSO ERM 2017</a:t>
            </a:r>
            <a:endParaRPr lang="en-US" sz="2000" dirty="0">
              <a:solidFill>
                <a:schemeClr val="bg1"/>
              </a:solidFill>
              <a:latin typeface="Arial" panose="020B0604020202020204" pitchFamily="34" charset="0"/>
            </a:endParaRPr>
          </a:p>
        </p:txBody>
      </p:sp>
      <p:sp>
        <p:nvSpPr>
          <p:cNvPr id="127" name="Shape 7"/>
          <p:cNvSpPr/>
          <p:nvPr/>
        </p:nvSpPr>
        <p:spPr>
          <a:xfrm>
            <a:off x="9601200" y="1927860"/>
            <a:ext cx="7848600" cy="1682496"/>
          </a:xfrm>
          <a:prstGeom prst="roundRect">
            <a:avLst>
              <a:gd name="adj" fmla="val 8696"/>
            </a:avLst>
          </a:prstGeom>
          <a:solidFill>
            <a:srgbClr val="FFABAB"/>
          </a:solidFill>
          <a:ln w="6350">
            <a:noFill/>
            <a:prstDash val="solid"/>
          </a:ln>
          <a:effectLst>
            <a:outerShdw blurRad="101600" dist="38100" dir="2700000" algn="bl" rotWithShape="0">
              <a:srgbClr val="000000">
                <a:alpha val="10000"/>
              </a:srgbClr>
            </a:outerShdw>
          </a:effectLst>
        </p:spPr>
        <p:txBody>
          <a:bodyPr/>
          <a:lstStyle/>
          <a:p>
            <a:endParaRPr lang="en-US"/>
          </a:p>
        </p:txBody>
      </p:sp>
      <p:sp>
        <p:nvSpPr>
          <p:cNvPr id="128" name="Shape 8"/>
          <p:cNvSpPr/>
          <p:nvPr/>
        </p:nvSpPr>
        <p:spPr>
          <a:xfrm>
            <a:off x="10033071" y="2333244"/>
            <a:ext cx="914400" cy="914400"/>
          </a:xfrm>
          <a:prstGeom prst="ellipse">
            <a:avLst/>
          </a:prstGeom>
          <a:solidFill>
            <a:srgbClr val="FFFFFF"/>
          </a:solidFill>
          <a:ln w="6350">
            <a:noFill/>
            <a:prstDash val="solid"/>
          </a:ln>
        </p:spPr>
        <p:txBody>
          <a:bodyPr/>
          <a:lstStyle/>
          <a:p>
            <a:endParaRPr lang="en-US"/>
          </a:p>
        </p:txBody>
      </p:sp>
      <p:pic>
        <p:nvPicPr>
          <p:cNvPr id="129" name="Image 0" descr="preencoded.png"/>
          <p:cNvPicPr>
            <a:picLocks noChangeAspect="1"/>
          </p:cNvPicPr>
          <p:nvPr/>
        </p:nvPicPr>
        <p:blipFill>
          <a:blip r:embed="rId4"/>
          <a:stretch>
            <a:fillRect/>
          </a:stretch>
        </p:blipFill>
        <p:spPr>
          <a:xfrm>
            <a:off x="10161087" y="2461260"/>
            <a:ext cx="640080" cy="640080"/>
          </a:xfrm>
          <a:prstGeom prst="rect">
            <a:avLst/>
          </a:prstGeom>
        </p:spPr>
      </p:pic>
      <p:sp>
        <p:nvSpPr>
          <p:cNvPr id="132" name="Shape 11"/>
          <p:cNvSpPr/>
          <p:nvPr/>
        </p:nvSpPr>
        <p:spPr>
          <a:xfrm>
            <a:off x="9601200" y="3848100"/>
            <a:ext cx="7848600" cy="1682496"/>
          </a:xfrm>
          <a:prstGeom prst="roundRect">
            <a:avLst>
              <a:gd name="adj" fmla="val 8696"/>
            </a:avLst>
          </a:prstGeom>
          <a:solidFill>
            <a:srgbClr val="FFABAB"/>
          </a:solidFill>
          <a:ln w="6350">
            <a:noFill/>
            <a:prstDash val="solid"/>
          </a:ln>
          <a:effectLst>
            <a:outerShdw blurRad="101600" dist="38100" dir="2700000" algn="bl" rotWithShape="0">
              <a:srgbClr val="000000">
                <a:alpha val="10000"/>
              </a:srgbClr>
            </a:outerShdw>
          </a:effectLst>
        </p:spPr>
        <p:txBody>
          <a:bodyPr/>
          <a:lstStyle/>
          <a:p>
            <a:endParaRPr lang="en-US"/>
          </a:p>
        </p:txBody>
      </p:sp>
      <p:sp>
        <p:nvSpPr>
          <p:cNvPr id="133" name="Shape 12"/>
          <p:cNvSpPr/>
          <p:nvPr/>
        </p:nvSpPr>
        <p:spPr>
          <a:xfrm>
            <a:off x="10033071" y="4253484"/>
            <a:ext cx="914400" cy="914400"/>
          </a:xfrm>
          <a:prstGeom prst="ellipse">
            <a:avLst/>
          </a:prstGeom>
          <a:solidFill>
            <a:srgbClr val="FFFFFF"/>
          </a:solidFill>
          <a:ln w="6350">
            <a:noFill/>
            <a:prstDash val="solid"/>
          </a:ln>
        </p:spPr>
        <p:txBody>
          <a:bodyPr/>
          <a:lstStyle/>
          <a:p>
            <a:endParaRPr lang="en-US"/>
          </a:p>
        </p:txBody>
      </p:sp>
      <p:pic>
        <p:nvPicPr>
          <p:cNvPr id="134" name="Image 1" descr="preencoded.png"/>
          <p:cNvPicPr>
            <a:picLocks noChangeAspect="1"/>
          </p:cNvPicPr>
          <p:nvPr/>
        </p:nvPicPr>
        <p:blipFill>
          <a:blip r:embed="rId5"/>
          <a:stretch>
            <a:fillRect/>
          </a:stretch>
        </p:blipFill>
        <p:spPr>
          <a:xfrm>
            <a:off x="10161087" y="4381500"/>
            <a:ext cx="640080" cy="640080"/>
          </a:xfrm>
          <a:prstGeom prst="rect">
            <a:avLst/>
          </a:prstGeom>
        </p:spPr>
      </p:pic>
      <p:sp>
        <p:nvSpPr>
          <p:cNvPr id="135" name="Text 13"/>
          <p:cNvSpPr/>
          <p:nvPr/>
        </p:nvSpPr>
        <p:spPr>
          <a:xfrm>
            <a:off x="11456694" y="2077212"/>
            <a:ext cx="5439998" cy="512064"/>
          </a:xfrm>
          <a:prstGeom prst="rect">
            <a:avLst/>
          </a:prstGeom>
          <a:noFill/>
          <a:ln/>
        </p:spPr>
        <p:txBody>
          <a:bodyPr wrap="square" lIns="0" tIns="0" rIns="0" bIns="0" rtlCol="0" anchor="ctr"/>
          <a:lstStyle/>
          <a:p>
            <a:r>
              <a:rPr lang="en-US" sz="2400" b="1" dirty="0">
                <a:latin typeface="Arial" pitchFamily="34" charset="0"/>
                <a:ea typeface="Arial" pitchFamily="34" charset="-122"/>
                <a:cs typeface="Arial" pitchFamily="34" charset="-120"/>
              </a:rPr>
              <a:t>HỖ TRỢ CÔNG TÁC RA QUYẾT ĐỊNH</a:t>
            </a:r>
            <a:endParaRPr lang="en-US" sz="2400" dirty="0">
              <a:latin typeface="Arial" panose="020B0604020202020204" pitchFamily="34" charset="0"/>
            </a:endParaRPr>
          </a:p>
        </p:txBody>
      </p:sp>
      <p:sp>
        <p:nvSpPr>
          <p:cNvPr id="136" name="Text 14"/>
          <p:cNvSpPr/>
          <p:nvPr/>
        </p:nvSpPr>
        <p:spPr>
          <a:xfrm>
            <a:off x="11456694" y="2589276"/>
            <a:ext cx="5058997" cy="822960"/>
          </a:xfrm>
          <a:prstGeom prst="rect">
            <a:avLst/>
          </a:prstGeom>
          <a:noFill/>
          <a:ln/>
        </p:spPr>
        <p:txBody>
          <a:bodyPr wrap="square" lIns="0" tIns="0" rIns="0" bIns="0" rtlCol="0" anchor="ctr"/>
          <a:lstStyle/>
          <a:p>
            <a:pPr algn="just"/>
            <a:r>
              <a:rPr lang="en-US" sz="2100" i="1" dirty="0">
                <a:latin typeface="Arial" pitchFamily="34" charset="0"/>
                <a:ea typeface="Arial" pitchFamily="34" charset="-122"/>
                <a:cs typeface="Arial" pitchFamily="34" charset="-120"/>
              </a:rPr>
              <a:t>Cung cấp </a:t>
            </a:r>
            <a:r>
              <a:rPr lang="en-US" sz="2100" i="1" dirty="0" err="1">
                <a:latin typeface="Arial" pitchFamily="34" charset="0"/>
                <a:ea typeface="Arial" pitchFamily="34" charset="-122"/>
                <a:cs typeface="Arial" pitchFamily="34" charset="-120"/>
              </a:rPr>
              <a:t>thông</a:t>
            </a:r>
            <a:r>
              <a:rPr lang="en-US" sz="2100" i="1" dirty="0">
                <a:latin typeface="Arial" pitchFamily="34" charset="0"/>
                <a:ea typeface="Arial" pitchFamily="34" charset="-122"/>
                <a:cs typeface="Arial" pitchFamily="34" charset="-120"/>
              </a:rPr>
              <a:t> tin </a:t>
            </a:r>
            <a:r>
              <a:rPr lang="en-US" sz="2100" i="1" dirty="0" err="1">
                <a:latin typeface="Arial" pitchFamily="34" charset="0"/>
                <a:ea typeface="Arial" pitchFamily="34" charset="-122"/>
                <a:cs typeface="Arial" pitchFamily="34" charset="-120"/>
              </a:rPr>
              <a:t>rủi</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ro</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toàn</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cảnh</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kịp</a:t>
            </a:r>
            <a:r>
              <a:rPr lang="en-US" sz="2100" i="1" dirty="0">
                <a:latin typeface="Arial" pitchFamily="34" charset="0"/>
                <a:ea typeface="Arial" pitchFamily="34" charset="-122"/>
                <a:cs typeface="Arial" pitchFamily="34" charset="-120"/>
              </a:rPr>
              <a:t> thời cho Ban TGĐ, </a:t>
            </a:r>
            <a:r>
              <a:rPr lang="en-US" sz="2100" i="1" dirty="0" err="1">
                <a:latin typeface="Arial" pitchFamily="34" charset="0"/>
                <a:ea typeface="Arial" pitchFamily="34" charset="-122"/>
                <a:cs typeface="Arial" pitchFamily="34" charset="-120"/>
              </a:rPr>
              <a:t>hỗ</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trợ</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công</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tác</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quản</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trị</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ra</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quyết</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định</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chiến</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lược</a:t>
            </a:r>
            <a:endParaRPr lang="en-US" sz="2100" i="1" dirty="0">
              <a:latin typeface="Arial" panose="020B0604020202020204" pitchFamily="34" charset="0"/>
            </a:endParaRPr>
          </a:p>
        </p:txBody>
      </p:sp>
      <p:sp>
        <p:nvSpPr>
          <p:cNvPr id="137" name="Shape 15"/>
          <p:cNvSpPr/>
          <p:nvPr/>
        </p:nvSpPr>
        <p:spPr>
          <a:xfrm>
            <a:off x="9601200" y="5768340"/>
            <a:ext cx="7848600" cy="1682496"/>
          </a:xfrm>
          <a:prstGeom prst="roundRect">
            <a:avLst>
              <a:gd name="adj" fmla="val 8696"/>
            </a:avLst>
          </a:prstGeom>
          <a:solidFill>
            <a:srgbClr val="FFABAB"/>
          </a:solidFill>
          <a:ln w="6350">
            <a:noFill/>
            <a:prstDash val="solid"/>
          </a:ln>
          <a:effectLst>
            <a:outerShdw blurRad="101600" dist="38100" dir="2700000" algn="bl" rotWithShape="0">
              <a:srgbClr val="000000">
                <a:alpha val="10000"/>
              </a:srgbClr>
            </a:outerShdw>
          </a:effectLst>
        </p:spPr>
        <p:txBody>
          <a:bodyPr/>
          <a:lstStyle/>
          <a:p>
            <a:endParaRPr lang="en-US"/>
          </a:p>
        </p:txBody>
      </p:sp>
      <p:sp>
        <p:nvSpPr>
          <p:cNvPr id="138" name="Shape 16"/>
          <p:cNvSpPr/>
          <p:nvPr/>
        </p:nvSpPr>
        <p:spPr>
          <a:xfrm>
            <a:off x="10033071" y="6173724"/>
            <a:ext cx="914400" cy="914400"/>
          </a:xfrm>
          <a:prstGeom prst="ellipse">
            <a:avLst/>
          </a:prstGeom>
          <a:solidFill>
            <a:srgbClr val="FFFFFF"/>
          </a:solidFill>
          <a:ln w="6350">
            <a:noFill/>
            <a:prstDash val="solid"/>
          </a:ln>
        </p:spPr>
        <p:txBody>
          <a:bodyPr/>
          <a:lstStyle/>
          <a:p>
            <a:endParaRPr lang="en-US"/>
          </a:p>
        </p:txBody>
      </p:sp>
      <p:pic>
        <p:nvPicPr>
          <p:cNvPr id="139" name="Image 2" descr="preencoded.png"/>
          <p:cNvPicPr>
            <a:picLocks noChangeAspect="1"/>
          </p:cNvPicPr>
          <p:nvPr/>
        </p:nvPicPr>
        <p:blipFill>
          <a:blip r:embed="rId6"/>
          <a:stretch>
            <a:fillRect/>
          </a:stretch>
        </p:blipFill>
        <p:spPr>
          <a:xfrm>
            <a:off x="10161087" y="6301740"/>
            <a:ext cx="640080" cy="640080"/>
          </a:xfrm>
          <a:prstGeom prst="rect">
            <a:avLst/>
          </a:prstGeom>
        </p:spPr>
      </p:pic>
      <p:sp>
        <p:nvSpPr>
          <p:cNvPr id="140" name="Text 17"/>
          <p:cNvSpPr/>
          <p:nvPr/>
        </p:nvSpPr>
        <p:spPr>
          <a:xfrm>
            <a:off x="11456694" y="5981700"/>
            <a:ext cx="5058997" cy="512064"/>
          </a:xfrm>
          <a:prstGeom prst="rect">
            <a:avLst/>
          </a:prstGeom>
          <a:noFill/>
          <a:ln/>
        </p:spPr>
        <p:txBody>
          <a:bodyPr wrap="square" lIns="0" tIns="0" rIns="0" bIns="0" rtlCol="0" anchor="ctr"/>
          <a:lstStyle/>
          <a:p>
            <a:r>
              <a:rPr lang="en-US" sz="2400" b="1" dirty="0">
                <a:latin typeface="Arial" pitchFamily="34" charset="0"/>
                <a:ea typeface="Arial" pitchFamily="34" charset="-122"/>
                <a:cs typeface="Arial" pitchFamily="34" charset="-120"/>
              </a:rPr>
              <a:t>TỐI ƯU NGUỒN LỰC</a:t>
            </a:r>
            <a:endParaRPr lang="en-US" sz="2400" dirty="0">
              <a:latin typeface="Arial" panose="020B0604020202020204" pitchFamily="34" charset="0"/>
            </a:endParaRPr>
          </a:p>
        </p:txBody>
      </p:sp>
      <p:sp>
        <p:nvSpPr>
          <p:cNvPr id="141" name="Text 18"/>
          <p:cNvSpPr/>
          <p:nvPr/>
        </p:nvSpPr>
        <p:spPr>
          <a:xfrm>
            <a:off x="11456694" y="6362700"/>
            <a:ext cx="5058997" cy="822960"/>
          </a:xfrm>
          <a:prstGeom prst="rect">
            <a:avLst/>
          </a:prstGeom>
          <a:noFill/>
          <a:ln/>
        </p:spPr>
        <p:txBody>
          <a:bodyPr wrap="square" lIns="0" tIns="0" rIns="0" bIns="0" rtlCol="0" anchor="ctr"/>
          <a:lstStyle/>
          <a:p>
            <a:pPr algn="just"/>
            <a:r>
              <a:rPr lang="en-US" sz="2100" i="1" dirty="0">
                <a:latin typeface="Arial" pitchFamily="34" charset="0"/>
                <a:ea typeface="Arial" pitchFamily="34" charset="-122"/>
                <a:cs typeface="Arial" pitchFamily="34" charset="-120"/>
              </a:rPr>
              <a:t>Phân </a:t>
            </a:r>
            <a:r>
              <a:rPr lang="en-US" sz="2100" i="1" dirty="0" err="1">
                <a:latin typeface="Arial" pitchFamily="34" charset="0"/>
                <a:ea typeface="Arial" pitchFamily="34" charset="-122"/>
                <a:cs typeface="Arial" pitchFamily="34" charset="-120"/>
              </a:rPr>
              <a:t>bổ</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nguồn</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lực</a:t>
            </a:r>
            <a:r>
              <a:rPr lang="en-US" sz="2100" i="1" dirty="0">
                <a:latin typeface="Arial" pitchFamily="34" charset="0"/>
                <a:ea typeface="Arial" pitchFamily="34" charset="-122"/>
                <a:cs typeface="Arial" pitchFamily="34" charset="-120"/>
              </a:rPr>
              <a:t> vào các rủi </a:t>
            </a:r>
            <a:r>
              <a:rPr lang="en-US" sz="2100" i="1" dirty="0" err="1">
                <a:latin typeface="Arial" pitchFamily="34" charset="0"/>
                <a:ea typeface="Arial" pitchFamily="34" charset="-122"/>
                <a:cs typeface="Arial" pitchFamily="34" charset="-120"/>
              </a:rPr>
              <a:t>ro</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trọng</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yếu</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ưu</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tiên</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cao</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tối</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ưu</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hiệu</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quả</a:t>
            </a:r>
            <a:r>
              <a:rPr lang="en-US" sz="2100" i="1" dirty="0">
                <a:latin typeface="Arial" pitchFamily="34" charset="0"/>
                <a:ea typeface="Arial" pitchFamily="34" charset="-122"/>
                <a:cs typeface="Arial" pitchFamily="34" charset="-120"/>
              </a:rPr>
              <a:t> QTRR</a:t>
            </a:r>
            <a:endParaRPr lang="en-US" sz="2100" i="1" dirty="0">
              <a:latin typeface="Arial" panose="020B0604020202020204" pitchFamily="34" charset="0"/>
            </a:endParaRPr>
          </a:p>
        </p:txBody>
      </p:sp>
      <p:sp>
        <p:nvSpPr>
          <p:cNvPr id="142" name="Shape 19"/>
          <p:cNvSpPr/>
          <p:nvPr/>
        </p:nvSpPr>
        <p:spPr>
          <a:xfrm>
            <a:off x="9601200" y="7688579"/>
            <a:ext cx="7848600" cy="2040637"/>
          </a:xfrm>
          <a:prstGeom prst="roundRect">
            <a:avLst>
              <a:gd name="adj" fmla="val 8696"/>
            </a:avLst>
          </a:prstGeom>
          <a:solidFill>
            <a:srgbClr val="FFABAB"/>
          </a:solidFill>
          <a:ln w="6350">
            <a:noFill/>
            <a:prstDash val="solid"/>
          </a:ln>
          <a:effectLst>
            <a:outerShdw blurRad="101600" dist="38100" dir="2700000" algn="bl" rotWithShape="0">
              <a:srgbClr val="000000">
                <a:alpha val="10000"/>
              </a:srgbClr>
            </a:outerShdw>
          </a:effectLst>
        </p:spPr>
        <p:txBody>
          <a:bodyPr/>
          <a:lstStyle/>
          <a:p>
            <a:endParaRPr lang="en-US"/>
          </a:p>
        </p:txBody>
      </p:sp>
      <p:sp>
        <p:nvSpPr>
          <p:cNvPr id="143" name="Shape 20"/>
          <p:cNvSpPr/>
          <p:nvPr/>
        </p:nvSpPr>
        <p:spPr>
          <a:xfrm>
            <a:off x="10033071" y="8267700"/>
            <a:ext cx="914400" cy="914400"/>
          </a:xfrm>
          <a:prstGeom prst="ellipse">
            <a:avLst/>
          </a:prstGeom>
          <a:solidFill>
            <a:srgbClr val="FFFFFF"/>
          </a:solidFill>
          <a:ln w="6350">
            <a:noFill/>
            <a:prstDash val="solid"/>
          </a:ln>
        </p:spPr>
        <p:txBody>
          <a:bodyPr/>
          <a:lstStyle/>
          <a:p>
            <a:endParaRPr lang="en-US"/>
          </a:p>
        </p:txBody>
      </p:sp>
      <p:pic>
        <p:nvPicPr>
          <p:cNvPr id="144" name="Image 3" descr="preencoded.png"/>
          <p:cNvPicPr>
            <a:picLocks noChangeAspect="1"/>
          </p:cNvPicPr>
          <p:nvPr/>
        </p:nvPicPr>
        <p:blipFill>
          <a:blip r:embed="rId7"/>
          <a:stretch>
            <a:fillRect/>
          </a:stretch>
        </p:blipFill>
        <p:spPr>
          <a:xfrm>
            <a:off x="10161087" y="8395716"/>
            <a:ext cx="640080" cy="640080"/>
          </a:xfrm>
          <a:prstGeom prst="rect">
            <a:avLst/>
          </a:prstGeom>
        </p:spPr>
      </p:pic>
      <p:sp>
        <p:nvSpPr>
          <p:cNvPr id="145" name="Text 21"/>
          <p:cNvSpPr/>
          <p:nvPr/>
        </p:nvSpPr>
        <p:spPr>
          <a:xfrm>
            <a:off x="11456694" y="7923276"/>
            <a:ext cx="5058997" cy="512064"/>
          </a:xfrm>
          <a:prstGeom prst="rect">
            <a:avLst/>
          </a:prstGeom>
          <a:noFill/>
          <a:ln/>
        </p:spPr>
        <p:txBody>
          <a:bodyPr wrap="square" lIns="0" tIns="0" rIns="0" bIns="0" rtlCol="0" anchor="ctr"/>
          <a:lstStyle/>
          <a:p>
            <a:r>
              <a:rPr lang="en-US" sz="2400" b="1" dirty="0">
                <a:latin typeface="Arial" pitchFamily="34" charset="0"/>
                <a:ea typeface="Arial" pitchFamily="34" charset="-122"/>
                <a:cs typeface="Arial" pitchFamily="34" charset="-120"/>
              </a:rPr>
              <a:t>NGÔN NGỮ QUẢN TRỊ RỦI RO CHUNG CHO TOÀN TỔ CHỨC</a:t>
            </a:r>
            <a:endParaRPr lang="en-US" sz="2400" dirty="0">
              <a:latin typeface="Arial" panose="020B0604020202020204" pitchFamily="34" charset="0"/>
            </a:endParaRPr>
          </a:p>
        </p:txBody>
      </p:sp>
      <p:sp>
        <p:nvSpPr>
          <p:cNvPr id="146" name="Text 22"/>
          <p:cNvSpPr/>
          <p:nvPr/>
        </p:nvSpPr>
        <p:spPr>
          <a:xfrm>
            <a:off x="11456694" y="8663940"/>
            <a:ext cx="5058997" cy="822960"/>
          </a:xfrm>
          <a:prstGeom prst="rect">
            <a:avLst/>
          </a:prstGeom>
          <a:noFill/>
          <a:ln/>
        </p:spPr>
        <p:txBody>
          <a:bodyPr wrap="square" lIns="0" tIns="0" rIns="0" bIns="0" rtlCol="0" anchor="ctr"/>
          <a:lstStyle/>
          <a:p>
            <a:pPr algn="just"/>
            <a:r>
              <a:rPr lang="en-US" sz="2100" i="1" dirty="0">
                <a:latin typeface="Arial" pitchFamily="34" charset="0"/>
                <a:cs typeface="Arial" pitchFamily="34" charset="-120"/>
              </a:rPr>
              <a:t>Xây </a:t>
            </a:r>
            <a:r>
              <a:rPr lang="en-US" sz="2100" i="1" dirty="0" err="1">
                <a:latin typeface="Arial" pitchFamily="34" charset="0"/>
                <a:cs typeface="Arial" pitchFamily="34" charset="-120"/>
              </a:rPr>
              <a:t>dựng</a:t>
            </a:r>
            <a:r>
              <a:rPr lang="en-US" sz="2100" i="1" dirty="0">
                <a:latin typeface="Arial" pitchFamily="34" charset="0"/>
                <a:cs typeface="Arial" pitchFamily="34" charset="-120"/>
              </a:rPr>
              <a:t> </a:t>
            </a:r>
            <a:r>
              <a:rPr lang="en-US" sz="2100" i="1" dirty="0" err="1">
                <a:latin typeface="Arial" pitchFamily="34" charset="0"/>
                <a:cs typeface="Arial" pitchFamily="34" charset="-120"/>
              </a:rPr>
              <a:t>bộ</a:t>
            </a:r>
            <a:r>
              <a:rPr lang="en-US" sz="2100" i="1" dirty="0">
                <a:latin typeface="Arial" pitchFamily="34" charset="0"/>
                <a:cs typeface="Arial" pitchFamily="34" charset="-120"/>
              </a:rPr>
              <a:t> KRI, </a:t>
            </a:r>
            <a:r>
              <a:rPr lang="en-US" sz="2100" i="1" dirty="0" err="1">
                <a:latin typeface="Arial" pitchFamily="34" charset="0"/>
                <a:cs typeface="Arial" pitchFamily="34" charset="-120"/>
              </a:rPr>
              <a:t>thước</a:t>
            </a:r>
            <a:r>
              <a:rPr lang="en-US" sz="2100" i="1" dirty="0">
                <a:latin typeface="Arial" pitchFamily="34" charset="0"/>
                <a:cs typeface="Arial" pitchFamily="34" charset="-120"/>
              </a:rPr>
              <a:t> </a:t>
            </a:r>
            <a:r>
              <a:rPr lang="en-US" sz="2100" i="1" dirty="0" err="1">
                <a:latin typeface="Arial" pitchFamily="34" charset="0"/>
                <a:cs typeface="Arial" pitchFamily="34" charset="-120"/>
              </a:rPr>
              <a:t>đo</a:t>
            </a:r>
            <a:r>
              <a:rPr lang="en-US" sz="2100" i="1" dirty="0">
                <a:latin typeface="Arial" pitchFamily="34" charset="0"/>
                <a:cs typeface="Arial" pitchFamily="34" charset="-120"/>
              </a:rPr>
              <a:t>, </a:t>
            </a:r>
            <a:r>
              <a:rPr lang="en-US" sz="2100" i="1" dirty="0" err="1">
                <a:latin typeface="Arial" pitchFamily="34" charset="0"/>
                <a:cs typeface="Arial" pitchFamily="34" charset="-120"/>
              </a:rPr>
              <a:t>thư</a:t>
            </a:r>
            <a:r>
              <a:rPr lang="en-US" sz="2100" i="1" dirty="0">
                <a:latin typeface="Arial" pitchFamily="34" charset="0"/>
                <a:cs typeface="Arial" pitchFamily="34" charset="-120"/>
              </a:rPr>
              <a:t> </a:t>
            </a:r>
            <a:r>
              <a:rPr lang="en-US" sz="2100" i="1" dirty="0" err="1">
                <a:latin typeface="Arial" pitchFamily="34" charset="0"/>
                <a:cs typeface="Arial" pitchFamily="34" charset="-120"/>
              </a:rPr>
              <a:t>viện</a:t>
            </a:r>
            <a:r>
              <a:rPr lang="en-US" sz="2100" i="1" dirty="0">
                <a:latin typeface="Arial" pitchFamily="34" charset="0"/>
                <a:cs typeface="Arial" pitchFamily="34" charset="-120"/>
              </a:rPr>
              <a:t>, </a:t>
            </a:r>
            <a:r>
              <a:rPr lang="en-US" sz="2100" i="1" dirty="0" err="1">
                <a:latin typeface="Arial" pitchFamily="34" charset="0"/>
                <a:cs typeface="Arial" pitchFamily="34" charset="-120"/>
              </a:rPr>
              <a:t>danh</a:t>
            </a:r>
            <a:r>
              <a:rPr lang="en-US" sz="2100" i="1" dirty="0">
                <a:latin typeface="Arial" pitchFamily="34" charset="0"/>
                <a:cs typeface="Arial" pitchFamily="34" charset="-120"/>
              </a:rPr>
              <a:t> </a:t>
            </a:r>
            <a:r>
              <a:rPr lang="en-US" sz="2100" i="1" dirty="0" err="1">
                <a:latin typeface="Arial" pitchFamily="34" charset="0"/>
                <a:cs typeface="Arial" pitchFamily="34" charset="-120"/>
              </a:rPr>
              <a:t>mục</a:t>
            </a:r>
            <a:r>
              <a:rPr lang="en-US" sz="2100" i="1" dirty="0">
                <a:latin typeface="Arial" pitchFamily="34" charset="0"/>
                <a:cs typeface="Arial" pitchFamily="34" charset="-120"/>
              </a:rPr>
              <a:t> </a:t>
            </a:r>
            <a:r>
              <a:rPr lang="en-US" sz="2100" i="1" dirty="0" err="1">
                <a:latin typeface="Arial" pitchFamily="34" charset="0"/>
                <a:cs typeface="Arial" pitchFamily="34" charset="-120"/>
              </a:rPr>
              <a:t>rủi</a:t>
            </a:r>
            <a:r>
              <a:rPr lang="en-US" sz="2100" i="1" dirty="0">
                <a:latin typeface="Arial" pitchFamily="34" charset="0"/>
                <a:cs typeface="Arial" pitchFamily="34" charset="-120"/>
              </a:rPr>
              <a:t> </a:t>
            </a:r>
            <a:r>
              <a:rPr lang="en-US" sz="2100" i="1" dirty="0" err="1">
                <a:latin typeface="Arial" pitchFamily="34" charset="0"/>
                <a:cs typeface="Arial" pitchFamily="34" charset="-120"/>
              </a:rPr>
              <a:t>ro</a:t>
            </a:r>
            <a:r>
              <a:rPr lang="en-US" sz="2100" i="1" dirty="0">
                <a:latin typeface="Arial" pitchFamily="34" charset="0"/>
                <a:cs typeface="Arial" pitchFamily="34" charset="-120"/>
              </a:rPr>
              <a:t> </a:t>
            </a:r>
            <a:r>
              <a:rPr lang="en-US" sz="2100" i="1" dirty="0" err="1">
                <a:latin typeface="Arial" pitchFamily="34" charset="0"/>
                <a:cs typeface="Arial" pitchFamily="34" charset="-120"/>
              </a:rPr>
              <a:t>chung</a:t>
            </a:r>
            <a:r>
              <a:rPr lang="en-US" sz="2100" i="1" dirty="0">
                <a:latin typeface="Arial" pitchFamily="34" charset="0"/>
                <a:cs typeface="Arial" pitchFamily="34" charset="-120"/>
              </a:rPr>
              <a:t> </a:t>
            </a:r>
            <a:r>
              <a:rPr lang="en-US" sz="2100" i="1" dirty="0" err="1">
                <a:latin typeface="Arial" pitchFamily="34" charset="0"/>
                <a:cs typeface="Arial" pitchFamily="34" charset="-120"/>
              </a:rPr>
              <a:t>cho</a:t>
            </a:r>
            <a:r>
              <a:rPr lang="en-US" sz="2100" i="1" dirty="0">
                <a:latin typeface="Arial" pitchFamily="34" charset="0"/>
                <a:cs typeface="Arial" pitchFamily="34" charset="-120"/>
              </a:rPr>
              <a:t> </a:t>
            </a:r>
            <a:r>
              <a:rPr lang="en-US" sz="2100" i="1" dirty="0" err="1">
                <a:latin typeface="Arial" pitchFamily="34" charset="0"/>
                <a:cs typeface="Arial" pitchFamily="34" charset="-120"/>
              </a:rPr>
              <a:t>toàn</a:t>
            </a:r>
            <a:r>
              <a:rPr lang="en-US" sz="2100" i="1" dirty="0">
                <a:latin typeface="Arial" pitchFamily="34" charset="0"/>
                <a:cs typeface="Arial" pitchFamily="34" charset="-120"/>
              </a:rPr>
              <a:t> </a:t>
            </a:r>
            <a:r>
              <a:rPr lang="en-US" sz="2100" i="1" dirty="0" err="1">
                <a:latin typeface="Arial" pitchFamily="34" charset="0"/>
                <a:cs typeface="Arial" pitchFamily="34" charset="-120"/>
              </a:rPr>
              <a:t>tổ</a:t>
            </a:r>
            <a:r>
              <a:rPr lang="en-US" sz="2100" i="1" dirty="0">
                <a:latin typeface="Arial" pitchFamily="34" charset="0"/>
                <a:cs typeface="Arial" pitchFamily="34" charset="-120"/>
              </a:rPr>
              <a:t> </a:t>
            </a:r>
            <a:r>
              <a:rPr lang="en-US" sz="2100" i="1" dirty="0" err="1">
                <a:latin typeface="Arial" pitchFamily="34" charset="0"/>
                <a:cs typeface="Arial" pitchFamily="34" charset="-120"/>
              </a:rPr>
              <a:t>chức</a:t>
            </a:r>
            <a:r>
              <a:rPr lang="en-US" sz="2100" i="1" dirty="0">
                <a:latin typeface="Arial" pitchFamily="34" charset="0"/>
                <a:cs typeface="Arial" pitchFamily="34" charset="-120"/>
              </a:rPr>
              <a:t> </a:t>
            </a:r>
            <a:r>
              <a:rPr lang="en-US" sz="2100" i="1" dirty="0" err="1">
                <a:latin typeface="Arial" pitchFamily="34" charset="0"/>
                <a:cs typeface="Arial" pitchFamily="34" charset="-120"/>
              </a:rPr>
              <a:t>nhằm</a:t>
            </a:r>
            <a:r>
              <a:rPr lang="en-US" sz="2100" i="1" dirty="0">
                <a:latin typeface="Arial" pitchFamily="34" charset="0"/>
                <a:cs typeface="Arial" pitchFamily="34" charset="-120"/>
              </a:rPr>
              <a:t> </a:t>
            </a:r>
            <a:r>
              <a:rPr lang="en-US" sz="2100" i="1" dirty="0" err="1">
                <a:latin typeface="Arial" pitchFamily="34" charset="0"/>
                <a:cs typeface="Arial" pitchFamily="34" charset="-120"/>
              </a:rPr>
              <a:t>nâng</a:t>
            </a:r>
            <a:r>
              <a:rPr lang="en-US" sz="2100" i="1" dirty="0">
                <a:latin typeface="Arial" pitchFamily="34" charset="0"/>
                <a:cs typeface="Arial" pitchFamily="34" charset="-120"/>
              </a:rPr>
              <a:t> </a:t>
            </a:r>
            <a:r>
              <a:rPr lang="en-US" sz="2100" i="1" dirty="0" err="1">
                <a:latin typeface="Arial" pitchFamily="34" charset="0"/>
                <a:cs typeface="Arial" pitchFamily="34" charset="-120"/>
              </a:rPr>
              <a:t>cao</a:t>
            </a:r>
            <a:r>
              <a:rPr lang="en-US" sz="2100" i="1" dirty="0">
                <a:latin typeface="Arial" pitchFamily="34" charset="0"/>
                <a:cs typeface="Arial" pitchFamily="34" charset="-120"/>
              </a:rPr>
              <a:t> </a:t>
            </a:r>
            <a:r>
              <a:rPr lang="en-US" sz="2100" i="1" dirty="0" err="1">
                <a:latin typeface="Arial" pitchFamily="34" charset="0"/>
                <a:cs typeface="Arial" pitchFamily="34" charset="-120"/>
              </a:rPr>
              <a:t>hiệu</a:t>
            </a:r>
            <a:r>
              <a:rPr lang="en-US" sz="2100" i="1" dirty="0">
                <a:latin typeface="Arial" pitchFamily="34" charset="0"/>
                <a:cs typeface="Arial" pitchFamily="34" charset="-120"/>
              </a:rPr>
              <a:t> </a:t>
            </a:r>
            <a:r>
              <a:rPr lang="en-US" sz="2100" i="1" dirty="0" err="1">
                <a:latin typeface="Arial" pitchFamily="34" charset="0"/>
                <a:cs typeface="Arial" pitchFamily="34" charset="-120"/>
              </a:rPr>
              <a:t>quả</a:t>
            </a:r>
            <a:r>
              <a:rPr lang="en-US" sz="2100" i="1" dirty="0">
                <a:latin typeface="Arial" pitchFamily="34" charset="0"/>
                <a:cs typeface="Arial" pitchFamily="34" charset="-120"/>
              </a:rPr>
              <a:t> </a:t>
            </a:r>
            <a:r>
              <a:rPr lang="en-US" sz="2100" i="1" dirty="0" err="1">
                <a:latin typeface="Arial" pitchFamily="34" charset="0"/>
                <a:cs typeface="Arial" pitchFamily="34" charset="-120"/>
              </a:rPr>
              <a:t>theo</a:t>
            </a:r>
            <a:r>
              <a:rPr lang="en-US" sz="2100" i="1" dirty="0">
                <a:latin typeface="Arial" pitchFamily="34" charset="0"/>
                <a:cs typeface="Arial" pitchFamily="34" charset="-120"/>
              </a:rPr>
              <a:t> </a:t>
            </a:r>
            <a:r>
              <a:rPr lang="en-US" sz="2100" i="1" dirty="0" err="1">
                <a:latin typeface="Arial" pitchFamily="34" charset="0"/>
                <a:cs typeface="Arial" pitchFamily="34" charset="-120"/>
              </a:rPr>
              <a:t>dõi</a:t>
            </a:r>
            <a:r>
              <a:rPr lang="en-US" sz="2100" i="1" dirty="0">
                <a:latin typeface="Arial" pitchFamily="34" charset="0"/>
                <a:cs typeface="Arial" pitchFamily="34" charset="-120"/>
              </a:rPr>
              <a:t>, </a:t>
            </a:r>
            <a:r>
              <a:rPr lang="en-US" sz="2100" i="1" dirty="0" err="1">
                <a:latin typeface="Arial" pitchFamily="34" charset="0"/>
                <a:cs typeface="Arial" pitchFamily="34" charset="-120"/>
              </a:rPr>
              <a:t>quản</a:t>
            </a:r>
            <a:r>
              <a:rPr lang="en-US" sz="2100" i="1" dirty="0">
                <a:latin typeface="Arial" pitchFamily="34" charset="0"/>
                <a:cs typeface="Arial" pitchFamily="34" charset="-120"/>
              </a:rPr>
              <a:t> </a:t>
            </a:r>
            <a:r>
              <a:rPr lang="en-US" sz="2100" i="1" dirty="0" err="1">
                <a:latin typeface="Arial" pitchFamily="34" charset="0"/>
                <a:cs typeface="Arial" pitchFamily="34" charset="-120"/>
              </a:rPr>
              <a:t>trị</a:t>
            </a:r>
            <a:endParaRPr lang="en-US" sz="2100" i="1" dirty="0">
              <a:latin typeface="Arial" panose="020B0604020202020204" pitchFamily="34" charset="0"/>
            </a:endParaRPr>
          </a:p>
        </p:txBody>
      </p:sp>
      <p:sp>
        <p:nvSpPr>
          <p:cNvPr id="2" name="Right Arrow 1"/>
          <p:cNvSpPr/>
          <p:nvPr/>
        </p:nvSpPr>
        <p:spPr>
          <a:xfrm>
            <a:off x="8839198" y="5398008"/>
            <a:ext cx="609600" cy="649224"/>
          </a:xfrm>
          <a:prstGeom prst="rightArrow">
            <a:avLst/>
          </a:prstGeom>
          <a:solidFill>
            <a:schemeClr val="bg1">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30" name="Text 9"/>
          <p:cNvSpPr/>
          <p:nvPr/>
        </p:nvSpPr>
        <p:spPr>
          <a:xfrm>
            <a:off x="11456694" y="4068554"/>
            <a:ext cx="5058997" cy="512064"/>
          </a:xfrm>
          <a:prstGeom prst="rect">
            <a:avLst/>
          </a:prstGeom>
          <a:noFill/>
          <a:ln/>
        </p:spPr>
        <p:txBody>
          <a:bodyPr wrap="square" lIns="0" tIns="0" rIns="0" bIns="0" rtlCol="0" anchor="ctr"/>
          <a:lstStyle/>
          <a:p>
            <a:r>
              <a:rPr lang="en-US" sz="2400" b="1" dirty="0">
                <a:latin typeface="Arial" pitchFamily="34" charset="0"/>
                <a:ea typeface="Arial" pitchFamily="34" charset="-122"/>
                <a:cs typeface="Arial" pitchFamily="34" charset="-120"/>
              </a:rPr>
              <a:t>CẢNH BÁO RỦI RO SỚM</a:t>
            </a:r>
            <a:endParaRPr lang="en-US" sz="2400" dirty="0">
              <a:latin typeface="Arial" panose="020B0604020202020204" pitchFamily="34" charset="0"/>
            </a:endParaRPr>
          </a:p>
        </p:txBody>
      </p:sp>
      <p:sp>
        <p:nvSpPr>
          <p:cNvPr id="131" name="Text 10"/>
          <p:cNvSpPr/>
          <p:nvPr/>
        </p:nvSpPr>
        <p:spPr>
          <a:xfrm>
            <a:off x="11456694" y="4464794"/>
            <a:ext cx="5058997" cy="822960"/>
          </a:xfrm>
          <a:prstGeom prst="rect">
            <a:avLst/>
          </a:prstGeom>
          <a:noFill/>
          <a:ln/>
        </p:spPr>
        <p:txBody>
          <a:bodyPr wrap="square" lIns="0" tIns="0" rIns="0" bIns="0" rtlCol="0" anchor="ctr"/>
          <a:lstStyle/>
          <a:p>
            <a:pPr algn="just"/>
            <a:r>
              <a:rPr lang="en-US" sz="2100" i="1" dirty="0" err="1">
                <a:latin typeface="Arial" pitchFamily="34" charset="0"/>
                <a:ea typeface="Arial" pitchFamily="34" charset="-122"/>
                <a:cs typeface="Arial" pitchFamily="34" charset="-120"/>
              </a:rPr>
              <a:t>Giúp</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các</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đơn</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vị</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phát</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hiện</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phòng</a:t>
            </a:r>
            <a:r>
              <a:rPr lang="en-US" sz="2100" i="1" dirty="0">
                <a:latin typeface="Arial" pitchFamily="34" charset="0"/>
                <a:ea typeface="Arial" pitchFamily="34" charset="-122"/>
                <a:cs typeface="Arial" pitchFamily="34" charset="-120"/>
              </a:rPr>
              <a:t> </a:t>
            </a:r>
            <a:r>
              <a:rPr lang="en-US" sz="2100" i="1" dirty="0" err="1">
                <a:latin typeface="Arial" pitchFamily="34" charset="0"/>
                <a:ea typeface="Arial" pitchFamily="34" charset="-122"/>
                <a:cs typeface="Arial" pitchFamily="34" charset="-120"/>
              </a:rPr>
              <a:t>ngừa</a:t>
            </a:r>
            <a:r>
              <a:rPr lang="en-US" sz="2100" i="1" dirty="0">
                <a:latin typeface="Arial" pitchFamily="34" charset="0"/>
                <a:ea typeface="Arial" pitchFamily="34" charset="-122"/>
                <a:cs typeface="Arial" pitchFamily="34" charset="-120"/>
              </a:rPr>
              <a:t> rủi ro trước khi thành tổn thất thực tế</a:t>
            </a:r>
            <a:endParaRPr lang="en-US" sz="2100" i="1" dirty="0">
              <a:latin typeface="Arial" panose="020B0604020202020204" pitchFamily="34" charset="0"/>
            </a:endParaRPr>
          </a:p>
        </p:txBody>
      </p:sp>
    </p:spTree>
    <p:extLst>
      <p:ext uri="{BB962C8B-B14F-4D97-AF65-F5344CB8AC3E}">
        <p14:creationId xmlns:p14="http://schemas.microsoft.com/office/powerpoint/2010/main" val="3603962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 name="Group 2"/>
          <p:cNvGrpSpPr/>
          <p:nvPr/>
        </p:nvGrpSpPr>
        <p:grpSpPr>
          <a:xfrm>
            <a:off x="0" y="114299"/>
            <a:ext cx="12115800" cy="1097280"/>
            <a:chOff x="0" y="-2"/>
            <a:chExt cx="22925487" cy="1664815"/>
          </a:xfrm>
          <a:solidFill>
            <a:schemeClr val="bg1">
              <a:lumMod val="95000"/>
            </a:schemeClr>
          </a:solidFill>
        </p:grpSpPr>
        <p:sp>
          <p:nvSpPr>
            <p:cNvPr id="61" name="Freeform 3"/>
            <p:cNvSpPr/>
            <p:nvPr/>
          </p:nvSpPr>
          <p:spPr>
            <a:xfrm>
              <a:off x="0" y="-2"/>
              <a:ext cx="22925487"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1.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Tổng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quan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về</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doanh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nghiệp</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(ERM)</a:t>
              </a: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Vì</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sao</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VDS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cần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triển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khai</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ERM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ngay</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a:t>
              </a:r>
            </a:p>
          </p:txBody>
        </p:sp>
      </p:grpSp>
      <p:grpSp>
        <p:nvGrpSpPr>
          <p:cNvPr id="62" name="Group 4"/>
          <p:cNvGrpSpPr/>
          <p:nvPr/>
        </p:nvGrpSpPr>
        <p:grpSpPr>
          <a:xfrm>
            <a:off x="0" y="114299"/>
            <a:ext cx="936307" cy="1097280"/>
            <a:chOff x="0" y="0"/>
            <a:chExt cx="1248410" cy="1554290"/>
          </a:xfrm>
        </p:grpSpPr>
        <p:sp>
          <p:nvSpPr>
            <p:cNvPr id="6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72" name="Shape 9"/>
          <p:cNvSpPr/>
          <p:nvPr/>
        </p:nvSpPr>
        <p:spPr>
          <a:xfrm>
            <a:off x="502920" y="1714500"/>
            <a:ext cx="5212080" cy="8305800"/>
          </a:xfrm>
          <a:prstGeom prst="roundRect">
            <a:avLst>
              <a:gd name="adj" fmla="val 3333"/>
            </a:avLst>
          </a:prstGeom>
          <a:solidFill>
            <a:srgbClr val="C00000"/>
          </a:solidFill>
          <a:ln w="6350">
            <a:noFill/>
            <a:prstDash val="solid"/>
          </a:ln>
          <a:effectLst>
            <a:outerShdw blurRad="50800" dist="38100" algn="l" rotWithShape="0">
              <a:prstClr val="black">
                <a:alpha val="40000"/>
              </a:prstClr>
            </a:outerShdw>
          </a:effectLst>
        </p:spPr>
        <p:txBody>
          <a:bodyPr/>
          <a:lstStyle/>
          <a:p>
            <a:endParaRPr lang="en-US"/>
          </a:p>
        </p:txBody>
      </p:sp>
      <p:sp>
        <p:nvSpPr>
          <p:cNvPr id="75" name="Text 11"/>
          <p:cNvSpPr/>
          <p:nvPr/>
        </p:nvSpPr>
        <p:spPr>
          <a:xfrm>
            <a:off x="478287" y="3377178"/>
            <a:ext cx="4937760" cy="822960"/>
          </a:xfrm>
          <a:prstGeom prst="rect">
            <a:avLst/>
          </a:prstGeom>
          <a:noFill/>
          <a:ln/>
        </p:spPr>
        <p:txBody>
          <a:bodyPr wrap="square" rtlCol="0" anchor="ctr"/>
          <a:lstStyle/>
          <a:p>
            <a:pPr algn="ctr"/>
            <a:r>
              <a:rPr lang="en-US" sz="2800" b="1">
                <a:solidFill>
                  <a:schemeClr val="bg1"/>
                </a:solidFill>
                <a:latin typeface="Arial" pitchFamily="34" charset="0"/>
                <a:ea typeface="Arial" pitchFamily="34" charset="-122"/>
                <a:cs typeface="Arial" pitchFamily="34" charset="-120"/>
              </a:rPr>
              <a:t>CHIẾN LƯỢC</a:t>
            </a:r>
            <a:endParaRPr lang="en-US" sz="2800" dirty="0">
              <a:solidFill>
                <a:schemeClr val="bg1"/>
              </a:solidFill>
              <a:latin typeface="Arial" panose="020B0604020202020204" pitchFamily="34" charset="0"/>
            </a:endParaRPr>
          </a:p>
        </p:txBody>
      </p:sp>
      <p:sp>
        <p:nvSpPr>
          <p:cNvPr id="76" name="Shape 12"/>
          <p:cNvSpPr/>
          <p:nvPr/>
        </p:nvSpPr>
        <p:spPr>
          <a:xfrm>
            <a:off x="644474" y="4250333"/>
            <a:ext cx="4937760" cy="2059866"/>
          </a:xfrm>
          <a:prstGeom prst="roundRect">
            <a:avLst>
              <a:gd name="adj" fmla="val 5714"/>
            </a:avLst>
          </a:prstGeom>
          <a:solidFill>
            <a:schemeClr val="bg1"/>
          </a:solidFill>
          <a:ln w="12700">
            <a:solidFill>
              <a:srgbClr val="E8EEFB"/>
            </a:solidFill>
            <a:prstDash val="solid"/>
          </a:ln>
        </p:spPr>
        <p:txBody>
          <a:bodyPr anchor="ctr"/>
          <a:lstStyle/>
          <a:p>
            <a:pPr algn="just"/>
            <a:r>
              <a:rPr lang="en-US" sz="2150" b="1">
                <a:latin typeface="Arial" panose="020B0604020202020204" pitchFamily="34" charset="0"/>
                <a:ea typeface="Arial" pitchFamily="34" charset="-122"/>
                <a:cs typeface="Arial" pitchFamily="34" charset="-120"/>
              </a:rPr>
              <a:t>Chuyển dịch mô hình kinh doanh sang hướng holding</a:t>
            </a:r>
            <a:r>
              <a:rPr lang="en-US" sz="2150">
                <a:latin typeface="Arial" panose="020B0604020202020204" pitchFamily="34" charset="0"/>
                <a:ea typeface="Arial" pitchFamily="34" charset="-122"/>
                <a:cs typeface="Arial" pitchFamily="34" charset="-120"/>
              </a:rPr>
              <a:t>, quản trị các công ty con trong lĩnh vực ngân hàng số, tài chính, bảo hiểm… và mở rộng hoạt động sang các thị trường quốc tế</a:t>
            </a:r>
            <a:endParaRPr lang="en-US" sz="2150" dirty="0">
              <a:latin typeface="Arial" panose="020B0604020202020204" pitchFamily="34" charset="0"/>
              <a:ea typeface="Arial" pitchFamily="34" charset="-122"/>
              <a:cs typeface="Arial" pitchFamily="34" charset="-120"/>
            </a:endParaRPr>
          </a:p>
        </p:txBody>
      </p:sp>
      <p:sp>
        <p:nvSpPr>
          <p:cNvPr id="78" name="Shape 14"/>
          <p:cNvSpPr/>
          <p:nvPr/>
        </p:nvSpPr>
        <p:spPr>
          <a:xfrm>
            <a:off x="644474" y="6455588"/>
            <a:ext cx="4937760" cy="950826"/>
          </a:xfrm>
          <a:prstGeom prst="roundRect">
            <a:avLst>
              <a:gd name="adj" fmla="val 5714"/>
            </a:avLst>
          </a:prstGeom>
          <a:solidFill>
            <a:schemeClr val="bg1"/>
          </a:solidFill>
          <a:ln w="12700">
            <a:solidFill>
              <a:srgbClr val="E8EEFB"/>
            </a:solidFill>
            <a:prstDash val="solid"/>
          </a:ln>
        </p:spPr>
        <p:txBody>
          <a:bodyPr anchor="ctr"/>
          <a:lstStyle/>
          <a:p>
            <a:pPr algn="just"/>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Phát</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sinh</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rủi</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ro</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liên</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phòng</a:t>
            </a:r>
            <a:r>
              <a:rPr lang="en-US" sz="2200" b="1" dirty="0">
                <a:latin typeface="Arial" panose="020B0604020202020204" pitchFamily="34" charset="0"/>
                <a:ea typeface="Arial" pitchFamily="34" charset="-122"/>
                <a:cs typeface="Arial" pitchFamily="34" charset="-120"/>
                <a:sym typeface="Wingdings" panose="05000000000000000000" pitchFamily="2" charset="2"/>
              </a:rPr>
              <a:t> ban,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liên</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đơn</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vị</a:t>
            </a:r>
            <a:endParaRPr lang="en-US" sz="2200" b="1" dirty="0">
              <a:latin typeface="Arial" panose="020B0604020202020204" pitchFamily="34" charset="0"/>
              <a:ea typeface="Arial" pitchFamily="34" charset="-122"/>
              <a:cs typeface="Arial" pitchFamily="34" charset="-120"/>
            </a:endParaRPr>
          </a:p>
        </p:txBody>
      </p:sp>
      <p:sp>
        <p:nvSpPr>
          <p:cNvPr id="79" name="Text 15"/>
          <p:cNvSpPr/>
          <p:nvPr/>
        </p:nvSpPr>
        <p:spPr>
          <a:xfrm>
            <a:off x="3242252" y="7102602"/>
            <a:ext cx="4681728" cy="1034796"/>
          </a:xfrm>
          <a:prstGeom prst="rect">
            <a:avLst/>
          </a:prstGeom>
          <a:noFill/>
          <a:ln/>
        </p:spPr>
        <p:txBody>
          <a:bodyPr wrap="square" rtlCol="0" anchor="t"/>
          <a:lstStyle/>
          <a:p>
            <a:pPr algn="just"/>
            <a:endParaRPr lang="en-US" sz="2000" dirty="0">
              <a:latin typeface="Arial" pitchFamily="34" charset="0"/>
              <a:ea typeface="Arial" pitchFamily="34" charset="-122"/>
              <a:cs typeface="Arial" pitchFamily="34" charset="-120"/>
            </a:endParaRPr>
          </a:p>
        </p:txBody>
      </p:sp>
      <p:sp>
        <p:nvSpPr>
          <p:cNvPr id="80" name="Shape 9"/>
          <p:cNvSpPr/>
          <p:nvPr/>
        </p:nvSpPr>
        <p:spPr>
          <a:xfrm>
            <a:off x="6477000" y="1714500"/>
            <a:ext cx="5212080" cy="8305800"/>
          </a:xfrm>
          <a:prstGeom prst="roundRect">
            <a:avLst>
              <a:gd name="adj" fmla="val 3333"/>
            </a:avLst>
          </a:prstGeom>
          <a:solidFill>
            <a:srgbClr val="FF0000"/>
          </a:solidFill>
          <a:ln w="6350">
            <a:noFill/>
            <a:prstDash val="solid"/>
          </a:ln>
          <a:effectLst>
            <a:outerShdw blurRad="50800" dist="38100" algn="l" rotWithShape="0">
              <a:prstClr val="black">
                <a:alpha val="40000"/>
              </a:prstClr>
            </a:outerShdw>
          </a:effectLst>
        </p:spPr>
        <p:txBody>
          <a:bodyPr/>
          <a:lstStyle/>
          <a:p>
            <a:endParaRPr lang="en-US"/>
          </a:p>
        </p:txBody>
      </p:sp>
      <p:sp>
        <p:nvSpPr>
          <p:cNvPr id="83" name="Text 11"/>
          <p:cNvSpPr/>
          <p:nvPr/>
        </p:nvSpPr>
        <p:spPr>
          <a:xfrm>
            <a:off x="6666046" y="3433572"/>
            <a:ext cx="4937760" cy="822960"/>
          </a:xfrm>
          <a:prstGeom prst="rect">
            <a:avLst/>
          </a:prstGeom>
          <a:noFill/>
          <a:ln/>
        </p:spPr>
        <p:txBody>
          <a:bodyPr wrap="square" rtlCol="0" anchor="ctr"/>
          <a:lstStyle/>
          <a:p>
            <a:pPr algn="ctr"/>
            <a:r>
              <a:rPr lang="en-US" sz="2800" b="1">
                <a:solidFill>
                  <a:schemeClr val="bg1"/>
                </a:solidFill>
                <a:latin typeface="Arial" pitchFamily="34" charset="0"/>
                <a:ea typeface="Arial" pitchFamily="34" charset="-122"/>
                <a:cs typeface="Arial" pitchFamily="34" charset="-120"/>
              </a:rPr>
              <a:t>TUÂN THỦ</a:t>
            </a:r>
          </a:p>
        </p:txBody>
      </p:sp>
      <p:sp>
        <p:nvSpPr>
          <p:cNvPr id="84" name="Shape 12"/>
          <p:cNvSpPr/>
          <p:nvPr/>
        </p:nvSpPr>
        <p:spPr>
          <a:xfrm>
            <a:off x="6586224" y="4250334"/>
            <a:ext cx="4937760" cy="2059866"/>
          </a:xfrm>
          <a:prstGeom prst="roundRect">
            <a:avLst>
              <a:gd name="adj" fmla="val 5714"/>
            </a:avLst>
          </a:prstGeom>
          <a:solidFill>
            <a:schemeClr val="bg1"/>
          </a:solidFill>
          <a:ln w="12700">
            <a:solidFill>
              <a:srgbClr val="E8EEFB"/>
            </a:solidFill>
            <a:prstDash val="solid"/>
          </a:ln>
        </p:spPr>
        <p:txBody>
          <a:bodyPr anchor="ctr"/>
          <a:lstStyle/>
          <a:p>
            <a:pPr algn="just"/>
            <a:r>
              <a:rPr lang="en-US" sz="2200" dirty="0">
                <a:latin typeface="Arial" panose="020B0604020202020204" pitchFamily="34" charset="0"/>
                <a:ea typeface="Arial" pitchFamily="34" charset="-122"/>
                <a:cs typeface="Arial" pitchFamily="34" charset="-120"/>
              </a:rPr>
              <a:t>Vai </a:t>
            </a:r>
            <a:r>
              <a:rPr lang="en-US" sz="2200" dirty="0" err="1">
                <a:latin typeface="Arial" panose="020B0604020202020204" pitchFamily="34" charset="0"/>
                <a:ea typeface="Arial" pitchFamily="34" charset="-122"/>
                <a:cs typeface="Arial" pitchFamily="34" charset="-120"/>
              </a:rPr>
              <a:t>trò</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Tổng</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công</a:t>
            </a:r>
            <a:r>
              <a:rPr lang="en-US" sz="2200" dirty="0">
                <a:latin typeface="Arial" panose="020B0604020202020204" pitchFamily="34" charset="0"/>
                <a:ea typeface="Arial" pitchFamily="34" charset="-122"/>
                <a:cs typeface="Arial" pitchFamily="34" charset="-120"/>
              </a:rPr>
              <a:t> ty </a:t>
            </a:r>
            <a:r>
              <a:rPr lang="en-US" sz="2200" dirty="0" err="1">
                <a:latin typeface="Arial" panose="020B0604020202020204" pitchFamily="34" charset="0"/>
                <a:ea typeface="Arial" pitchFamily="34" charset="-122"/>
                <a:cs typeface="Arial" pitchFamily="34" charset="-120"/>
              </a:rPr>
              <a:t>trong</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các</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lĩnh</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vực</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trung</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gian</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thanh</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toán</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tài</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chính</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bảo</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hiểm</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kéo</a:t>
            </a:r>
            <a:r>
              <a:rPr lang="en-US" sz="2200" dirty="0">
                <a:latin typeface="Arial" panose="020B0604020202020204" pitchFamily="34" charset="0"/>
                <a:ea typeface="Arial" pitchFamily="34" charset="-122"/>
                <a:cs typeface="Arial" pitchFamily="34" charset="-120"/>
              </a:rPr>
              <a:t> </a:t>
            </a:r>
            <a:r>
              <a:rPr lang="en-US" sz="2200" dirty="0" err="1">
                <a:latin typeface="Arial" panose="020B0604020202020204" pitchFamily="34" charset="0"/>
                <a:ea typeface="Arial" pitchFamily="34" charset="-122"/>
                <a:cs typeface="Arial" pitchFamily="34" charset="-120"/>
              </a:rPr>
              <a:t>theo</a:t>
            </a:r>
            <a:r>
              <a:rPr lang="en-US" sz="2200"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yêu</a:t>
            </a:r>
            <a:r>
              <a:rPr lang="en-US" sz="2200" b="1"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cầu</a:t>
            </a:r>
            <a:r>
              <a:rPr lang="en-US" sz="2200" b="1"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tuân</a:t>
            </a:r>
            <a:r>
              <a:rPr lang="en-US" sz="2200" b="1"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thủ</a:t>
            </a:r>
            <a:r>
              <a:rPr lang="en-US" sz="2200" b="1"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càng</a:t>
            </a:r>
            <a:r>
              <a:rPr lang="en-US" sz="2200" b="1"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lớn</a:t>
            </a:r>
            <a:r>
              <a:rPr lang="en-US" sz="2200" b="1"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từ</a:t>
            </a:r>
            <a:r>
              <a:rPr lang="en-US" sz="2200" b="1"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cơ</a:t>
            </a:r>
            <a:r>
              <a:rPr lang="en-US" sz="2200" b="1" dirty="0">
                <a:latin typeface="Arial" panose="020B0604020202020204" pitchFamily="34" charset="0"/>
                <a:ea typeface="Arial" pitchFamily="34" charset="-122"/>
                <a:cs typeface="Arial" pitchFamily="34" charset="-120"/>
              </a:rPr>
              <a:t> </a:t>
            </a:r>
            <a:r>
              <a:rPr lang="en-US" sz="2200" b="1" dirty="0" err="1">
                <a:latin typeface="Arial" panose="020B0604020202020204" pitchFamily="34" charset="0"/>
                <a:ea typeface="Arial" pitchFamily="34" charset="-122"/>
                <a:cs typeface="Arial" pitchFamily="34" charset="-120"/>
              </a:rPr>
              <a:t>quan</a:t>
            </a:r>
            <a:r>
              <a:rPr lang="en-US" sz="2200" b="1" dirty="0">
                <a:latin typeface="Arial" panose="020B0604020202020204" pitchFamily="34" charset="0"/>
                <a:ea typeface="Arial" pitchFamily="34" charset="-122"/>
                <a:cs typeface="Arial" pitchFamily="34" charset="-120"/>
              </a:rPr>
              <a:t> QLNN</a:t>
            </a:r>
            <a:endParaRPr lang="vi-VN" sz="2200" b="1" dirty="0">
              <a:latin typeface="Arial" panose="020B0604020202020204" pitchFamily="34" charset="0"/>
              <a:ea typeface="Arial" pitchFamily="34" charset="-122"/>
              <a:cs typeface="Arial" pitchFamily="34" charset="-120"/>
            </a:endParaRPr>
          </a:p>
        </p:txBody>
      </p:sp>
      <p:sp>
        <p:nvSpPr>
          <p:cNvPr id="86" name="Shape 14"/>
          <p:cNvSpPr/>
          <p:nvPr/>
        </p:nvSpPr>
        <p:spPr>
          <a:xfrm>
            <a:off x="6570458" y="6446294"/>
            <a:ext cx="4937760" cy="1516606"/>
          </a:xfrm>
          <a:prstGeom prst="roundRect">
            <a:avLst>
              <a:gd name="adj" fmla="val 5714"/>
            </a:avLst>
          </a:prstGeom>
          <a:solidFill>
            <a:schemeClr val="bg1"/>
          </a:solidFill>
          <a:ln w="12700">
            <a:solidFill>
              <a:srgbClr val="E8EEFB"/>
            </a:solidFill>
            <a:prstDash val="solid"/>
          </a:ln>
        </p:spPr>
        <p:txBody>
          <a:bodyPr anchor="ctr"/>
          <a:lstStyle/>
          <a:p>
            <a:pPr algn="just"/>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Yêu</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cầu</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của</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cơ</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quan</a:t>
            </a:r>
            <a:r>
              <a:rPr lang="en-US" sz="2200" b="1" dirty="0">
                <a:latin typeface="Arial" panose="020B0604020202020204" pitchFamily="34" charset="0"/>
                <a:ea typeface="Arial" pitchFamily="34" charset="-122"/>
                <a:cs typeface="Arial" pitchFamily="34" charset="-120"/>
                <a:sym typeface="Wingdings" panose="05000000000000000000" pitchFamily="2" charset="2"/>
              </a:rPr>
              <a:t> QLNN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đối</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với</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hệ</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thống</a:t>
            </a:r>
            <a:r>
              <a:rPr lang="en-US" sz="2200" b="1" dirty="0">
                <a:latin typeface="Arial" panose="020B0604020202020204" pitchFamily="34" charset="0"/>
                <a:ea typeface="Arial" pitchFamily="34" charset="-122"/>
                <a:cs typeface="Arial" pitchFamily="34" charset="-120"/>
                <a:sym typeface="Wingdings" panose="05000000000000000000" pitchFamily="2" charset="2"/>
              </a:rPr>
              <a:t> QTRR &amp; KSNB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rất</a:t>
            </a:r>
            <a:r>
              <a:rPr lang="en-US" sz="2200" b="1" dirty="0">
                <a:latin typeface="Arial" panose="020B0604020202020204" pitchFamily="34" charset="0"/>
                <a:ea typeface="Arial" pitchFamily="34" charset="-122"/>
                <a:cs typeface="Arial" pitchFamily="34" charset="-120"/>
                <a:sym typeface="Wingdings" panose="05000000000000000000" pitchFamily="2" charset="2"/>
              </a:rPr>
              <a:t> </a:t>
            </a:r>
            <a:r>
              <a:rPr lang="en-US" sz="2200" b="1" dirty="0" err="1">
                <a:latin typeface="Arial" panose="020B0604020202020204" pitchFamily="34" charset="0"/>
                <a:ea typeface="Arial" pitchFamily="34" charset="-122"/>
                <a:cs typeface="Arial" pitchFamily="34" charset="-120"/>
                <a:sym typeface="Wingdings" panose="05000000000000000000" pitchFamily="2" charset="2"/>
              </a:rPr>
              <a:t>cao</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đối</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với</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các</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doanh</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nghiệp</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ngân</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hàng</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bảo</a:t>
            </a:r>
            <a:r>
              <a:rPr lang="en-US" sz="2200" dirty="0">
                <a:latin typeface="Arial" panose="020B0604020202020204" pitchFamily="34" charset="0"/>
                <a:ea typeface="Arial" pitchFamily="34" charset="-122"/>
                <a:cs typeface="Arial" pitchFamily="34" charset="-120"/>
                <a:sym typeface="Wingdings" panose="05000000000000000000" pitchFamily="2" charset="2"/>
              </a:rPr>
              <a:t> </a:t>
            </a:r>
            <a:r>
              <a:rPr lang="en-US" sz="2200" dirty="0" err="1">
                <a:latin typeface="Arial" panose="020B0604020202020204" pitchFamily="34" charset="0"/>
                <a:ea typeface="Arial" pitchFamily="34" charset="-122"/>
                <a:cs typeface="Arial" pitchFamily="34" charset="-120"/>
                <a:sym typeface="Wingdings" panose="05000000000000000000" pitchFamily="2" charset="2"/>
              </a:rPr>
              <a:t>hiểm</a:t>
            </a:r>
            <a:endParaRPr lang="en-US" sz="2200" dirty="0">
              <a:latin typeface="Arial" panose="020B0604020202020204" pitchFamily="34" charset="0"/>
            </a:endParaRPr>
          </a:p>
        </p:txBody>
      </p:sp>
      <p:sp>
        <p:nvSpPr>
          <p:cNvPr id="87" name="Text 15"/>
          <p:cNvSpPr/>
          <p:nvPr/>
        </p:nvSpPr>
        <p:spPr>
          <a:xfrm>
            <a:off x="7353080" y="7797894"/>
            <a:ext cx="4681728" cy="1034796"/>
          </a:xfrm>
          <a:prstGeom prst="rect">
            <a:avLst/>
          </a:prstGeom>
          <a:noFill/>
          <a:ln/>
        </p:spPr>
        <p:txBody>
          <a:bodyPr wrap="square" rtlCol="0" anchor="t"/>
          <a:lstStyle/>
          <a:p>
            <a:pPr algn="just"/>
            <a:r>
              <a:rPr lang="en-US" sz="2000" dirty="0">
                <a:latin typeface="Arial" pitchFamily="34" charset="0"/>
                <a:ea typeface="Arial" pitchFamily="34" charset="-122"/>
                <a:cs typeface="Arial" pitchFamily="34" charset="-120"/>
              </a:rPr>
              <a:t> </a:t>
            </a:r>
          </a:p>
        </p:txBody>
      </p:sp>
      <p:sp>
        <p:nvSpPr>
          <p:cNvPr id="2" name="AutoShape 2" descr="307,400+ Corporate Banking Stock Photos, Pictures &amp; Royalty-Free Images - iStock | Business corporate banking, Corporate banking online, Asian corporate bank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sp>
        <p:nvSpPr>
          <p:cNvPr id="22" name="Shape 9"/>
          <p:cNvSpPr/>
          <p:nvPr/>
        </p:nvSpPr>
        <p:spPr>
          <a:xfrm>
            <a:off x="12466320" y="1714501"/>
            <a:ext cx="5212080" cy="8305799"/>
          </a:xfrm>
          <a:prstGeom prst="roundRect">
            <a:avLst>
              <a:gd name="adj" fmla="val 3333"/>
            </a:avLst>
          </a:prstGeom>
          <a:solidFill>
            <a:schemeClr val="tx2">
              <a:lumMod val="60000"/>
              <a:lumOff val="40000"/>
            </a:schemeClr>
          </a:solidFill>
          <a:ln w="6350">
            <a:noFill/>
            <a:prstDash val="solid"/>
          </a:ln>
          <a:effectLst>
            <a:outerShdw blurRad="50800" dist="38100" algn="l" rotWithShape="0">
              <a:prstClr val="black">
                <a:alpha val="40000"/>
              </a:prstClr>
            </a:outerShdw>
          </a:effectLst>
        </p:spPr>
        <p:txBody>
          <a:bodyPr/>
          <a:lstStyle/>
          <a:p>
            <a:endParaRPr lang="en-US"/>
          </a:p>
        </p:txBody>
      </p:sp>
      <p:sp>
        <p:nvSpPr>
          <p:cNvPr id="24" name="Text 11"/>
          <p:cNvSpPr/>
          <p:nvPr/>
        </p:nvSpPr>
        <p:spPr>
          <a:xfrm>
            <a:off x="12667089" y="3361697"/>
            <a:ext cx="4937760" cy="822960"/>
          </a:xfrm>
          <a:prstGeom prst="rect">
            <a:avLst/>
          </a:prstGeom>
          <a:noFill/>
          <a:ln/>
        </p:spPr>
        <p:txBody>
          <a:bodyPr wrap="square" rtlCol="0" anchor="ctr"/>
          <a:lstStyle/>
          <a:p>
            <a:pPr algn="ctr"/>
            <a:r>
              <a:rPr lang="en-US" sz="2800" b="1">
                <a:solidFill>
                  <a:schemeClr val="bg1"/>
                </a:solidFill>
                <a:latin typeface="Arial" pitchFamily="34" charset="0"/>
                <a:ea typeface="Arial" pitchFamily="34" charset="-122"/>
                <a:cs typeface="Arial" pitchFamily="34" charset="-120"/>
              </a:rPr>
              <a:t>CHUẨN HÓA</a:t>
            </a:r>
          </a:p>
        </p:txBody>
      </p:sp>
      <p:sp>
        <p:nvSpPr>
          <p:cNvPr id="25" name="Shape 12"/>
          <p:cNvSpPr/>
          <p:nvPr/>
        </p:nvSpPr>
        <p:spPr>
          <a:xfrm>
            <a:off x="12611742" y="4250334"/>
            <a:ext cx="4937760" cy="2059866"/>
          </a:xfrm>
          <a:prstGeom prst="roundRect">
            <a:avLst>
              <a:gd name="adj" fmla="val 5714"/>
            </a:avLst>
          </a:prstGeom>
          <a:solidFill>
            <a:schemeClr val="bg1"/>
          </a:solidFill>
          <a:ln w="12700">
            <a:solidFill>
              <a:srgbClr val="E8EEFB"/>
            </a:solidFill>
            <a:prstDash val="solid"/>
          </a:ln>
        </p:spPr>
        <p:txBody>
          <a:bodyPr anchor="ctr"/>
          <a:lstStyle/>
          <a:p>
            <a:pPr algn="just"/>
            <a:r>
              <a:rPr lang="vi-VN" sz="2200" b="1">
                <a:latin typeface="Arial" panose="020B0604020202020204" pitchFamily="34" charset="0"/>
                <a:ea typeface="Arial" pitchFamily="34" charset="-122"/>
                <a:cs typeface="Arial" panose="020B0604020202020204" pitchFamily="34" charset="0"/>
              </a:rPr>
              <a:t>Mức độ trưởng thành </a:t>
            </a:r>
            <a:r>
              <a:rPr lang="vi-VN" sz="2200">
                <a:latin typeface="Arial" panose="020B0604020202020204" pitchFamily="34" charset="0"/>
                <a:ea typeface="Arial" pitchFamily="34" charset="-122"/>
                <a:cs typeface="Arial" panose="020B0604020202020204" pitchFamily="34" charset="0"/>
              </a:rPr>
              <a:t>QTRR hiện tại còn </a:t>
            </a:r>
            <a:r>
              <a:rPr lang="vi-VN" sz="2200" b="1">
                <a:latin typeface="Arial" panose="020B0604020202020204" pitchFamily="34" charset="0"/>
                <a:ea typeface="Arial" pitchFamily="34" charset="-122"/>
                <a:cs typeface="Arial" panose="020B0604020202020204" pitchFamily="34" charset="0"/>
              </a:rPr>
              <a:t>khoảng cách đáng kể so với thông lệ</a:t>
            </a:r>
            <a:r>
              <a:rPr lang="vi-VN" sz="2200">
                <a:latin typeface="Arial" panose="020B0604020202020204" pitchFamily="34" charset="0"/>
                <a:ea typeface="Arial" pitchFamily="34" charset="-122"/>
                <a:cs typeface="Arial" panose="020B0604020202020204" pitchFamily="34" charset="0"/>
              </a:rPr>
              <a:t> mô hình holding và chuẩn mực quốc tế</a:t>
            </a:r>
            <a:endParaRPr lang="vi-VN" sz="2200" dirty="0">
              <a:latin typeface="Arial" panose="020B0604020202020204" pitchFamily="34" charset="0"/>
              <a:ea typeface="Arial" pitchFamily="34" charset="-122"/>
              <a:cs typeface="Arial" panose="020B0604020202020204" pitchFamily="34" charset="0"/>
            </a:endParaRPr>
          </a:p>
        </p:txBody>
      </p:sp>
      <p:sp>
        <p:nvSpPr>
          <p:cNvPr id="26" name="Text 13"/>
          <p:cNvSpPr/>
          <p:nvPr/>
        </p:nvSpPr>
        <p:spPr>
          <a:xfrm>
            <a:off x="13836995" y="4605488"/>
            <a:ext cx="4681728" cy="2205477"/>
          </a:xfrm>
          <a:prstGeom prst="rect">
            <a:avLst/>
          </a:prstGeom>
          <a:noFill/>
          <a:ln/>
        </p:spPr>
        <p:txBody>
          <a:bodyPr wrap="square" rtlCol="0" anchor="t"/>
          <a:lstStyle/>
          <a:p>
            <a:pPr algn="just"/>
            <a:endParaRPr lang="vi-VN" sz="2000" dirty="0">
              <a:ea typeface="Arial" pitchFamily="34" charset="-122"/>
              <a:cs typeface="Arial" pitchFamily="34" charset="-120"/>
            </a:endParaRPr>
          </a:p>
        </p:txBody>
      </p:sp>
      <p:sp>
        <p:nvSpPr>
          <p:cNvPr id="27" name="Shape 14"/>
          <p:cNvSpPr/>
          <p:nvPr/>
        </p:nvSpPr>
        <p:spPr>
          <a:xfrm>
            <a:off x="12611742" y="6455587"/>
            <a:ext cx="4937760" cy="2029169"/>
          </a:xfrm>
          <a:prstGeom prst="roundRect">
            <a:avLst>
              <a:gd name="adj" fmla="val 5714"/>
            </a:avLst>
          </a:prstGeom>
          <a:solidFill>
            <a:schemeClr val="bg1"/>
          </a:solidFill>
          <a:ln w="12700">
            <a:solidFill>
              <a:srgbClr val="E8EEFB"/>
            </a:solidFill>
            <a:prstDash val="solid"/>
          </a:ln>
        </p:spPr>
        <p:txBody>
          <a:bodyPr anchor="ctr"/>
          <a:lstStyle/>
          <a:p>
            <a:pPr algn="just"/>
            <a:r>
              <a:rPr lang="en-US" sz="2200">
                <a:latin typeface="Arial" panose="020B0604020202020204" pitchFamily="34" charset="0"/>
                <a:ea typeface="Arial" pitchFamily="34" charset="-122"/>
                <a:cs typeface="Arial" panose="020B0604020202020204" pitchFamily="34" charset="0"/>
                <a:sym typeface="Wingdings" panose="05000000000000000000" pitchFamily="2" charset="2"/>
              </a:rPr>
              <a:t> </a:t>
            </a:r>
            <a:r>
              <a:rPr lang="vi-VN" sz="2200">
                <a:latin typeface="Arial" panose="020B0604020202020204" pitchFamily="34" charset="0"/>
                <a:ea typeface="Arial" pitchFamily="34" charset="-122"/>
                <a:cs typeface="Arial" panose="020B0604020202020204" pitchFamily="34" charset="0"/>
                <a:sym typeface="Wingdings" panose="05000000000000000000" pitchFamily="2" charset="2"/>
              </a:rPr>
              <a:t>Xây dựng hệ thống QTRRDN toàn trình không chỉ đáp ứng tuân thủ trước mắt mà còn </a:t>
            </a:r>
            <a:r>
              <a:rPr lang="vi-VN" sz="2200" b="1">
                <a:latin typeface="Arial" panose="020B0604020202020204" pitchFamily="34" charset="0"/>
                <a:ea typeface="Arial" pitchFamily="34" charset="-122"/>
                <a:cs typeface="Arial" panose="020B0604020202020204" pitchFamily="34" charset="0"/>
                <a:sym typeface="Wingdings" panose="05000000000000000000" pitchFamily="2" charset="2"/>
              </a:rPr>
              <a:t>tạo nền tảng quản trị cho các giai đoạn phát triển tiếp theo</a:t>
            </a:r>
            <a:endParaRPr lang="en-US" sz="2200" b="1" dirty="0">
              <a:latin typeface="Arial" panose="020B0604020202020204" pitchFamily="34" charset="0"/>
              <a:ea typeface="Arial" pitchFamily="34" charset="-122"/>
              <a:cs typeface="Arial" panose="020B0604020202020204" pitchFamily="34" charset="0"/>
            </a:endParaRPr>
          </a:p>
        </p:txBody>
      </p:sp>
      <p:sp>
        <p:nvSpPr>
          <p:cNvPr id="28" name="Text 15"/>
          <p:cNvSpPr/>
          <p:nvPr/>
        </p:nvSpPr>
        <p:spPr>
          <a:xfrm>
            <a:off x="13836995" y="7797894"/>
            <a:ext cx="4681728" cy="1034796"/>
          </a:xfrm>
          <a:prstGeom prst="rect">
            <a:avLst/>
          </a:prstGeom>
          <a:noFill/>
          <a:ln/>
        </p:spPr>
        <p:txBody>
          <a:bodyPr wrap="square" rtlCol="0" anchor="t"/>
          <a:lstStyle/>
          <a:p>
            <a:pPr algn="just"/>
            <a:r>
              <a:rPr lang="en-US" sz="2000" dirty="0">
                <a:latin typeface="Arial" pitchFamily="34" charset="0"/>
                <a:ea typeface="Arial" pitchFamily="34" charset="-122"/>
                <a:cs typeface="Arial" pitchFamily="34" charset="-120"/>
              </a:rPr>
              <a:t> </a:t>
            </a:r>
          </a:p>
        </p:txBody>
      </p:sp>
      <p:grpSp>
        <p:nvGrpSpPr>
          <p:cNvPr id="3" name="Group 2"/>
          <p:cNvGrpSpPr/>
          <p:nvPr/>
        </p:nvGrpSpPr>
        <p:grpSpPr>
          <a:xfrm>
            <a:off x="2307087" y="2069843"/>
            <a:ext cx="1280160" cy="1280160"/>
            <a:chOff x="1959741" y="2069843"/>
            <a:chExt cx="1280160" cy="1280160"/>
          </a:xfrm>
        </p:grpSpPr>
        <p:sp>
          <p:nvSpPr>
            <p:cNvPr id="73" name="Shape 10"/>
            <p:cNvSpPr/>
            <p:nvPr/>
          </p:nvSpPr>
          <p:spPr>
            <a:xfrm>
              <a:off x="1959741" y="2069843"/>
              <a:ext cx="1280160" cy="1280160"/>
            </a:xfrm>
            <a:prstGeom prst="ellipse">
              <a:avLst/>
            </a:prstGeom>
            <a:solidFill>
              <a:schemeClr val="bg1"/>
            </a:solidFill>
            <a:ln w="12700">
              <a:solidFill>
                <a:srgbClr val="E8EEFB"/>
              </a:solidFill>
              <a:prstDash val="solid"/>
            </a:ln>
          </p:spPr>
          <p:txBody>
            <a:bodyPr/>
            <a:lstStyle/>
            <a:p>
              <a:endParaRPr lang="en-US"/>
            </a:p>
          </p:txBody>
        </p:sp>
        <p:pic>
          <p:nvPicPr>
            <p:cNvPr id="30" name="Image 0" descr="strategy_white.png"/>
            <p:cNvPicPr>
              <a:picLocks noChangeAspect="1"/>
            </p:cNvPicPr>
            <p:nvPr/>
          </p:nvPicPr>
          <p:blipFill>
            <a:blip r:embed="rId3"/>
            <a:stretch>
              <a:fillRect/>
            </a:stretch>
          </p:blipFill>
          <p:spPr>
            <a:xfrm>
              <a:off x="2142621" y="2257944"/>
              <a:ext cx="914400" cy="914400"/>
            </a:xfrm>
            <a:prstGeom prst="rect">
              <a:avLst/>
            </a:prstGeom>
          </p:spPr>
        </p:pic>
      </p:grpSp>
      <p:grpSp>
        <p:nvGrpSpPr>
          <p:cNvPr id="4" name="Group 3"/>
          <p:cNvGrpSpPr/>
          <p:nvPr/>
        </p:nvGrpSpPr>
        <p:grpSpPr>
          <a:xfrm>
            <a:off x="8482080" y="2062284"/>
            <a:ext cx="1280160" cy="1280160"/>
            <a:chOff x="8372856" y="2062284"/>
            <a:chExt cx="1280160" cy="1280160"/>
          </a:xfrm>
        </p:grpSpPr>
        <p:sp>
          <p:nvSpPr>
            <p:cNvPr id="81" name="Shape 10"/>
            <p:cNvSpPr/>
            <p:nvPr/>
          </p:nvSpPr>
          <p:spPr>
            <a:xfrm>
              <a:off x="8372856" y="2062284"/>
              <a:ext cx="1280160" cy="1280160"/>
            </a:xfrm>
            <a:prstGeom prst="ellipse">
              <a:avLst/>
            </a:prstGeom>
            <a:solidFill>
              <a:schemeClr val="bg1"/>
            </a:solidFill>
            <a:ln w="12700">
              <a:solidFill>
                <a:srgbClr val="E8EEFB"/>
              </a:solidFill>
              <a:prstDash val="solid"/>
            </a:ln>
          </p:spPr>
          <p:txBody>
            <a:bodyPr/>
            <a:lstStyle/>
            <a:p>
              <a:endParaRPr lang="en-US"/>
            </a:p>
          </p:txBody>
        </p:sp>
        <p:pic>
          <p:nvPicPr>
            <p:cNvPr id="32" name="Image 1" descr="compliance_white.png"/>
            <p:cNvPicPr>
              <a:picLocks noChangeAspect="1"/>
            </p:cNvPicPr>
            <p:nvPr/>
          </p:nvPicPr>
          <p:blipFill>
            <a:blip r:embed="rId4"/>
            <a:stretch>
              <a:fillRect/>
            </a:stretch>
          </p:blipFill>
          <p:spPr>
            <a:xfrm>
              <a:off x="8568502" y="2293949"/>
              <a:ext cx="914400" cy="914400"/>
            </a:xfrm>
            <a:prstGeom prst="rect">
              <a:avLst/>
            </a:prstGeom>
          </p:spPr>
        </p:pic>
      </p:grpSp>
      <p:grpSp>
        <p:nvGrpSpPr>
          <p:cNvPr id="5" name="Group 4"/>
          <p:cNvGrpSpPr/>
          <p:nvPr/>
        </p:nvGrpSpPr>
        <p:grpSpPr>
          <a:xfrm>
            <a:off x="14562945" y="2075028"/>
            <a:ext cx="1280160" cy="1280160"/>
            <a:chOff x="15078456" y="2056205"/>
            <a:chExt cx="1280160" cy="1280160"/>
          </a:xfrm>
        </p:grpSpPr>
        <p:sp>
          <p:nvSpPr>
            <p:cNvPr id="23" name="Shape 10"/>
            <p:cNvSpPr/>
            <p:nvPr/>
          </p:nvSpPr>
          <p:spPr>
            <a:xfrm>
              <a:off x="15078456" y="2056205"/>
              <a:ext cx="1280160" cy="1280160"/>
            </a:xfrm>
            <a:prstGeom prst="ellipse">
              <a:avLst/>
            </a:prstGeom>
            <a:solidFill>
              <a:schemeClr val="bg1"/>
            </a:solidFill>
            <a:ln w="12700">
              <a:solidFill>
                <a:srgbClr val="E8EEFB"/>
              </a:solidFill>
              <a:prstDash val="solid"/>
            </a:ln>
          </p:spPr>
          <p:txBody>
            <a:bodyPr/>
            <a:lstStyle/>
            <a:p>
              <a:endParaRPr lang="en-US"/>
            </a:p>
          </p:txBody>
        </p:sp>
        <p:pic>
          <p:nvPicPr>
            <p:cNvPr id="33" name="Image 2" descr="standardize_white.png"/>
            <p:cNvPicPr>
              <a:picLocks noChangeAspect="1"/>
            </p:cNvPicPr>
            <p:nvPr/>
          </p:nvPicPr>
          <p:blipFill>
            <a:blip r:embed="rId5"/>
            <a:stretch>
              <a:fillRect/>
            </a:stretch>
          </p:blipFill>
          <p:spPr>
            <a:xfrm>
              <a:off x="15369621" y="2257944"/>
              <a:ext cx="914400" cy="914400"/>
            </a:xfrm>
            <a:prstGeom prst="rect">
              <a:avLst/>
            </a:prstGeom>
          </p:spPr>
        </p:pic>
      </p:grpSp>
      <p:sp>
        <p:nvSpPr>
          <p:cNvPr id="37" name="Shape 14"/>
          <p:cNvSpPr/>
          <p:nvPr/>
        </p:nvSpPr>
        <p:spPr>
          <a:xfrm>
            <a:off x="644474" y="7533931"/>
            <a:ext cx="4937760" cy="950826"/>
          </a:xfrm>
          <a:prstGeom prst="roundRect">
            <a:avLst>
              <a:gd name="adj" fmla="val 5714"/>
            </a:avLst>
          </a:prstGeom>
          <a:solidFill>
            <a:schemeClr val="bg1"/>
          </a:solidFill>
          <a:ln w="12700">
            <a:solidFill>
              <a:srgbClr val="E8EEFB"/>
            </a:solidFill>
            <a:prstDash val="solid"/>
          </a:ln>
        </p:spPr>
        <p:txBody>
          <a:bodyPr anchor="ctr"/>
          <a:lstStyle/>
          <a:p>
            <a:pPr algn="just"/>
            <a:r>
              <a:rPr lang="en-US" sz="2200">
                <a:latin typeface="Arial" panose="020B0604020202020204" pitchFamily="34" charset="0"/>
                <a:ea typeface="Arial" pitchFamily="34" charset="-122"/>
                <a:cs typeface="Arial" pitchFamily="34" charset="-120"/>
                <a:sym typeface="Wingdings" panose="05000000000000000000" pitchFamily="2" charset="2"/>
              </a:rPr>
              <a:t> Cần </a:t>
            </a:r>
            <a:r>
              <a:rPr lang="en-US" sz="2200" b="1">
                <a:latin typeface="Arial" panose="020B0604020202020204" pitchFamily="34" charset="0"/>
                <a:ea typeface="Arial" pitchFamily="34" charset="-122"/>
                <a:cs typeface="Arial" pitchFamily="34" charset="-120"/>
                <a:sym typeface="Wingdings" panose="05000000000000000000" pitchFamily="2" charset="2"/>
              </a:rPr>
              <a:t>bức tranh toàn cảnh về QTRR </a:t>
            </a:r>
            <a:r>
              <a:rPr lang="en-US" sz="2200">
                <a:latin typeface="Arial" panose="020B0604020202020204" pitchFamily="34" charset="0"/>
                <a:ea typeface="Arial" pitchFamily="34" charset="-122"/>
                <a:cs typeface="Arial" pitchFamily="34" charset="-120"/>
                <a:sym typeface="Wingdings" panose="05000000000000000000" pitchFamily="2" charset="2"/>
              </a:rPr>
              <a:t>hỗ trợ lãnh đạo ra quyết định </a:t>
            </a:r>
            <a:endParaRPr lang="en-US" sz="2200" dirty="0">
              <a:latin typeface="Arial" panose="020B0604020202020204" pitchFamily="34" charset="0"/>
              <a:ea typeface="Arial" pitchFamily="34" charset="-122"/>
              <a:cs typeface="Arial" pitchFamily="34" charset="-120"/>
            </a:endParaRPr>
          </a:p>
        </p:txBody>
      </p:sp>
      <p:sp>
        <p:nvSpPr>
          <p:cNvPr id="38" name="Shape 14"/>
          <p:cNvSpPr/>
          <p:nvPr/>
        </p:nvSpPr>
        <p:spPr>
          <a:xfrm>
            <a:off x="644474" y="8612274"/>
            <a:ext cx="4937760" cy="1255626"/>
          </a:xfrm>
          <a:prstGeom prst="roundRect">
            <a:avLst>
              <a:gd name="adj" fmla="val 5714"/>
            </a:avLst>
          </a:prstGeom>
          <a:solidFill>
            <a:schemeClr val="bg1"/>
          </a:solidFill>
          <a:ln w="12700">
            <a:solidFill>
              <a:srgbClr val="E8EEFB"/>
            </a:solidFill>
            <a:prstDash val="solid"/>
          </a:ln>
        </p:spPr>
        <p:txBody>
          <a:bodyPr anchor="ctr"/>
          <a:lstStyle/>
          <a:p>
            <a:pPr algn="just"/>
            <a:r>
              <a:rPr lang="en-US" sz="2200">
                <a:latin typeface="Arial" panose="020B0604020202020204" pitchFamily="34" charset="0"/>
                <a:ea typeface="Arial" pitchFamily="34" charset="-122"/>
                <a:cs typeface="Arial" pitchFamily="34" charset="-120"/>
                <a:sym typeface="Wingdings" panose="05000000000000000000" pitchFamily="2" charset="2"/>
              </a:rPr>
              <a:t> Tạo </a:t>
            </a:r>
            <a:r>
              <a:rPr lang="en-US" sz="2200" b="1">
                <a:latin typeface="Arial" panose="020B0604020202020204" pitchFamily="34" charset="0"/>
                <a:ea typeface="Arial" pitchFamily="34" charset="-122"/>
                <a:cs typeface="Arial" pitchFamily="34" charset="-120"/>
                <a:sym typeface="Wingdings" panose="05000000000000000000" pitchFamily="2" charset="2"/>
              </a:rPr>
              <a:t>nền tảng thống nhất </a:t>
            </a:r>
            <a:r>
              <a:rPr lang="en-US" sz="2200">
                <a:latin typeface="Arial" panose="020B0604020202020204" pitchFamily="34" charset="0"/>
                <a:ea typeface="Arial" pitchFamily="34" charset="-122"/>
                <a:cs typeface="Arial" pitchFamily="34" charset="-120"/>
                <a:sym typeface="Wingdings" panose="05000000000000000000" pitchFamily="2" charset="2"/>
              </a:rPr>
              <a:t>nhằm hoạch định chiến lược và phân bổ nguồn lực</a:t>
            </a:r>
            <a:endParaRPr lang="en-US" sz="2200" dirty="0">
              <a:latin typeface="Arial" panose="020B0604020202020204" pitchFamily="34" charset="0"/>
              <a:ea typeface="Arial" pitchFamily="34" charset="-122"/>
              <a:cs typeface="Arial" pitchFamily="34" charset="-120"/>
            </a:endParaRPr>
          </a:p>
        </p:txBody>
      </p:sp>
      <p:sp>
        <p:nvSpPr>
          <p:cNvPr id="39" name="Shape 14"/>
          <p:cNvSpPr/>
          <p:nvPr/>
        </p:nvSpPr>
        <p:spPr>
          <a:xfrm>
            <a:off x="6570458" y="8098994"/>
            <a:ext cx="4937760" cy="1768906"/>
          </a:xfrm>
          <a:prstGeom prst="roundRect">
            <a:avLst>
              <a:gd name="adj" fmla="val 5714"/>
            </a:avLst>
          </a:prstGeom>
          <a:solidFill>
            <a:schemeClr val="bg1"/>
          </a:solidFill>
          <a:ln w="12700">
            <a:solidFill>
              <a:srgbClr val="E8EEFB"/>
            </a:solidFill>
            <a:prstDash val="solid"/>
          </a:ln>
        </p:spPr>
        <p:txBody>
          <a:bodyPr anchor="ctr"/>
          <a:lstStyle/>
          <a:p>
            <a:pPr algn="just"/>
            <a:r>
              <a:rPr lang="en-US" sz="2200">
                <a:latin typeface="Arial" panose="020B0604020202020204" pitchFamily="34" charset="0"/>
                <a:ea typeface="Arial" pitchFamily="34" charset="-122"/>
                <a:cs typeface="Arial" panose="020B0604020202020204" pitchFamily="34" charset="0"/>
                <a:sym typeface="Wingdings" panose="05000000000000000000" pitchFamily="2" charset="2"/>
              </a:rPr>
              <a:t> </a:t>
            </a:r>
            <a:r>
              <a:rPr lang="vi-VN" sz="2200" b="1">
                <a:latin typeface="Arial" panose="020B0604020202020204" pitchFamily="34" charset="0"/>
                <a:ea typeface="Arial" pitchFamily="34" charset="-122"/>
                <a:cs typeface="Arial" panose="020B0604020202020204" pitchFamily="34" charset="0"/>
                <a:sym typeface="Wingdings" panose="05000000000000000000" pitchFamily="2" charset="2"/>
              </a:rPr>
              <a:t>Nâng cao mức độ trưởng thành QTRR</a:t>
            </a:r>
            <a:r>
              <a:rPr lang="vi-VN" sz="2200">
                <a:latin typeface="Arial" panose="020B0604020202020204" pitchFamily="34" charset="0"/>
                <a:ea typeface="Arial" pitchFamily="34" charset="-122"/>
                <a:cs typeface="Arial" panose="020B0604020202020204" pitchFamily="34" charset="0"/>
                <a:sym typeface="Wingdings" panose="05000000000000000000" pitchFamily="2" charset="2"/>
              </a:rPr>
              <a:t> giúp </a:t>
            </a:r>
            <a:r>
              <a:rPr lang="vi-VN" sz="2200" b="1">
                <a:latin typeface="Arial" panose="020B0604020202020204" pitchFamily="34" charset="0"/>
                <a:ea typeface="Arial" pitchFamily="34" charset="-122"/>
                <a:cs typeface="Arial" panose="020B0604020202020204" pitchFamily="34" charset="0"/>
                <a:sym typeface="Wingdings" panose="05000000000000000000" pitchFamily="2" charset="2"/>
              </a:rPr>
              <a:t>đáp ứng quy định pháp luật</a:t>
            </a:r>
            <a:r>
              <a:rPr lang="vi-VN" sz="2200">
                <a:latin typeface="Arial" panose="020B0604020202020204" pitchFamily="34" charset="0"/>
                <a:ea typeface="Arial" pitchFamily="34" charset="-122"/>
                <a:cs typeface="Arial" panose="020B0604020202020204" pitchFamily="34" charset="0"/>
                <a:sym typeface="Wingdings" panose="05000000000000000000" pitchFamily="2" charset="2"/>
              </a:rPr>
              <a:t>, tăng vị thế cạnh tranh và đáp ứng kỳ vọng của đối tá</a:t>
            </a:r>
            <a:r>
              <a:rPr lang="en-US" sz="2200">
                <a:latin typeface="Arial" panose="020B0604020202020204" pitchFamily="34" charset="0"/>
                <a:ea typeface="Arial" pitchFamily="34" charset="-122"/>
                <a:cs typeface="Arial" panose="020B0604020202020204" pitchFamily="34" charset="0"/>
                <a:sym typeface="Wingdings" panose="05000000000000000000" pitchFamily="2" charset="2"/>
              </a:rPr>
              <a:t>c trong nước và quốc tế</a:t>
            </a:r>
            <a:endParaRPr lang="en-US" sz="2200" dirty="0">
              <a:latin typeface="Arial" panose="020B0604020202020204" pitchFamily="34" charset="0"/>
              <a:cs typeface="Arial" panose="020B0604020202020204" pitchFamily="34" charset="0"/>
            </a:endParaRPr>
          </a:p>
        </p:txBody>
      </p:sp>
      <p:sp>
        <p:nvSpPr>
          <p:cNvPr id="40" name="Shape 14"/>
          <p:cNvSpPr/>
          <p:nvPr/>
        </p:nvSpPr>
        <p:spPr>
          <a:xfrm>
            <a:off x="12611742" y="8630143"/>
            <a:ext cx="4937760" cy="1237757"/>
          </a:xfrm>
          <a:prstGeom prst="roundRect">
            <a:avLst>
              <a:gd name="adj" fmla="val 5714"/>
            </a:avLst>
          </a:prstGeom>
          <a:solidFill>
            <a:schemeClr val="bg1"/>
          </a:solidFill>
          <a:ln w="12700">
            <a:solidFill>
              <a:srgbClr val="E8EEFB"/>
            </a:solidFill>
            <a:prstDash val="solid"/>
          </a:ln>
        </p:spPr>
        <p:txBody>
          <a:bodyPr anchor="ctr"/>
          <a:lstStyle/>
          <a:p>
            <a:pPr algn="just"/>
            <a:r>
              <a:rPr lang="en-US" sz="2200">
                <a:latin typeface="Arial" panose="020B0604020202020204" pitchFamily="34" charset="0"/>
                <a:ea typeface="Arial" pitchFamily="34" charset="-122"/>
                <a:cs typeface="Arial" panose="020B0604020202020204" pitchFamily="34" charset="0"/>
                <a:sym typeface="Wingdings" panose="05000000000000000000" pitchFamily="2" charset="2"/>
              </a:rPr>
              <a:t> </a:t>
            </a:r>
            <a:r>
              <a:rPr lang="en-US" sz="2200" b="1">
                <a:latin typeface="Arial" panose="020B0604020202020204" pitchFamily="34" charset="0"/>
                <a:ea typeface="Arial" pitchFamily="34" charset="-122"/>
                <a:cs typeface="Arial" panose="020B0604020202020204" pitchFamily="34" charset="0"/>
                <a:sym typeface="Wingdings" panose="05000000000000000000" pitchFamily="2" charset="2"/>
              </a:rPr>
              <a:t>Chuẩn hóa hệ thống hỗ trợ việc mở rộng</a:t>
            </a:r>
            <a:r>
              <a:rPr lang="en-US" sz="2200">
                <a:latin typeface="Arial" panose="020B0604020202020204" pitchFamily="34" charset="0"/>
                <a:ea typeface="Arial" pitchFamily="34" charset="-122"/>
                <a:cs typeface="Arial" panose="020B0604020202020204" pitchFamily="34" charset="0"/>
                <a:sym typeface="Wingdings" panose="05000000000000000000" pitchFamily="2" charset="2"/>
              </a:rPr>
              <a:t> khi TCT kinh doanh các lĩnh vực mới</a:t>
            </a:r>
            <a:endParaRPr lang="en-US" sz="2200" dirty="0">
              <a:latin typeface="Arial" panose="020B0604020202020204" pitchFamily="34" charset="0"/>
              <a:ea typeface="Arial" pitchFamily="34" charset="-122"/>
              <a:cs typeface="Arial" panose="020B0604020202020204" pitchFamily="34" charset="0"/>
            </a:endParaRPr>
          </a:p>
        </p:txBody>
      </p:sp>
    </p:spTree>
    <p:extLst>
      <p:ext uri="{BB962C8B-B14F-4D97-AF65-F5344CB8AC3E}">
        <p14:creationId xmlns:p14="http://schemas.microsoft.com/office/powerpoint/2010/main" val="1612522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664214" y="0"/>
            <a:ext cx="5658816" cy="2538160"/>
            <a:chOff x="0" y="0"/>
            <a:chExt cx="7545088" cy="3384214"/>
          </a:xfrm>
        </p:grpSpPr>
        <p:sp>
          <p:nvSpPr>
            <p:cNvPr id="4" name="Freeform 4"/>
            <p:cNvSpPr/>
            <p:nvPr/>
          </p:nvSpPr>
          <p:spPr>
            <a:xfrm>
              <a:off x="0" y="0"/>
              <a:ext cx="7545129" cy="3384228"/>
            </a:xfrm>
            <a:custGeom>
              <a:avLst/>
              <a:gdLst/>
              <a:ahLst/>
              <a:cxnLst/>
              <a:rect l="l" t="t" r="r" b="b"/>
              <a:pathLst>
                <a:path w="7545129" h="3384228">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EF233C"/>
            </a:solidFill>
          </p:spPr>
          <p:txBody>
            <a:bodyPr/>
            <a:lstStyle/>
            <a:p>
              <a:endParaRPr lang="en-US"/>
            </a:p>
          </p:txBody>
        </p:sp>
      </p:grpSp>
      <p:grpSp>
        <p:nvGrpSpPr>
          <p:cNvPr id="5" name="Group 5"/>
          <p:cNvGrpSpPr/>
          <p:nvPr/>
        </p:nvGrpSpPr>
        <p:grpSpPr>
          <a:xfrm>
            <a:off x="0" y="803518"/>
            <a:ext cx="8786678" cy="9483482"/>
            <a:chOff x="0" y="0"/>
            <a:chExt cx="11715570" cy="12644642"/>
          </a:xfrm>
        </p:grpSpPr>
        <p:sp>
          <p:nvSpPr>
            <p:cNvPr id="6" name="Freeform 6"/>
            <p:cNvSpPr/>
            <p:nvPr/>
          </p:nvSpPr>
          <p:spPr>
            <a:xfrm>
              <a:off x="0" y="-31"/>
              <a:ext cx="11715574" cy="12644660"/>
            </a:xfrm>
            <a:custGeom>
              <a:avLst/>
              <a:gdLst/>
              <a:ahLst/>
              <a:cxnLst/>
              <a:rect l="l" t="t" r="r" b="b"/>
              <a:pathLst>
                <a:path w="11715574" h="12644660">
                  <a:moveTo>
                    <a:pt x="2338324" y="1809"/>
                  </a:moveTo>
                  <a:cubicBezTo>
                    <a:pt x="3612515" y="-26766"/>
                    <a:pt x="4910328" y="282606"/>
                    <a:pt x="6094730" y="966374"/>
                  </a:cubicBezTo>
                  <a:lnTo>
                    <a:pt x="8112506" y="2131345"/>
                  </a:lnTo>
                  <a:cubicBezTo>
                    <a:pt x="11558016" y="4120546"/>
                    <a:pt x="12738481" y="8526303"/>
                    <a:pt x="10749280" y="11971813"/>
                  </a:cubicBezTo>
                  <a:cubicBezTo>
                    <a:pt x="10624947" y="12187206"/>
                    <a:pt x="10491216" y="12393707"/>
                    <a:pt x="10348849" y="12591066"/>
                  </a:cubicBezTo>
                  <a:lnTo>
                    <a:pt x="10305923" y="12644659"/>
                  </a:lnTo>
                  <a:lnTo>
                    <a:pt x="0" y="12644659"/>
                  </a:lnTo>
                  <a:lnTo>
                    <a:pt x="0" y="446817"/>
                  </a:lnTo>
                  <a:lnTo>
                    <a:pt x="296799" y="344074"/>
                  </a:lnTo>
                  <a:cubicBezTo>
                    <a:pt x="955421" y="133508"/>
                    <a:pt x="1643380" y="17430"/>
                    <a:pt x="2338324" y="1809"/>
                  </a:cubicBezTo>
                  <a:close/>
                </a:path>
              </a:pathLst>
            </a:custGeom>
            <a:blipFill>
              <a:blip r:embed="rId2"/>
              <a:stretch>
                <a:fillRect l="-25591" r="-36303"/>
              </a:stretch>
            </a:blipFill>
          </p:spPr>
          <p:txBody>
            <a:bodyPr/>
            <a:lstStyle/>
            <a:p>
              <a:endParaRPr lang="en-US"/>
            </a:p>
          </p:txBody>
        </p:sp>
      </p:grpSp>
      <p:grpSp>
        <p:nvGrpSpPr>
          <p:cNvPr id="7" name="Group 7"/>
          <p:cNvGrpSpPr/>
          <p:nvPr/>
        </p:nvGrpSpPr>
        <p:grpSpPr>
          <a:xfrm rot="1800000">
            <a:off x="5011489" y="1324627"/>
            <a:ext cx="2536481" cy="411363"/>
            <a:chOff x="0" y="0"/>
            <a:chExt cx="3381974" cy="548484"/>
          </a:xfrm>
        </p:grpSpPr>
        <p:sp>
          <p:nvSpPr>
            <p:cNvPr id="8" name="Freeform 8"/>
            <p:cNvSpPr/>
            <p:nvPr/>
          </p:nvSpPr>
          <p:spPr>
            <a:xfrm>
              <a:off x="0" y="0"/>
              <a:ext cx="3381883" cy="548386"/>
            </a:xfrm>
            <a:custGeom>
              <a:avLst/>
              <a:gdLst/>
              <a:ahLst/>
              <a:cxnLst/>
              <a:rect l="l" t="t" r="r" b="b"/>
              <a:pathLst>
                <a:path w="3381883" h="548386">
                  <a:moveTo>
                    <a:pt x="0" y="274193"/>
                  </a:moveTo>
                  <a:cubicBezTo>
                    <a:pt x="0" y="122809"/>
                    <a:pt x="122809" y="0"/>
                    <a:pt x="274193" y="0"/>
                  </a:cubicBezTo>
                  <a:lnTo>
                    <a:pt x="3107690" y="0"/>
                  </a:lnTo>
                  <a:cubicBezTo>
                    <a:pt x="3259201" y="0"/>
                    <a:pt x="3381883" y="122809"/>
                    <a:pt x="3381883" y="274193"/>
                  </a:cubicBezTo>
                  <a:cubicBezTo>
                    <a:pt x="3381883" y="425577"/>
                    <a:pt x="3259074" y="548386"/>
                    <a:pt x="3107690" y="548386"/>
                  </a:cubicBezTo>
                  <a:lnTo>
                    <a:pt x="274193" y="548386"/>
                  </a:lnTo>
                  <a:cubicBezTo>
                    <a:pt x="122809" y="548513"/>
                    <a:pt x="0" y="425704"/>
                    <a:pt x="0" y="274193"/>
                  </a:cubicBezTo>
                  <a:close/>
                </a:path>
              </a:pathLst>
            </a:custGeom>
            <a:solidFill>
              <a:srgbClr val="F2F2F2"/>
            </a:solidFill>
          </p:spPr>
          <p:txBody>
            <a:bodyPr/>
            <a:lstStyle/>
            <a:p>
              <a:endParaRPr lang="en-US"/>
            </a:p>
          </p:txBody>
        </p:sp>
      </p:grpSp>
      <p:grpSp>
        <p:nvGrpSpPr>
          <p:cNvPr id="9" name="Group 9"/>
          <p:cNvGrpSpPr/>
          <p:nvPr/>
        </p:nvGrpSpPr>
        <p:grpSpPr>
          <a:xfrm>
            <a:off x="5392881" y="8654158"/>
            <a:ext cx="3956217" cy="1632842"/>
            <a:chOff x="0" y="0"/>
            <a:chExt cx="5274956" cy="2177122"/>
          </a:xfrm>
        </p:grpSpPr>
        <p:sp>
          <p:nvSpPr>
            <p:cNvPr id="10" name="Freeform 10"/>
            <p:cNvSpPr/>
            <p:nvPr/>
          </p:nvSpPr>
          <p:spPr>
            <a:xfrm>
              <a:off x="3" y="27"/>
              <a:ext cx="5274942" cy="2177134"/>
            </a:xfrm>
            <a:custGeom>
              <a:avLst/>
              <a:gdLst/>
              <a:ahLst/>
              <a:cxnLst/>
              <a:rect l="l" t="t" r="r" b="b"/>
              <a:pathLst>
                <a:path w="5274942" h="2177134">
                  <a:moveTo>
                    <a:pt x="1268727" y="3402"/>
                  </a:moveTo>
                  <a:cubicBezTo>
                    <a:pt x="1530728" y="-15140"/>
                    <a:pt x="1800730" y="41756"/>
                    <a:pt x="2045332" y="182853"/>
                  </a:cubicBezTo>
                  <a:lnTo>
                    <a:pt x="4863335" y="1809850"/>
                  </a:lnTo>
                  <a:cubicBezTo>
                    <a:pt x="5026403" y="1903957"/>
                    <a:pt x="5162547" y="2026639"/>
                    <a:pt x="5269354" y="2167990"/>
                  </a:cubicBezTo>
                  <a:lnTo>
                    <a:pt x="5274942" y="2177134"/>
                  </a:lnTo>
                  <a:lnTo>
                    <a:pt x="270253" y="2177134"/>
                  </a:lnTo>
                  <a:lnTo>
                    <a:pt x="138173" y="1961615"/>
                  </a:lnTo>
                  <a:cubicBezTo>
                    <a:pt x="-53343" y="1568042"/>
                    <a:pt x="-52454" y="1089506"/>
                    <a:pt x="182877" y="681963"/>
                  </a:cubicBezTo>
                  <a:cubicBezTo>
                    <a:pt x="418208" y="274420"/>
                    <a:pt x="832101" y="34263"/>
                    <a:pt x="1268727" y="3402"/>
                  </a:cubicBezTo>
                  <a:close/>
                </a:path>
              </a:pathLst>
            </a:custGeom>
            <a:solidFill>
              <a:srgbClr val="EF233C"/>
            </a:solidFill>
          </p:spPr>
          <p:txBody>
            <a:bodyPr/>
            <a:lstStyle/>
            <a:p>
              <a:endParaRPr lang="en-US"/>
            </a:p>
          </p:txBody>
        </p:sp>
      </p:grpSp>
      <p:sp>
        <p:nvSpPr>
          <p:cNvPr id="11" name="Rectangle 10"/>
          <p:cNvSpPr/>
          <p:nvPr/>
        </p:nvSpPr>
        <p:spPr>
          <a:xfrm>
            <a:off x="10591800" y="5414236"/>
            <a:ext cx="7126308" cy="1200329"/>
          </a:xfrm>
          <a:prstGeom prst="rect">
            <a:avLst/>
          </a:prstGeom>
        </p:spPr>
        <p:txBody>
          <a:bodyPr wrap="square">
            <a:spAutoFit/>
          </a:bodyPr>
          <a:lstStyle/>
          <a:p>
            <a:pPr algn="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BỐI CẢNH VÀ MỤC TIÊU CỦA DỰ ÁN</a:t>
            </a:r>
          </a:p>
        </p:txBody>
      </p:sp>
      <p:sp>
        <p:nvSpPr>
          <p:cNvPr id="12" name="Rectangle 11"/>
          <p:cNvSpPr/>
          <p:nvPr/>
        </p:nvSpPr>
        <p:spPr>
          <a:xfrm>
            <a:off x="16764001" y="4076700"/>
            <a:ext cx="954107" cy="1200329"/>
          </a:xfrm>
          <a:prstGeom prst="rect">
            <a:avLst/>
          </a:prstGeom>
        </p:spPr>
        <p:txBody>
          <a:bodyPr wrap="none">
            <a:spAutoFit/>
          </a:bodyPr>
          <a:lstStyle/>
          <a:p>
            <a:pPr algn="r"/>
            <a:r>
              <a:rPr lang="en-US" sz="7200" b="1">
                <a:solidFill>
                  <a:srgbClr val="EF233C"/>
                </a:solidFill>
                <a:latin typeface="Arial" panose="020B0604020202020204" pitchFamily="34" charset="0"/>
                <a:ea typeface="Segoe UI Black" panose="020B0A02040204020203" pitchFamily="34" charset="0"/>
                <a:cs typeface="Arial" panose="020B0604020202020204" pitchFamily="34" charset="0"/>
              </a:rPr>
              <a:t>2.</a:t>
            </a:r>
            <a:endParaRPr lang="en-US" sz="72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pic>
        <p:nvPicPr>
          <p:cNvPr id="13" name="Picture 30">
            <a:extLst>
              <a:ext uri="{FF2B5EF4-FFF2-40B4-BE49-F238E27FC236}">
                <a16:creationId xmlns:a16="http://schemas.microsoft.com/office/drawing/2014/main" id="{2D7FB2D5-E8B9-462F-A151-A61F197B4A37}"/>
              </a:ext>
            </a:extLst>
          </p:cNvPr>
          <p:cNvPicPr>
            <a:picLocks noChangeAspect="1"/>
          </p:cNvPicPr>
          <p:nvPr/>
        </p:nvPicPr>
        <p:blipFill>
          <a:blip r:embed="rId3">
            <a:alphaModFix amt="16000"/>
          </a:blip>
          <a:stretch>
            <a:fillRect/>
          </a:stretch>
        </p:blipFill>
        <p:spPr>
          <a:xfrm>
            <a:off x="0" y="-3079557"/>
            <a:ext cx="12268725" cy="12268725"/>
          </a:xfrm>
          <a:prstGeom prst="rect">
            <a:avLst/>
          </a:prstGeom>
        </p:spPr>
      </p:pic>
    </p:spTree>
    <p:extLst>
      <p:ext uri="{BB962C8B-B14F-4D97-AF65-F5344CB8AC3E}">
        <p14:creationId xmlns:p14="http://schemas.microsoft.com/office/powerpoint/2010/main" val="33001266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3733800" y="900376"/>
            <a:ext cx="14327954" cy="5112954"/>
            <a:chOff x="0" y="1107931"/>
            <a:chExt cx="17830800" cy="6655677"/>
          </a:xfrm>
        </p:grpSpPr>
        <p:pic>
          <p:nvPicPr>
            <p:cNvPr id="3" name="Picture 2"/>
            <p:cNvPicPr>
              <a:picLocks noChangeAspect="1"/>
            </p:cNvPicPr>
            <p:nvPr/>
          </p:nvPicPr>
          <p:blipFill rotWithShape="1">
            <a:blip r:embed="rId3"/>
            <a:srcRect l="3594" r="4113"/>
            <a:stretch/>
          </p:blipFill>
          <p:spPr>
            <a:xfrm>
              <a:off x="0" y="1107931"/>
              <a:ext cx="17830800" cy="6655677"/>
            </a:xfrm>
            <a:prstGeom prst="rect">
              <a:avLst/>
            </a:prstGeom>
            <a:solidFill>
              <a:srgbClr val="50A94D"/>
            </a:solidFill>
          </p:spPr>
        </p:pic>
        <p:sp>
          <p:nvSpPr>
            <p:cNvPr id="5" name="Rectangle 4"/>
            <p:cNvSpPr/>
            <p:nvPr/>
          </p:nvSpPr>
          <p:spPr>
            <a:xfrm>
              <a:off x="685800" y="3558388"/>
              <a:ext cx="1676400" cy="838200"/>
            </a:xfrm>
            <a:prstGeom prst="rect">
              <a:avLst/>
            </a:prstGeom>
            <a:solidFill>
              <a:srgbClr val="8B90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latin typeface="Arial" panose="020B0604020202020204" pitchFamily="34" charset="0"/>
                  <a:cs typeface="Arial" panose="020B0604020202020204" pitchFamily="34" charset="0"/>
                </a:rPr>
                <a:t>TẦM NHÌN, SỨ MỆNH VÀ GIÁ TRỊ CỐT LÕI</a:t>
              </a:r>
            </a:p>
          </p:txBody>
        </p:sp>
        <p:sp>
          <p:nvSpPr>
            <p:cNvPr id="47" name="Rectangle 46"/>
            <p:cNvSpPr/>
            <p:nvPr/>
          </p:nvSpPr>
          <p:spPr>
            <a:xfrm>
              <a:off x="4267200" y="3677082"/>
              <a:ext cx="1536192" cy="757606"/>
            </a:xfrm>
            <a:prstGeom prst="rect">
              <a:avLst/>
            </a:prstGeom>
            <a:solidFill>
              <a:srgbClr val="50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bg1"/>
                  </a:solidFill>
                  <a:latin typeface="Arial" panose="020B0604020202020204" pitchFamily="34" charset="0"/>
                  <a:cs typeface="Arial" panose="020B0604020202020204" pitchFamily="34" charset="0"/>
                </a:rPr>
                <a:t>PHÁT TRIỂN CHIẾN LƯỢC</a:t>
              </a:r>
            </a:p>
          </p:txBody>
        </p:sp>
        <p:sp>
          <p:nvSpPr>
            <p:cNvPr id="48" name="Rectangle 47"/>
            <p:cNvSpPr/>
            <p:nvPr/>
          </p:nvSpPr>
          <p:spPr>
            <a:xfrm>
              <a:off x="7822802" y="3503434"/>
              <a:ext cx="1397398" cy="931253"/>
            </a:xfrm>
            <a:prstGeom prst="rect">
              <a:avLst/>
            </a:prstGeom>
            <a:solidFill>
              <a:srgbClr val="50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bg1"/>
                  </a:solidFill>
                  <a:latin typeface="Arial" panose="020B0604020202020204" pitchFamily="34" charset="0"/>
                  <a:cs typeface="Arial" panose="020B0604020202020204" pitchFamily="34" charset="0"/>
                </a:rPr>
                <a:t>XÂY DỰNG MỤC TIÊU KINH DOANH</a:t>
              </a:r>
            </a:p>
          </p:txBody>
        </p:sp>
        <p:sp>
          <p:nvSpPr>
            <p:cNvPr id="64" name="Rectangle 63"/>
            <p:cNvSpPr/>
            <p:nvPr/>
          </p:nvSpPr>
          <p:spPr>
            <a:xfrm>
              <a:off x="11125200" y="3677082"/>
              <a:ext cx="1695396" cy="742367"/>
            </a:xfrm>
            <a:prstGeom prst="rect">
              <a:avLst/>
            </a:prstGeom>
            <a:solidFill>
              <a:srgbClr val="50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bg1"/>
                  </a:solidFill>
                  <a:latin typeface="Arial" panose="020B0604020202020204" pitchFamily="34" charset="0"/>
                  <a:cs typeface="Arial" panose="020B0604020202020204" pitchFamily="34" charset="0"/>
                </a:rPr>
                <a:t>THỰC HIỆN VÀ HIỆU SUẤT</a:t>
              </a:r>
            </a:p>
          </p:txBody>
        </p:sp>
        <p:sp>
          <p:nvSpPr>
            <p:cNvPr id="65" name="Rectangle 64"/>
            <p:cNvSpPr/>
            <p:nvPr/>
          </p:nvSpPr>
          <p:spPr>
            <a:xfrm>
              <a:off x="15240000" y="3677082"/>
              <a:ext cx="1524000" cy="651099"/>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bg1"/>
                  </a:solidFill>
                  <a:latin typeface="Arial" panose="020B0604020202020204" pitchFamily="34" charset="0"/>
                  <a:cs typeface="Arial" panose="020B0604020202020204" pitchFamily="34" charset="0"/>
                </a:rPr>
                <a:t>GIÁ TRỊ NÂNG CAO</a:t>
              </a:r>
            </a:p>
          </p:txBody>
        </p:sp>
        <p:sp>
          <p:nvSpPr>
            <p:cNvPr id="66" name="Rectangle 65"/>
            <p:cNvSpPr/>
            <p:nvPr/>
          </p:nvSpPr>
          <p:spPr>
            <a:xfrm>
              <a:off x="1447800" y="6043179"/>
              <a:ext cx="2314624"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Quản trị &amp; Văn hóa</a:t>
              </a:r>
              <a:endParaRPr lang="en-US" b="1" dirty="0">
                <a:solidFill>
                  <a:srgbClr val="33455C"/>
                </a:solidFill>
                <a:latin typeface="Arial" panose="020B0604020202020204" pitchFamily="34" charset="0"/>
                <a:cs typeface="Arial" panose="020B0604020202020204" pitchFamily="34" charset="0"/>
              </a:endParaRPr>
            </a:p>
          </p:txBody>
        </p:sp>
        <p:sp>
          <p:nvSpPr>
            <p:cNvPr id="67" name="Rectangle 66"/>
            <p:cNvSpPr/>
            <p:nvPr/>
          </p:nvSpPr>
          <p:spPr>
            <a:xfrm>
              <a:off x="4848226" y="6101005"/>
              <a:ext cx="2222740"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Chiến lược &amp; Thiết lập mục tiêu</a:t>
              </a:r>
              <a:endParaRPr lang="en-US" b="1" dirty="0">
                <a:solidFill>
                  <a:srgbClr val="33455C"/>
                </a:solidFill>
                <a:latin typeface="Arial" panose="020B0604020202020204" pitchFamily="34" charset="0"/>
                <a:cs typeface="Arial" panose="020B0604020202020204" pitchFamily="34" charset="0"/>
              </a:endParaRPr>
            </a:p>
          </p:txBody>
        </p:sp>
        <p:sp>
          <p:nvSpPr>
            <p:cNvPr id="68" name="Rectangle 67"/>
            <p:cNvSpPr/>
            <p:nvPr/>
          </p:nvSpPr>
          <p:spPr>
            <a:xfrm>
              <a:off x="8305800" y="6043179"/>
              <a:ext cx="1998101"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Thực thi</a:t>
              </a:r>
              <a:endParaRPr lang="en-US" b="1" dirty="0">
                <a:solidFill>
                  <a:srgbClr val="33455C"/>
                </a:solidFill>
                <a:latin typeface="Arial" panose="020B0604020202020204" pitchFamily="34" charset="0"/>
                <a:cs typeface="Arial" panose="020B0604020202020204" pitchFamily="34" charset="0"/>
              </a:endParaRPr>
            </a:p>
          </p:txBody>
        </p:sp>
        <p:sp>
          <p:nvSpPr>
            <p:cNvPr id="69" name="Rectangle 68"/>
            <p:cNvSpPr/>
            <p:nvPr/>
          </p:nvSpPr>
          <p:spPr>
            <a:xfrm>
              <a:off x="11315842" y="6074169"/>
              <a:ext cx="1920762"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Rà soát &amp; Điều chỉnh</a:t>
              </a:r>
              <a:endParaRPr lang="en-US" b="1" dirty="0">
                <a:solidFill>
                  <a:srgbClr val="33455C"/>
                </a:solidFill>
                <a:latin typeface="Arial" panose="020B0604020202020204" pitchFamily="34" charset="0"/>
                <a:cs typeface="Arial" panose="020B0604020202020204" pitchFamily="34" charset="0"/>
              </a:endParaRPr>
            </a:p>
          </p:txBody>
        </p:sp>
        <p:sp>
          <p:nvSpPr>
            <p:cNvPr id="73" name="Rectangle 72"/>
            <p:cNvSpPr/>
            <p:nvPr/>
          </p:nvSpPr>
          <p:spPr>
            <a:xfrm>
              <a:off x="14630400" y="5921769"/>
              <a:ext cx="21336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solidFill>
                    <a:srgbClr val="33455C"/>
                  </a:solidFill>
                  <a:latin typeface="Arial" panose="020B0604020202020204" pitchFamily="34" charset="0"/>
                  <a:cs typeface="Arial" panose="020B0604020202020204" pitchFamily="34" charset="0"/>
                </a:rPr>
                <a:t>Thông tin, </a:t>
              </a:r>
              <a:r>
                <a:rPr lang="en-US" b="1" dirty="0" err="1">
                  <a:solidFill>
                    <a:srgbClr val="33455C"/>
                  </a:solidFill>
                  <a:latin typeface="Arial" panose="020B0604020202020204" pitchFamily="34" charset="0"/>
                  <a:cs typeface="Arial" panose="020B0604020202020204" pitchFamily="34" charset="0"/>
                </a:rPr>
                <a:t>Truyền</a:t>
              </a:r>
              <a:r>
                <a:rPr lang="en-US" b="1" dirty="0">
                  <a:solidFill>
                    <a:srgbClr val="33455C"/>
                  </a:solidFill>
                  <a:latin typeface="Arial" panose="020B0604020202020204" pitchFamily="34" charset="0"/>
                  <a:cs typeface="Arial" panose="020B0604020202020204" pitchFamily="34" charset="0"/>
                </a:rPr>
                <a:t> </a:t>
              </a:r>
              <a:r>
                <a:rPr lang="en-US" b="1" dirty="0" err="1">
                  <a:solidFill>
                    <a:srgbClr val="33455C"/>
                  </a:solidFill>
                  <a:latin typeface="Arial" panose="020B0604020202020204" pitchFamily="34" charset="0"/>
                  <a:cs typeface="Arial" panose="020B0604020202020204" pitchFamily="34" charset="0"/>
                </a:rPr>
                <a:t>thông</a:t>
              </a:r>
              <a:r>
                <a:rPr lang="en-US" b="1" dirty="0">
                  <a:solidFill>
                    <a:srgbClr val="33455C"/>
                  </a:solidFill>
                  <a:latin typeface="Arial" panose="020B0604020202020204" pitchFamily="34" charset="0"/>
                  <a:cs typeface="Arial" panose="020B0604020202020204" pitchFamily="34" charset="0"/>
                </a:rPr>
                <a:t> &amp; Báo </a:t>
              </a:r>
              <a:r>
                <a:rPr lang="en-US" b="1" dirty="0" err="1">
                  <a:solidFill>
                    <a:srgbClr val="33455C"/>
                  </a:solidFill>
                  <a:latin typeface="Arial" panose="020B0604020202020204" pitchFamily="34" charset="0"/>
                  <a:cs typeface="Arial" panose="020B0604020202020204" pitchFamily="34" charset="0"/>
                </a:rPr>
                <a:t>cáo</a:t>
              </a:r>
              <a:endParaRPr lang="en-US" b="1" dirty="0">
                <a:solidFill>
                  <a:srgbClr val="33455C"/>
                </a:solidFill>
                <a:latin typeface="Arial" panose="020B0604020202020204" pitchFamily="34" charset="0"/>
                <a:cs typeface="Arial" panose="020B0604020202020204" pitchFamily="34" charset="0"/>
              </a:endParaRPr>
            </a:p>
          </p:txBody>
        </p:sp>
      </p:grpSp>
      <p:grpSp>
        <p:nvGrpSpPr>
          <p:cNvPr id="36" name="Group 2"/>
          <p:cNvGrpSpPr/>
          <p:nvPr/>
        </p:nvGrpSpPr>
        <p:grpSpPr>
          <a:xfrm>
            <a:off x="0" y="114299"/>
            <a:ext cx="10287000" cy="1097280"/>
            <a:chOff x="0" y="-2"/>
            <a:chExt cx="19479172" cy="1664815"/>
          </a:xfrm>
          <a:solidFill>
            <a:schemeClr val="bg1">
              <a:lumMod val="95000"/>
            </a:schemeClr>
          </a:solidFill>
        </p:grpSpPr>
        <p:sp>
          <p:nvSpPr>
            <p:cNvPr id="37" name="Freeform 3"/>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2.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Mục</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tiêu</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bối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cảnh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và</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phạm</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vi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án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Bối</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cảnh</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và</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đánh</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tổng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quan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VDS</a:t>
              </a:r>
            </a:p>
          </p:txBody>
        </p:sp>
      </p:grpSp>
      <p:grpSp>
        <p:nvGrpSpPr>
          <p:cNvPr id="38" name="Group 4"/>
          <p:cNvGrpSpPr/>
          <p:nvPr/>
        </p:nvGrpSpPr>
        <p:grpSpPr>
          <a:xfrm>
            <a:off x="0" y="114299"/>
            <a:ext cx="936307" cy="1097280"/>
            <a:chOff x="0" y="0"/>
            <a:chExt cx="1248410" cy="1554290"/>
          </a:xfrm>
        </p:grpSpPr>
        <p:sp>
          <p:nvSpPr>
            <p:cNvPr id="4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4" name="Arc 3"/>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sp>
        <p:nvSpPr>
          <p:cNvPr id="8" name="Shape 3">
            <a:extLst>
              <a:ext uri="{FF2B5EF4-FFF2-40B4-BE49-F238E27FC236}">
                <a16:creationId xmlns:a16="http://schemas.microsoft.com/office/drawing/2014/main" id="{C6F6635F-2C91-B5B5-8705-C869AD3F10EB}"/>
              </a:ext>
            </a:extLst>
          </p:cNvPr>
          <p:cNvSpPr/>
          <p:nvPr/>
        </p:nvSpPr>
        <p:spPr bwMode="auto">
          <a:xfrm>
            <a:off x="402927" y="5608254"/>
            <a:ext cx="8580059" cy="624509"/>
          </a:xfrm>
          <a:prstGeom prst="roundRect">
            <a:avLst>
              <a:gd name="adj" fmla="val 11538"/>
            </a:avLst>
          </a:prstGeom>
          <a:solidFill>
            <a:srgbClr val="2E8B5C"/>
          </a:solidFill>
          <a:ln/>
        </p:spPr>
        <p:txBody>
          <a:bodyPr/>
          <a:lstStyle/>
          <a:p>
            <a:endParaRPr lang="en-US"/>
          </a:p>
        </p:txBody>
      </p:sp>
      <p:sp>
        <p:nvSpPr>
          <p:cNvPr id="9" name="Text 4">
            <a:extLst>
              <a:ext uri="{FF2B5EF4-FFF2-40B4-BE49-F238E27FC236}">
                <a16:creationId xmlns:a16="http://schemas.microsoft.com/office/drawing/2014/main" id="{234EB46C-A673-D522-48A6-2ECF569DE8EE}"/>
              </a:ext>
            </a:extLst>
          </p:cNvPr>
          <p:cNvSpPr/>
          <p:nvPr/>
        </p:nvSpPr>
        <p:spPr bwMode="auto">
          <a:xfrm>
            <a:off x="1242452" y="5573268"/>
            <a:ext cx="7697460" cy="713232"/>
          </a:xfrm>
          <a:prstGeom prst="rect">
            <a:avLst/>
          </a:prstGeom>
          <a:noFill/>
          <a:ln/>
        </p:spPr>
        <p:txBody>
          <a:bodyPr wrap="square" lIns="0" tIns="0" rIns="0" bIns="0" rtlCol="0" anchor="ctr"/>
          <a:lstStyle/>
          <a:p>
            <a:pPr algn="ctr">
              <a:defRPr/>
            </a:pPr>
            <a:r>
              <a:rPr lang="en-US" sz="2000" b="1" dirty="0">
                <a:solidFill>
                  <a:srgbClr val="FFFFFF"/>
                </a:solidFill>
                <a:latin typeface="Arial"/>
                <a:ea typeface="Calibri"/>
                <a:cs typeface="Arial"/>
              </a:rPr>
              <a:t>✓  NỀN TẢNG ĐÃ CÓ</a:t>
            </a:r>
            <a:endParaRPr lang="en-US" sz="2000" dirty="0">
              <a:latin typeface="Arial"/>
              <a:cs typeface="Arial"/>
            </a:endParaRPr>
          </a:p>
        </p:txBody>
      </p:sp>
      <p:sp>
        <p:nvSpPr>
          <p:cNvPr id="12" name="Shape 5">
            <a:extLst>
              <a:ext uri="{FF2B5EF4-FFF2-40B4-BE49-F238E27FC236}">
                <a16:creationId xmlns:a16="http://schemas.microsoft.com/office/drawing/2014/main" id="{3EAEAAC8-F5E8-544A-B86A-B85BD53E0714}"/>
              </a:ext>
            </a:extLst>
          </p:cNvPr>
          <p:cNvSpPr/>
          <p:nvPr/>
        </p:nvSpPr>
        <p:spPr bwMode="auto">
          <a:xfrm>
            <a:off x="9122133" y="5608254"/>
            <a:ext cx="8763000" cy="611947"/>
          </a:xfrm>
          <a:prstGeom prst="roundRect">
            <a:avLst>
              <a:gd name="adj" fmla="val 11538"/>
            </a:avLst>
          </a:prstGeom>
          <a:solidFill>
            <a:srgbClr val="C0504D"/>
          </a:solidFill>
          <a:ln/>
        </p:spPr>
        <p:txBody>
          <a:bodyPr/>
          <a:lstStyle/>
          <a:p>
            <a:endParaRPr lang="en-US"/>
          </a:p>
        </p:txBody>
      </p:sp>
      <p:sp>
        <p:nvSpPr>
          <p:cNvPr id="13" name="Text 6">
            <a:extLst>
              <a:ext uri="{FF2B5EF4-FFF2-40B4-BE49-F238E27FC236}">
                <a16:creationId xmlns:a16="http://schemas.microsoft.com/office/drawing/2014/main" id="{2DB95ACB-87F1-7464-8582-366B2E367970}"/>
              </a:ext>
            </a:extLst>
          </p:cNvPr>
          <p:cNvSpPr/>
          <p:nvPr/>
        </p:nvSpPr>
        <p:spPr bwMode="auto">
          <a:xfrm>
            <a:off x="9386580" y="5573268"/>
            <a:ext cx="7697460" cy="690944"/>
          </a:xfrm>
          <a:prstGeom prst="rect">
            <a:avLst/>
          </a:prstGeom>
          <a:noFill/>
          <a:ln/>
        </p:spPr>
        <p:txBody>
          <a:bodyPr wrap="square" lIns="0" tIns="0" rIns="0" bIns="0" rtlCol="0" anchor="ctr"/>
          <a:lstStyle/>
          <a:p>
            <a:pPr algn="ctr">
              <a:defRPr/>
            </a:pPr>
            <a:r>
              <a:rPr lang="en-US" sz="2000" b="1" dirty="0">
                <a:solidFill>
                  <a:srgbClr val="FFFFFF"/>
                </a:solidFill>
                <a:latin typeface="Arial"/>
                <a:ea typeface="Calibri"/>
                <a:cs typeface="Arial"/>
              </a:rPr>
              <a:t>✕  VẤN ĐỀ CẦN GIẢI QUYẾT</a:t>
            </a:r>
            <a:endParaRPr lang="en-US" sz="2000" dirty="0">
              <a:latin typeface="Arial"/>
              <a:cs typeface="Arial"/>
            </a:endParaRPr>
          </a:p>
        </p:txBody>
      </p:sp>
      <p:sp>
        <p:nvSpPr>
          <p:cNvPr id="16" name="Shape 7">
            <a:extLst>
              <a:ext uri="{FF2B5EF4-FFF2-40B4-BE49-F238E27FC236}">
                <a16:creationId xmlns:a16="http://schemas.microsoft.com/office/drawing/2014/main" id="{4AFEFA1F-939B-4E47-0620-298069819FB4}"/>
              </a:ext>
            </a:extLst>
          </p:cNvPr>
          <p:cNvSpPr/>
          <p:nvPr/>
        </p:nvSpPr>
        <p:spPr bwMode="auto">
          <a:xfrm>
            <a:off x="402868" y="6372599"/>
            <a:ext cx="8581112" cy="3800102"/>
          </a:xfrm>
          <a:prstGeom prst="roundRect">
            <a:avLst>
              <a:gd name="adj" fmla="val 1690"/>
            </a:avLst>
          </a:prstGeom>
          <a:solidFill>
            <a:srgbClr val="CCE6D7"/>
          </a:solidFill>
          <a:ln w="19050">
            <a:solidFill>
              <a:srgbClr val="00B050"/>
            </a:solidFill>
            <a:prstDash val="sysDash"/>
          </a:ln>
        </p:spPr>
        <p:txBody>
          <a:bodyPr/>
          <a:lstStyle/>
          <a:p>
            <a:endParaRPr lang="en-US"/>
          </a:p>
        </p:txBody>
      </p:sp>
      <p:sp>
        <p:nvSpPr>
          <p:cNvPr id="17" name="Shape 8">
            <a:extLst>
              <a:ext uri="{FF2B5EF4-FFF2-40B4-BE49-F238E27FC236}">
                <a16:creationId xmlns:a16="http://schemas.microsoft.com/office/drawing/2014/main" id="{7A9295AA-3986-E9B2-D612-0DDE77412EB2}"/>
              </a:ext>
            </a:extLst>
          </p:cNvPr>
          <p:cNvSpPr/>
          <p:nvPr/>
        </p:nvSpPr>
        <p:spPr bwMode="auto">
          <a:xfrm>
            <a:off x="9144000" y="6372599"/>
            <a:ext cx="8763000" cy="3800102"/>
          </a:xfrm>
          <a:prstGeom prst="roundRect">
            <a:avLst>
              <a:gd name="adj" fmla="val 1690"/>
            </a:avLst>
          </a:prstGeom>
          <a:solidFill>
            <a:srgbClr val="F8D8D8"/>
          </a:solidFill>
          <a:ln w="19050">
            <a:solidFill>
              <a:schemeClr val="accent2">
                <a:lumMod val="60000"/>
                <a:lumOff val="40000"/>
              </a:schemeClr>
            </a:solidFill>
            <a:prstDash val="sysDash"/>
          </a:ln>
        </p:spPr>
        <p:txBody>
          <a:bodyPr/>
          <a:lstStyle/>
          <a:p>
            <a:endParaRPr lang="en-US"/>
          </a:p>
        </p:txBody>
      </p:sp>
      <p:sp>
        <p:nvSpPr>
          <p:cNvPr id="28" name="Text 10">
            <a:extLst>
              <a:ext uri="{FF2B5EF4-FFF2-40B4-BE49-F238E27FC236}">
                <a16:creationId xmlns:a16="http://schemas.microsoft.com/office/drawing/2014/main" id="{6118F310-A983-12C5-5FE5-E525D4D434CE}"/>
              </a:ext>
            </a:extLst>
          </p:cNvPr>
          <p:cNvSpPr/>
          <p:nvPr/>
        </p:nvSpPr>
        <p:spPr bwMode="auto">
          <a:xfrm>
            <a:off x="1014697" y="6473661"/>
            <a:ext cx="7696787" cy="585869"/>
          </a:xfrm>
          <a:prstGeom prst="rect">
            <a:avLst/>
          </a:prstGeom>
          <a:noFill/>
          <a:ln/>
        </p:spPr>
        <p:txBody>
          <a:bodyPr wrap="square" lIns="0" tIns="0" rIns="0" bIns="0" rtlCol="0" anchor="t"/>
          <a:lstStyle/>
          <a:p>
            <a:pPr>
              <a:lnSpc>
                <a:spcPct val="105000"/>
              </a:lnSpc>
              <a:defRPr/>
            </a:pPr>
            <a:r>
              <a:rPr lang="en-US" sz="2000" b="1" dirty="0" err="1">
                <a:solidFill>
                  <a:srgbClr val="222B45"/>
                </a:solidFill>
                <a:latin typeface="Arial"/>
                <a:ea typeface="Calibri"/>
                <a:cs typeface="Arial"/>
              </a:rPr>
              <a:t>Bộ</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máy</a:t>
            </a:r>
            <a:r>
              <a:rPr lang="en-US" sz="2000" b="1" dirty="0">
                <a:solidFill>
                  <a:srgbClr val="222B45"/>
                </a:solidFill>
                <a:latin typeface="Arial"/>
                <a:ea typeface="Calibri"/>
                <a:cs typeface="Arial"/>
              </a:rPr>
              <a:t> 3 </a:t>
            </a:r>
            <a:r>
              <a:rPr lang="en-US" sz="2000" b="1" dirty="0" err="1">
                <a:solidFill>
                  <a:srgbClr val="222B45"/>
                </a:solidFill>
                <a:latin typeface="Arial"/>
                <a:ea typeface="Calibri"/>
                <a:cs typeface="Arial"/>
              </a:rPr>
              <a:t>tuyến</a:t>
            </a:r>
            <a:r>
              <a:rPr lang="en-US" sz="2000" b="1" dirty="0">
                <a:solidFill>
                  <a:srgbClr val="222B45"/>
                </a:solidFill>
                <a:latin typeface="Arial"/>
                <a:ea typeface="Calibri"/>
                <a:cs typeface="Arial"/>
              </a:rPr>
              <a:t> </a:t>
            </a:r>
            <a:r>
              <a:rPr lang="en-US" sz="2000" dirty="0" err="1">
                <a:solidFill>
                  <a:srgbClr val="222B45"/>
                </a:solidFill>
                <a:latin typeface="Arial"/>
                <a:ea typeface="Calibri"/>
                <a:cs typeface="Arial"/>
              </a:rPr>
              <a:t>theo</a:t>
            </a:r>
            <a:r>
              <a:rPr lang="en-US" sz="2000" dirty="0">
                <a:solidFill>
                  <a:srgbClr val="222B45"/>
                </a:solidFill>
                <a:latin typeface="Arial"/>
                <a:ea typeface="Calibri"/>
                <a:cs typeface="Arial"/>
              </a:rPr>
              <a:t> IIA </a:t>
            </a:r>
            <a:r>
              <a:rPr lang="en-US" sz="2000" dirty="0" err="1">
                <a:solidFill>
                  <a:srgbClr val="222B45"/>
                </a:solidFill>
                <a:latin typeface="Arial"/>
                <a:ea typeface="Calibri"/>
                <a:cs typeface="Arial"/>
              </a:rPr>
              <a:t>đã</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thiết</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lập</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vai</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trò</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lãnh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đạo</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trong</a:t>
            </a:r>
            <a:r>
              <a:rPr lang="en-US" sz="2000" dirty="0">
                <a:solidFill>
                  <a:srgbClr val="222B45"/>
                </a:solidFill>
                <a:latin typeface="Arial"/>
                <a:ea typeface="Calibri"/>
                <a:cs typeface="Arial"/>
              </a:rPr>
              <a:t> QTRR </a:t>
            </a:r>
            <a:r>
              <a:rPr lang="en-US" sz="2000" dirty="0" err="1">
                <a:solidFill>
                  <a:srgbClr val="222B45"/>
                </a:solidFill>
                <a:latin typeface="Arial"/>
                <a:ea typeface="Calibri"/>
                <a:cs typeface="Arial"/>
              </a:rPr>
              <a:t>rõ</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ràng</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có</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luồng</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báo</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cáo</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rủi</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ro</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lên</a:t>
            </a:r>
            <a:r>
              <a:rPr lang="en-US" sz="2000" dirty="0">
                <a:solidFill>
                  <a:srgbClr val="222B45"/>
                </a:solidFill>
                <a:latin typeface="Arial"/>
                <a:ea typeface="Calibri"/>
                <a:cs typeface="Arial"/>
              </a:rPr>
              <a:t> BGĐ.</a:t>
            </a:r>
            <a:endParaRPr lang="en-US" sz="2000" dirty="0">
              <a:latin typeface="Arial"/>
              <a:cs typeface="Arial"/>
            </a:endParaRPr>
          </a:p>
        </p:txBody>
      </p:sp>
      <p:sp>
        <p:nvSpPr>
          <p:cNvPr id="29" name="Text 12">
            <a:extLst>
              <a:ext uri="{FF2B5EF4-FFF2-40B4-BE49-F238E27FC236}">
                <a16:creationId xmlns:a16="http://schemas.microsoft.com/office/drawing/2014/main" id="{8089B239-46B7-F9D5-B9DC-5098DDA90CE2}"/>
              </a:ext>
            </a:extLst>
          </p:cNvPr>
          <p:cNvSpPr/>
          <p:nvPr/>
        </p:nvSpPr>
        <p:spPr bwMode="auto">
          <a:xfrm>
            <a:off x="1014697" y="7224274"/>
            <a:ext cx="7696787" cy="702716"/>
          </a:xfrm>
          <a:prstGeom prst="rect">
            <a:avLst/>
          </a:prstGeom>
          <a:noFill/>
          <a:ln/>
        </p:spPr>
        <p:txBody>
          <a:bodyPr wrap="square" lIns="0" tIns="0" rIns="0" bIns="0" rtlCol="0" anchor="t"/>
          <a:lstStyle/>
          <a:p>
            <a:pPr>
              <a:lnSpc>
                <a:spcPct val="105000"/>
              </a:lnSpc>
              <a:defRPr/>
            </a:pP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đã</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gắn</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vào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hoạch</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định</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chiến</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lược</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chung</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phân</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tích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bối</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cảnh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và</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đánh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giá</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kịch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bản</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rủi</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ro</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khi</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xác</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định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chiến</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lược</a:t>
            </a:r>
            <a:r>
              <a:rPr lang="en-US" sz="2000" dirty="0">
                <a:solidFill>
                  <a:srgbClr val="222B45"/>
                </a:solidFill>
                <a:latin typeface="Arial"/>
                <a:ea typeface="Calibri"/>
                <a:cs typeface="Arial"/>
              </a:rPr>
              <a:t>.</a:t>
            </a:r>
            <a:endParaRPr lang="en-US" sz="2000" dirty="0">
              <a:latin typeface="Arial"/>
              <a:cs typeface="Arial"/>
            </a:endParaRPr>
          </a:p>
        </p:txBody>
      </p:sp>
      <p:sp>
        <p:nvSpPr>
          <p:cNvPr id="31" name="Text 14">
            <a:extLst>
              <a:ext uri="{FF2B5EF4-FFF2-40B4-BE49-F238E27FC236}">
                <a16:creationId xmlns:a16="http://schemas.microsoft.com/office/drawing/2014/main" id="{9DDB3314-CA6B-A15D-6A9F-96EE65B245BC}"/>
              </a:ext>
            </a:extLst>
          </p:cNvPr>
          <p:cNvSpPr/>
          <p:nvPr/>
        </p:nvSpPr>
        <p:spPr bwMode="auto">
          <a:xfrm>
            <a:off x="1014697" y="8009269"/>
            <a:ext cx="7696787" cy="663674"/>
          </a:xfrm>
          <a:prstGeom prst="rect">
            <a:avLst/>
          </a:prstGeom>
          <a:noFill/>
          <a:ln/>
        </p:spPr>
        <p:txBody>
          <a:bodyPr wrap="square" lIns="0" tIns="0" rIns="0" bIns="0" rtlCol="0" anchor="t"/>
          <a:lstStyle/>
          <a:p>
            <a:pPr>
              <a:lnSpc>
                <a:spcPct val="105000"/>
              </a:lnSpc>
              <a:defRPr/>
            </a:pPr>
            <a:r>
              <a:rPr lang="en-US" sz="2000" dirty="0" err="1">
                <a:solidFill>
                  <a:srgbClr val="222B45"/>
                </a:solidFill>
                <a:latin typeface="Arial"/>
                <a:ea typeface="Calibri"/>
                <a:cs typeface="Arial"/>
              </a:rPr>
              <a:t>Đã</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có</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quy</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trình</a:t>
            </a:r>
            <a:r>
              <a:rPr lang="en-US" sz="2000" dirty="0">
                <a:solidFill>
                  <a:srgbClr val="222B45"/>
                </a:solidFill>
                <a:latin typeface="Arial"/>
                <a:ea typeface="Calibri"/>
                <a:cs typeface="Arial"/>
              </a:rPr>
              <a:t> </a:t>
            </a:r>
            <a:r>
              <a:rPr lang="en-US" sz="2000" b="1" dirty="0" err="1">
                <a:solidFill>
                  <a:srgbClr val="222B45"/>
                </a:solidFill>
                <a:latin typeface="Arial"/>
                <a:ea typeface="Calibri"/>
                <a:cs typeface="Arial"/>
              </a:rPr>
              <a:t>yêu</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cầu</a:t>
            </a:r>
            <a:r>
              <a:rPr lang="en-US" sz="2000" b="1" dirty="0">
                <a:solidFill>
                  <a:srgbClr val="222B45"/>
                </a:solidFill>
                <a:latin typeface="Arial"/>
                <a:ea typeface="Calibri"/>
                <a:cs typeface="Arial"/>
              </a:rPr>
              <a:t> Tuyến 1 </a:t>
            </a:r>
            <a:r>
              <a:rPr lang="en-US" sz="2000" b="1" dirty="0" err="1">
                <a:solidFill>
                  <a:srgbClr val="222B45"/>
                </a:solidFill>
                <a:latin typeface="Arial"/>
                <a:ea typeface="Calibri"/>
                <a:cs typeface="Arial"/>
              </a:rPr>
              <a:t>tự</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đánh</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giá</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ro</a:t>
            </a:r>
            <a:r>
              <a:rPr lang="en-US" sz="2000" b="1" dirty="0">
                <a:solidFill>
                  <a:srgbClr val="222B45"/>
                </a:solidFill>
                <a:latin typeface="Arial"/>
                <a:ea typeface="Calibri"/>
                <a:cs typeface="Arial"/>
              </a:rPr>
              <a:t> </a:t>
            </a:r>
            <a:r>
              <a:rPr lang="en-US" sz="2000" dirty="0" err="1">
                <a:solidFill>
                  <a:srgbClr val="222B45"/>
                </a:solidFill>
                <a:latin typeface="Arial"/>
                <a:ea typeface="Calibri"/>
                <a:cs typeface="Arial"/>
              </a:rPr>
              <a:t>và</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quy</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định</a:t>
            </a:r>
            <a:r>
              <a:rPr lang="en-US" sz="2000" dirty="0">
                <a:solidFill>
                  <a:srgbClr val="222B45"/>
                </a:solidFill>
                <a:latin typeface="Arial"/>
                <a:ea typeface="Calibri"/>
                <a:cs typeface="Arial"/>
              </a:rPr>
              <a:t> </a:t>
            </a:r>
            <a:r>
              <a:rPr lang="en-US" sz="2000" b="1" dirty="0" err="1">
                <a:solidFill>
                  <a:srgbClr val="222B45"/>
                </a:solidFill>
                <a:latin typeface="Arial"/>
                <a:ea typeface="Calibri"/>
                <a:cs typeface="Arial"/>
              </a:rPr>
              <a:t>biện</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pháp</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ứng</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phó</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ro</a:t>
            </a:r>
            <a:r>
              <a:rPr lang="en-US" sz="2000" dirty="0">
                <a:solidFill>
                  <a:srgbClr val="222B45"/>
                </a:solidFill>
                <a:latin typeface="Arial"/>
                <a:ea typeface="Calibri"/>
                <a:cs typeface="Arial"/>
              </a:rPr>
              <a:t>.</a:t>
            </a:r>
            <a:endParaRPr lang="en-US" sz="2000" dirty="0">
              <a:latin typeface="Arial"/>
              <a:cs typeface="Arial"/>
            </a:endParaRPr>
          </a:p>
        </p:txBody>
      </p:sp>
      <p:sp>
        <p:nvSpPr>
          <p:cNvPr id="35" name="Text 16">
            <a:extLst>
              <a:ext uri="{FF2B5EF4-FFF2-40B4-BE49-F238E27FC236}">
                <a16:creationId xmlns:a16="http://schemas.microsoft.com/office/drawing/2014/main" id="{70CCEFCD-97FF-7D19-D72D-BBC47B94698D}"/>
              </a:ext>
            </a:extLst>
          </p:cNvPr>
          <p:cNvSpPr/>
          <p:nvPr/>
        </p:nvSpPr>
        <p:spPr bwMode="auto">
          <a:xfrm>
            <a:off x="1014697" y="8877300"/>
            <a:ext cx="7696787" cy="663674"/>
          </a:xfrm>
          <a:prstGeom prst="rect">
            <a:avLst/>
          </a:prstGeom>
          <a:noFill/>
          <a:ln/>
        </p:spPr>
        <p:txBody>
          <a:bodyPr wrap="square" lIns="0" tIns="0" rIns="0" bIns="0" rtlCol="0" anchor="t"/>
          <a:lstStyle/>
          <a:p>
            <a:pPr>
              <a:lnSpc>
                <a:spcPct val="105000"/>
              </a:lnSpc>
              <a:defRPr/>
            </a:pPr>
            <a:r>
              <a:rPr lang="en-US" sz="2000" dirty="0" err="1">
                <a:solidFill>
                  <a:srgbClr val="222B45"/>
                </a:solidFill>
                <a:latin typeface="Arial"/>
                <a:ea typeface="Calibri"/>
                <a:cs typeface="Arial"/>
              </a:rPr>
              <a:t>Có</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cơ</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chế</a:t>
            </a:r>
            <a:r>
              <a:rPr lang="en-US" sz="2000" dirty="0">
                <a:solidFill>
                  <a:srgbClr val="222B45"/>
                </a:solidFill>
                <a:latin typeface="Arial"/>
                <a:ea typeface="Calibri"/>
                <a:cs typeface="Arial"/>
              </a:rPr>
              <a:t> </a:t>
            </a:r>
            <a:r>
              <a:rPr lang="en-US" sz="2000" b="1" dirty="0" err="1">
                <a:solidFill>
                  <a:srgbClr val="222B45"/>
                </a:solidFill>
                <a:latin typeface="Arial"/>
                <a:ea typeface="Calibri"/>
                <a:cs typeface="Arial"/>
              </a:rPr>
              <a:t>phối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hợp</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thông</a:t>
            </a:r>
            <a:r>
              <a:rPr lang="en-US" sz="2000" b="1" dirty="0">
                <a:solidFill>
                  <a:srgbClr val="222B45"/>
                </a:solidFill>
                <a:latin typeface="Arial"/>
                <a:ea typeface="Calibri"/>
                <a:cs typeface="Arial"/>
              </a:rPr>
              <a:t> tin, </a:t>
            </a:r>
            <a:r>
              <a:rPr lang="en-US" sz="2000" b="1" dirty="0" err="1">
                <a:solidFill>
                  <a:srgbClr val="222B45"/>
                </a:solidFill>
                <a:latin typeface="Arial"/>
                <a:ea typeface="Calibri"/>
                <a:cs typeface="Arial"/>
              </a:rPr>
              <a:t>đào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tạo</a:t>
            </a:r>
            <a:r>
              <a:rPr lang="en-US" sz="2000" b="1" dirty="0">
                <a:solidFill>
                  <a:srgbClr val="222B45"/>
                </a:solidFill>
                <a:latin typeface="Arial"/>
                <a:ea typeface="Calibri"/>
                <a:cs typeface="Arial"/>
              </a:rPr>
              <a:t> QTRR </a:t>
            </a:r>
            <a:r>
              <a:rPr lang="en-US" sz="2000" b="1" dirty="0" err="1">
                <a:solidFill>
                  <a:srgbClr val="222B45"/>
                </a:solidFill>
                <a:latin typeface="Arial"/>
                <a:ea typeface="Calibri"/>
                <a:cs typeface="Arial"/>
              </a:rPr>
              <a:t>định</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kỳ</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đã</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có</a:t>
            </a:r>
            <a:r>
              <a:rPr lang="en-US" sz="2000" dirty="0">
                <a:solidFill>
                  <a:srgbClr val="222B45"/>
                </a:solidFill>
                <a:latin typeface="Arial"/>
                <a:ea typeface="Calibri"/>
                <a:cs typeface="Arial"/>
              </a:rPr>
              <a:t> BCP/DRP </a:t>
            </a:r>
            <a:r>
              <a:rPr lang="en-US" sz="2000" dirty="0" err="1">
                <a:solidFill>
                  <a:srgbClr val="222B45"/>
                </a:solidFill>
                <a:latin typeface="Arial"/>
                <a:ea typeface="Calibri"/>
                <a:cs typeface="Arial"/>
              </a:rPr>
              <a:t>và</a:t>
            </a:r>
            <a:r>
              <a:rPr lang="en-US" sz="2000" dirty="0">
                <a:solidFill>
                  <a:srgbClr val="222B45"/>
                </a:solidFill>
                <a:latin typeface="Arial"/>
                <a:ea typeface="Calibri"/>
                <a:cs typeface="Arial"/>
              </a:rPr>
              <a:t> </a:t>
            </a:r>
            <a:r>
              <a:rPr lang="en-US" sz="2000" b="1" dirty="0" err="1">
                <a:solidFill>
                  <a:srgbClr val="222B45"/>
                </a:solidFill>
                <a:latin typeface="Arial"/>
                <a:ea typeface="Calibri"/>
                <a:cs typeface="Arial"/>
              </a:rPr>
              <a:t>báo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cáo</a:t>
            </a:r>
            <a:r>
              <a:rPr lang="en-US" sz="2000" b="1" dirty="0">
                <a:solidFill>
                  <a:srgbClr val="222B45"/>
                </a:solidFill>
                <a:latin typeface="Arial"/>
                <a:ea typeface="Calibri"/>
                <a:cs typeface="Arial"/>
              </a:rPr>
              <a:t> </a:t>
            </a:r>
            <a:r>
              <a:rPr lang="en-US" sz="2000" dirty="0" err="1">
                <a:solidFill>
                  <a:srgbClr val="222B45"/>
                </a:solidFill>
                <a:latin typeface="Arial"/>
                <a:ea typeface="Calibri"/>
                <a:cs typeface="Arial"/>
              </a:rPr>
              <a:t>cho</a:t>
            </a:r>
            <a:r>
              <a:rPr lang="en-US" sz="2000" dirty="0">
                <a:solidFill>
                  <a:srgbClr val="222B45"/>
                </a:solidFill>
                <a:latin typeface="Arial"/>
                <a:ea typeface="Calibri"/>
                <a:cs typeface="Arial"/>
              </a:rPr>
              <a:t> BGĐ.</a:t>
            </a:r>
            <a:endParaRPr lang="en-US" sz="2000" dirty="0">
              <a:latin typeface="Arial"/>
              <a:cs typeface="Arial"/>
            </a:endParaRPr>
          </a:p>
        </p:txBody>
      </p:sp>
      <p:sp>
        <p:nvSpPr>
          <p:cNvPr id="53" name="Text 18">
            <a:extLst>
              <a:ext uri="{FF2B5EF4-FFF2-40B4-BE49-F238E27FC236}">
                <a16:creationId xmlns:a16="http://schemas.microsoft.com/office/drawing/2014/main" id="{12DC6D08-52F6-2FD4-A51C-94AD374B0862}"/>
              </a:ext>
            </a:extLst>
          </p:cNvPr>
          <p:cNvSpPr/>
          <p:nvPr/>
        </p:nvSpPr>
        <p:spPr bwMode="auto">
          <a:xfrm>
            <a:off x="9717629" y="6437159"/>
            <a:ext cx="7958539" cy="686671"/>
          </a:xfrm>
          <a:prstGeom prst="rect">
            <a:avLst/>
          </a:prstGeom>
          <a:noFill/>
          <a:ln/>
        </p:spPr>
        <p:txBody>
          <a:bodyPr wrap="square" lIns="0" tIns="0" rIns="0" bIns="0" rtlCol="0" anchor="t"/>
          <a:lstStyle/>
          <a:p>
            <a:pPr algn="just">
              <a:lnSpc>
                <a:spcPct val="105000"/>
              </a:lnSpc>
              <a:defRPr/>
            </a:pPr>
            <a:r>
              <a:rPr lang="en-US" sz="2000" b="1" dirty="0" err="1">
                <a:solidFill>
                  <a:srgbClr val="222B45"/>
                </a:solidFill>
                <a:latin typeface="Arial"/>
                <a:ea typeface="Calibri"/>
                <a:cs typeface="Arial"/>
              </a:rPr>
              <a:t>Chưa</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có</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Khẩu</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vị</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ro</a:t>
            </a:r>
            <a:r>
              <a:rPr lang="en-US" sz="2000" b="1" dirty="0">
                <a:solidFill>
                  <a:srgbClr val="222B45"/>
                </a:solidFill>
                <a:latin typeface="Arial"/>
                <a:ea typeface="Calibri"/>
                <a:cs typeface="Arial"/>
              </a:rPr>
              <a:t> </a:t>
            </a:r>
            <a:r>
              <a:rPr lang="en-US" sz="2000" dirty="0">
                <a:solidFill>
                  <a:srgbClr val="222B45"/>
                </a:solidFill>
                <a:latin typeface="Arial"/>
                <a:ea typeface="Calibri"/>
                <a:cs typeface="Arial"/>
              </a:rPr>
              <a:t>(KVRR) </a:t>
            </a:r>
            <a:r>
              <a:rPr lang="en-US" sz="2000" dirty="0" err="1">
                <a:solidFill>
                  <a:srgbClr val="222B45"/>
                </a:solidFill>
                <a:latin typeface="Arial"/>
                <a:ea typeface="Calibri"/>
                <a:cs typeface="Arial"/>
              </a:rPr>
              <a:t>và</a:t>
            </a:r>
            <a:r>
              <a:rPr lang="en-US" sz="2000" dirty="0">
                <a:solidFill>
                  <a:srgbClr val="222B45"/>
                </a:solidFill>
                <a:latin typeface="Arial"/>
                <a:ea typeface="Calibri"/>
                <a:cs typeface="Arial"/>
              </a:rPr>
              <a:t> </a:t>
            </a:r>
            <a:r>
              <a:rPr lang="en-US" sz="2000" b="1" dirty="0" err="1">
                <a:solidFill>
                  <a:srgbClr val="222B45"/>
                </a:solidFill>
                <a:latin typeface="Arial"/>
                <a:ea typeface="Calibri"/>
                <a:cs typeface="Arial"/>
              </a:rPr>
              <a:t>thước</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đo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cấp</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doanh</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nghiệp</a:t>
            </a:r>
            <a:r>
              <a:rPr lang="en-US" sz="2000" dirty="0">
                <a:solidFill>
                  <a:srgbClr val="222B45"/>
                </a:solidFill>
                <a:latin typeface="Arial"/>
                <a:ea typeface="Calibri"/>
                <a:cs typeface="Arial"/>
              </a:rPr>
              <a:t> — </a:t>
            </a:r>
            <a:r>
              <a:rPr lang="en-US" sz="2000" dirty="0" err="1">
                <a:solidFill>
                  <a:srgbClr val="222B45"/>
                </a:solidFill>
                <a:latin typeface="Arial"/>
                <a:ea typeface="Calibri"/>
                <a:cs typeface="Arial"/>
              </a:rPr>
              <a:t>nền</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tảng</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của</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toàn</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bộ</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khung</a:t>
            </a:r>
            <a:r>
              <a:rPr lang="en-US" sz="2000" dirty="0">
                <a:solidFill>
                  <a:srgbClr val="222B45"/>
                </a:solidFill>
                <a:latin typeface="Arial"/>
                <a:ea typeface="Calibri"/>
                <a:cs typeface="Arial"/>
              </a:rPr>
              <a:t> ERM.</a:t>
            </a:r>
            <a:endParaRPr lang="en-US" sz="2000" dirty="0">
              <a:latin typeface="Arial"/>
              <a:cs typeface="Arial"/>
            </a:endParaRPr>
          </a:p>
        </p:txBody>
      </p:sp>
      <p:sp>
        <p:nvSpPr>
          <p:cNvPr id="54" name="Text 20">
            <a:extLst>
              <a:ext uri="{FF2B5EF4-FFF2-40B4-BE49-F238E27FC236}">
                <a16:creationId xmlns:a16="http://schemas.microsoft.com/office/drawing/2014/main" id="{681085B4-82BF-006A-8388-C257F95F13BF}"/>
              </a:ext>
            </a:extLst>
          </p:cNvPr>
          <p:cNvSpPr/>
          <p:nvPr/>
        </p:nvSpPr>
        <p:spPr bwMode="auto">
          <a:xfrm>
            <a:off x="9717629" y="7199159"/>
            <a:ext cx="7958539" cy="686671"/>
          </a:xfrm>
          <a:prstGeom prst="rect">
            <a:avLst/>
          </a:prstGeom>
          <a:noFill/>
          <a:ln/>
        </p:spPr>
        <p:txBody>
          <a:bodyPr wrap="square" lIns="0" tIns="0" rIns="0" bIns="0" rtlCol="0" anchor="t"/>
          <a:lstStyle/>
          <a:p>
            <a:pPr algn="just">
              <a:lnSpc>
                <a:spcPct val="105000"/>
              </a:lnSpc>
              <a:defRPr/>
            </a:pPr>
            <a:r>
              <a:rPr lang="en-US" sz="2000" b="1" dirty="0" err="1">
                <a:solidFill>
                  <a:srgbClr val="222B45"/>
                </a:solidFill>
                <a:latin typeface="Arial"/>
                <a:ea typeface="Calibri"/>
                <a:cs typeface="Arial"/>
              </a:rPr>
              <a:t>Chưa</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có</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thư</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viện</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danh</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mục</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trọng</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yếu</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và</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phương</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pháp</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đánh</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giá</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ro</a:t>
            </a:r>
            <a:r>
              <a:rPr lang="en-US" sz="2000" b="1" dirty="0">
                <a:solidFill>
                  <a:srgbClr val="222B45"/>
                </a:solidFill>
                <a:latin typeface="Arial"/>
                <a:ea typeface="Calibri"/>
                <a:cs typeface="Arial"/>
              </a:rPr>
              <a:t> </a:t>
            </a:r>
            <a:r>
              <a:rPr lang="en-US" sz="2000" dirty="0" err="1">
                <a:solidFill>
                  <a:srgbClr val="222B45"/>
                </a:solidFill>
                <a:latin typeface="Arial"/>
                <a:ea typeface="Calibri"/>
                <a:cs typeface="Arial"/>
              </a:rPr>
              <a:t>cấp</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doanh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nghiệp</a:t>
            </a:r>
            <a:r>
              <a:rPr lang="en-US" sz="2000" dirty="0">
                <a:solidFill>
                  <a:srgbClr val="222B45"/>
                </a:solidFill>
                <a:latin typeface="Arial"/>
                <a:ea typeface="Calibri"/>
                <a:cs typeface="Arial"/>
              </a:rPr>
              <a:t>.</a:t>
            </a:r>
            <a:endParaRPr lang="en-US" sz="2000" dirty="0">
              <a:latin typeface="Arial"/>
              <a:cs typeface="Arial"/>
            </a:endParaRPr>
          </a:p>
        </p:txBody>
      </p:sp>
      <p:sp>
        <p:nvSpPr>
          <p:cNvPr id="55" name="Text 22">
            <a:extLst>
              <a:ext uri="{FF2B5EF4-FFF2-40B4-BE49-F238E27FC236}">
                <a16:creationId xmlns:a16="http://schemas.microsoft.com/office/drawing/2014/main" id="{68FB0579-F519-5345-487E-4C0666ADD1A4}"/>
              </a:ext>
            </a:extLst>
          </p:cNvPr>
          <p:cNvSpPr/>
          <p:nvPr/>
        </p:nvSpPr>
        <p:spPr bwMode="auto">
          <a:xfrm>
            <a:off x="9717629" y="7962030"/>
            <a:ext cx="7958539" cy="686671"/>
          </a:xfrm>
          <a:prstGeom prst="rect">
            <a:avLst/>
          </a:prstGeom>
          <a:noFill/>
          <a:ln/>
        </p:spPr>
        <p:txBody>
          <a:bodyPr wrap="square" lIns="0" tIns="0" rIns="0" bIns="0" rtlCol="0" anchor="t"/>
          <a:lstStyle/>
          <a:p>
            <a:pPr algn="just">
              <a:lnSpc>
                <a:spcPct val="105000"/>
              </a:lnSpc>
              <a:defRPr/>
            </a:pPr>
            <a:r>
              <a:rPr lang="en-US" sz="2000" b="1" dirty="0" err="1">
                <a:solidFill>
                  <a:srgbClr val="222B45"/>
                </a:solidFill>
                <a:latin typeface="Arial"/>
                <a:ea typeface="Calibri"/>
                <a:cs typeface="Arial"/>
              </a:rPr>
              <a:t>Chưa</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có</a:t>
            </a:r>
            <a:r>
              <a:rPr lang="en-US" sz="2000" b="1" dirty="0">
                <a:solidFill>
                  <a:srgbClr val="222B45"/>
                </a:solidFill>
                <a:latin typeface="Arial"/>
                <a:ea typeface="Calibri"/>
                <a:cs typeface="Arial"/>
              </a:rPr>
              <a:t> KRI </a:t>
            </a:r>
            <a:r>
              <a:rPr lang="en-US" sz="2000" dirty="0" err="1">
                <a:solidFill>
                  <a:srgbClr val="222B45"/>
                </a:solidFill>
                <a:latin typeface="Arial"/>
                <a:ea typeface="Calibri"/>
                <a:cs typeface="Arial"/>
              </a:rPr>
              <a:t>nên</a:t>
            </a:r>
            <a:r>
              <a:rPr lang="en-US" sz="2000" dirty="0">
                <a:solidFill>
                  <a:srgbClr val="222B45"/>
                </a:solidFill>
                <a:latin typeface="Arial"/>
                <a:ea typeface="Calibri"/>
                <a:cs typeface="Arial"/>
              </a:rPr>
              <a:t> </a:t>
            </a:r>
            <a:r>
              <a:rPr lang="en-US" sz="2000" b="1" dirty="0" err="1">
                <a:solidFill>
                  <a:srgbClr val="222B45"/>
                </a:solidFill>
                <a:latin typeface="Arial"/>
                <a:ea typeface="Calibri"/>
                <a:cs typeface="Arial"/>
              </a:rPr>
              <a:t>thiếu</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cảnh</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báo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sớm</a:t>
            </a:r>
            <a:r>
              <a:rPr lang="en-US" sz="2000" b="1" dirty="0">
                <a:solidFill>
                  <a:srgbClr val="222B45"/>
                </a:solidFill>
                <a:latin typeface="Arial"/>
                <a:ea typeface="Calibri"/>
                <a:cs typeface="Arial"/>
              </a:rPr>
              <a:t> </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chỉ</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phát</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hiện</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rủi</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ro</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sau</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khi</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đã</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thành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sự</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cố</a:t>
            </a:r>
            <a:r>
              <a:rPr lang="en-US" sz="2000" dirty="0">
                <a:solidFill>
                  <a:srgbClr val="222B45"/>
                </a:solidFill>
                <a:latin typeface="Arial"/>
                <a:ea typeface="Calibri"/>
                <a:cs typeface="Arial"/>
              </a:rPr>
              <a:t>.</a:t>
            </a:r>
            <a:endParaRPr lang="en-US" sz="2000" dirty="0">
              <a:latin typeface="Arial"/>
              <a:cs typeface="Arial"/>
            </a:endParaRPr>
          </a:p>
        </p:txBody>
      </p:sp>
      <p:sp>
        <p:nvSpPr>
          <p:cNvPr id="60" name="Text 24">
            <a:extLst>
              <a:ext uri="{FF2B5EF4-FFF2-40B4-BE49-F238E27FC236}">
                <a16:creationId xmlns:a16="http://schemas.microsoft.com/office/drawing/2014/main" id="{A4DADE19-D493-3173-2732-764807904659}"/>
              </a:ext>
            </a:extLst>
          </p:cNvPr>
          <p:cNvSpPr/>
          <p:nvPr/>
        </p:nvSpPr>
        <p:spPr bwMode="auto">
          <a:xfrm>
            <a:off x="9717629" y="8724030"/>
            <a:ext cx="7958539" cy="686671"/>
          </a:xfrm>
          <a:prstGeom prst="rect">
            <a:avLst/>
          </a:prstGeom>
          <a:noFill/>
          <a:ln/>
        </p:spPr>
        <p:txBody>
          <a:bodyPr wrap="square" lIns="0" tIns="0" rIns="0" bIns="0" rtlCol="0" anchor="t"/>
          <a:lstStyle/>
          <a:p>
            <a:pPr algn="just">
              <a:lnSpc>
                <a:spcPct val="105000"/>
              </a:lnSpc>
              <a:defRPr/>
            </a:pPr>
            <a:r>
              <a:rPr lang="en-US" sz="2000" b="1" dirty="0" err="1">
                <a:solidFill>
                  <a:srgbClr val="222B45"/>
                </a:solidFill>
                <a:latin typeface="Arial"/>
                <a:ea typeface="Calibri"/>
                <a:cs typeface="Arial"/>
              </a:rPr>
              <a:t>Dữ</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liệu</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phân</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tán</a:t>
            </a:r>
            <a:r>
              <a:rPr lang="en-US" sz="2000" dirty="0">
                <a:solidFill>
                  <a:srgbClr val="222B45"/>
                </a:solidFill>
                <a:latin typeface="Arial"/>
                <a:ea typeface="Calibri"/>
                <a:cs typeface="Arial"/>
              </a:rPr>
              <a:t>, </a:t>
            </a:r>
            <a:r>
              <a:rPr lang="en-US" sz="2000" b="1" dirty="0" err="1">
                <a:solidFill>
                  <a:srgbClr val="222B45"/>
                </a:solidFill>
                <a:latin typeface="Arial"/>
                <a:ea typeface="Calibri"/>
                <a:cs typeface="Arial"/>
              </a:rPr>
              <a:t>công</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cụ</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báo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cáo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thủ</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công</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chưa</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có</a:t>
            </a:r>
            <a:r>
              <a:rPr lang="en-US" sz="2000" dirty="0">
                <a:solidFill>
                  <a:srgbClr val="222B45"/>
                </a:solidFill>
                <a:latin typeface="Arial"/>
                <a:ea typeface="Calibri"/>
                <a:cs typeface="Arial"/>
              </a:rPr>
              <a:t> dashboard QTRR </a:t>
            </a:r>
            <a:r>
              <a:rPr lang="en-US" sz="2000" dirty="0" err="1">
                <a:solidFill>
                  <a:srgbClr val="222B45"/>
                </a:solidFill>
                <a:latin typeface="Arial"/>
                <a:ea typeface="Calibri"/>
                <a:cs typeface="Arial"/>
              </a:rPr>
              <a:t>tổng</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hợp</a:t>
            </a:r>
            <a:r>
              <a:rPr lang="en-US" sz="2000" dirty="0">
                <a:solidFill>
                  <a:srgbClr val="222B45"/>
                </a:solidFill>
                <a:latin typeface="Arial"/>
                <a:ea typeface="Calibri"/>
                <a:cs typeface="Arial"/>
              </a:rPr>
              <a:t>.</a:t>
            </a:r>
            <a:endParaRPr lang="en-US" sz="2000" dirty="0">
              <a:latin typeface="Arial"/>
              <a:cs typeface="Arial"/>
            </a:endParaRPr>
          </a:p>
        </p:txBody>
      </p:sp>
      <p:sp>
        <p:nvSpPr>
          <p:cNvPr id="62" name="Text 26">
            <a:extLst>
              <a:ext uri="{FF2B5EF4-FFF2-40B4-BE49-F238E27FC236}">
                <a16:creationId xmlns:a16="http://schemas.microsoft.com/office/drawing/2014/main" id="{2F7FF09D-164D-2D8A-44B9-DD5138C6C301}"/>
              </a:ext>
            </a:extLst>
          </p:cNvPr>
          <p:cNvSpPr/>
          <p:nvPr/>
        </p:nvSpPr>
        <p:spPr bwMode="auto">
          <a:xfrm>
            <a:off x="9717629" y="9486030"/>
            <a:ext cx="7958539" cy="686671"/>
          </a:xfrm>
          <a:prstGeom prst="rect">
            <a:avLst/>
          </a:prstGeom>
          <a:noFill/>
          <a:ln/>
        </p:spPr>
        <p:txBody>
          <a:bodyPr wrap="square" lIns="0" tIns="0" rIns="0" bIns="0" rtlCol="0" anchor="t"/>
          <a:lstStyle/>
          <a:p>
            <a:pPr algn="just">
              <a:lnSpc>
                <a:spcPct val="105000"/>
              </a:lnSpc>
              <a:defRPr/>
            </a:pPr>
            <a:r>
              <a:rPr lang="en-US" sz="2000" b="1" dirty="0">
                <a:solidFill>
                  <a:srgbClr val="222B45"/>
                </a:solidFill>
                <a:latin typeface="Arial"/>
                <a:ea typeface="Calibri"/>
                <a:cs typeface="Arial"/>
              </a:rPr>
              <a:t>Văn </a:t>
            </a:r>
            <a:r>
              <a:rPr lang="en-US" sz="2000" b="1" dirty="0" err="1">
                <a:solidFill>
                  <a:srgbClr val="222B45"/>
                </a:solidFill>
                <a:latin typeface="Arial"/>
                <a:ea typeface="Calibri"/>
                <a:cs typeface="Arial"/>
              </a:rPr>
              <a:t>hóa</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rủi</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ro</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mới</a:t>
            </a:r>
            <a:r>
              <a:rPr lang="en-US" sz="2000" b="1" dirty="0">
                <a:solidFill>
                  <a:srgbClr val="222B45"/>
                </a:solidFill>
                <a:latin typeface="Arial"/>
                <a:ea typeface="Calibri"/>
                <a:cs typeface="Arial"/>
              </a:rPr>
              <a:t> ở </a:t>
            </a:r>
            <a:r>
              <a:rPr lang="en-US" sz="2000" b="1" dirty="0" err="1">
                <a:solidFill>
                  <a:srgbClr val="222B45"/>
                </a:solidFill>
                <a:latin typeface="Arial"/>
                <a:ea typeface="Calibri"/>
                <a:cs typeface="Arial"/>
              </a:rPr>
              <a:t>văn</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bản</a:t>
            </a:r>
            <a:r>
              <a:rPr lang="en-US" sz="2000" dirty="0">
                <a:solidFill>
                  <a:srgbClr val="222B45"/>
                </a:solidFill>
                <a:latin typeface="Arial"/>
                <a:ea typeface="Calibri"/>
                <a:cs typeface="Arial"/>
              </a:rPr>
              <a:t>, </a:t>
            </a:r>
            <a:r>
              <a:rPr lang="en-US" sz="2000" b="1" dirty="0" err="1">
                <a:solidFill>
                  <a:srgbClr val="222B45"/>
                </a:solidFill>
                <a:latin typeface="Arial"/>
                <a:ea typeface="Calibri"/>
                <a:cs typeface="Arial"/>
              </a:rPr>
              <a:t>nhận</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thức</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chưa</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đồng</a:t>
            </a:r>
            <a:r>
              <a:rPr lang="en-US" sz="2000" b="1" dirty="0">
                <a:solidFill>
                  <a:srgbClr val="222B45"/>
                </a:solidFill>
                <a:latin typeface="Arial"/>
                <a:ea typeface="Calibri"/>
                <a:cs typeface="Arial"/>
              </a:rPr>
              <a:t> </a:t>
            </a:r>
            <a:r>
              <a:rPr lang="en-US" sz="2000" b="1" dirty="0" err="1">
                <a:solidFill>
                  <a:srgbClr val="222B45"/>
                </a:solidFill>
                <a:latin typeface="Arial"/>
                <a:ea typeface="Calibri"/>
                <a:cs typeface="Arial"/>
              </a:rPr>
              <a:t>đều</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chưa</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đánh</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giá</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hiệu</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quả</a:t>
            </a:r>
            <a:r>
              <a:rPr lang="en-US" sz="2000" dirty="0">
                <a:solidFill>
                  <a:srgbClr val="222B45"/>
                </a:solidFill>
                <a:latin typeface="Arial"/>
                <a:ea typeface="Calibri"/>
                <a:cs typeface="Arial"/>
              </a:rPr>
              <a:t> &amp; </a:t>
            </a:r>
            <a:r>
              <a:rPr lang="en-US" sz="2000" dirty="0" err="1">
                <a:solidFill>
                  <a:srgbClr val="222B45"/>
                </a:solidFill>
                <a:latin typeface="Arial"/>
                <a:ea typeface="Calibri"/>
                <a:cs typeface="Arial"/>
              </a:rPr>
              <a:t>mức</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độ</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trưởng</a:t>
            </a:r>
            <a:r>
              <a:rPr lang="en-US" sz="2000" dirty="0">
                <a:solidFill>
                  <a:srgbClr val="222B45"/>
                </a:solidFill>
                <a:latin typeface="Arial"/>
                <a:ea typeface="Calibri"/>
                <a:cs typeface="Arial"/>
              </a:rPr>
              <a:t> </a:t>
            </a:r>
            <a:r>
              <a:rPr lang="en-US" sz="2000" dirty="0" err="1">
                <a:solidFill>
                  <a:srgbClr val="222B45"/>
                </a:solidFill>
                <a:latin typeface="Arial"/>
                <a:ea typeface="Calibri"/>
                <a:cs typeface="Arial"/>
              </a:rPr>
              <a:t>thành</a:t>
            </a:r>
            <a:r>
              <a:rPr lang="en-US" sz="2000" dirty="0">
                <a:solidFill>
                  <a:srgbClr val="222B45"/>
                </a:solidFill>
                <a:latin typeface="Arial"/>
                <a:ea typeface="Calibri"/>
                <a:cs typeface="Arial"/>
              </a:rPr>
              <a:t>.</a:t>
            </a:r>
            <a:endParaRPr lang="en-US" sz="2000" dirty="0">
              <a:latin typeface="Arial"/>
              <a:cs typeface="Arial"/>
            </a:endParaRPr>
          </a:p>
        </p:txBody>
      </p:sp>
      <p:sp>
        <p:nvSpPr>
          <p:cNvPr id="63" name="Text 9">
            <a:extLst>
              <a:ext uri="{FF2B5EF4-FFF2-40B4-BE49-F238E27FC236}">
                <a16:creationId xmlns:a16="http://schemas.microsoft.com/office/drawing/2014/main" id="{10E4C9BE-243F-1038-94A9-957D4F082A3E}"/>
              </a:ext>
            </a:extLst>
          </p:cNvPr>
          <p:cNvSpPr/>
          <p:nvPr/>
        </p:nvSpPr>
        <p:spPr bwMode="auto">
          <a:xfrm>
            <a:off x="611831" y="6603643"/>
            <a:ext cx="438912" cy="1179576"/>
          </a:xfrm>
          <a:prstGeom prst="rect">
            <a:avLst/>
          </a:prstGeom>
          <a:noFill/>
          <a:ln/>
        </p:spPr>
        <p:txBody>
          <a:bodyPr wrap="square" lIns="0" tIns="0" rIns="0" bIns="0" rtlCol="0" anchor="t"/>
          <a:lstStyle/>
          <a:p>
            <a:pPr>
              <a:defRPr/>
            </a:pPr>
            <a:r>
              <a:rPr lang="en-US" sz="2000" b="1" dirty="0">
                <a:solidFill>
                  <a:srgbClr val="1E7A52"/>
                </a:solidFill>
                <a:latin typeface="Arial"/>
                <a:ea typeface="Calibri"/>
                <a:cs typeface="Arial"/>
              </a:rPr>
              <a:t>✓</a:t>
            </a:r>
            <a:endParaRPr lang="en-US" sz="2000" dirty="0">
              <a:latin typeface="Arial"/>
              <a:cs typeface="Arial"/>
            </a:endParaRPr>
          </a:p>
        </p:txBody>
      </p:sp>
      <p:sp>
        <p:nvSpPr>
          <p:cNvPr id="72" name="Text 9">
            <a:extLst>
              <a:ext uri="{FF2B5EF4-FFF2-40B4-BE49-F238E27FC236}">
                <a16:creationId xmlns:a16="http://schemas.microsoft.com/office/drawing/2014/main" id="{5AB18CE3-ACC5-00C7-DD2A-A6E62708C114}"/>
              </a:ext>
            </a:extLst>
          </p:cNvPr>
          <p:cNvSpPr/>
          <p:nvPr/>
        </p:nvSpPr>
        <p:spPr bwMode="auto">
          <a:xfrm>
            <a:off x="611831" y="7351041"/>
            <a:ext cx="438912" cy="1179576"/>
          </a:xfrm>
          <a:prstGeom prst="rect">
            <a:avLst/>
          </a:prstGeom>
          <a:noFill/>
          <a:ln/>
        </p:spPr>
        <p:txBody>
          <a:bodyPr wrap="square" lIns="0" tIns="0" rIns="0" bIns="0" rtlCol="0" anchor="t"/>
          <a:lstStyle/>
          <a:p>
            <a:pPr>
              <a:defRPr/>
            </a:pPr>
            <a:r>
              <a:rPr lang="en-US" sz="2000" b="1" dirty="0">
                <a:solidFill>
                  <a:srgbClr val="1E7A52"/>
                </a:solidFill>
                <a:latin typeface="Arial"/>
                <a:ea typeface="Calibri"/>
                <a:cs typeface="Arial"/>
              </a:rPr>
              <a:t>✓</a:t>
            </a:r>
            <a:endParaRPr lang="en-US" sz="2000" dirty="0">
              <a:latin typeface="Arial"/>
              <a:cs typeface="Arial"/>
            </a:endParaRPr>
          </a:p>
        </p:txBody>
      </p:sp>
      <p:sp>
        <p:nvSpPr>
          <p:cNvPr id="77" name="Text 9">
            <a:extLst>
              <a:ext uri="{FF2B5EF4-FFF2-40B4-BE49-F238E27FC236}">
                <a16:creationId xmlns:a16="http://schemas.microsoft.com/office/drawing/2014/main" id="{BCCD169A-421C-4A00-6FE9-2FFDB65E8A88}"/>
              </a:ext>
            </a:extLst>
          </p:cNvPr>
          <p:cNvSpPr/>
          <p:nvPr/>
        </p:nvSpPr>
        <p:spPr bwMode="auto">
          <a:xfrm>
            <a:off x="611831" y="8154924"/>
            <a:ext cx="438912" cy="1179576"/>
          </a:xfrm>
          <a:prstGeom prst="rect">
            <a:avLst/>
          </a:prstGeom>
          <a:noFill/>
          <a:ln/>
        </p:spPr>
        <p:txBody>
          <a:bodyPr wrap="square" lIns="0" tIns="0" rIns="0" bIns="0" rtlCol="0" anchor="t"/>
          <a:lstStyle/>
          <a:p>
            <a:pPr>
              <a:defRPr/>
            </a:pPr>
            <a:r>
              <a:rPr lang="en-US" sz="2000" b="1" dirty="0">
                <a:solidFill>
                  <a:srgbClr val="1E7A52"/>
                </a:solidFill>
                <a:latin typeface="Arial"/>
                <a:ea typeface="Calibri"/>
                <a:cs typeface="Arial"/>
              </a:rPr>
              <a:t>✓</a:t>
            </a:r>
            <a:endParaRPr lang="en-US" sz="2000" dirty="0">
              <a:latin typeface="Arial"/>
              <a:cs typeface="Arial"/>
            </a:endParaRPr>
          </a:p>
        </p:txBody>
      </p:sp>
      <p:sp>
        <p:nvSpPr>
          <p:cNvPr id="91" name="Text 9">
            <a:extLst>
              <a:ext uri="{FF2B5EF4-FFF2-40B4-BE49-F238E27FC236}">
                <a16:creationId xmlns:a16="http://schemas.microsoft.com/office/drawing/2014/main" id="{93F5B0FF-84B2-E342-E927-8AFF4F55D480}"/>
              </a:ext>
            </a:extLst>
          </p:cNvPr>
          <p:cNvSpPr/>
          <p:nvPr/>
        </p:nvSpPr>
        <p:spPr bwMode="auto">
          <a:xfrm>
            <a:off x="611831" y="8930780"/>
            <a:ext cx="438912" cy="1179576"/>
          </a:xfrm>
          <a:prstGeom prst="rect">
            <a:avLst/>
          </a:prstGeom>
          <a:noFill/>
          <a:ln/>
        </p:spPr>
        <p:txBody>
          <a:bodyPr wrap="square" lIns="0" tIns="0" rIns="0" bIns="0" rtlCol="0" anchor="t"/>
          <a:lstStyle/>
          <a:p>
            <a:pPr>
              <a:defRPr/>
            </a:pPr>
            <a:r>
              <a:rPr lang="en-US" sz="2000" b="1" dirty="0">
                <a:solidFill>
                  <a:srgbClr val="1E7A52"/>
                </a:solidFill>
                <a:latin typeface="Arial"/>
                <a:ea typeface="Calibri"/>
                <a:cs typeface="Arial"/>
              </a:rPr>
              <a:t>✓</a:t>
            </a:r>
            <a:endParaRPr lang="en-US" sz="2000" dirty="0">
              <a:latin typeface="Arial"/>
              <a:cs typeface="Arial"/>
            </a:endParaRPr>
          </a:p>
        </p:txBody>
      </p:sp>
      <p:sp>
        <p:nvSpPr>
          <p:cNvPr id="92" name="Text 17">
            <a:extLst>
              <a:ext uri="{FF2B5EF4-FFF2-40B4-BE49-F238E27FC236}">
                <a16:creationId xmlns:a16="http://schemas.microsoft.com/office/drawing/2014/main" id="{E85E2261-03CC-A705-E487-1D2CEE6BF4D8}"/>
              </a:ext>
            </a:extLst>
          </p:cNvPr>
          <p:cNvSpPr/>
          <p:nvPr/>
        </p:nvSpPr>
        <p:spPr bwMode="auto">
          <a:xfrm>
            <a:off x="9334398" y="6579336"/>
            <a:ext cx="584952" cy="643913"/>
          </a:xfrm>
          <a:prstGeom prst="rect">
            <a:avLst/>
          </a:prstGeom>
          <a:noFill/>
          <a:ln/>
        </p:spPr>
        <p:txBody>
          <a:bodyPr wrap="square" lIns="0" tIns="0" rIns="0" bIns="0" rtlCol="0" anchor="t"/>
          <a:lstStyle/>
          <a:p>
            <a:pPr>
              <a:defRPr/>
            </a:pPr>
            <a:r>
              <a:rPr lang="en-US" sz="2000" b="1" dirty="0">
                <a:solidFill>
                  <a:srgbClr val="B23A3A"/>
                </a:solidFill>
                <a:latin typeface="Arial"/>
                <a:ea typeface="Calibri"/>
                <a:cs typeface="Arial"/>
              </a:rPr>
              <a:t>✕</a:t>
            </a:r>
            <a:endParaRPr lang="en-US" sz="2000" dirty="0">
              <a:latin typeface="Arial"/>
              <a:cs typeface="Arial"/>
            </a:endParaRPr>
          </a:p>
        </p:txBody>
      </p:sp>
      <p:sp>
        <p:nvSpPr>
          <p:cNvPr id="117" name="Text 17">
            <a:extLst>
              <a:ext uri="{FF2B5EF4-FFF2-40B4-BE49-F238E27FC236}">
                <a16:creationId xmlns:a16="http://schemas.microsoft.com/office/drawing/2014/main" id="{FA85B00E-DF2A-FD59-47BE-E75F5D3F1208}"/>
              </a:ext>
            </a:extLst>
          </p:cNvPr>
          <p:cNvSpPr/>
          <p:nvPr/>
        </p:nvSpPr>
        <p:spPr bwMode="auto">
          <a:xfrm>
            <a:off x="9334398" y="7351041"/>
            <a:ext cx="438912" cy="960120"/>
          </a:xfrm>
          <a:prstGeom prst="rect">
            <a:avLst/>
          </a:prstGeom>
          <a:noFill/>
          <a:ln/>
        </p:spPr>
        <p:txBody>
          <a:bodyPr wrap="square" lIns="0" tIns="0" rIns="0" bIns="0" rtlCol="0" anchor="t"/>
          <a:lstStyle/>
          <a:p>
            <a:pPr>
              <a:defRPr/>
            </a:pPr>
            <a:r>
              <a:rPr lang="en-US" sz="2000" b="1" dirty="0">
                <a:solidFill>
                  <a:srgbClr val="B23A3A"/>
                </a:solidFill>
                <a:latin typeface="Arial"/>
                <a:ea typeface="Calibri"/>
                <a:cs typeface="Arial"/>
              </a:rPr>
              <a:t>✕</a:t>
            </a:r>
            <a:endParaRPr lang="en-US" sz="2000" dirty="0">
              <a:latin typeface="Arial"/>
              <a:cs typeface="Arial"/>
            </a:endParaRPr>
          </a:p>
        </p:txBody>
      </p:sp>
      <p:sp>
        <p:nvSpPr>
          <p:cNvPr id="123" name="Text 17">
            <a:extLst>
              <a:ext uri="{FF2B5EF4-FFF2-40B4-BE49-F238E27FC236}">
                <a16:creationId xmlns:a16="http://schemas.microsoft.com/office/drawing/2014/main" id="{25DBA554-61E5-284F-6C9C-B6A687EC2C79}"/>
              </a:ext>
            </a:extLst>
          </p:cNvPr>
          <p:cNvSpPr/>
          <p:nvPr/>
        </p:nvSpPr>
        <p:spPr bwMode="auto">
          <a:xfrm>
            <a:off x="9335745" y="8069580"/>
            <a:ext cx="438912" cy="960120"/>
          </a:xfrm>
          <a:prstGeom prst="rect">
            <a:avLst/>
          </a:prstGeom>
          <a:noFill/>
          <a:ln/>
        </p:spPr>
        <p:txBody>
          <a:bodyPr wrap="square" lIns="0" tIns="0" rIns="0" bIns="0" rtlCol="0" anchor="t"/>
          <a:lstStyle/>
          <a:p>
            <a:pPr>
              <a:defRPr/>
            </a:pPr>
            <a:r>
              <a:rPr lang="en-US" sz="2000" b="1" dirty="0">
                <a:solidFill>
                  <a:srgbClr val="B23A3A"/>
                </a:solidFill>
                <a:latin typeface="Arial"/>
                <a:ea typeface="Calibri"/>
                <a:cs typeface="Arial"/>
              </a:rPr>
              <a:t>✕</a:t>
            </a:r>
            <a:endParaRPr lang="en-US" sz="2000" dirty="0">
              <a:latin typeface="Arial"/>
              <a:cs typeface="Arial"/>
            </a:endParaRPr>
          </a:p>
        </p:txBody>
      </p:sp>
      <p:sp>
        <p:nvSpPr>
          <p:cNvPr id="124" name="Text 17">
            <a:extLst>
              <a:ext uri="{FF2B5EF4-FFF2-40B4-BE49-F238E27FC236}">
                <a16:creationId xmlns:a16="http://schemas.microsoft.com/office/drawing/2014/main" id="{AC7DAF81-FDEF-9657-E538-E90A22ECF0B2}"/>
              </a:ext>
            </a:extLst>
          </p:cNvPr>
          <p:cNvSpPr/>
          <p:nvPr/>
        </p:nvSpPr>
        <p:spPr bwMode="auto">
          <a:xfrm>
            <a:off x="9339278" y="8833904"/>
            <a:ext cx="438912" cy="960120"/>
          </a:xfrm>
          <a:prstGeom prst="rect">
            <a:avLst/>
          </a:prstGeom>
          <a:noFill/>
          <a:ln/>
        </p:spPr>
        <p:txBody>
          <a:bodyPr wrap="square" lIns="0" tIns="0" rIns="0" bIns="0" rtlCol="0" anchor="t"/>
          <a:lstStyle/>
          <a:p>
            <a:pPr>
              <a:defRPr/>
            </a:pPr>
            <a:r>
              <a:rPr lang="en-US" sz="2000" b="1" dirty="0">
                <a:solidFill>
                  <a:srgbClr val="B23A3A"/>
                </a:solidFill>
                <a:latin typeface="Arial"/>
                <a:ea typeface="Calibri"/>
                <a:cs typeface="Arial"/>
              </a:rPr>
              <a:t>✕</a:t>
            </a:r>
            <a:endParaRPr lang="en-US" sz="2000" dirty="0">
              <a:latin typeface="Arial"/>
              <a:cs typeface="Arial"/>
            </a:endParaRPr>
          </a:p>
        </p:txBody>
      </p:sp>
      <p:sp>
        <p:nvSpPr>
          <p:cNvPr id="125" name="Text 17">
            <a:extLst>
              <a:ext uri="{FF2B5EF4-FFF2-40B4-BE49-F238E27FC236}">
                <a16:creationId xmlns:a16="http://schemas.microsoft.com/office/drawing/2014/main" id="{9B75A33B-2ABC-503D-B345-385AE2329466}"/>
              </a:ext>
            </a:extLst>
          </p:cNvPr>
          <p:cNvSpPr/>
          <p:nvPr/>
        </p:nvSpPr>
        <p:spPr bwMode="auto">
          <a:xfrm>
            <a:off x="9344253" y="9552443"/>
            <a:ext cx="438912" cy="960120"/>
          </a:xfrm>
          <a:prstGeom prst="rect">
            <a:avLst/>
          </a:prstGeom>
          <a:noFill/>
          <a:ln/>
        </p:spPr>
        <p:txBody>
          <a:bodyPr wrap="square" lIns="0" tIns="0" rIns="0" bIns="0" rtlCol="0" anchor="t"/>
          <a:lstStyle/>
          <a:p>
            <a:pPr>
              <a:defRPr/>
            </a:pPr>
            <a:r>
              <a:rPr lang="en-US" sz="2000" b="1" dirty="0">
                <a:solidFill>
                  <a:srgbClr val="B23A3A"/>
                </a:solidFill>
                <a:latin typeface="Arial"/>
                <a:ea typeface="Calibri"/>
                <a:cs typeface="Arial"/>
              </a:rPr>
              <a:t>✕</a:t>
            </a:r>
            <a:endParaRPr lang="en-US" sz="2000" dirty="0">
              <a:latin typeface="Arial"/>
              <a:cs typeface="Arial"/>
            </a:endParaRPr>
          </a:p>
        </p:txBody>
      </p:sp>
      <p:sp>
        <p:nvSpPr>
          <p:cNvPr id="7" name="Shape 7">
            <a:extLst>
              <a:ext uri="{FF2B5EF4-FFF2-40B4-BE49-F238E27FC236}">
                <a16:creationId xmlns:a16="http://schemas.microsoft.com/office/drawing/2014/main" id="{3A9E8717-FA5E-9B24-6BAE-2649AB1B4EB6}"/>
              </a:ext>
            </a:extLst>
          </p:cNvPr>
          <p:cNvSpPr/>
          <p:nvPr/>
        </p:nvSpPr>
        <p:spPr>
          <a:xfrm>
            <a:off x="281757" y="2036552"/>
            <a:ext cx="3452043" cy="2257233"/>
          </a:xfrm>
          <a:prstGeom prst="roundRect">
            <a:avLst>
              <a:gd name="adj" fmla="val 8696"/>
            </a:avLst>
          </a:prstGeom>
          <a:solidFill>
            <a:srgbClr val="EDF2F9"/>
          </a:solidFill>
          <a:ln w="6350">
            <a:noFill/>
            <a:prstDash val="solid"/>
          </a:ln>
          <a:effectLst>
            <a:outerShdw blurRad="101600" dist="38100" dir="2700000" algn="bl" rotWithShape="0">
              <a:srgbClr val="000000">
                <a:alpha val="10000"/>
              </a:srgbClr>
            </a:outerShdw>
          </a:effectLst>
        </p:spPr>
        <p:txBody>
          <a:bodyPr/>
          <a:lstStyle/>
          <a:p>
            <a:r>
              <a:rPr lang="en-US" sz="2500" b="1" i="1" dirty="0" err="1">
                <a:solidFill>
                  <a:schemeClr val="accent1"/>
                </a:solidFill>
                <a:latin typeface="Arial" pitchFamily="34" charset="0"/>
                <a:cs typeface="Arial" pitchFamily="34" charset="-120"/>
              </a:rPr>
              <a:t>Hiện</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trạng</a:t>
            </a:r>
            <a:r>
              <a:rPr lang="en-US" sz="2500" b="1" i="1" dirty="0">
                <a:solidFill>
                  <a:schemeClr val="accent1"/>
                </a:solidFill>
                <a:latin typeface="Arial" pitchFamily="34" charset="0"/>
                <a:cs typeface="Arial" pitchFamily="34" charset="-120"/>
              </a:rPr>
              <a:t> QTRR </a:t>
            </a:r>
            <a:r>
              <a:rPr lang="en-US" sz="2500" b="1" i="1" dirty="0" err="1">
                <a:solidFill>
                  <a:schemeClr val="accent1"/>
                </a:solidFill>
                <a:latin typeface="Arial" pitchFamily="34" charset="0"/>
                <a:cs typeface="Arial" pitchFamily="34" charset="-120"/>
              </a:rPr>
              <a:t>tại</a:t>
            </a:r>
            <a:r>
              <a:rPr lang="en-US" sz="2500" b="1" i="1" dirty="0">
                <a:solidFill>
                  <a:schemeClr val="accent1"/>
                </a:solidFill>
                <a:latin typeface="Arial" pitchFamily="34" charset="0"/>
                <a:cs typeface="Arial" pitchFamily="34" charset="-120"/>
              </a:rPr>
              <a:t> VDS </a:t>
            </a:r>
            <a:r>
              <a:rPr lang="en-US" sz="2500" b="1" i="1" dirty="0" err="1">
                <a:solidFill>
                  <a:schemeClr val="accent1"/>
                </a:solidFill>
                <a:latin typeface="Arial" pitchFamily="34" charset="0"/>
                <a:cs typeface="Arial" pitchFamily="34" charset="-120"/>
              </a:rPr>
              <a:t>được</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đánh</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giá</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dựa</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trên</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các</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khía</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cạnh</a:t>
            </a:r>
            <a:r>
              <a:rPr lang="en-US" sz="2500" b="1" i="1" dirty="0">
                <a:solidFill>
                  <a:schemeClr val="accent1"/>
                </a:solidFill>
                <a:latin typeface="Arial" pitchFamily="34" charset="0"/>
                <a:cs typeface="Arial" pitchFamily="34" charset="-120"/>
              </a:rPr>
              <a:t> </a:t>
            </a:r>
            <a:r>
              <a:rPr lang="en-US" sz="2500" b="1" i="1" dirty="0" err="1">
                <a:solidFill>
                  <a:schemeClr val="accent1"/>
                </a:solidFill>
                <a:latin typeface="Arial" pitchFamily="34" charset="0"/>
                <a:cs typeface="Arial" pitchFamily="34" charset="-120"/>
              </a:rPr>
              <a:t>của</a:t>
            </a:r>
            <a:r>
              <a:rPr lang="en-US" sz="2500" b="1" i="1" dirty="0">
                <a:solidFill>
                  <a:schemeClr val="accent1"/>
                </a:solidFill>
                <a:latin typeface="Arial" pitchFamily="34" charset="0"/>
                <a:cs typeface="Arial" pitchFamily="34" charset="-120"/>
              </a:rPr>
              <a:t> COSO ERM 2017</a:t>
            </a:r>
          </a:p>
        </p:txBody>
      </p:sp>
    </p:spTree>
    <p:extLst>
      <p:ext uri="{BB962C8B-B14F-4D97-AF65-F5344CB8AC3E}">
        <p14:creationId xmlns:p14="http://schemas.microsoft.com/office/powerpoint/2010/main" val="642689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rc 23"/>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grpSp>
        <p:nvGrpSpPr>
          <p:cNvPr id="25" name="Group 2"/>
          <p:cNvGrpSpPr/>
          <p:nvPr/>
        </p:nvGrpSpPr>
        <p:grpSpPr>
          <a:xfrm>
            <a:off x="0" y="114299"/>
            <a:ext cx="10287000" cy="1097280"/>
            <a:chOff x="0" y="-2"/>
            <a:chExt cx="19479172" cy="1664815"/>
          </a:xfrm>
          <a:solidFill>
            <a:schemeClr val="bg1">
              <a:lumMod val="95000"/>
            </a:schemeClr>
          </a:solidFill>
        </p:grpSpPr>
        <p:sp>
          <p:nvSpPr>
            <p:cNvPr id="26" name="Freeform 3"/>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2.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Mục</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tiêu</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bối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cảnh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và</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phạm</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vi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án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Bối</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cảnh</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và</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đánh</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tổng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quan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VDS</a:t>
              </a:r>
            </a:p>
          </p:txBody>
        </p:sp>
      </p:grpSp>
      <p:grpSp>
        <p:nvGrpSpPr>
          <p:cNvPr id="27" name="Group 4"/>
          <p:cNvGrpSpPr/>
          <p:nvPr/>
        </p:nvGrpSpPr>
        <p:grpSpPr>
          <a:xfrm>
            <a:off x="0" y="114299"/>
            <a:ext cx="936307" cy="1097280"/>
            <a:chOff x="0" y="0"/>
            <a:chExt cx="1248410" cy="1554290"/>
          </a:xfrm>
        </p:grpSpPr>
        <p:sp>
          <p:nvSpPr>
            <p:cNvPr id="28"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2" name="Right Arrow 1"/>
          <p:cNvSpPr/>
          <p:nvPr/>
        </p:nvSpPr>
        <p:spPr>
          <a:xfrm>
            <a:off x="799523" y="8659350"/>
            <a:ext cx="17259877" cy="381001"/>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2" name="Rectangle 11"/>
          <p:cNvSpPr/>
          <p:nvPr/>
        </p:nvSpPr>
        <p:spPr>
          <a:xfrm>
            <a:off x="936307" y="9086545"/>
            <a:ext cx="17123093" cy="1200455"/>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dirty="0" err="1">
                <a:solidFill>
                  <a:schemeClr val="tx1"/>
                </a:solidFill>
                <a:latin typeface="Arial" panose="020B0604020202020204" pitchFamily="34" charset="0"/>
                <a:cs typeface="Arial" panose="020B0604020202020204" pitchFamily="34" charset="0"/>
              </a:rPr>
              <a:t>Công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tác</a:t>
            </a:r>
            <a:r>
              <a:rPr lang="en-US" sz="2000" dirty="0">
                <a:solidFill>
                  <a:schemeClr val="tx1"/>
                </a:solidFill>
                <a:latin typeface="Arial" panose="020B0604020202020204" pitchFamily="34" charset="0"/>
                <a:cs typeface="Arial" panose="020B0604020202020204" pitchFamily="34" charset="0"/>
              </a:rPr>
              <a:t> QTRR </a:t>
            </a:r>
            <a:r>
              <a:rPr lang="en-US" sz="2000" dirty="0" err="1">
                <a:solidFill>
                  <a:schemeClr val="tx1"/>
                </a:solidFill>
                <a:latin typeface="Arial" panose="020B0604020202020204" pitchFamily="34" charset="0"/>
                <a:cs typeface="Arial" panose="020B0604020202020204" pitchFamily="34" charset="0"/>
              </a:rPr>
              <a:t>hiện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tại</a:t>
            </a:r>
            <a:r>
              <a:rPr lang="en-US" sz="2000" dirty="0">
                <a:solidFill>
                  <a:schemeClr val="tx1"/>
                </a:solidFill>
                <a:latin typeface="Arial" panose="020B0604020202020204" pitchFamily="34" charset="0"/>
                <a:cs typeface="Arial" panose="020B0604020202020204" pitchFamily="34" charset="0"/>
              </a:rPr>
              <a:t> ở VDS </a:t>
            </a:r>
            <a:r>
              <a:rPr lang="en-US" sz="2000" b="1" dirty="0" err="1">
                <a:solidFill>
                  <a:schemeClr val="tx1"/>
                </a:solidFill>
                <a:latin typeface="Arial" panose="020B0604020202020204" pitchFamily="34" charset="0"/>
                <a:cs typeface="Arial" panose="020B0604020202020204" pitchFamily="34" charset="0"/>
              </a:rPr>
              <a:t>đã</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đáp</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ứng</a:t>
            </a:r>
            <a:r>
              <a:rPr lang="en-US" sz="2000" b="1"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các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yêu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cầu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của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pháp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luật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về</a:t>
            </a:r>
            <a:r>
              <a:rPr lang="en-US" sz="2000" dirty="0">
                <a:solidFill>
                  <a:schemeClr val="tx1"/>
                </a:solidFill>
                <a:latin typeface="Arial" panose="020B0604020202020204" pitchFamily="34" charset="0"/>
                <a:cs typeface="Arial" panose="020B0604020202020204" pitchFamily="34" charset="0"/>
              </a:rPr>
              <a:t> </a:t>
            </a:r>
            <a:r>
              <a:rPr lang="en-US" sz="2000">
                <a:solidFill>
                  <a:schemeClr val="tx1"/>
                </a:solidFill>
                <a:latin typeface="Arial" panose="020B0604020202020204" pitchFamily="34" charset="0"/>
                <a:cs typeface="Arial" panose="020B0604020202020204" pitchFamily="34" charset="0"/>
              </a:rPr>
              <a:t>QTRR đối </a:t>
            </a:r>
            <a:r>
              <a:rPr lang="en-US" sz="2000" dirty="0" err="1">
                <a:solidFill>
                  <a:schemeClr val="tx1"/>
                </a:solidFill>
                <a:latin typeface="Arial" panose="020B0604020202020204" pitchFamily="34" charset="0"/>
                <a:cs typeface="Arial" panose="020B0604020202020204" pitchFamily="34" charset="0"/>
              </a:rPr>
              <a:t>với</a:t>
            </a:r>
            <a:r>
              <a:rPr lang="en-US" sz="2000"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lĩnh</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vực</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trung</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gian</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thanh</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toán</a:t>
            </a:r>
            <a:r>
              <a:rPr lang="en-US" sz="2000" b="1" dirty="0">
                <a:solidFill>
                  <a:schemeClr val="tx1"/>
                </a:solidFill>
                <a:latin typeface="Arial" panose="020B0604020202020204" pitchFamily="34" charset="0"/>
                <a:cs typeface="Arial" panose="020B0604020202020204" pitchFamily="34" charset="0"/>
              </a:rPr>
              <a:t>.</a:t>
            </a:r>
            <a:endParaRPr lang="en-US" sz="2000" dirty="0">
              <a:solidFill>
                <a:schemeClr val="tx1"/>
              </a:solidFill>
              <a:latin typeface="Arial" panose="020B0604020202020204" pitchFamily="34" charset="0"/>
              <a:cs typeface="Arial" panose="020B0604020202020204" pitchFamily="34" charset="0"/>
            </a:endParaRPr>
          </a:p>
          <a:p>
            <a:r>
              <a:rPr lang="en-US" sz="2000" dirty="0" err="1">
                <a:solidFill>
                  <a:schemeClr val="tx1"/>
                </a:solidFill>
                <a:latin typeface="Arial" panose="020B0604020202020204" pitchFamily="34" charset="0"/>
                <a:cs typeface="Arial" panose="020B0604020202020204" pitchFamily="34" charset="0"/>
              </a:rPr>
              <a:t>Tuy</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nhiên</a:t>
            </a:r>
            <a:r>
              <a:rPr lang="en-US" sz="2000" dirty="0">
                <a:solidFill>
                  <a:schemeClr val="tx1"/>
                </a:solidFill>
                <a:latin typeface="Arial" panose="020B0604020202020204" pitchFamily="34" charset="0"/>
                <a:cs typeface="Arial" panose="020B0604020202020204" pitchFamily="34" charset="0"/>
              </a:rPr>
              <a:t>, </a:t>
            </a:r>
            <a:r>
              <a:rPr lang="en-US" sz="2000" err="1">
                <a:solidFill>
                  <a:schemeClr val="tx1"/>
                </a:solidFill>
                <a:latin typeface="Arial" panose="020B0604020202020204" pitchFamily="34" charset="0"/>
                <a:cs typeface="Arial" panose="020B0604020202020204" pitchFamily="34" charset="0"/>
              </a:rPr>
              <a:t>với</a:t>
            </a:r>
            <a:r>
              <a:rPr lang="en-US" sz="2000">
                <a:solidFill>
                  <a:schemeClr val="tx1"/>
                </a:solidFill>
                <a:latin typeface="Arial" panose="020B0604020202020204" pitchFamily="34" charset="0"/>
                <a:cs typeface="Arial" panose="020B0604020202020204" pitchFamily="34" charset="0"/>
              </a:rPr>
              <a:t> </a:t>
            </a:r>
            <a:r>
              <a:rPr lang="en-US" sz="2000" b="1">
                <a:solidFill>
                  <a:schemeClr val="tx1"/>
                </a:solidFill>
                <a:latin typeface="Arial" panose="020B0604020202020204" pitchFamily="34" charset="0"/>
                <a:cs typeface="Arial" panose="020B0604020202020204" pitchFamily="34" charset="0"/>
              </a:rPr>
              <a:t>định hướng trở thành doanh nghiệp tài chính số hoạt động trong các lĩnh vực ngân hàng số, bảo hiểm,… </a:t>
            </a:r>
            <a:r>
              <a:rPr lang="en-US" sz="2000">
                <a:solidFill>
                  <a:schemeClr val="tx1"/>
                </a:solidFill>
                <a:latin typeface="Arial" panose="020B0604020202020204" pitchFamily="34" charset="0"/>
                <a:cs typeface="Arial" panose="020B0604020202020204" pitchFamily="34" charset="0"/>
              </a:rPr>
              <a:t>VDS </a:t>
            </a:r>
            <a:r>
              <a:rPr lang="en-US" sz="2000" dirty="0" err="1">
                <a:solidFill>
                  <a:schemeClr val="tx1"/>
                </a:solidFill>
                <a:latin typeface="Arial" panose="020B0604020202020204" pitchFamily="34" charset="0"/>
                <a:cs typeface="Arial" panose="020B0604020202020204" pitchFamily="34" charset="0"/>
              </a:rPr>
              <a:t>cần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nâng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cao</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mức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độ</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trưởng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thành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để</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đáp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ứng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các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yêu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cầu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tuân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thủ</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của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pháp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luật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thông</a:t>
            </a:r>
            <a:r>
              <a:rPr lang="en-US" sz="2000" dirty="0">
                <a:solidFill>
                  <a:schemeClr val="tx1"/>
                </a:solidFill>
                <a:latin typeface="Arial" panose="020B0604020202020204" pitchFamily="34" charset="0"/>
                <a:cs typeface="Arial" panose="020B0604020202020204" pitchFamily="34" charset="0"/>
              </a:rPr>
              <a:t> </a:t>
            </a:r>
            <a:r>
              <a:rPr lang="en-US" sz="2000" err="1">
                <a:solidFill>
                  <a:schemeClr val="tx1"/>
                </a:solidFill>
                <a:latin typeface="Arial" panose="020B0604020202020204" pitchFamily="34" charset="0"/>
                <a:cs typeface="Arial" panose="020B0604020202020204" pitchFamily="34" charset="0"/>
              </a:rPr>
              <a:t>lệ</a:t>
            </a:r>
            <a:r>
              <a:rPr lang="en-US" sz="2000">
                <a:solidFill>
                  <a:schemeClr val="tx1"/>
                </a:solidFill>
                <a:latin typeface="Arial" panose="020B0604020202020204" pitchFamily="34" charset="0"/>
                <a:cs typeface="Arial" panose="020B0604020202020204" pitchFamily="34" charset="0"/>
              </a:rPr>
              <a:t> ngành.</a:t>
            </a:r>
            <a:endParaRPr lang="en-US" sz="2000" dirty="0">
              <a:solidFill>
                <a:schemeClr val="tx1"/>
              </a:solidFill>
              <a:latin typeface="Arial" panose="020B0604020202020204" pitchFamily="34" charset="0"/>
              <a:cs typeface="Arial" panose="020B0604020202020204" pitchFamily="34" charset="0"/>
            </a:endParaRPr>
          </a:p>
        </p:txBody>
      </p:sp>
      <p:pic>
        <p:nvPicPr>
          <p:cNvPr id="6" name="Picture 5"/>
          <p:cNvPicPr>
            <a:picLocks noChangeAspect="1"/>
          </p:cNvPicPr>
          <p:nvPr/>
        </p:nvPicPr>
        <p:blipFill>
          <a:blip r:embed="rId3"/>
          <a:stretch>
            <a:fillRect/>
          </a:stretch>
        </p:blipFill>
        <p:spPr>
          <a:xfrm>
            <a:off x="7094294" y="2080461"/>
            <a:ext cx="1699850" cy="1214178"/>
          </a:xfrm>
          <a:prstGeom prst="rect">
            <a:avLst/>
          </a:prstGeom>
        </p:spPr>
      </p:pic>
      <p:sp>
        <p:nvSpPr>
          <p:cNvPr id="13" name="Right Arrow 12"/>
          <p:cNvSpPr/>
          <p:nvPr/>
        </p:nvSpPr>
        <p:spPr>
          <a:xfrm rot="16200000" flipV="1">
            <a:off x="-2858575" y="4896789"/>
            <a:ext cx="7548049" cy="457200"/>
          </a:xfrm>
          <a:prstGeom prst="rightArrow">
            <a:avLst/>
          </a:prstGeom>
          <a:solidFill>
            <a:schemeClr val="tx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7" name="Rectangle 6"/>
          <p:cNvSpPr/>
          <p:nvPr/>
        </p:nvSpPr>
        <p:spPr>
          <a:xfrm>
            <a:off x="325031" y="2737816"/>
            <a:ext cx="304800" cy="4114800"/>
          </a:xfrm>
          <a:prstGeom prst="rect">
            <a:avLst/>
          </a:prstGeom>
          <a:noFill/>
          <a:ln>
            <a:noFill/>
          </a:ln>
        </p:spPr>
        <p:style>
          <a:lnRef idx="2">
            <a:schemeClr val="dk1"/>
          </a:lnRef>
          <a:fillRef idx="1">
            <a:schemeClr val="lt1"/>
          </a:fillRef>
          <a:effectRef idx="0">
            <a:schemeClr val="dk1"/>
          </a:effectRef>
          <a:fontRef idx="minor">
            <a:schemeClr val="dk1"/>
          </a:fontRef>
        </p:style>
        <p:txBody>
          <a:bodyPr vert="vert270" rtlCol="0" anchor="ctr"/>
          <a:lstStyle/>
          <a:p>
            <a:pPr algn="ctr"/>
            <a:r>
              <a:rPr lang="en-US" b="1" dirty="0" err="1">
                <a:solidFill>
                  <a:schemeClr val="tx1"/>
                </a:solidFill>
                <a:latin typeface="Arial" panose="020B0604020202020204" pitchFamily="34" charset="0"/>
                <a:cs typeface="Arial" panose="020B0604020202020204" pitchFamily="34" charset="0"/>
              </a:rPr>
              <a:t>Mức</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độ</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trưởng</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thành</a:t>
            </a:r>
            <a:endParaRPr lang="en-US" b="1" dirty="0">
              <a:solidFill>
                <a:schemeClr val="tx1"/>
              </a:solidFill>
              <a:latin typeface="Arial" panose="020B0604020202020204" pitchFamily="34" charset="0"/>
              <a:cs typeface="Arial" panose="020B0604020202020204" pitchFamily="34" charset="0"/>
            </a:endParaRPr>
          </a:p>
        </p:txBody>
      </p:sp>
      <p:sp>
        <p:nvSpPr>
          <p:cNvPr id="8" name="Rectangle 7"/>
          <p:cNvSpPr/>
          <p:nvPr/>
        </p:nvSpPr>
        <p:spPr>
          <a:xfrm>
            <a:off x="1447800" y="4911549"/>
            <a:ext cx="2819399" cy="625857"/>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err="1">
                <a:solidFill>
                  <a:schemeClr val="tx1"/>
                </a:solidFill>
                <a:latin typeface="Arial" panose="020B0604020202020204" pitchFamily="34" charset="0"/>
                <a:cs typeface="Arial" panose="020B0604020202020204" pitchFamily="34" charset="0"/>
              </a:rPr>
              <a:t>Cấp</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độ</a:t>
            </a:r>
            <a:r>
              <a:rPr lang="en-US" b="1" dirty="0">
                <a:solidFill>
                  <a:schemeClr val="tx1"/>
                </a:solidFill>
                <a:latin typeface="Arial" panose="020B0604020202020204" pitchFamily="34" charset="0"/>
                <a:cs typeface="Arial" panose="020B0604020202020204" pitchFamily="34" charset="0"/>
              </a:rPr>
              <a:t> 1 – Cơ </a:t>
            </a:r>
            <a:r>
              <a:rPr lang="en-US" b="1" dirty="0" err="1">
                <a:solidFill>
                  <a:schemeClr val="tx1"/>
                </a:solidFill>
                <a:latin typeface="Arial" panose="020B0604020202020204" pitchFamily="34" charset="0"/>
                <a:cs typeface="Arial" panose="020B0604020202020204" pitchFamily="34" charset="0"/>
              </a:rPr>
              <a:t>bản</a:t>
            </a:r>
            <a:endParaRPr lang="en-US" b="1" dirty="0">
              <a:solidFill>
                <a:schemeClr val="tx1"/>
              </a:solidFill>
              <a:latin typeface="Arial" panose="020B0604020202020204" pitchFamily="34" charset="0"/>
              <a:cs typeface="Arial" panose="020B0604020202020204" pitchFamily="34" charset="0"/>
            </a:endParaRPr>
          </a:p>
        </p:txBody>
      </p:sp>
      <p:sp>
        <p:nvSpPr>
          <p:cNvPr id="16" name="Rectangle 15"/>
          <p:cNvSpPr/>
          <p:nvPr/>
        </p:nvSpPr>
        <p:spPr>
          <a:xfrm>
            <a:off x="1447801" y="5537406"/>
            <a:ext cx="2819399" cy="3186021"/>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Wingdings" panose="05000000000000000000" pitchFamily="2" charset="2"/>
              <a:buChar char="§"/>
            </a:pPr>
            <a:r>
              <a:rPr lang="vi-VN" sz="1600" dirty="0">
                <a:solidFill>
                  <a:schemeClr val="tx1"/>
                </a:solidFill>
                <a:cs typeface="Arial" panose="020B0604020202020204" pitchFamily="34" charset="0"/>
              </a:rPr>
              <a:t>Chưa </a:t>
            </a:r>
            <a:r>
              <a:rPr lang="en-US" sz="1600" dirty="0" err="1">
                <a:solidFill>
                  <a:schemeClr val="tx1"/>
                </a:solidFill>
                <a:latin typeface="Arial" panose="020B0604020202020204" pitchFamily="34" charset="0"/>
                <a:cs typeface="Arial" panose="020B0604020202020204" pitchFamily="34" charset="0"/>
              </a:rPr>
              <a:t>xây</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dựng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cấu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trúc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giám</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hoạt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động</a:t>
            </a:r>
            <a:r>
              <a:rPr lang="en-US" sz="1600" dirty="0">
                <a:solidFill>
                  <a:schemeClr val="tx1"/>
                </a:solidFill>
                <a:latin typeface="Arial" panose="020B0604020202020204" pitchFamily="34" charset="0"/>
                <a:cs typeface="Arial" panose="020B0604020202020204" pitchFamily="34" charset="0"/>
              </a:rPr>
              <a:t> QTRR</a:t>
            </a:r>
          </a:p>
          <a:p>
            <a:pPr marL="285750" indent="-285750" algn="just">
              <a:buFont typeface="Wingdings" panose="05000000000000000000" pitchFamily="2" charset="2"/>
              <a:buChar char="§"/>
            </a:pPr>
            <a:r>
              <a:rPr lang="en-US" sz="1600" dirty="0">
                <a:solidFill>
                  <a:schemeClr val="tx1"/>
                </a:solidFill>
                <a:latin typeface="Arial" panose="020B0604020202020204" pitchFamily="34" charset="0"/>
                <a:cs typeface="Arial" panose="020B0604020202020204" pitchFamily="34" charset="0"/>
              </a:rPr>
              <a:t>Quy </a:t>
            </a:r>
            <a:r>
              <a:rPr lang="en-US" sz="1600" dirty="0" err="1">
                <a:solidFill>
                  <a:schemeClr val="tx1"/>
                </a:solidFill>
                <a:latin typeface="Arial" panose="020B0604020202020204" pitchFamily="34" charset="0"/>
                <a:cs typeface="Arial" panose="020B0604020202020204" pitchFamily="34" charset="0"/>
              </a:rPr>
              <a:t>trình</a:t>
            </a:r>
            <a:r>
              <a:rPr lang="en-US" sz="1600" dirty="0">
                <a:solidFill>
                  <a:schemeClr val="tx1"/>
                </a:solidFill>
                <a:latin typeface="Arial" panose="020B0604020202020204" pitchFamily="34" charset="0"/>
                <a:cs typeface="Arial" panose="020B0604020202020204" pitchFamily="34" charset="0"/>
              </a:rPr>
              <a:t> QTRR </a:t>
            </a:r>
            <a:r>
              <a:rPr lang="en-US" sz="1600" dirty="0" err="1">
                <a:solidFill>
                  <a:schemeClr val="tx1"/>
                </a:solidFill>
                <a:latin typeface="Arial" panose="020B0604020202020204" pitchFamily="34" charset="0"/>
                <a:cs typeface="Arial" panose="020B0604020202020204" pitchFamily="34" charset="0"/>
              </a:rPr>
              <a:t>chưa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xây</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dựng</a:t>
            </a:r>
            <a:endParaRPr lang="en-US" sz="1600" dirty="0">
              <a:solidFill>
                <a:schemeClr val="tx1"/>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Chưa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có</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sự</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phối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hợp</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giữa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các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phòng</a:t>
            </a:r>
            <a:r>
              <a:rPr lang="en-US" sz="1600" dirty="0">
                <a:solidFill>
                  <a:schemeClr val="tx1"/>
                </a:solidFill>
                <a:latin typeface="Arial" panose="020B0604020202020204" pitchFamily="34" charset="0"/>
                <a:cs typeface="Arial" panose="020B0604020202020204" pitchFamily="34" charset="0"/>
              </a:rPr>
              <a:t> ban, </a:t>
            </a:r>
            <a:r>
              <a:rPr lang="en-US" sz="1600" dirty="0" err="1">
                <a:solidFill>
                  <a:schemeClr val="tx1"/>
                </a:solidFill>
                <a:latin typeface="Arial" panose="020B0604020202020204" pitchFamily="34" charset="0"/>
                <a:cs typeface="Arial" panose="020B0604020202020204" pitchFamily="34" charset="0"/>
              </a:rPr>
              <a:t>đơn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vị</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trong</a:t>
            </a:r>
            <a:r>
              <a:rPr lang="en-US" sz="1600" dirty="0">
                <a:solidFill>
                  <a:schemeClr val="tx1"/>
                </a:solidFill>
                <a:latin typeface="Arial" panose="020B0604020202020204" pitchFamily="34" charset="0"/>
                <a:cs typeface="Arial" panose="020B0604020202020204" pitchFamily="34" charset="0"/>
              </a:rPr>
              <a:t> QTRR</a:t>
            </a:r>
          </a:p>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Chưa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xây</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dựng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công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cụ</a:t>
            </a:r>
            <a:r>
              <a:rPr lang="en-US" sz="1600" dirty="0">
                <a:solidFill>
                  <a:schemeClr val="tx1"/>
                </a:solidFill>
                <a:latin typeface="Arial" panose="020B0604020202020204" pitchFamily="34" charset="0"/>
                <a:cs typeface="Arial" panose="020B0604020202020204" pitchFamily="34" charset="0"/>
              </a:rPr>
              <a:t> QTRR, </a:t>
            </a:r>
            <a:r>
              <a:rPr lang="en-US" sz="1600" dirty="0" err="1">
                <a:solidFill>
                  <a:schemeClr val="tx1"/>
                </a:solidFill>
                <a:latin typeface="Arial" panose="020B0604020202020204" pitchFamily="34" charset="0"/>
                <a:cs typeface="Arial" panose="020B0604020202020204" pitchFamily="34" charset="0"/>
              </a:rPr>
              <a:t>dữ</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liệu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theo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dõi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thủ</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công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phân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tán</a:t>
            </a:r>
            <a:endParaRPr lang="en-US" sz="1600" dirty="0">
              <a:solidFill>
                <a:schemeClr val="tx1"/>
              </a:solidFill>
              <a:latin typeface="Arial" panose="020B0604020202020204" pitchFamily="34" charset="0"/>
              <a:cs typeface="Arial" panose="020B0604020202020204" pitchFamily="34" charset="0"/>
            </a:endParaRPr>
          </a:p>
        </p:txBody>
      </p:sp>
      <p:sp>
        <p:nvSpPr>
          <p:cNvPr id="23" name="Rectangle 22"/>
          <p:cNvSpPr/>
          <p:nvPr/>
        </p:nvSpPr>
        <p:spPr>
          <a:xfrm>
            <a:off x="4796747" y="4692429"/>
            <a:ext cx="2819399" cy="4030999"/>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lvl="0" indent="-285750" algn="just">
              <a:buFont typeface="Wingdings" panose="05000000000000000000" pitchFamily="2" charset="2"/>
              <a:buChar char="§"/>
              <a:defRPr/>
            </a:pPr>
            <a:r>
              <a:rPr lang="en-US" sz="1600" dirty="0" err="1">
                <a:solidFill>
                  <a:schemeClr val="tx1"/>
                </a:solidFill>
                <a:latin typeface="Arial" panose="020B0604020202020204" pitchFamily="34" charset="0"/>
                <a:cs typeface="Arial" panose="020B0604020202020204" pitchFamily="34" charset="0"/>
              </a:rPr>
              <a:t>Cấu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trúc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giám</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hoạt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động</a:t>
            </a:r>
            <a:r>
              <a:rPr lang="en-US" sz="1600" dirty="0">
                <a:solidFill>
                  <a:schemeClr val="tx1"/>
                </a:solidFill>
                <a:latin typeface="Arial" panose="020B0604020202020204" pitchFamily="34" charset="0"/>
                <a:cs typeface="Arial" panose="020B0604020202020204" pitchFamily="34" charset="0"/>
              </a:rPr>
              <a:t> QTRR ở </a:t>
            </a:r>
            <a:r>
              <a:rPr lang="en-US" sz="1600" dirty="0" err="1">
                <a:solidFill>
                  <a:schemeClr val="tx1"/>
                </a:solidFill>
                <a:latin typeface="Arial" panose="020B0604020202020204" pitchFamily="34" charset="0"/>
                <a:cs typeface="Arial" panose="020B0604020202020204" pitchFamily="34" charset="0"/>
              </a:rPr>
              <a:t>mức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cơ</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bản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chưa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phê</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duyệt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trao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quyền</a:t>
            </a:r>
            <a:endParaRPr lang="en-US" sz="1600" dirty="0">
              <a:solidFill>
                <a:schemeClr val="tx1"/>
              </a:solidFill>
              <a:latin typeface="Arial" panose="020B0604020202020204" pitchFamily="34" charset="0"/>
              <a:cs typeface="Arial" panose="020B0604020202020204" pitchFamily="34" charset="0"/>
            </a:endParaRPr>
          </a:p>
          <a:p>
            <a:pPr marL="285750" lvl="0" indent="-285750" algn="just">
              <a:buFont typeface="Wingdings" panose="05000000000000000000" pitchFamily="2" charset="2"/>
              <a:buChar char="§"/>
              <a:defRPr/>
            </a:pPr>
            <a:r>
              <a:rPr lang="en-US" sz="1600" dirty="0">
                <a:solidFill>
                  <a:schemeClr val="tx1"/>
                </a:solidFill>
                <a:latin typeface="Arial" panose="020B0604020202020204" pitchFamily="34" charset="0"/>
                <a:cs typeface="Arial" panose="020B0604020202020204" pitchFamily="34" charset="0"/>
              </a:rPr>
              <a:t>Quy </a:t>
            </a:r>
            <a:r>
              <a:rPr lang="en-US" sz="1600" dirty="0" err="1">
                <a:solidFill>
                  <a:schemeClr val="tx1"/>
                </a:solidFill>
                <a:latin typeface="Arial" panose="020B0604020202020204" pitchFamily="34" charset="0"/>
                <a:cs typeface="Arial" panose="020B0604020202020204" pitchFamily="34" charset="0"/>
              </a:rPr>
              <a:t>trình</a:t>
            </a:r>
            <a:r>
              <a:rPr lang="en-US" sz="1600" dirty="0">
                <a:solidFill>
                  <a:schemeClr val="tx1"/>
                </a:solidFill>
                <a:latin typeface="Arial" panose="020B0604020202020204" pitchFamily="34" charset="0"/>
                <a:cs typeface="Arial" panose="020B0604020202020204" pitchFamily="34" charset="0"/>
              </a:rPr>
              <a:t> QTRR </a:t>
            </a:r>
            <a:r>
              <a:rPr lang="en-US" sz="1600" dirty="0" err="1">
                <a:solidFill>
                  <a:schemeClr val="tx1"/>
                </a:solidFill>
                <a:latin typeface="Arial" panose="020B0604020202020204" pitchFamily="34" charset="0"/>
                <a:cs typeface="Arial" panose="020B0604020202020204" pitchFamily="34" charset="0"/>
              </a:rPr>
              <a:t>rời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rạc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thiếu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hệ</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thống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chưa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gắn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kết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với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chiến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lược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tổ</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chức</a:t>
            </a:r>
            <a:endParaRPr lang="en-US" sz="1600" dirty="0">
              <a:solidFill>
                <a:schemeClr val="tx1"/>
              </a:solidFill>
              <a:latin typeface="Arial" panose="020B0604020202020204" pitchFamily="34" charset="0"/>
              <a:cs typeface="Arial" panose="020B0604020202020204" pitchFamily="34" charset="0"/>
            </a:endParaRPr>
          </a:p>
          <a:p>
            <a:pPr marL="285750" lvl="0" indent="-285750" algn="just">
              <a:buFont typeface="Wingdings" panose="05000000000000000000" pitchFamily="2" charset="2"/>
              <a:buChar char="§"/>
              <a:defRPr/>
            </a:pPr>
            <a:r>
              <a:rPr lang="en-US" sz="1600" dirty="0" err="1">
                <a:solidFill>
                  <a:schemeClr val="tx1"/>
                </a:solidFill>
                <a:latin typeface="Arial" panose="020B0604020202020204" pitchFamily="34" charset="0"/>
                <a:cs typeface="Arial" panose="020B0604020202020204" pitchFamily="34" charset="0"/>
              </a:rPr>
              <a:t>Có</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sự</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phối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hợp</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giữa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các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đơn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vị</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nhưng</a:t>
            </a:r>
            <a:r>
              <a:rPr lang="en-US" sz="1600" dirty="0">
                <a:solidFill>
                  <a:schemeClr val="tx1"/>
                </a:solidFill>
                <a:latin typeface="Arial" panose="020B0604020202020204" pitchFamily="34" charset="0"/>
                <a:cs typeface="Arial" panose="020B0604020202020204" pitchFamily="34" charset="0"/>
              </a:rPr>
              <a:t> ở </a:t>
            </a:r>
            <a:r>
              <a:rPr lang="en-US" sz="1600" dirty="0" err="1">
                <a:solidFill>
                  <a:schemeClr val="tx1"/>
                </a:solidFill>
                <a:latin typeface="Arial" panose="020B0604020202020204" pitchFamily="34" charset="0"/>
                <a:cs typeface="Arial" panose="020B0604020202020204" pitchFamily="34" charset="0"/>
              </a:rPr>
              <a:t>mức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cơ</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bản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chưa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có</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hệ</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thống</a:t>
            </a:r>
            <a:endParaRPr lang="en-US" sz="1600" dirty="0">
              <a:solidFill>
                <a:schemeClr val="tx1"/>
              </a:solidFill>
              <a:latin typeface="Arial" panose="020B0604020202020204" pitchFamily="34" charset="0"/>
              <a:cs typeface="Arial" panose="020B0604020202020204" pitchFamily="34" charset="0"/>
            </a:endParaRPr>
          </a:p>
          <a:p>
            <a:pPr marL="285750" lvl="0" indent="-285750" algn="just">
              <a:buFont typeface="Wingdings" panose="05000000000000000000" pitchFamily="2" charset="2"/>
              <a:buChar char="§"/>
              <a:defRPr/>
            </a:pPr>
            <a:r>
              <a:rPr lang="en-US" sz="1600" dirty="0">
                <a:solidFill>
                  <a:schemeClr val="tx1"/>
                </a:solidFill>
                <a:latin typeface="Arial" panose="020B0604020202020204" pitchFamily="34" charset="0"/>
                <a:cs typeface="Arial" panose="020B0604020202020204" pitchFamily="34" charset="0"/>
              </a:rPr>
              <a:t>Công </a:t>
            </a:r>
            <a:r>
              <a:rPr lang="en-US" sz="1600" dirty="0" err="1">
                <a:solidFill>
                  <a:schemeClr val="tx1"/>
                </a:solidFill>
                <a:latin typeface="Arial" panose="020B0604020202020204" pitchFamily="34" charset="0"/>
                <a:cs typeface="Arial" panose="020B0604020202020204" pitchFamily="34" charset="0"/>
              </a:rPr>
              <a:t>cụ</a:t>
            </a:r>
            <a:r>
              <a:rPr lang="en-US" sz="1600" dirty="0">
                <a:solidFill>
                  <a:schemeClr val="tx1"/>
                </a:solidFill>
                <a:latin typeface="Arial" panose="020B0604020202020204" pitchFamily="34" charset="0"/>
                <a:cs typeface="Arial" panose="020B0604020202020204" pitchFamily="34" charset="0"/>
              </a:rPr>
              <a:t> QTRR ở </a:t>
            </a:r>
            <a:r>
              <a:rPr lang="en-US" sz="1600" dirty="0" err="1">
                <a:solidFill>
                  <a:schemeClr val="tx1"/>
                </a:solidFill>
                <a:latin typeface="Arial" panose="020B0604020202020204" pitchFamily="34" charset="0"/>
                <a:cs typeface="Arial" panose="020B0604020202020204" pitchFamily="34" charset="0"/>
              </a:rPr>
              <a:t>mức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thủ</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công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thiếu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đồng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bộ</a:t>
            </a:r>
            <a:endParaRPr lang="en-US" sz="1600" dirty="0">
              <a:solidFill>
                <a:schemeClr val="tx1"/>
              </a:solidFill>
              <a:latin typeface="Arial" panose="020B0604020202020204" pitchFamily="34" charset="0"/>
              <a:cs typeface="Arial" panose="020B0604020202020204" pitchFamily="34" charset="0"/>
            </a:endParaRPr>
          </a:p>
        </p:txBody>
      </p:sp>
      <p:sp>
        <p:nvSpPr>
          <p:cNvPr id="29" name="Rectangle 28"/>
          <p:cNvSpPr/>
          <p:nvPr/>
        </p:nvSpPr>
        <p:spPr>
          <a:xfrm>
            <a:off x="8145693" y="4139151"/>
            <a:ext cx="2819399" cy="4607861"/>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Cấu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trúc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giám</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hoạt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động</a:t>
            </a:r>
            <a:r>
              <a:rPr lang="en-US" sz="1600" dirty="0">
                <a:solidFill>
                  <a:schemeClr val="tx1"/>
                </a:solidFill>
                <a:latin typeface="Arial" panose="020B0604020202020204" pitchFamily="34" charset="0"/>
                <a:cs typeface="Arial" panose="020B0604020202020204" pitchFamily="34" charset="0"/>
              </a:rPr>
              <a:t> QTRR </a:t>
            </a:r>
            <a:r>
              <a:rPr lang="en-US" sz="1600" dirty="0" err="1">
                <a:solidFill>
                  <a:schemeClr val="tx1"/>
                </a:solidFill>
                <a:latin typeface="Arial" panose="020B0604020202020204" pitchFamily="34" charset="0"/>
                <a:cs typeface="Arial" panose="020B0604020202020204" pitchFamily="34" charset="0"/>
              </a:rPr>
              <a:t>đã</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xây</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dựng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nhưng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việc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giám</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chưa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liên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tục</a:t>
            </a:r>
            <a:endParaRPr lang="en-US" sz="1600" dirty="0">
              <a:solidFill>
                <a:schemeClr val="tx1"/>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a:solidFill>
                  <a:schemeClr val="tx1"/>
                </a:solidFill>
                <a:latin typeface="Arial" panose="020B0604020202020204" pitchFamily="34" charset="0"/>
                <a:cs typeface="Arial" panose="020B0604020202020204" pitchFamily="34" charset="0"/>
              </a:rPr>
              <a:t>Quy </a:t>
            </a:r>
            <a:r>
              <a:rPr lang="en-US" sz="1600" dirty="0" err="1">
                <a:solidFill>
                  <a:schemeClr val="tx1"/>
                </a:solidFill>
                <a:latin typeface="Arial" panose="020B0604020202020204" pitchFamily="34" charset="0"/>
                <a:cs typeface="Arial" panose="020B0604020202020204" pitchFamily="34" charset="0"/>
              </a:rPr>
              <a:t>trình</a:t>
            </a:r>
            <a:r>
              <a:rPr lang="en-US" sz="1600" dirty="0">
                <a:solidFill>
                  <a:schemeClr val="tx1"/>
                </a:solidFill>
                <a:latin typeface="Arial" panose="020B0604020202020204" pitchFamily="34" charset="0"/>
                <a:cs typeface="Arial" panose="020B0604020202020204" pitchFamily="34" charset="0"/>
              </a:rPr>
              <a:t> QTRR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xây</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dựng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gắn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với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hoạt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động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của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tổ</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chức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nhưng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còn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nặng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tính</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tuân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thủ</a:t>
            </a:r>
            <a:endParaRPr lang="en-US" sz="1600" dirty="0">
              <a:solidFill>
                <a:schemeClr val="tx1"/>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Luồng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phối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hợp</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triển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khai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trên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thực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tế</a:t>
            </a:r>
            <a:r>
              <a:rPr lang="en-US" sz="1600" dirty="0">
                <a:solidFill>
                  <a:schemeClr val="tx1"/>
                </a:solidFill>
                <a:latin typeface="Arial" panose="020B0604020202020204" pitchFamily="34" charset="0"/>
                <a:cs typeface="Arial" panose="020B0604020202020204" pitchFamily="34" charset="0"/>
              </a:rPr>
              <a:t> </a:t>
            </a:r>
            <a:r>
              <a:rPr lang="vi-VN" sz="1600" dirty="0">
                <a:solidFill>
                  <a:schemeClr val="tx1"/>
                </a:solidFill>
                <a:cs typeface="Arial" panose="020B0604020202020204" pitchFamily="34" charset="0"/>
              </a:rPr>
              <a:t>tuy nhiên chưa bao phủ toàn tổ chức và chiều sâu </a:t>
            </a:r>
            <a:r>
              <a:rPr lang="en-US" sz="1600" dirty="0" err="1">
                <a:solidFill>
                  <a:schemeClr val="tx1"/>
                </a:solidFill>
                <a:latin typeface="Arial" panose="020B0604020202020204" pitchFamily="34" charset="0"/>
                <a:cs typeface="Arial" panose="020B0604020202020204" pitchFamily="34" charset="0"/>
              </a:rPr>
              <a:t>phối</a:t>
            </a:r>
            <a:r>
              <a:rPr lang="vi-VN" sz="1600" dirty="0">
                <a:solidFill>
                  <a:schemeClr val="tx1"/>
                </a:solidFill>
                <a:cs typeface="Arial" panose="020B0604020202020204" pitchFamily="34" charset="0"/>
              </a:rPr>
              <a:t> hợp còn hạn chế</a:t>
            </a:r>
            <a:endParaRPr lang="en-US" sz="1600" dirty="0">
              <a:solidFill>
                <a:schemeClr val="tx1"/>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Công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cụ</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triển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khai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trên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toàn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tổ</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chức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nhưng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chưa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đồng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bộ</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nhất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quán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giữa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các</a:t>
            </a:r>
            <a:r>
              <a:rPr lang="en-US" sz="1600" dirty="0">
                <a:solidFill>
                  <a:schemeClr val="tx1"/>
                </a:solidFill>
                <a:latin typeface="Arial" panose="020B0604020202020204" pitchFamily="34" charset="0"/>
                <a:cs typeface="Arial" panose="020B0604020202020204" pitchFamily="34" charset="0"/>
              </a:rPr>
              <a:t> ĐV, </a:t>
            </a:r>
            <a:r>
              <a:rPr lang="en-US" sz="1600" dirty="0" err="1">
                <a:solidFill>
                  <a:schemeClr val="tx1"/>
                </a:solidFill>
                <a:latin typeface="Arial" panose="020B0604020202020204" pitchFamily="34" charset="0"/>
                <a:cs typeface="Arial" panose="020B0604020202020204" pitchFamily="34" charset="0"/>
              </a:rPr>
              <a:t>chức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năng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báo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cáo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còn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hạn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chế</a:t>
            </a:r>
            <a:endParaRPr lang="en-US" sz="1600" dirty="0">
              <a:solidFill>
                <a:schemeClr val="tx1"/>
              </a:solidFill>
              <a:latin typeface="Arial" panose="020B0604020202020204" pitchFamily="34" charset="0"/>
              <a:cs typeface="Arial" panose="020B0604020202020204" pitchFamily="34" charset="0"/>
            </a:endParaRPr>
          </a:p>
        </p:txBody>
      </p:sp>
      <p:sp>
        <p:nvSpPr>
          <p:cNvPr id="30" name="Rectangle 29"/>
          <p:cNvSpPr/>
          <p:nvPr/>
        </p:nvSpPr>
        <p:spPr>
          <a:xfrm>
            <a:off x="11494639" y="3717812"/>
            <a:ext cx="2819399" cy="5005615"/>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Wingdings" panose="05000000000000000000" pitchFamily="2" charset="2"/>
              <a:buChar char="§"/>
            </a:pPr>
            <a:r>
              <a:rPr lang="vi-VN" sz="1600" dirty="0">
                <a:solidFill>
                  <a:schemeClr val="tx1"/>
                </a:solidFill>
                <a:latin typeface="Arial" panose="020B0604020202020204" pitchFamily="34" charset="0"/>
                <a:cs typeface="Arial" panose="020B0604020202020204" pitchFamily="34" charset="0"/>
              </a:rPr>
              <a:t>Lãnh đạo giám sát hoạt động QTRR trên toàn tổ chức, tiếp nhận báo cáo thường xuyên, liên tục</a:t>
            </a:r>
          </a:p>
          <a:p>
            <a:pPr marL="285750" indent="-285750" algn="just">
              <a:buFont typeface="Wingdings" panose="05000000000000000000" pitchFamily="2" charset="2"/>
              <a:buChar char="§"/>
            </a:pPr>
            <a:r>
              <a:rPr lang="vi-VN" sz="1600" dirty="0">
                <a:solidFill>
                  <a:schemeClr val="tx1"/>
                </a:solidFill>
                <a:latin typeface="Arial" panose="020B0604020202020204" pitchFamily="34" charset="0"/>
                <a:cs typeface="Arial" panose="020B0604020202020204" pitchFamily="34" charset="0"/>
              </a:rPr>
              <a:t>Quy trình được xây dựng tiên tiến, gắn với chiến lược và vận hành, được giám sát và đánh giá hiệu suất</a:t>
            </a:r>
          </a:p>
          <a:p>
            <a:pPr marL="285750" indent="-285750" algn="just">
              <a:buFont typeface="Wingdings" panose="05000000000000000000" pitchFamily="2" charset="2"/>
              <a:buChar char="§"/>
            </a:pPr>
            <a:r>
              <a:rPr lang="vi-VN" sz="1600" dirty="0">
                <a:solidFill>
                  <a:schemeClr val="tx1"/>
                </a:solidFill>
                <a:latin typeface="Arial" panose="020B0604020202020204" pitchFamily="34" charset="0"/>
                <a:cs typeface="Arial" panose="020B0604020202020204" pitchFamily="34" charset="0"/>
              </a:rPr>
              <a:t>Quá trình phối hợp đồng bộ, nhất quán và toàn diện nhưng chưa tối ưu</a:t>
            </a:r>
          </a:p>
          <a:p>
            <a:pPr marL="285750" indent="-285750" algn="just">
              <a:buFont typeface="Wingdings" panose="05000000000000000000" pitchFamily="2" charset="2"/>
              <a:buChar char="§"/>
            </a:pPr>
            <a:r>
              <a:rPr lang="vi-VN" sz="1600" dirty="0">
                <a:solidFill>
                  <a:schemeClr val="tx1"/>
                </a:solidFill>
                <a:latin typeface="Arial" panose="020B0604020202020204" pitchFamily="34" charset="0"/>
                <a:cs typeface="Arial" panose="020B0604020202020204" pitchFamily="34" charset="0"/>
              </a:rPr>
              <a:t>Công cụ QTRR được triển khai đồng bộ, nhất quán, khai thác hiệu quả các tính năng chính</a:t>
            </a:r>
          </a:p>
        </p:txBody>
      </p:sp>
      <p:sp>
        <p:nvSpPr>
          <p:cNvPr id="31" name="Rectangle 30"/>
          <p:cNvSpPr/>
          <p:nvPr/>
        </p:nvSpPr>
        <p:spPr>
          <a:xfrm>
            <a:off x="14744388" y="3184413"/>
            <a:ext cx="2819399" cy="5562600"/>
          </a:xfrm>
          <a:prstGeom prst="rect">
            <a:avLst/>
          </a:prstGeom>
          <a:solidFill>
            <a:schemeClr val="bg1">
              <a:lumMod val="9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Lãnh</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đạo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chủ</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động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giám</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hoạt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động</a:t>
            </a:r>
            <a:r>
              <a:rPr lang="en-US" sz="1600" dirty="0">
                <a:solidFill>
                  <a:schemeClr val="tx1"/>
                </a:solidFill>
                <a:latin typeface="Arial" panose="020B0604020202020204" pitchFamily="34" charset="0"/>
                <a:cs typeface="Arial" panose="020B0604020202020204" pitchFamily="34" charset="0"/>
              </a:rPr>
              <a:t> QTRR, </a:t>
            </a:r>
            <a:r>
              <a:rPr lang="en-US" sz="1600" dirty="0" err="1">
                <a:solidFill>
                  <a:schemeClr val="tx1"/>
                </a:solidFill>
                <a:latin typeface="Arial" panose="020B0604020202020204" pitchFamily="34" charset="0"/>
                <a:cs typeface="Arial" panose="020B0604020202020204" pitchFamily="34" charset="0"/>
              </a:rPr>
              <a:t>văn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hóa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rủi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truyền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thông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rộng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rãi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trên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toàn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tổ</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chức</a:t>
            </a:r>
            <a:endParaRPr lang="en-US" sz="1600" dirty="0">
              <a:solidFill>
                <a:schemeClr val="tx1"/>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Quy</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trình</a:t>
            </a:r>
            <a:r>
              <a:rPr lang="en-US" sz="1600" dirty="0">
                <a:solidFill>
                  <a:schemeClr val="tx1"/>
                </a:solidFill>
                <a:latin typeface="Arial" panose="020B0604020202020204" pitchFamily="34" charset="0"/>
                <a:cs typeface="Arial" panose="020B0604020202020204" pitchFamily="34" charset="0"/>
              </a:rPr>
              <a:t> QTRR </a:t>
            </a:r>
            <a:r>
              <a:rPr lang="en-US" sz="1600" dirty="0" err="1">
                <a:solidFill>
                  <a:schemeClr val="tx1"/>
                </a:solidFill>
                <a:latin typeface="Arial" panose="020B0604020202020204" pitchFamily="34" charset="0"/>
                <a:cs typeface="Arial" panose="020B0604020202020204" pitchFamily="34" charset="0"/>
              </a:rPr>
              <a:t>phát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triển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thành</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năng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lực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cốt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lõi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gắn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kết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sâu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rộng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với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chiến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lược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văn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hóa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vận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hành</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của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tổ</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chức</a:t>
            </a:r>
            <a:endParaRPr lang="en-US" sz="1600" dirty="0">
              <a:solidFill>
                <a:schemeClr val="tx1"/>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Phối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hợp</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đồng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bộ</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nhất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quán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tối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ưu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liên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tục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cải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tiến</a:t>
            </a:r>
            <a:endParaRPr lang="en-US" sz="1600" dirty="0">
              <a:solidFill>
                <a:schemeClr val="tx1"/>
              </a:solidFill>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
            </a:pPr>
            <a:r>
              <a:rPr lang="en-US" sz="1600" dirty="0" err="1">
                <a:solidFill>
                  <a:schemeClr val="tx1"/>
                </a:solidFill>
                <a:latin typeface="Arial" panose="020B0604020202020204" pitchFamily="34" charset="0"/>
                <a:cs typeface="Arial" panose="020B0604020202020204" pitchFamily="34" charset="0"/>
              </a:rPr>
              <a:t>Công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cụ</a:t>
            </a:r>
            <a:r>
              <a:rPr lang="en-US" sz="1600" dirty="0">
                <a:solidFill>
                  <a:schemeClr val="tx1"/>
                </a:solidFill>
                <a:latin typeface="Arial" panose="020B0604020202020204" pitchFamily="34" charset="0"/>
                <a:cs typeface="Arial" panose="020B0604020202020204" pitchFamily="34" charset="0"/>
              </a:rPr>
              <a:t> QTRR </a:t>
            </a:r>
            <a:r>
              <a:rPr lang="en-US" sz="1600" dirty="0" err="1">
                <a:solidFill>
                  <a:schemeClr val="tx1"/>
                </a:solidFill>
                <a:latin typeface="Arial" panose="020B0604020202020204" pitchFamily="34" charset="0"/>
                <a:cs typeface="Arial" panose="020B0604020202020204" pitchFamily="34" charset="0"/>
              </a:rPr>
              <a:t>được</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tích</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hợp</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toàn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diện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tự</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động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hóa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hỗ</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trợ</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phân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tích</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báo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cáo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chuyên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sâu</a:t>
            </a:r>
            <a:endParaRPr lang="en-US" sz="1600" dirty="0">
              <a:solidFill>
                <a:schemeClr val="tx1"/>
              </a:solidFill>
              <a:latin typeface="Arial" panose="020B0604020202020204" pitchFamily="34" charset="0"/>
              <a:cs typeface="Arial" panose="020B0604020202020204" pitchFamily="34" charset="0"/>
            </a:endParaRPr>
          </a:p>
        </p:txBody>
      </p:sp>
      <p:sp>
        <p:nvSpPr>
          <p:cNvPr id="32" name="Rectangle 31"/>
          <p:cNvSpPr/>
          <p:nvPr/>
        </p:nvSpPr>
        <p:spPr>
          <a:xfrm>
            <a:off x="4796746" y="4066572"/>
            <a:ext cx="2819399" cy="625857"/>
          </a:xfrm>
          <a:prstGeom prst="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err="1">
                <a:solidFill>
                  <a:schemeClr val="tx1"/>
                </a:solidFill>
                <a:latin typeface="Arial" panose="020B0604020202020204" pitchFamily="34" charset="0"/>
                <a:cs typeface="Arial" panose="020B0604020202020204" pitchFamily="34" charset="0"/>
              </a:rPr>
              <a:t>Cấp</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độ</a:t>
            </a:r>
            <a:r>
              <a:rPr lang="en-US" b="1" dirty="0">
                <a:solidFill>
                  <a:schemeClr val="tx1"/>
                </a:solidFill>
                <a:latin typeface="Arial" panose="020B0604020202020204" pitchFamily="34" charset="0"/>
                <a:cs typeface="Arial" panose="020B0604020202020204" pitchFamily="34" charset="0"/>
              </a:rPr>
              <a:t> 2 </a:t>
            </a:r>
            <a:r>
              <a:rPr lang="en-US" b="1">
                <a:solidFill>
                  <a:schemeClr val="tx1"/>
                </a:solidFill>
                <a:latin typeface="Arial" panose="020B0604020202020204" pitchFamily="34" charset="0"/>
                <a:cs typeface="Arial" panose="020B0604020202020204" pitchFamily="34" charset="0"/>
              </a:rPr>
              <a:t>– </a:t>
            </a:r>
          </a:p>
          <a:p>
            <a:pPr algn="ctr"/>
            <a:r>
              <a:rPr lang="en-US" b="1">
                <a:solidFill>
                  <a:schemeClr val="tx1"/>
                </a:solidFill>
                <a:latin typeface="Arial" panose="020B0604020202020204" pitchFamily="34" charset="0"/>
                <a:cs typeface="Arial" panose="020B0604020202020204" pitchFamily="34" charset="0"/>
              </a:rPr>
              <a:t>Đang </a:t>
            </a:r>
            <a:r>
              <a:rPr lang="en-US" b="1" dirty="0" err="1">
                <a:solidFill>
                  <a:schemeClr val="tx1"/>
                </a:solidFill>
                <a:latin typeface="Arial" panose="020B0604020202020204" pitchFamily="34" charset="0"/>
                <a:cs typeface="Arial" panose="020B0604020202020204" pitchFamily="34" charset="0"/>
              </a:rPr>
              <a:t>phát</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triển</a:t>
            </a:r>
            <a:endParaRPr lang="en-US" b="1" dirty="0">
              <a:solidFill>
                <a:schemeClr val="tx1"/>
              </a:solidFill>
              <a:latin typeface="Arial" panose="020B0604020202020204" pitchFamily="34" charset="0"/>
              <a:cs typeface="Arial" panose="020B0604020202020204" pitchFamily="34" charset="0"/>
            </a:endParaRPr>
          </a:p>
        </p:txBody>
      </p:sp>
      <p:sp>
        <p:nvSpPr>
          <p:cNvPr id="33" name="Rectangle 32"/>
          <p:cNvSpPr/>
          <p:nvPr/>
        </p:nvSpPr>
        <p:spPr>
          <a:xfrm>
            <a:off x="8145692" y="3467100"/>
            <a:ext cx="2819399" cy="625857"/>
          </a:xfrm>
          <a:prstGeom prst="rect">
            <a:avLst/>
          </a:prstGeom>
          <a:solidFill>
            <a:srgbClr val="FFC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err="1">
                <a:solidFill>
                  <a:schemeClr val="tx1"/>
                </a:solidFill>
                <a:latin typeface="Arial" panose="020B0604020202020204" pitchFamily="34" charset="0"/>
                <a:cs typeface="Arial" panose="020B0604020202020204" pitchFamily="34" charset="0"/>
              </a:rPr>
              <a:t>Cấp</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độ</a:t>
            </a:r>
            <a:r>
              <a:rPr lang="en-US" b="1" dirty="0">
                <a:solidFill>
                  <a:schemeClr val="tx1"/>
                </a:solidFill>
                <a:latin typeface="Arial" panose="020B0604020202020204" pitchFamily="34" charset="0"/>
                <a:cs typeface="Arial" panose="020B0604020202020204" pitchFamily="34" charset="0"/>
              </a:rPr>
              <a:t> 3 – </a:t>
            </a:r>
            <a:r>
              <a:rPr lang="en-US" b="1" dirty="0" err="1">
                <a:solidFill>
                  <a:schemeClr val="tx1"/>
                </a:solidFill>
                <a:latin typeface="Arial" panose="020B0604020202020204" pitchFamily="34" charset="0"/>
                <a:cs typeface="Arial" panose="020B0604020202020204" pitchFamily="34" charset="0"/>
              </a:rPr>
              <a:t>Hoàn</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thiện</a:t>
            </a:r>
            <a:endParaRPr lang="en-US" b="1" dirty="0">
              <a:solidFill>
                <a:schemeClr val="tx1"/>
              </a:solidFill>
              <a:latin typeface="Arial" panose="020B0604020202020204" pitchFamily="34" charset="0"/>
              <a:cs typeface="Arial" panose="020B0604020202020204" pitchFamily="34" charset="0"/>
            </a:endParaRPr>
          </a:p>
        </p:txBody>
      </p:sp>
      <p:sp>
        <p:nvSpPr>
          <p:cNvPr id="34" name="Rectangle 33"/>
          <p:cNvSpPr/>
          <p:nvPr/>
        </p:nvSpPr>
        <p:spPr>
          <a:xfrm>
            <a:off x="11494639" y="3091955"/>
            <a:ext cx="2819399" cy="625857"/>
          </a:xfrm>
          <a:prstGeom prst="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err="1">
                <a:solidFill>
                  <a:schemeClr val="tx1"/>
                </a:solidFill>
                <a:latin typeface="Arial" panose="020B0604020202020204" pitchFamily="34" charset="0"/>
                <a:cs typeface="Arial" panose="020B0604020202020204" pitchFamily="34" charset="0"/>
              </a:rPr>
              <a:t>Cấp</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độ</a:t>
            </a:r>
            <a:r>
              <a:rPr lang="en-US" b="1" dirty="0">
                <a:solidFill>
                  <a:schemeClr val="tx1"/>
                </a:solidFill>
                <a:latin typeface="Arial" panose="020B0604020202020204" pitchFamily="34" charset="0"/>
                <a:cs typeface="Arial" panose="020B0604020202020204" pitchFamily="34" charset="0"/>
              </a:rPr>
              <a:t> 4 – Cao </a:t>
            </a:r>
            <a:r>
              <a:rPr lang="en-US" b="1" dirty="0" err="1">
                <a:solidFill>
                  <a:schemeClr val="tx1"/>
                </a:solidFill>
                <a:latin typeface="Arial" panose="020B0604020202020204" pitchFamily="34" charset="0"/>
                <a:cs typeface="Arial" panose="020B0604020202020204" pitchFamily="34" charset="0"/>
              </a:rPr>
              <a:t>cấp</a:t>
            </a:r>
            <a:endParaRPr lang="en-US" b="1" dirty="0">
              <a:solidFill>
                <a:schemeClr val="tx1"/>
              </a:solidFill>
              <a:latin typeface="Arial" panose="020B0604020202020204" pitchFamily="34" charset="0"/>
              <a:cs typeface="Arial" panose="020B0604020202020204" pitchFamily="34" charset="0"/>
            </a:endParaRPr>
          </a:p>
        </p:txBody>
      </p:sp>
      <p:sp>
        <p:nvSpPr>
          <p:cNvPr id="35" name="Rectangle 34"/>
          <p:cNvSpPr/>
          <p:nvPr/>
        </p:nvSpPr>
        <p:spPr>
          <a:xfrm>
            <a:off x="14744388" y="2558556"/>
            <a:ext cx="2819399" cy="625857"/>
          </a:xfrm>
          <a:prstGeom prst="rect">
            <a:avLst/>
          </a:prstGeom>
          <a:solidFill>
            <a:srgbClr val="00B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err="1">
                <a:solidFill>
                  <a:schemeClr val="tx1"/>
                </a:solidFill>
                <a:latin typeface="Arial" panose="020B0604020202020204" pitchFamily="34" charset="0"/>
                <a:cs typeface="Arial" panose="020B0604020202020204" pitchFamily="34" charset="0"/>
              </a:rPr>
              <a:t>Cấp</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độ</a:t>
            </a:r>
            <a:r>
              <a:rPr lang="en-US" b="1" dirty="0">
                <a:solidFill>
                  <a:schemeClr val="tx1"/>
                </a:solidFill>
                <a:latin typeface="Arial" panose="020B0604020202020204" pitchFamily="34" charset="0"/>
                <a:cs typeface="Arial" panose="020B0604020202020204" pitchFamily="34" charset="0"/>
              </a:rPr>
              <a:t> 5 – </a:t>
            </a:r>
            <a:r>
              <a:rPr lang="en-US" b="1" dirty="0" err="1">
                <a:solidFill>
                  <a:schemeClr val="tx1"/>
                </a:solidFill>
                <a:latin typeface="Arial" panose="020B0604020202020204" pitchFamily="34" charset="0"/>
                <a:cs typeface="Arial" panose="020B0604020202020204" pitchFamily="34" charset="0"/>
              </a:rPr>
              <a:t>Dẫn</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đầu</a:t>
            </a:r>
            <a:endParaRPr lang="en-US" b="1" dirty="0">
              <a:solidFill>
                <a:schemeClr val="tx1"/>
              </a:solidFill>
              <a:latin typeface="Arial" panose="020B0604020202020204" pitchFamily="34" charset="0"/>
              <a:cs typeface="Arial" panose="020B0604020202020204" pitchFamily="34" charset="0"/>
            </a:endParaRPr>
          </a:p>
        </p:txBody>
      </p:sp>
      <p:cxnSp>
        <p:nvCxnSpPr>
          <p:cNvPr id="10" name="Straight Arrow Connector 9"/>
          <p:cNvCxnSpPr/>
          <p:nvPr/>
        </p:nvCxnSpPr>
        <p:spPr>
          <a:xfrm flipV="1">
            <a:off x="1447800" y="1951384"/>
            <a:ext cx="15925800" cy="2401512"/>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pic>
        <p:nvPicPr>
          <p:cNvPr id="15" name="Picture 14"/>
          <p:cNvPicPr>
            <a:picLocks noChangeAspect="1"/>
          </p:cNvPicPr>
          <p:nvPr/>
        </p:nvPicPr>
        <p:blipFill>
          <a:blip r:embed="rId4"/>
          <a:stretch>
            <a:fillRect/>
          </a:stretch>
        </p:blipFill>
        <p:spPr>
          <a:xfrm>
            <a:off x="11279292" y="1973289"/>
            <a:ext cx="1127119" cy="367102"/>
          </a:xfrm>
          <a:prstGeom prst="rect">
            <a:avLst/>
          </a:prstGeom>
        </p:spPr>
      </p:pic>
      <p:pic>
        <p:nvPicPr>
          <p:cNvPr id="37" name="Picture 36"/>
          <p:cNvPicPr>
            <a:picLocks noChangeAspect="1"/>
          </p:cNvPicPr>
          <p:nvPr/>
        </p:nvPicPr>
        <p:blipFill>
          <a:blip r:embed="rId5"/>
          <a:stretch>
            <a:fillRect/>
          </a:stretch>
        </p:blipFill>
        <p:spPr>
          <a:xfrm>
            <a:off x="11875195" y="1187249"/>
            <a:ext cx="1707608" cy="652312"/>
          </a:xfrm>
          <a:prstGeom prst="rect">
            <a:avLst/>
          </a:prstGeom>
        </p:spPr>
      </p:pic>
      <p:pic>
        <p:nvPicPr>
          <p:cNvPr id="39" name="Picture 38"/>
          <p:cNvPicPr>
            <a:picLocks noChangeAspect="1"/>
          </p:cNvPicPr>
          <p:nvPr/>
        </p:nvPicPr>
        <p:blipFill>
          <a:blip r:embed="rId6"/>
          <a:stretch>
            <a:fillRect/>
          </a:stretch>
        </p:blipFill>
        <p:spPr>
          <a:xfrm>
            <a:off x="15208042" y="703078"/>
            <a:ext cx="2057400" cy="442341"/>
          </a:xfrm>
          <a:prstGeom prst="rect">
            <a:avLst/>
          </a:prstGeom>
        </p:spPr>
      </p:pic>
      <p:sp>
        <p:nvSpPr>
          <p:cNvPr id="40" name="Right Arrow 39"/>
          <p:cNvSpPr/>
          <p:nvPr/>
        </p:nvSpPr>
        <p:spPr>
          <a:xfrm>
            <a:off x="163696" y="9299731"/>
            <a:ext cx="772611" cy="709589"/>
          </a:xfrm>
          <a:prstGeom prst="rightArrow">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41" name="AutoShape 8" descr="Tập tin:Allianz.svg – Wikipedia tiếng Việ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endParaRPr>
          </a:p>
        </p:txBody>
      </p:sp>
      <p:pic>
        <p:nvPicPr>
          <p:cNvPr id="43" name="Picture 42"/>
          <p:cNvPicPr>
            <a:picLocks noChangeAspect="1"/>
          </p:cNvPicPr>
          <p:nvPr/>
        </p:nvPicPr>
        <p:blipFill>
          <a:blip r:embed="rId7"/>
          <a:stretch>
            <a:fillRect/>
          </a:stretch>
        </p:blipFill>
        <p:spPr>
          <a:xfrm>
            <a:off x="14262897" y="1285483"/>
            <a:ext cx="1838325" cy="455845"/>
          </a:xfrm>
          <a:prstGeom prst="rect">
            <a:avLst/>
          </a:prstGeom>
        </p:spPr>
      </p:pic>
      <p:pic>
        <p:nvPicPr>
          <p:cNvPr id="45" name="Picture 44"/>
          <p:cNvPicPr>
            <a:picLocks noChangeAspect="1"/>
          </p:cNvPicPr>
          <p:nvPr/>
        </p:nvPicPr>
        <p:blipFill>
          <a:blip r:embed="rId8"/>
          <a:stretch>
            <a:fillRect/>
          </a:stretch>
        </p:blipFill>
        <p:spPr>
          <a:xfrm>
            <a:off x="16484316" y="1029276"/>
            <a:ext cx="1575083" cy="883583"/>
          </a:xfrm>
          <a:prstGeom prst="rect">
            <a:avLst/>
          </a:prstGeom>
        </p:spPr>
      </p:pic>
      <p:pic>
        <p:nvPicPr>
          <p:cNvPr id="47" name="Picture 46"/>
          <p:cNvPicPr>
            <a:picLocks noChangeAspect="1"/>
          </p:cNvPicPr>
          <p:nvPr/>
        </p:nvPicPr>
        <p:blipFill>
          <a:blip r:embed="rId9"/>
          <a:stretch>
            <a:fillRect/>
          </a:stretch>
        </p:blipFill>
        <p:spPr>
          <a:xfrm>
            <a:off x="12728999" y="1811009"/>
            <a:ext cx="1387481" cy="473774"/>
          </a:xfrm>
          <a:prstGeom prst="rect">
            <a:avLst/>
          </a:prstGeom>
        </p:spPr>
      </p:pic>
      <p:pic>
        <p:nvPicPr>
          <p:cNvPr id="3" name="Picture 2"/>
          <p:cNvPicPr>
            <a:picLocks noChangeAspect="1"/>
          </p:cNvPicPr>
          <p:nvPr/>
        </p:nvPicPr>
        <p:blipFill>
          <a:blip r:embed="rId10"/>
          <a:stretch>
            <a:fillRect/>
          </a:stretch>
        </p:blipFill>
        <p:spPr>
          <a:xfrm>
            <a:off x="5510838" y="2565463"/>
            <a:ext cx="969131" cy="922389"/>
          </a:xfrm>
          <a:prstGeom prst="rect">
            <a:avLst/>
          </a:prstGeom>
        </p:spPr>
      </p:pic>
      <p:pic>
        <p:nvPicPr>
          <p:cNvPr id="5" name="Picture 4"/>
          <p:cNvPicPr>
            <a:picLocks noChangeAspect="1"/>
          </p:cNvPicPr>
          <p:nvPr/>
        </p:nvPicPr>
        <p:blipFill>
          <a:blip r:embed="rId11"/>
          <a:stretch>
            <a:fillRect/>
          </a:stretch>
        </p:blipFill>
        <p:spPr>
          <a:xfrm>
            <a:off x="4481529" y="2834178"/>
            <a:ext cx="883634" cy="883634"/>
          </a:xfrm>
          <a:prstGeom prst="rect">
            <a:avLst/>
          </a:prstGeom>
        </p:spPr>
      </p:pic>
    </p:spTree>
    <p:extLst>
      <p:ext uri="{BB962C8B-B14F-4D97-AF65-F5344CB8AC3E}">
        <p14:creationId xmlns:p14="http://schemas.microsoft.com/office/powerpoint/2010/main" val="2431850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6" name="Freeform 7">
            <a:extLst>
              <a:ext uri="{FF2B5EF4-FFF2-40B4-BE49-F238E27FC236}">
                <a16:creationId xmlns:a16="http://schemas.microsoft.com/office/drawing/2014/main" id="{B4295E3C-0AD0-CB95-7E2C-D747966DBBE3}"/>
              </a:ext>
            </a:extLst>
          </p:cNvPr>
          <p:cNvSpPr/>
          <p:nvPr/>
        </p:nvSpPr>
        <p:spPr bwMode="auto">
          <a:xfrm>
            <a:off x="-291295" y="6743700"/>
            <a:ext cx="6200384" cy="4114800"/>
          </a:xfrm>
          <a:custGeom>
            <a:avLst/>
            <a:gdLst/>
            <a:ahLst/>
            <a:cxnLst/>
            <a:rect l="l" t="t" r="r" b="b"/>
            <a:pathLst>
              <a:path w="6200384" h="4114800" extrusionOk="0">
                <a:moveTo>
                  <a:pt x="0" y="0"/>
                </a:moveTo>
                <a:lnTo>
                  <a:pt x="6200384" y="0"/>
                </a:lnTo>
                <a:lnTo>
                  <a:pt x="6200384" y="4114800"/>
                </a:lnTo>
                <a:lnTo>
                  <a:pt x="0" y="4114800"/>
                </a:lnTo>
                <a:lnTo>
                  <a:pt x="0" y="0"/>
                </a:lnTo>
                <a:close/>
              </a:path>
            </a:pathLst>
          </a:custGeom>
          <a:blipFill rotWithShape="1">
            <a:blip r:embed="rId3"/>
            <a:stretch/>
          </a:blipFill>
        </p:spPr>
        <p:txBody>
          <a:bodyPr/>
          <a:lstStyle/>
          <a:p>
            <a:endParaRPr lang="en-US" dirty="0"/>
          </a:p>
        </p:txBody>
      </p:sp>
      <p:sp>
        <p:nvSpPr>
          <p:cNvPr id="18" name="Shape 15">
            <a:extLst>
              <a:ext uri="{FF2B5EF4-FFF2-40B4-BE49-F238E27FC236}">
                <a16:creationId xmlns:a16="http://schemas.microsoft.com/office/drawing/2014/main" id="{46D023CA-F549-2D16-DD64-C88BC5F3AB16}"/>
              </a:ext>
            </a:extLst>
          </p:cNvPr>
          <p:cNvSpPr/>
          <p:nvPr/>
        </p:nvSpPr>
        <p:spPr>
          <a:xfrm>
            <a:off x="961707" y="7343680"/>
            <a:ext cx="16184880" cy="1533620"/>
          </a:xfrm>
          <a:prstGeom prst="roundRect">
            <a:avLst>
              <a:gd name="adj" fmla="val 6897"/>
            </a:avLst>
          </a:prstGeom>
          <a:solidFill>
            <a:srgbClr val="F4F7FB"/>
          </a:solidFill>
          <a:ln w="28575">
            <a:solidFill>
              <a:srgbClr val="E1E7F0"/>
            </a:solidFill>
            <a:prstDash val="solid"/>
          </a:ln>
        </p:spPr>
        <p:txBody>
          <a:bodyPr/>
          <a:lstStyle/>
          <a:p>
            <a:endParaRPr lang="en-US" sz="2000">
              <a:latin typeface="Arial" panose="020B0604020202020204" pitchFamily="34" charset="0"/>
              <a:cs typeface="Arial" panose="020B0604020202020204" pitchFamily="34" charset="0"/>
            </a:endParaRPr>
          </a:p>
        </p:txBody>
      </p:sp>
      <p:sp>
        <p:nvSpPr>
          <p:cNvPr id="25" name="Arrow: Pentagon 24">
            <a:extLst>
              <a:ext uri="{FF2B5EF4-FFF2-40B4-BE49-F238E27FC236}">
                <a16:creationId xmlns:a16="http://schemas.microsoft.com/office/drawing/2014/main" id="{5FFA8E33-428D-59DA-26BB-26223ED813EB}"/>
              </a:ext>
            </a:extLst>
          </p:cNvPr>
          <p:cNvSpPr/>
          <p:nvPr/>
        </p:nvSpPr>
        <p:spPr bwMode="auto">
          <a:xfrm>
            <a:off x="961707" y="7343680"/>
            <a:ext cx="5486400" cy="1533620"/>
          </a:xfrm>
          <a:prstGeom prst="homePlate">
            <a:avLst/>
          </a:prstGeom>
          <a:solidFill>
            <a:schemeClr val="accent6">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4" name="Shape 11">
            <a:extLst>
              <a:ext uri="{FF2B5EF4-FFF2-40B4-BE49-F238E27FC236}">
                <a16:creationId xmlns:a16="http://schemas.microsoft.com/office/drawing/2014/main" id="{218AD599-C2B7-6B75-1A26-ACDB50F88360}"/>
              </a:ext>
            </a:extLst>
          </p:cNvPr>
          <p:cNvSpPr/>
          <p:nvPr/>
        </p:nvSpPr>
        <p:spPr>
          <a:xfrm>
            <a:off x="961707" y="5564275"/>
            <a:ext cx="16184880" cy="1434830"/>
          </a:xfrm>
          <a:prstGeom prst="roundRect">
            <a:avLst>
              <a:gd name="adj" fmla="val 6897"/>
            </a:avLst>
          </a:prstGeom>
          <a:solidFill>
            <a:srgbClr val="FFFFFF"/>
          </a:solidFill>
          <a:ln w="28575">
            <a:solidFill>
              <a:srgbClr val="E1E7F0"/>
            </a:solidFill>
            <a:prstDash val="solid"/>
          </a:ln>
        </p:spPr>
        <p:txBody>
          <a:bodyPr/>
          <a:lstStyle/>
          <a:p>
            <a:endParaRPr lang="en-US" sz="2000">
              <a:latin typeface="Arial" panose="020B0604020202020204" pitchFamily="34" charset="0"/>
              <a:cs typeface="Arial" panose="020B0604020202020204" pitchFamily="34" charset="0"/>
            </a:endParaRPr>
          </a:p>
        </p:txBody>
      </p:sp>
      <p:sp>
        <p:nvSpPr>
          <p:cNvPr id="24" name="Arrow: Pentagon 23">
            <a:extLst>
              <a:ext uri="{FF2B5EF4-FFF2-40B4-BE49-F238E27FC236}">
                <a16:creationId xmlns:a16="http://schemas.microsoft.com/office/drawing/2014/main" id="{7948195B-7371-8F32-D93B-0386D604F500}"/>
              </a:ext>
            </a:extLst>
          </p:cNvPr>
          <p:cNvSpPr/>
          <p:nvPr/>
        </p:nvSpPr>
        <p:spPr bwMode="auto">
          <a:xfrm>
            <a:off x="961707" y="5550440"/>
            <a:ext cx="5486400" cy="1434830"/>
          </a:xfrm>
          <a:prstGeom prst="homePlate">
            <a:avLst/>
          </a:prstGeom>
          <a:solidFill>
            <a:schemeClr val="accent3">
              <a:lumMod val="75000"/>
            </a:schemeClr>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10" name="Shape 7">
            <a:extLst>
              <a:ext uri="{FF2B5EF4-FFF2-40B4-BE49-F238E27FC236}">
                <a16:creationId xmlns:a16="http://schemas.microsoft.com/office/drawing/2014/main" id="{7CE7CBA0-F842-6A75-B492-4A2ED04812D8}"/>
              </a:ext>
            </a:extLst>
          </p:cNvPr>
          <p:cNvSpPr/>
          <p:nvPr/>
        </p:nvSpPr>
        <p:spPr>
          <a:xfrm>
            <a:off x="961707" y="1879870"/>
            <a:ext cx="16184880" cy="1434830"/>
          </a:xfrm>
          <a:prstGeom prst="roundRect">
            <a:avLst>
              <a:gd name="adj" fmla="val 6897"/>
            </a:avLst>
          </a:prstGeom>
          <a:solidFill>
            <a:srgbClr val="F4F7FB"/>
          </a:solidFill>
          <a:ln w="28575">
            <a:solidFill>
              <a:srgbClr val="E1E7F0"/>
            </a:solidFill>
            <a:prstDash val="solid"/>
          </a:ln>
        </p:spPr>
        <p:txBody>
          <a:bodyPr/>
          <a:lstStyle/>
          <a:p>
            <a:endParaRPr lang="en-US" sz="2000">
              <a:latin typeface="Arial" panose="020B0604020202020204" pitchFamily="34" charset="0"/>
              <a:cs typeface="Arial" panose="020B0604020202020204" pitchFamily="34" charset="0"/>
            </a:endParaRPr>
          </a:p>
        </p:txBody>
      </p:sp>
      <p:sp>
        <p:nvSpPr>
          <p:cNvPr id="23" name="Arrow: Pentagon 22">
            <a:extLst>
              <a:ext uri="{FF2B5EF4-FFF2-40B4-BE49-F238E27FC236}">
                <a16:creationId xmlns:a16="http://schemas.microsoft.com/office/drawing/2014/main" id="{D6F05C9C-65B1-3AF6-8669-1093837CF7A2}"/>
              </a:ext>
            </a:extLst>
          </p:cNvPr>
          <p:cNvSpPr/>
          <p:nvPr/>
        </p:nvSpPr>
        <p:spPr bwMode="auto">
          <a:xfrm>
            <a:off x="961707" y="1869979"/>
            <a:ext cx="5486400" cy="1434830"/>
          </a:xfrm>
          <a:prstGeom prst="homePlate">
            <a:avLst/>
          </a:prstGeom>
          <a:solidFill>
            <a:schemeClr val="accent1"/>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sp>
        <p:nvSpPr>
          <p:cNvPr id="6" name="Shape 3">
            <a:extLst>
              <a:ext uri="{FF2B5EF4-FFF2-40B4-BE49-F238E27FC236}">
                <a16:creationId xmlns:a16="http://schemas.microsoft.com/office/drawing/2014/main" id="{9A19C241-4C6D-DE66-8B92-01F62F8A6465}"/>
              </a:ext>
            </a:extLst>
          </p:cNvPr>
          <p:cNvSpPr/>
          <p:nvPr/>
        </p:nvSpPr>
        <p:spPr>
          <a:xfrm>
            <a:off x="961707" y="3695700"/>
            <a:ext cx="16184880" cy="1524000"/>
          </a:xfrm>
          <a:prstGeom prst="roundRect">
            <a:avLst>
              <a:gd name="adj" fmla="val 6897"/>
            </a:avLst>
          </a:prstGeom>
          <a:solidFill>
            <a:srgbClr val="FFFFFF"/>
          </a:solidFill>
          <a:ln w="28575">
            <a:solidFill>
              <a:srgbClr val="E1E7F0"/>
            </a:solidFill>
            <a:prstDash val="solid"/>
          </a:ln>
        </p:spPr>
        <p:txBody>
          <a:bodyPr/>
          <a:lstStyle/>
          <a:p>
            <a:endParaRPr lang="en-US" sz="2000">
              <a:latin typeface="Arial" panose="020B0604020202020204" pitchFamily="34" charset="0"/>
              <a:cs typeface="Arial" panose="020B0604020202020204" pitchFamily="34" charset="0"/>
            </a:endParaRPr>
          </a:p>
        </p:txBody>
      </p:sp>
      <p:sp>
        <p:nvSpPr>
          <p:cNvPr id="22" name="Arrow: Pentagon 21">
            <a:extLst>
              <a:ext uri="{FF2B5EF4-FFF2-40B4-BE49-F238E27FC236}">
                <a16:creationId xmlns:a16="http://schemas.microsoft.com/office/drawing/2014/main" id="{BF0ADD0F-0A59-2927-71F3-800B44A86CDB}"/>
              </a:ext>
            </a:extLst>
          </p:cNvPr>
          <p:cNvSpPr/>
          <p:nvPr/>
        </p:nvSpPr>
        <p:spPr>
          <a:xfrm>
            <a:off x="961707" y="3695700"/>
            <a:ext cx="5486400" cy="1524000"/>
          </a:xfrm>
          <a:prstGeom prst="homePlate">
            <a:avLst/>
          </a:prstGeom>
          <a:solidFill>
            <a:srgbClr val="C0000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en-US"/>
          </a:p>
        </p:txBody>
      </p:sp>
      <p:grpSp>
        <p:nvGrpSpPr>
          <p:cNvPr id="2" name="Group 2">
            <a:extLst>
              <a:ext uri="{FF2B5EF4-FFF2-40B4-BE49-F238E27FC236}">
                <a16:creationId xmlns:a16="http://schemas.microsoft.com/office/drawing/2014/main" id="{4C60BC78-8B40-CC08-23BD-3D074B3049B1}"/>
              </a:ext>
            </a:extLst>
          </p:cNvPr>
          <p:cNvGrpSpPr/>
          <p:nvPr/>
        </p:nvGrpSpPr>
        <p:grpSpPr>
          <a:xfrm>
            <a:off x="0" y="114298"/>
            <a:ext cx="10287000" cy="1155971"/>
            <a:chOff x="0" y="-2"/>
            <a:chExt cx="19479172" cy="1664815"/>
          </a:xfrm>
          <a:solidFill>
            <a:schemeClr val="bg1">
              <a:lumMod val="95000"/>
            </a:schemeClr>
          </a:solidFill>
        </p:grpSpPr>
        <p:sp>
          <p:nvSpPr>
            <p:cNvPr id="3" name="Freeform 3">
              <a:extLst>
                <a:ext uri="{FF2B5EF4-FFF2-40B4-BE49-F238E27FC236}">
                  <a16:creationId xmlns:a16="http://schemas.microsoft.com/office/drawing/2014/main" id="{9288FF18-8E49-E199-93FD-2CFA34CE4A2B}"/>
                </a:ext>
              </a:extLst>
            </p:cNvPr>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2.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Mục</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tiêu</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bối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cảnh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và</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phạm</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vi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án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Mục</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tiêu</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của</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án</a:t>
              </a:r>
              <a:endParaRPr lang="en-US" sz="2400" b="1" i="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4" name="Group 4">
            <a:extLst>
              <a:ext uri="{FF2B5EF4-FFF2-40B4-BE49-F238E27FC236}">
                <a16:creationId xmlns:a16="http://schemas.microsoft.com/office/drawing/2014/main" id="{909589FC-8B73-6C39-7638-FC57195FA67D}"/>
              </a:ext>
            </a:extLst>
          </p:cNvPr>
          <p:cNvGrpSpPr/>
          <p:nvPr/>
        </p:nvGrpSpPr>
        <p:grpSpPr>
          <a:xfrm>
            <a:off x="0" y="114299"/>
            <a:ext cx="936307" cy="1097280"/>
            <a:chOff x="0" y="0"/>
            <a:chExt cx="1248410" cy="1554290"/>
          </a:xfrm>
        </p:grpSpPr>
        <p:sp>
          <p:nvSpPr>
            <p:cNvPr id="5" name="Freeform 5">
              <a:extLst>
                <a:ext uri="{FF2B5EF4-FFF2-40B4-BE49-F238E27FC236}">
                  <a16:creationId xmlns:a16="http://schemas.microsoft.com/office/drawing/2014/main" id="{26E3F72A-DE76-9A7A-E8BD-98811D71C074}"/>
                </a:ext>
              </a:extLst>
            </p:cNvPr>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8" name="Text 5">
            <a:extLst>
              <a:ext uri="{FF2B5EF4-FFF2-40B4-BE49-F238E27FC236}">
                <a16:creationId xmlns:a16="http://schemas.microsoft.com/office/drawing/2014/main" id="{1B6D4817-6E8A-EA72-34E6-56178408D4F1}"/>
              </a:ext>
            </a:extLst>
          </p:cNvPr>
          <p:cNvSpPr/>
          <p:nvPr/>
        </p:nvSpPr>
        <p:spPr>
          <a:xfrm>
            <a:off x="1418907" y="3771900"/>
            <a:ext cx="4143693" cy="1325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300" b="1" dirty="0">
                <a:solidFill>
                  <a:schemeClr val="bg1"/>
                </a:solidFill>
                <a:latin typeface="Arial" panose="020B0604020202020204" pitchFamily="34" charset="0"/>
                <a:ea typeface="Calibri" pitchFamily="34" charset="-122"/>
                <a:cs typeface="Arial" panose="020B0604020202020204" pitchFamily="34" charset="0"/>
              </a:rPr>
              <a:t>QUẢN TRỊ CHỦ ĐỘNG &amp; CẢNH BÁO SỚM</a:t>
            </a:r>
            <a:endParaRPr lang="en-US" sz="2300" dirty="0">
              <a:solidFill>
                <a:schemeClr val="bg1"/>
              </a:solidFill>
              <a:latin typeface="Arial" panose="020B0604020202020204" pitchFamily="34" charset="0"/>
              <a:cs typeface="Arial" panose="020B0604020202020204" pitchFamily="34" charset="0"/>
            </a:endParaRPr>
          </a:p>
        </p:txBody>
      </p:sp>
      <p:sp>
        <p:nvSpPr>
          <p:cNvPr id="9" name="Text 6">
            <a:extLst>
              <a:ext uri="{FF2B5EF4-FFF2-40B4-BE49-F238E27FC236}">
                <a16:creationId xmlns:a16="http://schemas.microsoft.com/office/drawing/2014/main" id="{9370DE91-32B2-A239-4F23-30CCE1A881FE}"/>
              </a:ext>
            </a:extLst>
          </p:cNvPr>
          <p:cNvSpPr/>
          <p:nvPr/>
        </p:nvSpPr>
        <p:spPr>
          <a:xfrm>
            <a:off x="6676707" y="3751040"/>
            <a:ext cx="9934893" cy="1325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0000"/>
              </a:lnSpc>
              <a:buNone/>
            </a:pPr>
            <a:r>
              <a:rPr lang="en-US" sz="2200" i="1" dirty="0">
                <a:latin typeface="Arial" panose="020B0604020202020204" pitchFamily="34" charset="0"/>
                <a:ea typeface="Calibri" pitchFamily="34" charset="-122"/>
                <a:cs typeface="Arial" panose="020B0604020202020204" pitchFamily="34" charset="0"/>
              </a:rPr>
              <a:t>Chuyển công tác QTRR từ bị động (theo sự vụ) sang </a:t>
            </a:r>
            <a:r>
              <a:rPr lang="en-US" sz="2200" b="1" i="1" dirty="0">
                <a:latin typeface="Arial" panose="020B0604020202020204" pitchFamily="34" charset="0"/>
                <a:ea typeface="Calibri" pitchFamily="34" charset="-122"/>
                <a:cs typeface="Arial" panose="020B0604020202020204" pitchFamily="34" charset="0"/>
              </a:rPr>
              <a:t>chủ động, cảnh báo sớm </a:t>
            </a:r>
            <a:r>
              <a:rPr lang="en-US" sz="2200" i="1" dirty="0">
                <a:latin typeface="Arial" panose="020B0604020202020204" pitchFamily="34" charset="0"/>
                <a:ea typeface="Calibri" pitchFamily="34" charset="-122"/>
                <a:cs typeface="Arial" panose="020B0604020202020204" pitchFamily="34" charset="0"/>
              </a:rPr>
              <a:t>bằng bộ KRI và dashboard.</a:t>
            </a:r>
            <a:endParaRPr lang="en-US" sz="2200" i="1" dirty="0">
              <a:latin typeface="Arial" panose="020B0604020202020204" pitchFamily="34" charset="0"/>
              <a:cs typeface="Arial" panose="020B0604020202020204" pitchFamily="34" charset="0"/>
            </a:endParaRPr>
          </a:p>
        </p:txBody>
      </p:sp>
      <p:sp>
        <p:nvSpPr>
          <p:cNvPr id="12" name="Text 9">
            <a:extLst>
              <a:ext uri="{FF2B5EF4-FFF2-40B4-BE49-F238E27FC236}">
                <a16:creationId xmlns:a16="http://schemas.microsoft.com/office/drawing/2014/main" id="{0C65B7BC-3D73-8857-EAFC-37A4D7FEEF24}"/>
              </a:ext>
            </a:extLst>
          </p:cNvPr>
          <p:cNvSpPr/>
          <p:nvPr/>
        </p:nvSpPr>
        <p:spPr>
          <a:xfrm>
            <a:off x="1418907" y="1956070"/>
            <a:ext cx="4282440" cy="1325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300" b="1" dirty="0">
                <a:solidFill>
                  <a:schemeClr val="bg1"/>
                </a:solidFill>
                <a:latin typeface="Arial" panose="020B0604020202020204" pitchFamily="34" charset="0"/>
                <a:ea typeface="Calibri" pitchFamily="34" charset="-122"/>
                <a:cs typeface="Arial" panose="020B0604020202020204" pitchFamily="34" charset="0"/>
              </a:rPr>
              <a:t>XÂY DỰNG MÔ HÌNH QTRR ĐÁP ỨNG THÔNG LỆ QUỐC TẾ</a:t>
            </a:r>
            <a:endParaRPr lang="en-US" sz="2300" dirty="0">
              <a:solidFill>
                <a:schemeClr val="bg1"/>
              </a:solidFill>
              <a:latin typeface="Arial" panose="020B0604020202020204" pitchFamily="34" charset="0"/>
              <a:cs typeface="Arial" panose="020B0604020202020204" pitchFamily="34" charset="0"/>
            </a:endParaRPr>
          </a:p>
        </p:txBody>
      </p:sp>
      <p:sp>
        <p:nvSpPr>
          <p:cNvPr id="13" name="Text 10">
            <a:extLst>
              <a:ext uri="{FF2B5EF4-FFF2-40B4-BE49-F238E27FC236}">
                <a16:creationId xmlns:a16="http://schemas.microsoft.com/office/drawing/2014/main" id="{FD75A7D5-3F14-B36B-065E-1D22F148F47A}"/>
              </a:ext>
            </a:extLst>
          </p:cNvPr>
          <p:cNvSpPr/>
          <p:nvPr/>
        </p:nvSpPr>
        <p:spPr>
          <a:xfrm>
            <a:off x="6676707" y="1935210"/>
            <a:ext cx="9934893" cy="1325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0000"/>
              </a:lnSpc>
              <a:buNone/>
            </a:pPr>
            <a:r>
              <a:rPr lang="en-US" sz="2200" i="1" dirty="0">
                <a:latin typeface="Arial" panose="020B0604020202020204" pitchFamily="34" charset="0"/>
                <a:ea typeface="Calibri" pitchFamily="34" charset="-122"/>
                <a:cs typeface="Arial" panose="020B0604020202020204" pitchFamily="34" charset="0"/>
              </a:rPr>
              <a:t>Xây dựng KVRR, thước đo, thư viện rủi ro, </a:t>
            </a:r>
            <a:r>
              <a:rPr lang="en-US" sz="2200" i="1" dirty="0" err="1">
                <a:latin typeface="Arial" panose="020B0604020202020204" pitchFamily="34" charset="0"/>
                <a:ea typeface="Calibri" pitchFamily="34" charset="-122"/>
                <a:cs typeface="Arial" panose="020B0604020202020204" pitchFamily="34" charset="0"/>
              </a:rPr>
              <a:t>cơ</a:t>
            </a:r>
            <a:r>
              <a:rPr lang="en-US" sz="2200" i="1" dirty="0">
                <a:latin typeface="Arial" panose="020B0604020202020204" pitchFamily="34" charset="0"/>
                <a:ea typeface="Calibri" pitchFamily="34" charset="-122"/>
                <a:cs typeface="Arial" panose="020B0604020202020204" pitchFamily="34" charset="0"/>
              </a:rPr>
              <a:t> chế ghi nhận sự cố/tổn </a:t>
            </a:r>
            <a:r>
              <a:rPr lang="en-US" sz="2200" i="1" dirty="0" err="1">
                <a:latin typeface="Arial" panose="020B0604020202020204" pitchFamily="34" charset="0"/>
                <a:ea typeface="Calibri" pitchFamily="34" charset="-122"/>
                <a:cs typeface="Arial" panose="020B0604020202020204" pitchFamily="34" charset="0"/>
              </a:rPr>
              <a:t>thất</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chung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theo</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thông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lệ</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tốt</a:t>
            </a:r>
            <a:r>
              <a:rPr lang="en-US" sz="2200" i="1" dirty="0">
                <a:latin typeface="Arial" panose="020B0604020202020204" pitchFamily="34" charset="0"/>
                <a:ea typeface="Calibri" pitchFamily="34" charset="-122"/>
                <a:cs typeface="Arial" panose="020B0604020202020204" pitchFamily="34" charset="0"/>
              </a:rPr>
              <a:t>, nhất quán </a:t>
            </a:r>
            <a:r>
              <a:rPr lang="en-US" sz="2200" i="1" dirty="0" err="1">
                <a:latin typeface="Arial" panose="020B0604020202020204" pitchFamily="34" charset="0"/>
                <a:ea typeface="Calibri" pitchFamily="34" charset="-122"/>
                <a:cs typeface="Arial" panose="020B0604020202020204" pitchFamily="34" charset="0"/>
              </a:rPr>
              <a:t>toàn</a:t>
            </a:r>
            <a:r>
              <a:rPr lang="en-US" sz="2200" i="1" dirty="0">
                <a:latin typeface="Arial" panose="020B0604020202020204" pitchFamily="34" charset="0"/>
                <a:ea typeface="Calibri" pitchFamily="34" charset="-122"/>
                <a:cs typeface="Arial" panose="020B0604020202020204" pitchFamily="34" charset="0"/>
              </a:rPr>
              <a:t> TCT, </a:t>
            </a:r>
            <a:r>
              <a:rPr lang="en-US" sz="2200" i="1" dirty="0" err="1">
                <a:latin typeface="Arial" panose="020B0604020202020204" pitchFamily="34" charset="0"/>
                <a:ea typeface="Calibri" pitchFamily="34" charset="-122"/>
                <a:cs typeface="Arial" panose="020B0604020202020204" pitchFamily="34" charset="0"/>
              </a:rPr>
              <a:t>hướng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tới</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việc</a:t>
            </a:r>
            <a:r>
              <a:rPr lang="en-US" sz="2200"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nâng</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mức</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độ</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trưởng</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thành</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về</a:t>
            </a:r>
            <a:r>
              <a:rPr lang="en-US" sz="2200" b="1" i="1" dirty="0">
                <a:latin typeface="Arial" panose="020B0604020202020204" pitchFamily="34" charset="0"/>
                <a:ea typeface="Calibri" pitchFamily="34" charset="-122"/>
                <a:cs typeface="Arial" panose="020B0604020202020204" pitchFamily="34" charset="0"/>
              </a:rPr>
              <a:t> QTRR </a:t>
            </a:r>
            <a:r>
              <a:rPr lang="en-US" sz="2200" b="1" i="1" dirty="0" err="1">
                <a:latin typeface="Arial" panose="020B0604020202020204" pitchFamily="34" charset="0"/>
                <a:ea typeface="Calibri" pitchFamily="34" charset="-122"/>
                <a:cs typeface="Arial" panose="020B0604020202020204" pitchFamily="34" charset="0"/>
              </a:rPr>
              <a:t>lên</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cấp</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độ</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cao</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Lvl</a:t>
            </a:r>
            <a:r>
              <a:rPr lang="en-US" sz="2200" i="1" dirty="0">
                <a:latin typeface="Arial" panose="020B0604020202020204" pitchFamily="34" charset="0"/>
                <a:ea typeface="Calibri" pitchFamily="34" charset="-122"/>
                <a:cs typeface="Arial" panose="020B0604020202020204" pitchFamily="34" charset="0"/>
              </a:rPr>
              <a:t> 4-5)</a:t>
            </a:r>
            <a:endParaRPr lang="en-US" sz="2200" i="1" dirty="0">
              <a:latin typeface="Arial" panose="020B0604020202020204" pitchFamily="34" charset="0"/>
              <a:cs typeface="Arial" panose="020B0604020202020204" pitchFamily="34" charset="0"/>
            </a:endParaRPr>
          </a:p>
        </p:txBody>
      </p:sp>
      <p:sp>
        <p:nvSpPr>
          <p:cNvPr id="16" name="Text 13">
            <a:extLst>
              <a:ext uri="{FF2B5EF4-FFF2-40B4-BE49-F238E27FC236}">
                <a16:creationId xmlns:a16="http://schemas.microsoft.com/office/drawing/2014/main" id="{593C163F-2EC5-B5AF-9108-8CF6EB4A61A7}"/>
              </a:ext>
            </a:extLst>
          </p:cNvPr>
          <p:cNvSpPr/>
          <p:nvPr/>
        </p:nvSpPr>
        <p:spPr>
          <a:xfrm>
            <a:off x="1418907" y="5640475"/>
            <a:ext cx="4282440" cy="1325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300" b="1" dirty="0">
                <a:solidFill>
                  <a:schemeClr val="bg1"/>
                </a:solidFill>
                <a:latin typeface="Arial" panose="020B0604020202020204" pitchFamily="34" charset="0"/>
                <a:ea typeface="Calibri" pitchFamily="34" charset="-122"/>
                <a:cs typeface="Arial" panose="020B0604020202020204" pitchFamily="34" charset="0"/>
              </a:rPr>
              <a:t>TỰ ĐỘNG HÓA CÔNG TÁC QTRR</a:t>
            </a:r>
            <a:endParaRPr lang="en-US" sz="2300" dirty="0">
              <a:solidFill>
                <a:schemeClr val="bg1"/>
              </a:solidFill>
              <a:latin typeface="Arial" panose="020B0604020202020204" pitchFamily="34" charset="0"/>
              <a:cs typeface="Arial" panose="020B0604020202020204" pitchFamily="34" charset="0"/>
            </a:endParaRPr>
          </a:p>
        </p:txBody>
      </p:sp>
      <p:sp>
        <p:nvSpPr>
          <p:cNvPr id="17" name="Text 14">
            <a:extLst>
              <a:ext uri="{FF2B5EF4-FFF2-40B4-BE49-F238E27FC236}">
                <a16:creationId xmlns:a16="http://schemas.microsoft.com/office/drawing/2014/main" id="{36B6EA50-841F-F679-5BBF-7C41F94D6B2B}"/>
              </a:ext>
            </a:extLst>
          </p:cNvPr>
          <p:cNvSpPr/>
          <p:nvPr/>
        </p:nvSpPr>
        <p:spPr>
          <a:xfrm>
            <a:off x="6676707" y="5619615"/>
            <a:ext cx="9934893" cy="1325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0000"/>
              </a:lnSpc>
              <a:buNone/>
            </a:pPr>
            <a:r>
              <a:rPr lang="en-US" sz="2200" i="1" dirty="0">
                <a:latin typeface="Arial" panose="020B0604020202020204" pitchFamily="34" charset="0"/>
                <a:ea typeface="Calibri" pitchFamily="34" charset="-122"/>
                <a:cs typeface="Arial" panose="020B0604020202020204" pitchFamily="34" charset="0"/>
              </a:rPr>
              <a:t>Xây </a:t>
            </a:r>
            <a:r>
              <a:rPr lang="en-US" sz="2200" i="1" dirty="0" err="1">
                <a:latin typeface="Arial" panose="020B0604020202020204" pitchFamily="34" charset="0"/>
                <a:ea typeface="Calibri" pitchFamily="34" charset="-122"/>
                <a:cs typeface="Arial" panose="020B0604020202020204" pitchFamily="34" charset="0"/>
              </a:rPr>
              <a:t>dựng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và</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ứng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dụng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công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cụ</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hệ</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thống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để</a:t>
            </a:r>
            <a:r>
              <a:rPr lang="en-US" sz="2200"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số</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hóa</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và</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tự</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động</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hóa</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các</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hoạt</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động</a:t>
            </a:r>
            <a:r>
              <a:rPr lang="en-US" sz="2200" b="1"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nhận</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diện</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đo</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lường</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theo</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dõi</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cảnh</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báo</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và</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báo</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cáo</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rủi</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ro</a:t>
            </a:r>
            <a:endParaRPr lang="en-US" sz="2200" i="1" dirty="0">
              <a:latin typeface="Arial" panose="020B0604020202020204" pitchFamily="34" charset="0"/>
              <a:cs typeface="Arial" panose="020B0604020202020204" pitchFamily="34" charset="0"/>
            </a:endParaRPr>
          </a:p>
        </p:txBody>
      </p:sp>
      <p:sp>
        <p:nvSpPr>
          <p:cNvPr id="20" name="Text 17">
            <a:extLst>
              <a:ext uri="{FF2B5EF4-FFF2-40B4-BE49-F238E27FC236}">
                <a16:creationId xmlns:a16="http://schemas.microsoft.com/office/drawing/2014/main" id="{A09BFF41-9FD2-612A-98CC-AC14241EA25F}"/>
              </a:ext>
            </a:extLst>
          </p:cNvPr>
          <p:cNvSpPr/>
          <p:nvPr/>
        </p:nvSpPr>
        <p:spPr>
          <a:xfrm>
            <a:off x="1418908" y="7419880"/>
            <a:ext cx="4282440" cy="1325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300" b="1" dirty="0">
                <a:solidFill>
                  <a:schemeClr val="bg1"/>
                </a:solidFill>
                <a:latin typeface="Arial" panose="020B0604020202020204" pitchFamily="34" charset="0"/>
                <a:ea typeface="Calibri" pitchFamily="34" charset="-122"/>
                <a:cs typeface="Arial" panose="020B0604020202020204" pitchFamily="34" charset="0"/>
              </a:rPr>
              <a:t>CỦNG CỐ VAI TRÒ CỦA CÁC TUYẾN THEO MÔ HÌNH QTRR 3 TUYẾN</a:t>
            </a:r>
            <a:endParaRPr lang="en-US" sz="2300" dirty="0">
              <a:solidFill>
                <a:schemeClr val="bg1"/>
              </a:solidFill>
              <a:latin typeface="Arial" panose="020B0604020202020204" pitchFamily="34" charset="0"/>
              <a:cs typeface="Arial" panose="020B0604020202020204" pitchFamily="34" charset="0"/>
            </a:endParaRPr>
          </a:p>
        </p:txBody>
      </p:sp>
      <p:sp>
        <p:nvSpPr>
          <p:cNvPr id="21" name="Text 18">
            <a:extLst>
              <a:ext uri="{FF2B5EF4-FFF2-40B4-BE49-F238E27FC236}">
                <a16:creationId xmlns:a16="http://schemas.microsoft.com/office/drawing/2014/main" id="{61F6392B-B907-46A4-A47D-3F85AE80CC9D}"/>
              </a:ext>
            </a:extLst>
          </p:cNvPr>
          <p:cNvSpPr/>
          <p:nvPr/>
        </p:nvSpPr>
        <p:spPr>
          <a:xfrm>
            <a:off x="6676707" y="7399020"/>
            <a:ext cx="10241280" cy="132588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ct val="110000"/>
              </a:lnSpc>
              <a:buNone/>
            </a:pPr>
            <a:r>
              <a:rPr lang="en-US" sz="2200" b="1" i="1" dirty="0" err="1">
                <a:latin typeface="Arial" panose="020B0604020202020204" pitchFamily="34" charset="0"/>
                <a:ea typeface="Calibri" pitchFamily="34" charset="-122"/>
                <a:cs typeface="Arial" panose="020B0604020202020204" pitchFamily="34" charset="0"/>
              </a:rPr>
              <a:t>Nâng</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cao</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sự</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chủ</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động</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trong</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công</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tác</a:t>
            </a:r>
            <a:r>
              <a:rPr lang="en-US" sz="2200" b="1" i="1" dirty="0">
                <a:latin typeface="Arial" panose="020B0604020202020204" pitchFamily="34" charset="0"/>
                <a:ea typeface="Calibri" pitchFamily="34" charset="-122"/>
                <a:cs typeface="Arial" panose="020B0604020202020204" pitchFamily="34" charset="0"/>
              </a:rPr>
              <a:t> QTRR </a:t>
            </a:r>
            <a:r>
              <a:rPr lang="en-US" sz="2200" i="1" dirty="0" err="1">
                <a:latin typeface="Arial" panose="020B0604020202020204" pitchFamily="34" charset="0"/>
                <a:ea typeface="Calibri" pitchFamily="34" charset="-122"/>
                <a:cs typeface="Arial" panose="020B0604020202020204" pitchFamily="34" charset="0"/>
              </a:rPr>
              <a:t>tại</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các</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đơn</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vị</a:t>
            </a:r>
            <a:r>
              <a:rPr lang="en-US" sz="2200" i="1" dirty="0">
                <a:latin typeface="Arial" panose="020B0604020202020204" pitchFamily="34" charset="0"/>
                <a:ea typeface="Calibri" pitchFamily="34" charset="-122"/>
                <a:cs typeface="Arial" panose="020B0604020202020204" pitchFamily="34" charset="0"/>
              </a:rPr>
              <a:t> Tuyến 1 </a:t>
            </a:r>
            <a:r>
              <a:rPr lang="en-US" sz="2200" i="1" dirty="0" err="1">
                <a:latin typeface="Arial" panose="020B0604020202020204" pitchFamily="34" charset="0"/>
                <a:ea typeface="Calibri" pitchFamily="34" charset="-122"/>
                <a:cs typeface="Arial" panose="020B0604020202020204" pitchFamily="34" charset="0"/>
              </a:rPr>
              <a:t>và</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vai</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trò</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giám</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sát</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rủi</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ro</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độc</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lập</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của</a:t>
            </a:r>
            <a:r>
              <a:rPr lang="en-US" sz="2200" i="1" dirty="0">
                <a:latin typeface="Arial" panose="020B0604020202020204" pitchFamily="34" charset="0"/>
                <a:ea typeface="Calibri" pitchFamily="34" charset="-122"/>
                <a:cs typeface="Arial" panose="020B0604020202020204" pitchFamily="34" charset="0"/>
              </a:rPr>
              <a:t> P.QTRR </a:t>
            </a:r>
            <a:r>
              <a:rPr lang="en-US" sz="2200" i="1" dirty="0" err="1">
                <a:latin typeface="Arial" panose="020B0604020202020204" pitchFamily="34" charset="0"/>
                <a:ea typeface="Calibri" pitchFamily="34" charset="-122"/>
                <a:cs typeface="Arial" panose="020B0604020202020204" pitchFamily="34" charset="0"/>
              </a:rPr>
              <a:t>tại</a:t>
            </a:r>
            <a:r>
              <a:rPr lang="en-US" sz="2200" i="1" dirty="0">
                <a:latin typeface="Arial" panose="020B0604020202020204" pitchFamily="34" charset="0"/>
                <a:ea typeface="Calibri" pitchFamily="34" charset="-122"/>
                <a:cs typeface="Arial" panose="020B0604020202020204" pitchFamily="34" charset="0"/>
              </a:rPr>
              <a:t> Tuyến 2, </a:t>
            </a:r>
            <a:r>
              <a:rPr lang="en-US" sz="2200" i="1" dirty="0" err="1">
                <a:latin typeface="Arial" panose="020B0604020202020204" pitchFamily="34" charset="0"/>
                <a:ea typeface="Calibri" pitchFamily="34" charset="-122"/>
                <a:cs typeface="Arial" panose="020B0604020202020204" pitchFamily="34" charset="0"/>
              </a:rPr>
              <a:t>đảm</a:t>
            </a:r>
            <a:r>
              <a:rPr lang="en-US" sz="2200" i="1" dirty="0">
                <a:latin typeface="Arial" panose="020B0604020202020204" pitchFamily="34" charset="0"/>
                <a:ea typeface="Calibri" pitchFamily="34" charset="-122"/>
                <a:cs typeface="Arial" panose="020B0604020202020204" pitchFamily="34" charset="0"/>
              </a:rPr>
              <a:t> </a:t>
            </a:r>
            <a:r>
              <a:rPr lang="en-US" sz="2200" i="1" dirty="0" err="1">
                <a:latin typeface="Arial" panose="020B0604020202020204" pitchFamily="34" charset="0"/>
                <a:ea typeface="Calibri" pitchFamily="34" charset="-122"/>
                <a:cs typeface="Arial" panose="020B0604020202020204" pitchFamily="34" charset="0"/>
              </a:rPr>
              <a:t>bảo</a:t>
            </a:r>
            <a:r>
              <a:rPr lang="en-US" sz="2200"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tính</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khách</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quan</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trong</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đánh</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giá</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và</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cơ</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chế</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kiểm</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soát</a:t>
            </a:r>
            <a:r>
              <a:rPr lang="en-US" sz="2200" b="1" i="1" dirty="0">
                <a:latin typeface="Arial" panose="020B0604020202020204" pitchFamily="34" charset="0"/>
                <a:ea typeface="Calibri" pitchFamily="34" charset="-122"/>
                <a:cs typeface="Arial" panose="020B0604020202020204" pitchFamily="34" charset="0"/>
              </a:rPr>
              <a:t> </a:t>
            </a:r>
            <a:r>
              <a:rPr lang="en-US" sz="2200" b="1" i="1" dirty="0" err="1">
                <a:latin typeface="Arial" panose="020B0604020202020204" pitchFamily="34" charset="0"/>
                <a:ea typeface="Calibri" pitchFamily="34" charset="-122"/>
                <a:cs typeface="Arial" panose="020B0604020202020204" pitchFamily="34" charset="0"/>
              </a:rPr>
              <a:t>chéo</a:t>
            </a:r>
            <a:endParaRPr lang="en-US" sz="2200" b="1" i="1"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664214" y="0"/>
            <a:ext cx="5658816" cy="2538160"/>
            <a:chOff x="0" y="0"/>
            <a:chExt cx="7545088" cy="3384214"/>
          </a:xfrm>
        </p:grpSpPr>
        <p:sp>
          <p:nvSpPr>
            <p:cNvPr id="4" name="Freeform 4"/>
            <p:cNvSpPr/>
            <p:nvPr/>
          </p:nvSpPr>
          <p:spPr>
            <a:xfrm>
              <a:off x="0" y="0"/>
              <a:ext cx="7545129" cy="3384228"/>
            </a:xfrm>
            <a:custGeom>
              <a:avLst/>
              <a:gdLst/>
              <a:ahLst/>
              <a:cxnLst/>
              <a:rect l="l" t="t" r="r" b="b"/>
              <a:pathLst>
                <a:path w="7545129" h="3384228">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EF233C"/>
            </a:solidFill>
          </p:spPr>
          <p:txBody>
            <a:bodyPr/>
            <a:lstStyle/>
            <a:p>
              <a:endParaRPr lang="en-US"/>
            </a:p>
          </p:txBody>
        </p:sp>
      </p:grpSp>
      <p:grpSp>
        <p:nvGrpSpPr>
          <p:cNvPr id="5" name="Group 5"/>
          <p:cNvGrpSpPr/>
          <p:nvPr/>
        </p:nvGrpSpPr>
        <p:grpSpPr>
          <a:xfrm>
            <a:off x="0" y="803518"/>
            <a:ext cx="8786678" cy="9483482"/>
            <a:chOff x="0" y="0"/>
            <a:chExt cx="11715570" cy="12644642"/>
          </a:xfrm>
        </p:grpSpPr>
        <p:sp>
          <p:nvSpPr>
            <p:cNvPr id="6" name="Freeform 6"/>
            <p:cNvSpPr/>
            <p:nvPr/>
          </p:nvSpPr>
          <p:spPr>
            <a:xfrm>
              <a:off x="0" y="-31"/>
              <a:ext cx="11715574" cy="12644660"/>
            </a:xfrm>
            <a:custGeom>
              <a:avLst/>
              <a:gdLst/>
              <a:ahLst/>
              <a:cxnLst/>
              <a:rect l="l" t="t" r="r" b="b"/>
              <a:pathLst>
                <a:path w="11715574" h="12644660">
                  <a:moveTo>
                    <a:pt x="2338324" y="1809"/>
                  </a:moveTo>
                  <a:cubicBezTo>
                    <a:pt x="3612515" y="-26766"/>
                    <a:pt x="4910328" y="282606"/>
                    <a:pt x="6094730" y="966374"/>
                  </a:cubicBezTo>
                  <a:lnTo>
                    <a:pt x="8112506" y="2131345"/>
                  </a:lnTo>
                  <a:cubicBezTo>
                    <a:pt x="11558016" y="4120546"/>
                    <a:pt x="12738481" y="8526303"/>
                    <a:pt x="10749280" y="11971813"/>
                  </a:cubicBezTo>
                  <a:cubicBezTo>
                    <a:pt x="10624947" y="12187206"/>
                    <a:pt x="10491216" y="12393707"/>
                    <a:pt x="10348849" y="12591066"/>
                  </a:cubicBezTo>
                  <a:lnTo>
                    <a:pt x="10305923" y="12644659"/>
                  </a:lnTo>
                  <a:lnTo>
                    <a:pt x="0" y="12644659"/>
                  </a:lnTo>
                  <a:lnTo>
                    <a:pt x="0" y="446817"/>
                  </a:lnTo>
                  <a:lnTo>
                    <a:pt x="296799" y="344074"/>
                  </a:lnTo>
                  <a:cubicBezTo>
                    <a:pt x="955421" y="133508"/>
                    <a:pt x="1643380" y="17430"/>
                    <a:pt x="2338324" y="1809"/>
                  </a:cubicBezTo>
                  <a:close/>
                </a:path>
              </a:pathLst>
            </a:custGeom>
            <a:blipFill>
              <a:blip r:embed="rId2"/>
              <a:stretch>
                <a:fillRect l="-25591" r="-36303"/>
              </a:stretch>
            </a:blipFill>
          </p:spPr>
          <p:txBody>
            <a:bodyPr/>
            <a:lstStyle/>
            <a:p>
              <a:endParaRPr lang="en-US"/>
            </a:p>
          </p:txBody>
        </p:sp>
      </p:grpSp>
      <p:grpSp>
        <p:nvGrpSpPr>
          <p:cNvPr id="7" name="Group 7"/>
          <p:cNvGrpSpPr/>
          <p:nvPr/>
        </p:nvGrpSpPr>
        <p:grpSpPr>
          <a:xfrm rot="1800000">
            <a:off x="5011489" y="1324627"/>
            <a:ext cx="2536481" cy="411363"/>
            <a:chOff x="0" y="0"/>
            <a:chExt cx="3381974" cy="548484"/>
          </a:xfrm>
        </p:grpSpPr>
        <p:sp>
          <p:nvSpPr>
            <p:cNvPr id="8" name="Freeform 8"/>
            <p:cNvSpPr/>
            <p:nvPr/>
          </p:nvSpPr>
          <p:spPr>
            <a:xfrm>
              <a:off x="0" y="0"/>
              <a:ext cx="3381883" cy="548386"/>
            </a:xfrm>
            <a:custGeom>
              <a:avLst/>
              <a:gdLst/>
              <a:ahLst/>
              <a:cxnLst/>
              <a:rect l="l" t="t" r="r" b="b"/>
              <a:pathLst>
                <a:path w="3381883" h="548386">
                  <a:moveTo>
                    <a:pt x="0" y="274193"/>
                  </a:moveTo>
                  <a:cubicBezTo>
                    <a:pt x="0" y="122809"/>
                    <a:pt x="122809" y="0"/>
                    <a:pt x="274193" y="0"/>
                  </a:cubicBezTo>
                  <a:lnTo>
                    <a:pt x="3107690" y="0"/>
                  </a:lnTo>
                  <a:cubicBezTo>
                    <a:pt x="3259201" y="0"/>
                    <a:pt x="3381883" y="122809"/>
                    <a:pt x="3381883" y="274193"/>
                  </a:cubicBezTo>
                  <a:cubicBezTo>
                    <a:pt x="3381883" y="425577"/>
                    <a:pt x="3259074" y="548386"/>
                    <a:pt x="3107690" y="548386"/>
                  </a:cubicBezTo>
                  <a:lnTo>
                    <a:pt x="274193" y="548386"/>
                  </a:lnTo>
                  <a:cubicBezTo>
                    <a:pt x="122809" y="548513"/>
                    <a:pt x="0" y="425704"/>
                    <a:pt x="0" y="274193"/>
                  </a:cubicBezTo>
                  <a:close/>
                </a:path>
              </a:pathLst>
            </a:custGeom>
            <a:solidFill>
              <a:srgbClr val="F2F2F2"/>
            </a:solidFill>
          </p:spPr>
          <p:txBody>
            <a:bodyPr/>
            <a:lstStyle/>
            <a:p>
              <a:endParaRPr lang="en-US"/>
            </a:p>
          </p:txBody>
        </p:sp>
      </p:grpSp>
      <p:grpSp>
        <p:nvGrpSpPr>
          <p:cNvPr id="9" name="Group 9"/>
          <p:cNvGrpSpPr/>
          <p:nvPr/>
        </p:nvGrpSpPr>
        <p:grpSpPr>
          <a:xfrm>
            <a:off x="5392881" y="8654158"/>
            <a:ext cx="3956217" cy="1632842"/>
            <a:chOff x="0" y="0"/>
            <a:chExt cx="5274956" cy="2177122"/>
          </a:xfrm>
        </p:grpSpPr>
        <p:sp>
          <p:nvSpPr>
            <p:cNvPr id="10" name="Freeform 10"/>
            <p:cNvSpPr/>
            <p:nvPr/>
          </p:nvSpPr>
          <p:spPr>
            <a:xfrm>
              <a:off x="3" y="27"/>
              <a:ext cx="5274942" cy="2177134"/>
            </a:xfrm>
            <a:custGeom>
              <a:avLst/>
              <a:gdLst/>
              <a:ahLst/>
              <a:cxnLst/>
              <a:rect l="l" t="t" r="r" b="b"/>
              <a:pathLst>
                <a:path w="5274942" h="2177134">
                  <a:moveTo>
                    <a:pt x="1268727" y="3402"/>
                  </a:moveTo>
                  <a:cubicBezTo>
                    <a:pt x="1530728" y="-15140"/>
                    <a:pt x="1800730" y="41756"/>
                    <a:pt x="2045332" y="182853"/>
                  </a:cubicBezTo>
                  <a:lnTo>
                    <a:pt x="4863335" y="1809850"/>
                  </a:lnTo>
                  <a:cubicBezTo>
                    <a:pt x="5026403" y="1903957"/>
                    <a:pt x="5162547" y="2026639"/>
                    <a:pt x="5269354" y="2167990"/>
                  </a:cubicBezTo>
                  <a:lnTo>
                    <a:pt x="5274942" y="2177134"/>
                  </a:lnTo>
                  <a:lnTo>
                    <a:pt x="270253" y="2177134"/>
                  </a:lnTo>
                  <a:lnTo>
                    <a:pt x="138173" y="1961615"/>
                  </a:lnTo>
                  <a:cubicBezTo>
                    <a:pt x="-53343" y="1568042"/>
                    <a:pt x="-52454" y="1089506"/>
                    <a:pt x="182877" y="681963"/>
                  </a:cubicBezTo>
                  <a:cubicBezTo>
                    <a:pt x="418208" y="274420"/>
                    <a:pt x="832101" y="34263"/>
                    <a:pt x="1268727" y="3402"/>
                  </a:cubicBezTo>
                  <a:close/>
                </a:path>
              </a:pathLst>
            </a:custGeom>
            <a:solidFill>
              <a:srgbClr val="EF233C"/>
            </a:solidFill>
          </p:spPr>
          <p:txBody>
            <a:bodyPr/>
            <a:lstStyle/>
            <a:p>
              <a:endParaRPr lang="en-US"/>
            </a:p>
          </p:txBody>
        </p:sp>
      </p:grpSp>
      <p:sp>
        <p:nvSpPr>
          <p:cNvPr id="11" name="Rectangle 10"/>
          <p:cNvSpPr/>
          <p:nvPr/>
        </p:nvSpPr>
        <p:spPr>
          <a:xfrm>
            <a:off x="11277600" y="5414236"/>
            <a:ext cx="6440509" cy="1200329"/>
          </a:xfrm>
          <a:prstGeom prst="rect">
            <a:avLst/>
          </a:prstGeom>
        </p:spPr>
        <p:txBody>
          <a:bodyPr wrap="square">
            <a:spAutoFit/>
          </a:bodyPr>
          <a:lstStyle/>
          <a:p>
            <a:pPr algn="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LỘ TRÌNH TRIỂN KHAI </a:t>
            </a:r>
          </a:p>
          <a:p>
            <a:pPr algn="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DỰ ÁN</a:t>
            </a:r>
          </a:p>
        </p:txBody>
      </p:sp>
      <p:sp>
        <p:nvSpPr>
          <p:cNvPr id="12" name="Rectangle 11"/>
          <p:cNvSpPr/>
          <p:nvPr/>
        </p:nvSpPr>
        <p:spPr>
          <a:xfrm>
            <a:off x="16764001" y="4076700"/>
            <a:ext cx="954107" cy="1200329"/>
          </a:xfrm>
          <a:prstGeom prst="rect">
            <a:avLst/>
          </a:prstGeom>
        </p:spPr>
        <p:txBody>
          <a:bodyPr wrap="none">
            <a:spAutoFit/>
          </a:bodyPr>
          <a:lstStyle/>
          <a:p>
            <a:pPr algn="r"/>
            <a:r>
              <a:rPr lang="en-US" sz="7200" b="1">
                <a:solidFill>
                  <a:srgbClr val="EF233C"/>
                </a:solidFill>
                <a:latin typeface="Arial" panose="020B0604020202020204" pitchFamily="34" charset="0"/>
                <a:ea typeface="Segoe UI Black" panose="020B0A02040204020203" pitchFamily="34" charset="0"/>
                <a:cs typeface="Arial" panose="020B0604020202020204" pitchFamily="34" charset="0"/>
              </a:rPr>
              <a:t>3.</a:t>
            </a:r>
            <a:endParaRPr lang="en-US" sz="72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pic>
        <p:nvPicPr>
          <p:cNvPr id="13" name="Picture 30">
            <a:extLst>
              <a:ext uri="{FF2B5EF4-FFF2-40B4-BE49-F238E27FC236}">
                <a16:creationId xmlns:a16="http://schemas.microsoft.com/office/drawing/2014/main" id="{2D7FB2D5-E8B9-462F-A151-A61F197B4A37}"/>
              </a:ext>
            </a:extLst>
          </p:cNvPr>
          <p:cNvPicPr>
            <a:picLocks noChangeAspect="1"/>
          </p:cNvPicPr>
          <p:nvPr/>
        </p:nvPicPr>
        <p:blipFill>
          <a:blip r:embed="rId3">
            <a:alphaModFix amt="16000"/>
          </a:blip>
          <a:stretch>
            <a:fillRect/>
          </a:stretch>
        </p:blipFill>
        <p:spPr>
          <a:xfrm>
            <a:off x="0" y="-3079557"/>
            <a:ext cx="12268725" cy="12268725"/>
          </a:xfrm>
          <a:prstGeom prst="rect">
            <a:avLst/>
          </a:prstGeom>
        </p:spPr>
      </p:pic>
    </p:spTree>
    <p:extLst>
      <p:ext uri="{BB962C8B-B14F-4D97-AF65-F5344CB8AC3E}">
        <p14:creationId xmlns:p14="http://schemas.microsoft.com/office/powerpoint/2010/main" val="1771750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56798099" name="Shape 2"/>
          <p:cNvSpPr/>
          <p:nvPr/>
        </p:nvSpPr>
        <p:spPr bwMode="auto">
          <a:xfrm>
            <a:off x="3517417" y="2160570"/>
            <a:ext cx="11277296" cy="46635"/>
          </a:xfrm>
          <a:prstGeom prst="rect">
            <a:avLst/>
          </a:prstGeom>
          <a:solidFill>
            <a:schemeClr val="bg1"/>
          </a:solidFill>
          <a:ln w="76200">
            <a:solidFill>
              <a:schemeClr val="tx1"/>
            </a:solidFill>
          </a:ln>
        </p:spPr>
        <p:txBody>
          <a:bodyPr/>
          <a:lstStyle/>
          <a:p>
            <a:endParaRPr lang="en-US"/>
          </a:p>
        </p:txBody>
      </p:sp>
      <p:sp>
        <p:nvSpPr>
          <p:cNvPr id="1840033320" name="Shape 3"/>
          <p:cNvSpPr/>
          <p:nvPr/>
        </p:nvSpPr>
        <p:spPr bwMode="auto">
          <a:xfrm>
            <a:off x="917915" y="2736643"/>
            <a:ext cx="5090007" cy="6028991"/>
          </a:xfrm>
          <a:prstGeom prst="roundRect">
            <a:avLst>
              <a:gd name="adj" fmla="val 2156"/>
            </a:avLst>
          </a:prstGeom>
          <a:solidFill>
            <a:srgbClr val="C00000"/>
          </a:solidFill>
          <a:ln/>
          <a:effectLst>
            <a:outerShdw blurRad="101600" dist="38100" dir="5400000" algn="bl" rotWithShape="0">
              <a:srgbClr val="1E2761">
                <a:alpha val="12000"/>
              </a:srgbClr>
            </a:outerShdw>
          </a:effectLst>
        </p:spPr>
        <p:txBody>
          <a:bodyPr/>
          <a:lstStyle/>
          <a:p>
            <a:endParaRPr lang="en-US"/>
          </a:p>
        </p:txBody>
      </p:sp>
      <p:sp>
        <p:nvSpPr>
          <p:cNvPr id="17358276" name="Shape 4"/>
          <p:cNvSpPr/>
          <p:nvPr/>
        </p:nvSpPr>
        <p:spPr bwMode="auto">
          <a:xfrm>
            <a:off x="2708171" y="1799840"/>
            <a:ext cx="768096" cy="768096"/>
          </a:xfrm>
          <a:prstGeom prst="ellipse">
            <a:avLst/>
          </a:prstGeom>
          <a:solidFill>
            <a:srgbClr val="C00000"/>
          </a:solidFill>
          <a:ln w="31750">
            <a:solidFill>
              <a:srgbClr val="FFFFFF"/>
            </a:solidFill>
            <a:prstDash val="solid"/>
          </a:ln>
          <a:effectLst>
            <a:outerShdw blurRad="76200" dist="25400" dir="5400000" algn="bl" rotWithShape="0">
              <a:srgbClr val="1E2761">
                <a:alpha val="25000"/>
              </a:srgbClr>
            </a:outerShdw>
          </a:effectLst>
        </p:spPr>
        <p:txBody>
          <a:bodyPr anchor="ctr"/>
          <a:lstStyle/>
          <a:p>
            <a:pPr algn="ctr">
              <a:defRPr/>
            </a:pPr>
            <a:r>
              <a:rPr lang="en-US" sz="3225" b="1" dirty="0">
                <a:solidFill>
                  <a:schemeClr val="bg1"/>
                </a:solidFill>
                <a:latin typeface="Arial"/>
                <a:cs typeface="Arial"/>
              </a:rPr>
              <a:t>A</a:t>
            </a:r>
            <a:endParaRPr sz="2700" dirty="0">
              <a:latin typeface="Arial" panose="020B0604020202020204" pitchFamily="34" charset="0"/>
            </a:endParaRPr>
          </a:p>
        </p:txBody>
      </p:sp>
      <p:sp>
        <p:nvSpPr>
          <p:cNvPr id="1633608931" name="Shape 6"/>
          <p:cNvSpPr/>
          <p:nvPr/>
        </p:nvSpPr>
        <p:spPr bwMode="auto">
          <a:xfrm>
            <a:off x="1016213" y="2937989"/>
            <a:ext cx="1188720" cy="1188720"/>
          </a:xfrm>
          <a:prstGeom prst="ellipse">
            <a:avLst/>
          </a:prstGeom>
          <a:solidFill>
            <a:schemeClr val="bg1"/>
          </a:solidFill>
          <a:ln/>
        </p:spPr>
        <p:txBody>
          <a:bodyPr/>
          <a:lstStyle/>
          <a:p>
            <a:endParaRPr lang="en-US"/>
          </a:p>
        </p:txBody>
      </p:sp>
      <p:pic>
        <p:nvPicPr>
          <p:cNvPr id="638632842" name="Image 0" descr="foundation_white.png"/>
          <p:cNvPicPr>
            <a:picLocks noChangeAspect="1"/>
          </p:cNvPicPr>
          <p:nvPr/>
        </p:nvPicPr>
        <p:blipFill rotWithShape="1">
          <a:blip r:embed="rId3"/>
          <a:stretch/>
        </p:blipFill>
        <p:spPr bwMode="auto">
          <a:xfrm>
            <a:off x="1157945" y="3075542"/>
            <a:ext cx="905256" cy="905256"/>
          </a:xfrm>
          <a:prstGeom prst="rect">
            <a:avLst/>
          </a:prstGeom>
        </p:spPr>
      </p:pic>
      <p:sp>
        <p:nvSpPr>
          <p:cNvPr id="642657023" name="Text 7"/>
          <p:cNvSpPr/>
          <p:nvPr/>
        </p:nvSpPr>
        <p:spPr bwMode="auto">
          <a:xfrm>
            <a:off x="2152357" y="3038394"/>
            <a:ext cx="3444086" cy="1069848"/>
          </a:xfrm>
          <a:prstGeom prst="rect">
            <a:avLst/>
          </a:prstGeom>
          <a:noFill/>
          <a:ln/>
        </p:spPr>
        <p:txBody>
          <a:bodyPr wrap="square" rtlCol="0" anchor="ctr"/>
          <a:lstStyle/>
          <a:p>
            <a:pPr>
              <a:defRPr/>
            </a:pPr>
            <a:r>
              <a:rPr lang="en-US" sz="2025" b="1" dirty="0">
                <a:solidFill>
                  <a:schemeClr val="bg1"/>
                </a:solidFill>
                <a:latin typeface="Arial"/>
                <a:ea typeface="Calibri"/>
                <a:cs typeface="Arial"/>
              </a:rPr>
              <a:t>GIAI ĐOẠN A:</a:t>
            </a:r>
            <a:endParaRPr sz="2700" dirty="0">
              <a:latin typeface="Arial" panose="020B0604020202020204" pitchFamily="34" charset="0"/>
            </a:endParaRPr>
          </a:p>
          <a:p>
            <a:pPr>
              <a:defRPr/>
            </a:pPr>
            <a:r>
              <a:rPr lang="en-US" sz="2025" b="1" dirty="0">
                <a:solidFill>
                  <a:schemeClr val="bg1"/>
                </a:solidFill>
                <a:latin typeface="Arial"/>
                <a:ea typeface="Calibri"/>
                <a:cs typeface="Arial"/>
              </a:rPr>
              <a:t>XÂY DỰNG NỀN TẢNG CẤP TCT (2 THÁNG)</a:t>
            </a:r>
            <a:endParaRPr lang="en-US" sz="2025" b="1" dirty="0">
              <a:solidFill>
                <a:schemeClr val="bg1"/>
              </a:solidFill>
              <a:latin typeface="Arial"/>
              <a:cs typeface="Arial"/>
            </a:endParaRPr>
          </a:p>
        </p:txBody>
      </p:sp>
      <p:sp>
        <p:nvSpPr>
          <p:cNvPr id="915030929" name="Shape 9"/>
          <p:cNvSpPr/>
          <p:nvPr/>
        </p:nvSpPr>
        <p:spPr bwMode="auto">
          <a:xfrm>
            <a:off x="1171805" y="5456985"/>
            <a:ext cx="4616439" cy="68580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dirty="0" err="1">
                <a:latin typeface="Arial"/>
                <a:cs typeface="Arial"/>
              </a:rPr>
              <a:t>Khẩu</a:t>
            </a:r>
            <a:r>
              <a:rPr lang="en-US" dirty="0">
                <a:latin typeface="Arial"/>
                <a:cs typeface="Arial"/>
              </a:rPr>
              <a:t> </a:t>
            </a:r>
            <a:r>
              <a:rPr lang="en-US" dirty="0" err="1">
                <a:latin typeface="Arial"/>
                <a:cs typeface="Arial"/>
              </a:rPr>
              <a:t>vị</a:t>
            </a:r>
            <a:r>
              <a:rPr lang="en-US" dirty="0">
                <a:latin typeface="Arial"/>
                <a:cs typeface="Arial"/>
              </a:rPr>
              <a:t> </a:t>
            </a:r>
            <a:r>
              <a:rPr lang="en-US" dirty="0" err="1">
                <a:latin typeface="Arial"/>
                <a:cs typeface="Arial"/>
              </a:rPr>
              <a:t>rủi</a:t>
            </a:r>
            <a:r>
              <a:rPr lang="en-US" dirty="0">
                <a:latin typeface="Arial"/>
                <a:cs typeface="Arial"/>
              </a:rPr>
              <a:t> </a:t>
            </a:r>
            <a:r>
              <a:rPr lang="en-US" dirty="0" err="1">
                <a:latin typeface="Arial"/>
                <a:cs typeface="Arial"/>
              </a:rPr>
              <a:t>ro</a:t>
            </a:r>
            <a:r>
              <a:rPr lang="en-US" dirty="0">
                <a:latin typeface="Arial"/>
                <a:cs typeface="Arial"/>
              </a:rPr>
              <a:t> </a:t>
            </a:r>
            <a:r>
              <a:rPr lang="en-US" dirty="0" err="1">
                <a:latin typeface="Arial"/>
                <a:cs typeface="Arial"/>
              </a:rPr>
              <a:t>cấp</a:t>
            </a:r>
            <a:r>
              <a:rPr lang="en-US" dirty="0">
                <a:latin typeface="Arial"/>
                <a:cs typeface="Arial"/>
              </a:rPr>
              <a:t> TCT</a:t>
            </a:r>
            <a:endParaRPr sz="2700" dirty="0">
              <a:latin typeface="Arial" panose="020B0604020202020204" pitchFamily="34" charset="0"/>
            </a:endParaRPr>
          </a:p>
        </p:txBody>
      </p:sp>
      <p:sp>
        <p:nvSpPr>
          <p:cNvPr id="1363748326" name="Shape 12"/>
          <p:cNvSpPr/>
          <p:nvPr/>
        </p:nvSpPr>
        <p:spPr bwMode="auto">
          <a:xfrm>
            <a:off x="1171805" y="6278078"/>
            <a:ext cx="4616439" cy="68580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dirty="0" err="1">
                <a:latin typeface="Arial"/>
                <a:cs typeface="Arial"/>
              </a:rPr>
              <a:t>Thước</a:t>
            </a:r>
            <a:r>
              <a:rPr lang="en-US" dirty="0">
                <a:latin typeface="Arial"/>
                <a:cs typeface="Arial"/>
              </a:rPr>
              <a:t> </a:t>
            </a:r>
            <a:r>
              <a:rPr lang="en-US" dirty="0" err="1">
                <a:latin typeface="Arial"/>
                <a:cs typeface="Arial"/>
              </a:rPr>
              <a:t>đo</a:t>
            </a:r>
            <a:r>
              <a:rPr lang="en-US" dirty="0">
                <a:latin typeface="Arial"/>
                <a:cs typeface="Arial"/>
              </a:rPr>
              <a:t> </a:t>
            </a:r>
            <a:r>
              <a:rPr lang="en-US" dirty="0" err="1">
                <a:latin typeface="Arial"/>
                <a:cs typeface="Arial"/>
              </a:rPr>
              <a:t>rủi</a:t>
            </a:r>
            <a:r>
              <a:rPr lang="en-US" dirty="0">
                <a:latin typeface="Arial"/>
                <a:cs typeface="Arial"/>
              </a:rPr>
              <a:t> </a:t>
            </a:r>
            <a:r>
              <a:rPr lang="en-US" dirty="0" err="1">
                <a:latin typeface="Arial"/>
                <a:cs typeface="Arial"/>
              </a:rPr>
              <a:t>ro</a:t>
            </a:r>
            <a:endParaRPr sz="2700" dirty="0">
              <a:latin typeface="Arial" panose="020B0604020202020204" pitchFamily="34" charset="0"/>
            </a:endParaRPr>
          </a:p>
        </p:txBody>
      </p:sp>
      <p:sp>
        <p:nvSpPr>
          <p:cNvPr id="1066535325" name="Shape 15"/>
          <p:cNvSpPr/>
          <p:nvPr/>
        </p:nvSpPr>
        <p:spPr bwMode="auto">
          <a:xfrm>
            <a:off x="1171805" y="7102640"/>
            <a:ext cx="4616439" cy="68580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dirty="0">
                <a:latin typeface="Arial"/>
                <a:cs typeface="Arial"/>
              </a:rPr>
              <a:t>Quy </a:t>
            </a:r>
            <a:r>
              <a:rPr lang="en-US" dirty="0" err="1">
                <a:latin typeface="Arial"/>
                <a:cs typeface="Arial"/>
              </a:rPr>
              <a:t>chế</a:t>
            </a:r>
            <a:r>
              <a:rPr lang="en-US" dirty="0">
                <a:latin typeface="Arial"/>
                <a:cs typeface="Arial"/>
              </a:rPr>
              <a:t> &amp; Khung QTRR</a:t>
            </a:r>
            <a:endParaRPr sz="2700" dirty="0">
              <a:latin typeface="Arial" panose="020B0604020202020204" pitchFamily="34" charset="0"/>
            </a:endParaRPr>
          </a:p>
        </p:txBody>
      </p:sp>
      <p:sp>
        <p:nvSpPr>
          <p:cNvPr id="1141687179" name="Shape 18"/>
          <p:cNvSpPr/>
          <p:nvPr/>
        </p:nvSpPr>
        <p:spPr bwMode="auto">
          <a:xfrm>
            <a:off x="1180569" y="7896162"/>
            <a:ext cx="4616439" cy="68580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dirty="0">
                <a:latin typeface="Arial"/>
                <a:cs typeface="Arial"/>
              </a:rPr>
              <a:t>Định </a:t>
            </a:r>
            <a:r>
              <a:rPr lang="en-US" dirty="0" err="1">
                <a:latin typeface="Arial"/>
                <a:cs typeface="Arial"/>
              </a:rPr>
              <a:t>hướng</a:t>
            </a:r>
            <a:r>
              <a:rPr lang="en-US" dirty="0">
                <a:latin typeface="Arial"/>
                <a:cs typeface="Arial"/>
              </a:rPr>
              <a:t> </a:t>
            </a:r>
            <a:r>
              <a:rPr lang="en-US" dirty="0" err="1">
                <a:latin typeface="Arial"/>
                <a:cs typeface="Arial"/>
              </a:rPr>
              <a:t>rủi</a:t>
            </a:r>
            <a:r>
              <a:rPr lang="en-US" dirty="0">
                <a:latin typeface="Arial"/>
                <a:cs typeface="Arial"/>
              </a:rPr>
              <a:t> </a:t>
            </a:r>
            <a:r>
              <a:rPr lang="en-US" dirty="0" err="1">
                <a:latin typeface="Arial"/>
                <a:cs typeface="Arial"/>
              </a:rPr>
              <a:t>ro</a:t>
            </a:r>
            <a:r>
              <a:rPr lang="en-US" dirty="0">
                <a:latin typeface="Arial"/>
                <a:cs typeface="Arial"/>
              </a:rPr>
              <a:t> </a:t>
            </a:r>
            <a:r>
              <a:rPr lang="en-US" dirty="0" err="1">
                <a:latin typeface="Arial"/>
                <a:cs typeface="Arial"/>
              </a:rPr>
              <a:t>trọng</a:t>
            </a:r>
            <a:r>
              <a:rPr lang="en-US" dirty="0">
                <a:latin typeface="Arial"/>
                <a:cs typeface="Arial"/>
              </a:rPr>
              <a:t> </a:t>
            </a:r>
            <a:r>
              <a:rPr lang="en-US" dirty="0" err="1">
                <a:latin typeface="Arial"/>
                <a:cs typeface="Arial"/>
              </a:rPr>
              <a:t>yếu</a:t>
            </a:r>
            <a:r>
              <a:rPr lang="en-US" dirty="0">
                <a:latin typeface="Arial"/>
                <a:cs typeface="Arial"/>
              </a:rPr>
              <a:t> </a:t>
            </a:r>
            <a:r>
              <a:rPr lang="en-US" dirty="0" err="1">
                <a:latin typeface="Arial"/>
                <a:cs typeface="Arial"/>
              </a:rPr>
              <a:t>cấp</a:t>
            </a:r>
            <a:r>
              <a:rPr lang="en-US" dirty="0">
                <a:latin typeface="Arial"/>
                <a:cs typeface="Arial"/>
              </a:rPr>
              <a:t> TCT</a:t>
            </a:r>
            <a:endParaRPr sz="2700" dirty="0">
              <a:latin typeface="Arial" panose="020B0604020202020204" pitchFamily="34" charset="0"/>
            </a:endParaRPr>
          </a:p>
        </p:txBody>
      </p:sp>
      <p:sp>
        <p:nvSpPr>
          <p:cNvPr id="1513557132" name="Shape 22"/>
          <p:cNvSpPr/>
          <p:nvPr/>
        </p:nvSpPr>
        <p:spPr bwMode="auto">
          <a:xfrm>
            <a:off x="6556562" y="2736643"/>
            <a:ext cx="5090007" cy="6028991"/>
          </a:xfrm>
          <a:prstGeom prst="roundRect">
            <a:avLst>
              <a:gd name="adj" fmla="val 2156"/>
            </a:avLst>
          </a:prstGeom>
          <a:solidFill>
            <a:srgbClr val="4F81BD"/>
          </a:solidFill>
          <a:ln/>
          <a:effectLst>
            <a:outerShdw blurRad="101600" dist="38100" dir="5400000" algn="bl" rotWithShape="0">
              <a:srgbClr val="1E2761">
                <a:alpha val="12000"/>
              </a:srgbClr>
            </a:outerShdw>
          </a:effectLst>
        </p:spPr>
        <p:txBody>
          <a:bodyPr/>
          <a:lstStyle/>
          <a:p>
            <a:endParaRPr lang="en-US"/>
          </a:p>
        </p:txBody>
      </p:sp>
      <p:sp>
        <p:nvSpPr>
          <p:cNvPr id="2100859139" name="Shape 23"/>
          <p:cNvSpPr/>
          <p:nvPr/>
        </p:nvSpPr>
        <p:spPr bwMode="auto">
          <a:xfrm>
            <a:off x="8772017" y="1799840"/>
            <a:ext cx="768096" cy="768096"/>
          </a:xfrm>
          <a:prstGeom prst="ellipse">
            <a:avLst/>
          </a:prstGeom>
          <a:solidFill>
            <a:schemeClr val="accent1"/>
          </a:solidFill>
          <a:ln w="31750">
            <a:solidFill>
              <a:srgbClr val="FFFFFF"/>
            </a:solidFill>
            <a:prstDash val="solid"/>
          </a:ln>
          <a:effectLst>
            <a:outerShdw blurRad="76200" dist="25400" dir="5400000" algn="bl" rotWithShape="0">
              <a:srgbClr val="1E2761">
                <a:alpha val="25000"/>
              </a:srgbClr>
            </a:outerShdw>
          </a:effectLst>
        </p:spPr>
        <p:txBody>
          <a:bodyPr anchor="ctr"/>
          <a:lstStyle/>
          <a:p>
            <a:pPr algn="ctr">
              <a:defRPr/>
            </a:pPr>
            <a:r>
              <a:rPr lang="en-US" sz="3225" b="1" dirty="0">
                <a:solidFill>
                  <a:schemeClr val="bg1"/>
                </a:solidFill>
                <a:latin typeface="Arial"/>
                <a:cs typeface="Arial"/>
              </a:rPr>
              <a:t>B</a:t>
            </a:r>
            <a:endParaRPr sz="2700" dirty="0">
              <a:latin typeface="Arial" panose="020B0604020202020204" pitchFamily="34" charset="0"/>
            </a:endParaRPr>
          </a:p>
        </p:txBody>
      </p:sp>
      <p:sp>
        <p:nvSpPr>
          <p:cNvPr id="1427926828" name="Shape 42"/>
          <p:cNvSpPr/>
          <p:nvPr/>
        </p:nvSpPr>
        <p:spPr bwMode="auto">
          <a:xfrm>
            <a:off x="12195209" y="2736643"/>
            <a:ext cx="5090007" cy="6028991"/>
          </a:xfrm>
          <a:prstGeom prst="roundRect">
            <a:avLst>
              <a:gd name="adj" fmla="val 2156"/>
            </a:avLst>
          </a:prstGeom>
          <a:solidFill>
            <a:srgbClr val="77933C"/>
          </a:solidFill>
          <a:ln/>
          <a:effectLst>
            <a:outerShdw blurRad="101600" dist="38100" dir="5400000" algn="bl" rotWithShape="0">
              <a:srgbClr val="1E2761">
                <a:alpha val="12000"/>
              </a:srgbClr>
            </a:outerShdw>
          </a:effectLst>
        </p:spPr>
        <p:txBody>
          <a:bodyPr/>
          <a:lstStyle/>
          <a:p>
            <a:endParaRPr lang="en-US"/>
          </a:p>
        </p:txBody>
      </p:sp>
      <p:sp>
        <p:nvSpPr>
          <p:cNvPr id="722970145" name="Shape 43"/>
          <p:cNvSpPr/>
          <p:nvPr/>
        </p:nvSpPr>
        <p:spPr bwMode="auto">
          <a:xfrm>
            <a:off x="14410664" y="1799840"/>
            <a:ext cx="768096" cy="768096"/>
          </a:xfrm>
          <a:prstGeom prst="ellipse">
            <a:avLst/>
          </a:prstGeom>
          <a:solidFill>
            <a:schemeClr val="accent3">
              <a:lumMod val="75000"/>
            </a:schemeClr>
          </a:solidFill>
          <a:ln w="31750">
            <a:solidFill>
              <a:srgbClr val="FFFFFF"/>
            </a:solidFill>
            <a:prstDash val="solid"/>
          </a:ln>
          <a:effectLst>
            <a:outerShdw blurRad="76200" dist="25400" dir="5400000" algn="bl" rotWithShape="0">
              <a:srgbClr val="1E2761">
                <a:alpha val="25000"/>
              </a:srgbClr>
            </a:outerShdw>
          </a:effectLst>
        </p:spPr>
        <p:txBody>
          <a:bodyPr anchor="ctr"/>
          <a:lstStyle/>
          <a:p>
            <a:pPr algn="ctr">
              <a:defRPr/>
            </a:pPr>
            <a:r>
              <a:rPr lang="en-US" sz="3225" b="1" dirty="0">
                <a:solidFill>
                  <a:schemeClr val="bg1"/>
                </a:solidFill>
                <a:latin typeface="Arial"/>
                <a:cs typeface="Arial"/>
              </a:rPr>
              <a:t>C</a:t>
            </a:r>
            <a:endParaRPr sz="2700" dirty="0">
              <a:latin typeface="Arial" panose="020B0604020202020204" pitchFamily="34" charset="0"/>
            </a:endParaRPr>
          </a:p>
        </p:txBody>
      </p:sp>
      <p:sp>
        <p:nvSpPr>
          <p:cNvPr id="977243404" name="Shape 21"/>
          <p:cNvSpPr/>
          <p:nvPr/>
        </p:nvSpPr>
        <p:spPr bwMode="auto">
          <a:xfrm>
            <a:off x="5410200" y="1842131"/>
            <a:ext cx="782178" cy="613334"/>
          </a:xfrm>
          <a:prstGeom prst="chevron">
            <a:avLst>
              <a:gd name="adj" fmla="val 50000"/>
            </a:avLst>
          </a:prstGeom>
          <a:gradFill>
            <a:gsLst>
              <a:gs pos="0">
                <a:schemeClr val="accent5">
                  <a:lumMod val="67000"/>
                </a:schemeClr>
              </a:gs>
              <a:gs pos="48000">
                <a:schemeClr val="accent5">
                  <a:lumMod val="97000"/>
                  <a:lumOff val="3000"/>
                </a:schemeClr>
              </a:gs>
              <a:gs pos="100000">
                <a:schemeClr val="accent5">
                  <a:lumMod val="60000"/>
                  <a:lumOff val="40000"/>
                </a:schemeClr>
              </a:gs>
            </a:gsLst>
            <a:lin ang="16200000" scaled="1"/>
          </a:gradFill>
          <a:ln>
            <a:noFill/>
          </a:ln>
        </p:spPr>
        <p:style>
          <a:lnRef idx="0">
            <a:srgbClr val="000000"/>
          </a:lnRef>
          <a:fillRef idx="0">
            <a:srgbClr val="000000"/>
          </a:fillRef>
          <a:effectRef idx="0">
            <a:srgbClr val="000000"/>
          </a:effectRef>
          <a:fontRef idx="minor">
            <a:schemeClr val="lt1"/>
          </a:fontRef>
        </p:style>
        <p:txBody>
          <a:bodyPr/>
          <a:lstStyle/>
          <a:p>
            <a:endParaRPr lang="en-US"/>
          </a:p>
        </p:txBody>
      </p:sp>
      <p:sp>
        <p:nvSpPr>
          <p:cNvPr id="576052050" name="Shape 41"/>
          <p:cNvSpPr/>
          <p:nvPr/>
        </p:nvSpPr>
        <p:spPr bwMode="auto">
          <a:xfrm>
            <a:off x="12171822" y="1842131"/>
            <a:ext cx="782178" cy="613334"/>
          </a:xfrm>
          <a:prstGeom prst="chevron">
            <a:avLst>
              <a:gd name="adj" fmla="val 50000"/>
            </a:avLst>
          </a:prstGeom>
          <a:gradFill>
            <a:gsLst>
              <a:gs pos="0">
                <a:schemeClr val="accent5">
                  <a:lumMod val="67000"/>
                </a:schemeClr>
              </a:gs>
              <a:gs pos="48000">
                <a:schemeClr val="accent5">
                  <a:lumMod val="97000"/>
                  <a:lumOff val="3000"/>
                </a:schemeClr>
              </a:gs>
              <a:gs pos="100000">
                <a:schemeClr val="accent5">
                  <a:lumMod val="60000"/>
                  <a:lumOff val="40000"/>
                </a:schemeClr>
              </a:gs>
            </a:gsLst>
            <a:lin ang="16200000" scaled="1"/>
          </a:gradFill>
          <a:ln>
            <a:noFill/>
          </a:ln>
        </p:spPr>
        <p:style>
          <a:lnRef idx="0">
            <a:srgbClr val="000000"/>
          </a:lnRef>
          <a:fillRef idx="0">
            <a:srgbClr val="000000"/>
          </a:fillRef>
          <a:effectRef idx="0">
            <a:srgbClr val="000000"/>
          </a:effectRef>
          <a:fontRef idx="minor">
            <a:schemeClr val="lt1"/>
          </a:fontRef>
        </p:style>
        <p:txBody>
          <a:bodyPr/>
          <a:lstStyle/>
          <a:p>
            <a:endParaRPr lang="en-US"/>
          </a:p>
        </p:txBody>
      </p:sp>
      <p:sp>
        <p:nvSpPr>
          <p:cNvPr id="1201857535" name="Shape 9"/>
          <p:cNvSpPr/>
          <p:nvPr/>
        </p:nvSpPr>
        <p:spPr bwMode="auto">
          <a:xfrm>
            <a:off x="1016213" y="4130527"/>
            <a:ext cx="4758171" cy="1234598"/>
          </a:xfrm>
          <a:prstGeom prst="roundRect">
            <a:avLst>
              <a:gd name="adj" fmla="val 12000"/>
            </a:avLst>
          </a:prstGeom>
          <a:noFill/>
          <a:ln/>
        </p:spPr>
        <p:txBody>
          <a:bodyPr anchor="ctr"/>
          <a:lstStyle/>
          <a:p>
            <a:pPr algn="just">
              <a:buClr>
                <a:schemeClr val="tx2">
                  <a:lumMod val="50000"/>
                </a:schemeClr>
              </a:buClr>
              <a:buSzPct val="200000"/>
              <a:defRPr/>
            </a:pPr>
            <a:r>
              <a:rPr lang="en-US" sz="1650" i="1" dirty="0">
                <a:solidFill>
                  <a:schemeClr val="bg1"/>
                </a:solidFill>
                <a:latin typeface="Arial"/>
                <a:cs typeface="Arial"/>
              </a:rPr>
              <a:t>Giai </a:t>
            </a:r>
            <a:r>
              <a:rPr lang="en-US" sz="1650" i="1" dirty="0" err="1">
                <a:solidFill>
                  <a:schemeClr val="bg1"/>
                </a:solidFill>
                <a:latin typeface="Arial"/>
                <a:cs typeface="Arial"/>
              </a:rPr>
              <a:t>đoạn</a:t>
            </a:r>
            <a:r>
              <a:rPr lang="en-US" sz="1650" i="1" dirty="0">
                <a:solidFill>
                  <a:schemeClr val="bg1"/>
                </a:solidFill>
                <a:latin typeface="Arial"/>
                <a:cs typeface="Arial"/>
              </a:rPr>
              <a:t> </a:t>
            </a:r>
            <a:r>
              <a:rPr lang="en-US" sz="1650" i="1" dirty="0" err="1">
                <a:solidFill>
                  <a:schemeClr val="bg1"/>
                </a:solidFill>
                <a:latin typeface="Arial"/>
                <a:cs typeface="Arial"/>
              </a:rPr>
              <a:t>xây</a:t>
            </a:r>
            <a:r>
              <a:rPr lang="en-US" sz="1650" i="1" dirty="0">
                <a:solidFill>
                  <a:schemeClr val="bg1"/>
                </a:solidFill>
                <a:latin typeface="Arial"/>
                <a:cs typeface="Arial"/>
              </a:rPr>
              <a:t> </a:t>
            </a:r>
            <a:r>
              <a:rPr lang="en-US" sz="1650" i="1" dirty="0" err="1">
                <a:solidFill>
                  <a:schemeClr val="bg1"/>
                </a:solidFill>
                <a:latin typeface="Arial"/>
                <a:cs typeface="Arial"/>
              </a:rPr>
              <a:t>dựng</a:t>
            </a:r>
            <a:r>
              <a:rPr lang="en-US" sz="1650" i="1" dirty="0">
                <a:solidFill>
                  <a:schemeClr val="bg1"/>
                </a:solidFill>
                <a:latin typeface="Arial"/>
                <a:cs typeface="Arial"/>
              </a:rPr>
              <a:t> </a:t>
            </a:r>
            <a:r>
              <a:rPr lang="en-US" sz="1650" i="1" dirty="0" err="1">
                <a:solidFill>
                  <a:schemeClr val="bg1"/>
                </a:solidFill>
                <a:latin typeface="Arial"/>
                <a:cs typeface="Arial"/>
              </a:rPr>
              <a:t>nền</a:t>
            </a:r>
            <a:r>
              <a:rPr lang="en-US" sz="1650" i="1" dirty="0">
                <a:solidFill>
                  <a:schemeClr val="bg1"/>
                </a:solidFill>
                <a:latin typeface="Arial"/>
                <a:cs typeface="Arial"/>
              </a:rPr>
              <a:t> </a:t>
            </a:r>
            <a:r>
              <a:rPr lang="en-US" sz="1650" i="1" dirty="0" err="1">
                <a:solidFill>
                  <a:schemeClr val="bg1"/>
                </a:solidFill>
                <a:latin typeface="Arial"/>
                <a:cs typeface="Arial"/>
              </a:rPr>
              <a:t>tảng</a:t>
            </a:r>
            <a:r>
              <a:rPr lang="en-US" sz="1650" i="1" dirty="0">
                <a:solidFill>
                  <a:schemeClr val="bg1"/>
                </a:solidFill>
                <a:latin typeface="Arial"/>
                <a:cs typeface="Arial"/>
              </a:rPr>
              <a:t> </a:t>
            </a:r>
            <a:r>
              <a:rPr lang="en-US" sz="1650" i="1" dirty="0" err="1">
                <a:solidFill>
                  <a:schemeClr val="bg1"/>
                </a:solidFill>
                <a:latin typeface="Arial"/>
                <a:cs typeface="Arial"/>
              </a:rPr>
              <a:t>về</a:t>
            </a:r>
            <a:r>
              <a:rPr lang="en-US" sz="1650" i="1" dirty="0">
                <a:solidFill>
                  <a:schemeClr val="bg1"/>
                </a:solidFill>
                <a:latin typeface="Arial"/>
                <a:cs typeface="Arial"/>
              </a:rPr>
              <a:t> QTRR </a:t>
            </a:r>
            <a:r>
              <a:rPr lang="en-US" sz="1650" i="1" dirty="0" err="1">
                <a:solidFill>
                  <a:schemeClr val="bg1"/>
                </a:solidFill>
                <a:latin typeface="Arial"/>
                <a:cs typeface="Arial"/>
              </a:rPr>
              <a:t>tại</a:t>
            </a:r>
            <a:r>
              <a:rPr lang="en-US" sz="1650" i="1" dirty="0">
                <a:solidFill>
                  <a:schemeClr val="bg1"/>
                </a:solidFill>
                <a:latin typeface="Arial"/>
                <a:cs typeface="Arial"/>
              </a:rPr>
              <a:t> TCT, </a:t>
            </a:r>
            <a:r>
              <a:rPr lang="en-US" sz="1650" i="1" dirty="0" err="1">
                <a:solidFill>
                  <a:schemeClr val="bg1"/>
                </a:solidFill>
                <a:latin typeface="Arial"/>
                <a:cs typeface="Arial"/>
              </a:rPr>
              <a:t>đảm</a:t>
            </a:r>
            <a:r>
              <a:rPr lang="en-US" sz="1650" i="1" dirty="0">
                <a:solidFill>
                  <a:schemeClr val="bg1"/>
                </a:solidFill>
                <a:latin typeface="Arial"/>
                <a:cs typeface="Arial"/>
              </a:rPr>
              <a:t> </a:t>
            </a:r>
            <a:r>
              <a:rPr lang="en-US" sz="1650" i="1" dirty="0" err="1">
                <a:solidFill>
                  <a:schemeClr val="bg1"/>
                </a:solidFill>
                <a:latin typeface="Arial"/>
                <a:cs typeface="Arial"/>
              </a:rPr>
              <a:t>bảo</a:t>
            </a:r>
            <a:r>
              <a:rPr lang="en-US" sz="1650" i="1" dirty="0">
                <a:solidFill>
                  <a:schemeClr val="bg1"/>
                </a:solidFill>
                <a:latin typeface="Arial"/>
                <a:cs typeface="Arial"/>
              </a:rPr>
              <a:t> </a:t>
            </a:r>
            <a:r>
              <a:rPr lang="en-US" sz="1650" i="1" dirty="0" err="1">
                <a:solidFill>
                  <a:schemeClr val="bg1"/>
                </a:solidFill>
                <a:latin typeface="Arial"/>
                <a:cs typeface="Arial"/>
              </a:rPr>
              <a:t>tuân</a:t>
            </a:r>
            <a:r>
              <a:rPr lang="en-US" sz="1650" i="1" dirty="0">
                <a:solidFill>
                  <a:schemeClr val="bg1"/>
                </a:solidFill>
                <a:latin typeface="Arial"/>
                <a:cs typeface="Arial"/>
              </a:rPr>
              <a:t> </a:t>
            </a:r>
            <a:r>
              <a:rPr lang="en-US" sz="1650" i="1" dirty="0" err="1">
                <a:solidFill>
                  <a:schemeClr val="bg1"/>
                </a:solidFill>
                <a:latin typeface="Arial"/>
                <a:cs typeface="Arial"/>
              </a:rPr>
              <a:t>thủ</a:t>
            </a:r>
            <a:r>
              <a:rPr lang="en-US" sz="1650" i="1" dirty="0">
                <a:solidFill>
                  <a:schemeClr val="bg1"/>
                </a:solidFill>
                <a:latin typeface="Arial"/>
                <a:cs typeface="Arial"/>
              </a:rPr>
              <a:t> </a:t>
            </a:r>
            <a:r>
              <a:rPr lang="en-US" sz="1650" i="1" dirty="0" err="1">
                <a:solidFill>
                  <a:schemeClr val="bg1"/>
                </a:solidFill>
                <a:latin typeface="Arial"/>
                <a:cs typeface="Arial"/>
              </a:rPr>
              <a:t>và</a:t>
            </a:r>
            <a:r>
              <a:rPr lang="en-US" sz="1650" i="1" dirty="0">
                <a:solidFill>
                  <a:schemeClr val="bg1"/>
                </a:solidFill>
                <a:latin typeface="Arial"/>
                <a:cs typeface="Arial"/>
              </a:rPr>
              <a:t> </a:t>
            </a:r>
            <a:r>
              <a:rPr lang="en-US" sz="1650" i="1" dirty="0" err="1">
                <a:solidFill>
                  <a:schemeClr val="bg1"/>
                </a:solidFill>
                <a:latin typeface="Arial"/>
                <a:cs typeface="Arial"/>
              </a:rPr>
              <a:t>định</a:t>
            </a:r>
            <a:r>
              <a:rPr lang="en-US" sz="1650" i="1" dirty="0">
                <a:solidFill>
                  <a:schemeClr val="bg1"/>
                </a:solidFill>
                <a:latin typeface="Arial"/>
                <a:cs typeface="Arial"/>
              </a:rPr>
              <a:t> </a:t>
            </a:r>
            <a:r>
              <a:rPr lang="en-US" sz="1650" i="1" dirty="0" err="1">
                <a:solidFill>
                  <a:schemeClr val="bg1"/>
                </a:solidFill>
                <a:latin typeface="Arial"/>
                <a:cs typeface="Arial"/>
              </a:rPr>
              <a:t>hướng</a:t>
            </a:r>
            <a:r>
              <a:rPr lang="en-US" sz="1650" i="1" dirty="0">
                <a:solidFill>
                  <a:schemeClr val="bg1"/>
                </a:solidFill>
                <a:latin typeface="Arial"/>
                <a:cs typeface="Arial"/>
              </a:rPr>
              <a:t> </a:t>
            </a:r>
            <a:r>
              <a:rPr lang="en-US" sz="1650" i="1" dirty="0" err="1">
                <a:solidFill>
                  <a:schemeClr val="bg1"/>
                </a:solidFill>
                <a:latin typeface="Arial"/>
                <a:cs typeface="Arial"/>
              </a:rPr>
              <a:t>triển</a:t>
            </a:r>
            <a:r>
              <a:rPr lang="en-US" sz="1650" i="1" dirty="0">
                <a:solidFill>
                  <a:schemeClr val="bg1"/>
                </a:solidFill>
                <a:latin typeface="Arial"/>
                <a:cs typeface="Arial"/>
              </a:rPr>
              <a:t> </a:t>
            </a:r>
            <a:r>
              <a:rPr lang="en-US" sz="1650" i="1" dirty="0" err="1">
                <a:solidFill>
                  <a:schemeClr val="bg1"/>
                </a:solidFill>
                <a:latin typeface="Arial"/>
                <a:cs typeface="Arial"/>
              </a:rPr>
              <a:t>khai</a:t>
            </a:r>
            <a:r>
              <a:rPr lang="en-US" sz="1650" i="1" dirty="0">
                <a:solidFill>
                  <a:schemeClr val="bg1"/>
                </a:solidFill>
                <a:latin typeface="Arial"/>
                <a:cs typeface="Arial"/>
              </a:rPr>
              <a:t> ở </a:t>
            </a:r>
            <a:r>
              <a:rPr lang="en-US" sz="1650" i="1" dirty="0" err="1">
                <a:solidFill>
                  <a:schemeClr val="bg1"/>
                </a:solidFill>
                <a:latin typeface="Arial"/>
                <a:cs typeface="Arial"/>
              </a:rPr>
              <a:t>các</a:t>
            </a:r>
            <a:r>
              <a:rPr lang="en-US" sz="1650" i="1" dirty="0">
                <a:solidFill>
                  <a:schemeClr val="bg1"/>
                </a:solidFill>
                <a:latin typeface="Arial"/>
                <a:cs typeface="Arial"/>
              </a:rPr>
              <a:t> </a:t>
            </a:r>
            <a:r>
              <a:rPr lang="en-US" sz="1650" i="1" dirty="0" err="1">
                <a:solidFill>
                  <a:schemeClr val="bg1"/>
                </a:solidFill>
                <a:latin typeface="Arial"/>
                <a:cs typeface="Arial"/>
              </a:rPr>
              <a:t>giai</a:t>
            </a:r>
            <a:r>
              <a:rPr lang="en-US" sz="1650" i="1" dirty="0">
                <a:solidFill>
                  <a:schemeClr val="bg1"/>
                </a:solidFill>
                <a:latin typeface="Arial"/>
                <a:cs typeface="Arial"/>
              </a:rPr>
              <a:t> </a:t>
            </a:r>
            <a:r>
              <a:rPr lang="en-US" sz="1650" i="1" dirty="0" err="1">
                <a:solidFill>
                  <a:schemeClr val="bg1"/>
                </a:solidFill>
                <a:latin typeface="Arial"/>
                <a:cs typeface="Arial"/>
              </a:rPr>
              <a:t>đoạn</a:t>
            </a:r>
            <a:r>
              <a:rPr lang="en-US" sz="1650" i="1" dirty="0">
                <a:solidFill>
                  <a:schemeClr val="bg1"/>
                </a:solidFill>
                <a:latin typeface="Arial"/>
                <a:cs typeface="Arial"/>
              </a:rPr>
              <a:t> </a:t>
            </a:r>
            <a:r>
              <a:rPr lang="en-US" sz="1650" i="1" dirty="0" err="1">
                <a:solidFill>
                  <a:schemeClr val="bg1"/>
                </a:solidFill>
                <a:latin typeface="Arial"/>
                <a:cs typeface="Arial"/>
              </a:rPr>
              <a:t>kế</a:t>
            </a:r>
            <a:r>
              <a:rPr lang="en-US" sz="1650" i="1" dirty="0">
                <a:solidFill>
                  <a:schemeClr val="bg1"/>
                </a:solidFill>
                <a:latin typeface="Arial"/>
                <a:cs typeface="Arial"/>
              </a:rPr>
              <a:t> </a:t>
            </a:r>
            <a:r>
              <a:rPr lang="en-US" sz="1650" i="1" dirty="0" err="1">
                <a:solidFill>
                  <a:schemeClr val="bg1"/>
                </a:solidFill>
                <a:latin typeface="Arial"/>
                <a:cs typeface="Arial"/>
              </a:rPr>
              <a:t>tiếp</a:t>
            </a:r>
            <a:r>
              <a:rPr lang="en-US" sz="1650" i="1" dirty="0">
                <a:solidFill>
                  <a:schemeClr val="bg1"/>
                </a:solidFill>
                <a:latin typeface="Arial"/>
                <a:cs typeface="Arial"/>
              </a:rPr>
              <a:t>. Bao </a:t>
            </a:r>
            <a:r>
              <a:rPr lang="en-US" sz="1650" i="1" dirty="0" err="1">
                <a:solidFill>
                  <a:schemeClr val="bg1"/>
                </a:solidFill>
                <a:latin typeface="Arial"/>
                <a:cs typeface="Arial"/>
              </a:rPr>
              <a:t>gồm</a:t>
            </a:r>
            <a:r>
              <a:rPr lang="en-US" sz="1650" i="1" dirty="0">
                <a:solidFill>
                  <a:schemeClr val="bg1"/>
                </a:solidFill>
                <a:latin typeface="Arial"/>
                <a:cs typeface="Arial"/>
              </a:rPr>
              <a:t> </a:t>
            </a:r>
            <a:r>
              <a:rPr lang="en-US" sz="1650" i="1" dirty="0" err="1">
                <a:solidFill>
                  <a:schemeClr val="bg1"/>
                </a:solidFill>
                <a:latin typeface="Arial"/>
                <a:cs typeface="Arial"/>
              </a:rPr>
              <a:t>các</a:t>
            </a:r>
            <a:r>
              <a:rPr lang="en-US" sz="1650" i="1" dirty="0">
                <a:solidFill>
                  <a:schemeClr val="bg1"/>
                </a:solidFill>
                <a:latin typeface="Arial"/>
                <a:cs typeface="Arial"/>
              </a:rPr>
              <a:t> </a:t>
            </a:r>
            <a:r>
              <a:rPr lang="en-US" sz="1650" i="1" dirty="0" err="1">
                <a:solidFill>
                  <a:schemeClr val="bg1"/>
                </a:solidFill>
                <a:latin typeface="Arial"/>
                <a:cs typeface="Arial"/>
              </a:rPr>
              <a:t>cấu</a:t>
            </a:r>
            <a:r>
              <a:rPr lang="en-US" sz="1650" i="1" dirty="0">
                <a:solidFill>
                  <a:schemeClr val="bg1"/>
                </a:solidFill>
                <a:latin typeface="Arial"/>
                <a:cs typeface="Arial"/>
              </a:rPr>
              <a:t> </a:t>
            </a:r>
            <a:r>
              <a:rPr lang="en-US" sz="1650" i="1" dirty="0" err="1">
                <a:solidFill>
                  <a:schemeClr val="bg1"/>
                </a:solidFill>
                <a:latin typeface="Arial"/>
                <a:cs typeface="Arial"/>
              </a:rPr>
              <a:t>phần</a:t>
            </a:r>
            <a:r>
              <a:rPr lang="en-US" sz="1650" i="1" dirty="0">
                <a:solidFill>
                  <a:schemeClr val="bg1"/>
                </a:solidFill>
                <a:latin typeface="Arial"/>
                <a:cs typeface="Arial"/>
              </a:rPr>
              <a:t>/ </a:t>
            </a:r>
            <a:r>
              <a:rPr lang="en-US" sz="1650" i="1" dirty="0" err="1">
                <a:solidFill>
                  <a:schemeClr val="bg1"/>
                </a:solidFill>
                <a:latin typeface="Arial"/>
                <a:cs typeface="Arial"/>
              </a:rPr>
              <a:t>hoạt</a:t>
            </a:r>
            <a:r>
              <a:rPr lang="en-US" sz="1650" i="1" dirty="0">
                <a:solidFill>
                  <a:schemeClr val="bg1"/>
                </a:solidFill>
                <a:latin typeface="Arial"/>
                <a:cs typeface="Arial"/>
              </a:rPr>
              <a:t> </a:t>
            </a:r>
            <a:r>
              <a:rPr lang="en-US" sz="1650" i="1" dirty="0" err="1">
                <a:solidFill>
                  <a:schemeClr val="bg1"/>
                </a:solidFill>
                <a:latin typeface="Arial"/>
                <a:cs typeface="Arial"/>
              </a:rPr>
              <a:t>động</a:t>
            </a:r>
            <a:r>
              <a:rPr lang="en-US" sz="1650" i="1" dirty="0">
                <a:solidFill>
                  <a:schemeClr val="bg1"/>
                </a:solidFill>
                <a:latin typeface="Arial"/>
                <a:cs typeface="Arial"/>
              </a:rPr>
              <a:t> </a:t>
            </a:r>
            <a:r>
              <a:rPr lang="en-US" sz="1650" i="1" dirty="0" err="1">
                <a:solidFill>
                  <a:schemeClr val="bg1"/>
                </a:solidFill>
                <a:latin typeface="Arial"/>
                <a:cs typeface="Arial"/>
              </a:rPr>
              <a:t>sau</a:t>
            </a:r>
            <a:r>
              <a:rPr lang="en-US" sz="1650" i="1" dirty="0">
                <a:solidFill>
                  <a:schemeClr val="bg1"/>
                </a:solidFill>
                <a:latin typeface="Arial"/>
                <a:cs typeface="Arial"/>
              </a:rPr>
              <a:t>:</a:t>
            </a:r>
            <a:endParaRPr sz="2700" dirty="0">
              <a:latin typeface="Arial" panose="020B0604020202020204" pitchFamily="34" charset="0"/>
            </a:endParaRPr>
          </a:p>
        </p:txBody>
      </p:sp>
      <p:sp>
        <p:nvSpPr>
          <p:cNvPr id="1674259654" name="Shape 6"/>
          <p:cNvSpPr/>
          <p:nvPr/>
        </p:nvSpPr>
        <p:spPr bwMode="auto">
          <a:xfrm>
            <a:off x="6737312" y="2933808"/>
            <a:ext cx="1188720" cy="1188720"/>
          </a:xfrm>
          <a:prstGeom prst="ellipse">
            <a:avLst/>
          </a:prstGeom>
          <a:solidFill>
            <a:schemeClr val="bg1"/>
          </a:solidFill>
          <a:ln/>
        </p:spPr>
        <p:txBody>
          <a:bodyPr/>
          <a:lstStyle/>
          <a:p>
            <a:endParaRPr lang="en-US"/>
          </a:p>
        </p:txBody>
      </p:sp>
      <p:pic>
        <p:nvPicPr>
          <p:cNvPr id="1308552544" name="Image 1" descr="pilot_white.png"/>
          <p:cNvPicPr>
            <a:picLocks noChangeAspect="1"/>
          </p:cNvPicPr>
          <p:nvPr/>
        </p:nvPicPr>
        <p:blipFill rotWithShape="1">
          <a:blip r:embed="rId4"/>
          <a:stretch/>
        </p:blipFill>
        <p:spPr bwMode="auto">
          <a:xfrm>
            <a:off x="6874472" y="3078084"/>
            <a:ext cx="914400" cy="914400"/>
          </a:xfrm>
          <a:prstGeom prst="rect">
            <a:avLst/>
          </a:prstGeom>
        </p:spPr>
      </p:pic>
      <p:sp>
        <p:nvSpPr>
          <p:cNvPr id="626328490" name="Text 7"/>
          <p:cNvSpPr/>
          <p:nvPr/>
        </p:nvSpPr>
        <p:spPr bwMode="auto">
          <a:xfrm>
            <a:off x="7969882" y="3038394"/>
            <a:ext cx="3444086" cy="1069848"/>
          </a:xfrm>
          <a:prstGeom prst="rect">
            <a:avLst/>
          </a:prstGeom>
          <a:noFill/>
          <a:ln/>
        </p:spPr>
        <p:txBody>
          <a:bodyPr wrap="square" rtlCol="0" anchor="ctr"/>
          <a:lstStyle/>
          <a:p>
            <a:pPr>
              <a:defRPr/>
            </a:pPr>
            <a:r>
              <a:rPr lang="en-US" sz="2025" b="1" dirty="0">
                <a:solidFill>
                  <a:schemeClr val="bg1"/>
                </a:solidFill>
                <a:latin typeface="Arial"/>
                <a:ea typeface="Calibri"/>
                <a:cs typeface="Arial"/>
              </a:rPr>
              <a:t>GIAI ĐOẠN B:</a:t>
            </a:r>
            <a:endParaRPr sz="2700" dirty="0">
              <a:latin typeface="Arial" panose="020B0604020202020204" pitchFamily="34" charset="0"/>
            </a:endParaRPr>
          </a:p>
          <a:p>
            <a:pPr>
              <a:defRPr/>
            </a:pPr>
            <a:r>
              <a:rPr lang="en-US" sz="2025" b="1" dirty="0">
                <a:solidFill>
                  <a:schemeClr val="bg1"/>
                </a:solidFill>
                <a:latin typeface="Arial"/>
                <a:ea typeface="Calibri"/>
                <a:cs typeface="Arial"/>
              </a:rPr>
              <a:t>TRIỂN KHAI THÍ ĐIỂM VÀ XÂY DỰNG HỆ THỐNG </a:t>
            </a:r>
          </a:p>
          <a:p>
            <a:pPr>
              <a:defRPr/>
            </a:pPr>
            <a:r>
              <a:rPr lang="en-US" sz="2025" b="1" dirty="0">
                <a:solidFill>
                  <a:schemeClr val="bg1"/>
                </a:solidFill>
                <a:latin typeface="Arial"/>
                <a:ea typeface="Calibri"/>
                <a:cs typeface="Arial"/>
              </a:rPr>
              <a:t>(5-6 THÁNG)</a:t>
            </a:r>
            <a:endParaRPr lang="en-US" sz="2025" b="1" dirty="0">
              <a:solidFill>
                <a:schemeClr val="bg1"/>
              </a:solidFill>
              <a:latin typeface="Arial"/>
              <a:cs typeface="Arial"/>
            </a:endParaRPr>
          </a:p>
        </p:txBody>
      </p:sp>
      <p:sp>
        <p:nvSpPr>
          <p:cNvPr id="64550319" name="Shape 9"/>
          <p:cNvSpPr/>
          <p:nvPr/>
        </p:nvSpPr>
        <p:spPr bwMode="auto">
          <a:xfrm>
            <a:off x="6814232" y="5488646"/>
            <a:ext cx="4616439" cy="68580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vi-VN">
                <a:latin typeface="Arial"/>
                <a:cs typeface="Arial"/>
              </a:rPr>
              <a:t>KVRR &amp; thước đo rủi ro</a:t>
            </a:r>
            <a:r>
              <a:rPr lang="en-US">
                <a:latin typeface="Arial"/>
                <a:cs typeface="Arial"/>
              </a:rPr>
              <a:t> cấp TT</a:t>
            </a:r>
            <a:endParaRPr lang="vi-VN">
              <a:latin typeface="Arial"/>
              <a:cs typeface="Arial"/>
            </a:endParaRPr>
          </a:p>
        </p:txBody>
      </p:sp>
      <p:sp>
        <p:nvSpPr>
          <p:cNvPr id="1935999357" name="Shape 12"/>
          <p:cNvSpPr/>
          <p:nvPr/>
        </p:nvSpPr>
        <p:spPr bwMode="auto">
          <a:xfrm>
            <a:off x="6814232" y="6295643"/>
            <a:ext cx="4616439" cy="68580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vi-VN">
                <a:latin typeface="Arial"/>
                <a:cs typeface="Arial"/>
              </a:rPr>
              <a:t>Xây dựng thư viện rủi ro &amp; xác định rủi ro trọng yếu</a:t>
            </a:r>
            <a:r>
              <a:rPr lang="en-US">
                <a:latin typeface="Arial"/>
                <a:cs typeface="Arial"/>
              </a:rPr>
              <a:t> cấp TT</a:t>
            </a:r>
            <a:endParaRPr lang="vi-VN">
              <a:latin typeface="Arial"/>
              <a:cs typeface="Arial"/>
            </a:endParaRPr>
          </a:p>
        </p:txBody>
      </p:sp>
      <p:sp>
        <p:nvSpPr>
          <p:cNvPr id="847640632" name="Shape 15"/>
          <p:cNvSpPr/>
          <p:nvPr/>
        </p:nvSpPr>
        <p:spPr bwMode="auto">
          <a:xfrm>
            <a:off x="6814232" y="7102640"/>
            <a:ext cx="4616439" cy="68580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dirty="0" err="1">
                <a:latin typeface="Arial"/>
                <a:cs typeface="Arial"/>
              </a:rPr>
              <a:t>Thiết</a:t>
            </a:r>
            <a:r>
              <a:rPr lang="en-US" dirty="0">
                <a:latin typeface="Arial"/>
                <a:cs typeface="Arial"/>
              </a:rPr>
              <a:t> </a:t>
            </a:r>
            <a:r>
              <a:rPr lang="en-US" dirty="0" err="1">
                <a:latin typeface="Arial"/>
                <a:cs typeface="Arial"/>
              </a:rPr>
              <a:t>lập</a:t>
            </a:r>
            <a:r>
              <a:rPr lang="en-US" dirty="0">
                <a:latin typeface="Arial"/>
                <a:cs typeface="Arial"/>
              </a:rPr>
              <a:t> KRI &amp; </a:t>
            </a:r>
            <a:r>
              <a:rPr lang="en-US" dirty="0" err="1">
                <a:latin typeface="Arial"/>
                <a:cs typeface="Arial"/>
              </a:rPr>
              <a:t>kế</a:t>
            </a:r>
            <a:r>
              <a:rPr lang="en-US" dirty="0">
                <a:latin typeface="Arial"/>
                <a:cs typeface="Arial"/>
              </a:rPr>
              <a:t> </a:t>
            </a:r>
            <a:r>
              <a:rPr lang="en-US" dirty="0" err="1">
                <a:latin typeface="Arial"/>
                <a:cs typeface="Arial"/>
              </a:rPr>
              <a:t>hoạch</a:t>
            </a:r>
            <a:r>
              <a:rPr lang="en-US" dirty="0">
                <a:latin typeface="Arial"/>
                <a:cs typeface="Arial"/>
              </a:rPr>
              <a:t> </a:t>
            </a:r>
            <a:r>
              <a:rPr lang="en-US" dirty="0" err="1">
                <a:latin typeface="Arial"/>
                <a:cs typeface="Arial"/>
              </a:rPr>
              <a:t>hành</a:t>
            </a:r>
            <a:r>
              <a:rPr lang="en-US" dirty="0">
                <a:latin typeface="Arial"/>
                <a:cs typeface="Arial"/>
              </a:rPr>
              <a:t> </a:t>
            </a:r>
            <a:r>
              <a:rPr lang="en-US" dirty="0" err="1">
                <a:latin typeface="Arial"/>
                <a:cs typeface="Arial"/>
              </a:rPr>
              <a:t>động</a:t>
            </a:r>
            <a:r>
              <a:rPr lang="en-US" dirty="0">
                <a:latin typeface="Arial"/>
                <a:cs typeface="Arial"/>
              </a:rPr>
              <a:t> </a:t>
            </a:r>
            <a:r>
              <a:rPr lang="en-US" dirty="0" err="1">
                <a:latin typeface="Arial"/>
                <a:cs typeface="Arial"/>
              </a:rPr>
              <a:t>xử</a:t>
            </a:r>
            <a:r>
              <a:rPr lang="en-US" dirty="0">
                <a:latin typeface="Arial"/>
                <a:cs typeface="Arial"/>
              </a:rPr>
              <a:t> </a:t>
            </a:r>
            <a:r>
              <a:rPr lang="en-US" dirty="0" err="1">
                <a:latin typeface="Arial"/>
                <a:cs typeface="Arial"/>
              </a:rPr>
              <a:t>lý</a:t>
            </a:r>
            <a:r>
              <a:rPr lang="en-US" dirty="0">
                <a:latin typeface="Arial"/>
                <a:cs typeface="Arial"/>
              </a:rPr>
              <a:t> </a:t>
            </a:r>
            <a:r>
              <a:rPr lang="en-US" dirty="0" err="1">
                <a:latin typeface="Arial"/>
                <a:cs typeface="Arial"/>
              </a:rPr>
              <a:t>rủi</a:t>
            </a:r>
            <a:r>
              <a:rPr lang="en-US" dirty="0">
                <a:latin typeface="Arial"/>
                <a:cs typeface="Arial"/>
              </a:rPr>
              <a:t> </a:t>
            </a:r>
            <a:r>
              <a:rPr lang="en-US" dirty="0" err="1">
                <a:latin typeface="Arial"/>
                <a:cs typeface="Arial"/>
              </a:rPr>
              <a:t>ro</a:t>
            </a:r>
            <a:r>
              <a:rPr lang="en-US" dirty="0">
                <a:latin typeface="Arial"/>
                <a:cs typeface="Arial"/>
              </a:rPr>
              <a:t> </a:t>
            </a:r>
            <a:r>
              <a:rPr lang="en-US" dirty="0" err="1">
                <a:latin typeface="Arial"/>
                <a:cs typeface="Arial"/>
              </a:rPr>
              <a:t>của</a:t>
            </a:r>
            <a:r>
              <a:rPr lang="en-US" dirty="0">
                <a:latin typeface="Arial"/>
                <a:cs typeface="Arial"/>
              </a:rPr>
              <a:t> TT VHKT</a:t>
            </a:r>
            <a:endParaRPr sz="2700" dirty="0">
              <a:latin typeface="Arial" panose="020B0604020202020204" pitchFamily="34" charset="0"/>
            </a:endParaRPr>
          </a:p>
        </p:txBody>
      </p:sp>
      <p:sp>
        <p:nvSpPr>
          <p:cNvPr id="344192851" name="Shape 18"/>
          <p:cNvSpPr/>
          <p:nvPr/>
        </p:nvSpPr>
        <p:spPr bwMode="auto">
          <a:xfrm>
            <a:off x="6814232" y="7896162"/>
            <a:ext cx="4616439" cy="68580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dirty="0" err="1">
                <a:latin typeface="Arial"/>
                <a:cs typeface="Arial"/>
              </a:rPr>
              <a:t>Nghiên</a:t>
            </a:r>
            <a:r>
              <a:rPr lang="en-US" dirty="0">
                <a:latin typeface="Arial"/>
                <a:cs typeface="Arial"/>
              </a:rPr>
              <a:t> </a:t>
            </a:r>
            <a:r>
              <a:rPr lang="en-US" dirty="0" err="1">
                <a:latin typeface="Arial"/>
                <a:cs typeface="Arial"/>
              </a:rPr>
              <a:t>cứu</a:t>
            </a:r>
            <a:r>
              <a:rPr lang="en-US" dirty="0">
                <a:latin typeface="Arial"/>
                <a:cs typeface="Arial"/>
              </a:rPr>
              <a:t> </a:t>
            </a:r>
            <a:r>
              <a:rPr lang="en-US" dirty="0" err="1">
                <a:latin typeface="Arial"/>
                <a:cs typeface="Arial"/>
              </a:rPr>
              <a:t>giải</a:t>
            </a:r>
            <a:r>
              <a:rPr lang="en-US" dirty="0">
                <a:latin typeface="Arial"/>
                <a:cs typeface="Arial"/>
              </a:rPr>
              <a:t> </a:t>
            </a:r>
            <a:r>
              <a:rPr lang="en-US" dirty="0" err="1">
                <a:latin typeface="Arial"/>
                <a:cs typeface="Arial"/>
              </a:rPr>
              <a:t>pháp</a:t>
            </a:r>
            <a:r>
              <a:rPr lang="en-US" dirty="0">
                <a:latin typeface="Arial"/>
                <a:cs typeface="Arial"/>
              </a:rPr>
              <a:t> Dashboard, </a:t>
            </a:r>
            <a:r>
              <a:rPr lang="en-US" dirty="0" err="1">
                <a:latin typeface="Arial"/>
                <a:cs typeface="Arial"/>
              </a:rPr>
              <a:t>công</a:t>
            </a:r>
            <a:r>
              <a:rPr lang="en-US" dirty="0">
                <a:latin typeface="Arial"/>
                <a:cs typeface="Arial"/>
              </a:rPr>
              <a:t> </a:t>
            </a:r>
            <a:r>
              <a:rPr lang="en-US" dirty="0" err="1">
                <a:latin typeface="Arial"/>
                <a:cs typeface="Arial"/>
              </a:rPr>
              <a:t>cụ</a:t>
            </a:r>
            <a:r>
              <a:rPr lang="en-US" dirty="0">
                <a:latin typeface="Arial"/>
                <a:cs typeface="Arial"/>
              </a:rPr>
              <a:t> QTRR</a:t>
            </a:r>
            <a:endParaRPr sz="2700" dirty="0">
              <a:latin typeface="Arial" panose="020B0604020202020204" pitchFamily="34" charset="0"/>
            </a:endParaRPr>
          </a:p>
        </p:txBody>
      </p:sp>
      <p:sp>
        <p:nvSpPr>
          <p:cNvPr id="1345928274" name="Shape 9"/>
          <p:cNvSpPr/>
          <p:nvPr/>
        </p:nvSpPr>
        <p:spPr bwMode="auto">
          <a:xfrm>
            <a:off x="6654861" y="4119176"/>
            <a:ext cx="4758171" cy="1234598"/>
          </a:xfrm>
          <a:prstGeom prst="roundRect">
            <a:avLst>
              <a:gd name="adj" fmla="val 12000"/>
            </a:avLst>
          </a:prstGeom>
          <a:noFill/>
          <a:ln/>
        </p:spPr>
        <p:txBody>
          <a:bodyPr anchor="ctr"/>
          <a:lstStyle/>
          <a:p>
            <a:pPr algn="just">
              <a:buClr>
                <a:schemeClr val="tx2">
                  <a:lumMod val="50000"/>
                </a:schemeClr>
              </a:buClr>
              <a:buSzPct val="200000"/>
              <a:defRPr/>
            </a:pPr>
            <a:r>
              <a:rPr lang="en-US" sz="1650" i="1" dirty="0">
                <a:solidFill>
                  <a:schemeClr val="bg1"/>
                </a:solidFill>
                <a:latin typeface="Arial"/>
                <a:cs typeface="Arial"/>
              </a:rPr>
              <a:t>Giai </a:t>
            </a:r>
            <a:r>
              <a:rPr lang="en-US" sz="1650" i="1" dirty="0" err="1">
                <a:solidFill>
                  <a:schemeClr val="bg1"/>
                </a:solidFill>
                <a:latin typeface="Arial"/>
                <a:cs typeface="Arial"/>
              </a:rPr>
              <a:t>đoạn</a:t>
            </a:r>
            <a:r>
              <a:rPr lang="en-US" sz="1650" i="1" dirty="0">
                <a:solidFill>
                  <a:schemeClr val="bg1"/>
                </a:solidFill>
                <a:latin typeface="Arial"/>
                <a:cs typeface="Arial"/>
              </a:rPr>
              <a:t> </a:t>
            </a:r>
            <a:r>
              <a:rPr lang="en-US" sz="1650" i="1" dirty="0" err="1">
                <a:solidFill>
                  <a:schemeClr val="bg1"/>
                </a:solidFill>
                <a:latin typeface="Arial"/>
                <a:cs typeface="Arial"/>
              </a:rPr>
              <a:t>thí</a:t>
            </a:r>
            <a:r>
              <a:rPr lang="en-US" sz="1650" i="1" dirty="0">
                <a:solidFill>
                  <a:schemeClr val="bg1"/>
                </a:solidFill>
                <a:latin typeface="Arial"/>
                <a:cs typeface="Arial"/>
              </a:rPr>
              <a:t> </a:t>
            </a:r>
            <a:r>
              <a:rPr lang="en-US" sz="1650" i="1" dirty="0" err="1">
                <a:solidFill>
                  <a:schemeClr val="bg1"/>
                </a:solidFill>
                <a:latin typeface="Arial"/>
                <a:cs typeface="Arial"/>
              </a:rPr>
              <a:t>điểm</a:t>
            </a:r>
            <a:r>
              <a:rPr lang="en-US" sz="1650" i="1" dirty="0">
                <a:solidFill>
                  <a:schemeClr val="bg1"/>
                </a:solidFill>
                <a:latin typeface="Arial"/>
                <a:cs typeface="Arial"/>
              </a:rPr>
              <a:t> </a:t>
            </a:r>
            <a:r>
              <a:rPr lang="en-US" sz="1650" i="1" dirty="0" err="1">
                <a:solidFill>
                  <a:schemeClr val="bg1"/>
                </a:solidFill>
                <a:latin typeface="Arial"/>
                <a:cs typeface="Arial"/>
              </a:rPr>
              <a:t>tại</a:t>
            </a:r>
            <a:r>
              <a:rPr lang="en-US" sz="1650" i="1" dirty="0">
                <a:solidFill>
                  <a:schemeClr val="bg1"/>
                </a:solidFill>
                <a:latin typeface="Arial"/>
                <a:cs typeface="Arial"/>
              </a:rPr>
              <a:t> TT VHKT </a:t>
            </a:r>
            <a:r>
              <a:rPr lang="en-US" sz="1650" i="1" dirty="0" err="1">
                <a:solidFill>
                  <a:schemeClr val="bg1"/>
                </a:solidFill>
                <a:latin typeface="Arial"/>
                <a:cs typeface="Arial"/>
              </a:rPr>
              <a:t>dựa</a:t>
            </a:r>
            <a:r>
              <a:rPr lang="en-US" sz="1650" i="1" dirty="0">
                <a:solidFill>
                  <a:schemeClr val="bg1"/>
                </a:solidFill>
                <a:latin typeface="Arial"/>
                <a:cs typeface="Arial"/>
              </a:rPr>
              <a:t> </a:t>
            </a:r>
            <a:r>
              <a:rPr lang="en-US" sz="1650" i="1" dirty="0" err="1">
                <a:solidFill>
                  <a:schemeClr val="bg1"/>
                </a:solidFill>
                <a:latin typeface="Arial"/>
                <a:cs typeface="Arial"/>
              </a:rPr>
              <a:t>trên</a:t>
            </a:r>
            <a:r>
              <a:rPr lang="en-US" sz="1650" i="1" dirty="0">
                <a:solidFill>
                  <a:schemeClr val="bg1"/>
                </a:solidFill>
                <a:latin typeface="Arial"/>
                <a:cs typeface="Arial"/>
              </a:rPr>
              <a:t> </a:t>
            </a:r>
            <a:r>
              <a:rPr lang="en-US" sz="1650" i="1" dirty="0" err="1">
                <a:solidFill>
                  <a:schemeClr val="bg1"/>
                </a:solidFill>
                <a:latin typeface="Arial"/>
                <a:cs typeface="Arial"/>
              </a:rPr>
              <a:t>đặc</a:t>
            </a:r>
            <a:r>
              <a:rPr lang="en-US" sz="1650" i="1" dirty="0">
                <a:solidFill>
                  <a:schemeClr val="bg1"/>
                </a:solidFill>
                <a:latin typeface="Arial"/>
                <a:cs typeface="Arial"/>
              </a:rPr>
              <a:t> </a:t>
            </a:r>
            <a:r>
              <a:rPr lang="en-US" sz="1650" i="1" dirty="0" err="1">
                <a:solidFill>
                  <a:schemeClr val="bg1"/>
                </a:solidFill>
                <a:latin typeface="Arial"/>
                <a:cs typeface="Arial"/>
              </a:rPr>
              <a:t>thù</a:t>
            </a:r>
            <a:r>
              <a:rPr lang="en-US" sz="1650" i="1" dirty="0">
                <a:solidFill>
                  <a:schemeClr val="bg1"/>
                </a:solidFill>
                <a:latin typeface="Arial"/>
                <a:cs typeface="Arial"/>
              </a:rPr>
              <a:t> </a:t>
            </a:r>
            <a:r>
              <a:rPr lang="en-US" sz="1650" i="1" dirty="0" err="1">
                <a:solidFill>
                  <a:schemeClr val="bg1"/>
                </a:solidFill>
                <a:latin typeface="Arial"/>
                <a:cs typeface="Arial"/>
              </a:rPr>
              <a:t>của</a:t>
            </a:r>
            <a:r>
              <a:rPr lang="en-US" sz="1650" i="1" dirty="0">
                <a:solidFill>
                  <a:schemeClr val="bg1"/>
                </a:solidFill>
                <a:latin typeface="Arial"/>
                <a:cs typeface="Arial"/>
              </a:rPr>
              <a:t> TT, </a:t>
            </a:r>
            <a:r>
              <a:rPr lang="en-US" sz="1650" i="1" dirty="0" err="1">
                <a:solidFill>
                  <a:schemeClr val="bg1"/>
                </a:solidFill>
                <a:latin typeface="Arial"/>
                <a:cs typeface="Arial"/>
              </a:rPr>
              <a:t>làm</a:t>
            </a:r>
            <a:r>
              <a:rPr lang="en-US" sz="1650" i="1" dirty="0">
                <a:solidFill>
                  <a:schemeClr val="bg1"/>
                </a:solidFill>
                <a:latin typeface="Arial"/>
                <a:cs typeface="Arial"/>
              </a:rPr>
              <a:t> </a:t>
            </a:r>
            <a:r>
              <a:rPr lang="en-US" sz="1650" i="1" dirty="0" err="1">
                <a:solidFill>
                  <a:schemeClr val="bg1"/>
                </a:solidFill>
                <a:latin typeface="Arial"/>
                <a:cs typeface="Arial"/>
              </a:rPr>
              <a:t>tiền</a:t>
            </a:r>
            <a:r>
              <a:rPr lang="en-US" sz="1650" i="1" dirty="0">
                <a:solidFill>
                  <a:schemeClr val="bg1"/>
                </a:solidFill>
                <a:latin typeface="Arial"/>
                <a:cs typeface="Arial"/>
              </a:rPr>
              <a:t> </a:t>
            </a:r>
            <a:r>
              <a:rPr lang="en-US" sz="1650" i="1" dirty="0" err="1">
                <a:solidFill>
                  <a:schemeClr val="bg1"/>
                </a:solidFill>
                <a:latin typeface="Arial"/>
                <a:cs typeface="Arial"/>
              </a:rPr>
              <a:t>đề</a:t>
            </a:r>
            <a:r>
              <a:rPr lang="en-US" sz="1650" i="1" dirty="0">
                <a:solidFill>
                  <a:schemeClr val="bg1"/>
                </a:solidFill>
                <a:latin typeface="Arial"/>
                <a:cs typeface="Arial"/>
              </a:rPr>
              <a:t> </a:t>
            </a:r>
            <a:r>
              <a:rPr lang="en-US" sz="1650" i="1" dirty="0" err="1">
                <a:solidFill>
                  <a:schemeClr val="bg1"/>
                </a:solidFill>
                <a:latin typeface="Arial"/>
                <a:cs typeface="Arial"/>
              </a:rPr>
              <a:t>triển</a:t>
            </a:r>
            <a:r>
              <a:rPr lang="en-US" sz="1650" i="1" dirty="0">
                <a:solidFill>
                  <a:schemeClr val="bg1"/>
                </a:solidFill>
                <a:latin typeface="Arial"/>
                <a:cs typeface="Arial"/>
              </a:rPr>
              <a:t> </a:t>
            </a:r>
            <a:r>
              <a:rPr lang="en-US" sz="1650" i="1" dirty="0" err="1">
                <a:solidFill>
                  <a:schemeClr val="bg1"/>
                </a:solidFill>
                <a:latin typeface="Arial"/>
                <a:cs typeface="Arial"/>
              </a:rPr>
              <a:t>khai</a:t>
            </a:r>
            <a:r>
              <a:rPr lang="en-US" sz="1650" i="1" dirty="0">
                <a:solidFill>
                  <a:schemeClr val="bg1"/>
                </a:solidFill>
                <a:latin typeface="Arial"/>
                <a:cs typeface="Arial"/>
              </a:rPr>
              <a:t> </a:t>
            </a:r>
            <a:r>
              <a:rPr lang="en-US" sz="1650" i="1" dirty="0" err="1">
                <a:solidFill>
                  <a:schemeClr val="bg1"/>
                </a:solidFill>
                <a:latin typeface="Arial"/>
                <a:cs typeface="Arial"/>
              </a:rPr>
              <a:t>trên</a:t>
            </a:r>
            <a:r>
              <a:rPr lang="en-US" sz="1650" i="1" dirty="0">
                <a:solidFill>
                  <a:schemeClr val="bg1"/>
                </a:solidFill>
                <a:latin typeface="Arial"/>
                <a:cs typeface="Arial"/>
              </a:rPr>
              <a:t> </a:t>
            </a:r>
            <a:r>
              <a:rPr lang="en-US" sz="1650" i="1" dirty="0" err="1">
                <a:solidFill>
                  <a:schemeClr val="bg1"/>
                </a:solidFill>
                <a:latin typeface="Arial"/>
                <a:cs typeface="Arial"/>
              </a:rPr>
              <a:t>toàn</a:t>
            </a:r>
            <a:r>
              <a:rPr lang="en-US" sz="1650" i="1" dirty="0">
                <a:solidFill>
                  <a:schemeClr val="bg1"/>
                </a:solidFill>
                <a:latin typeface="Arial"/>
                <a:cs typeface="Arial"/>
              </a:rPr>
              <a:t> TCT. Bao </a:t>
            </a:r>
            <a:r>
              <a:rPr lang="en-US" sz="1650" i="1" dirty="0" err="1">
                <a:solidFill>
                  <a:schemeClr val="bg1"/>
                </a:solidFill>
                <a:latin typeface="Arial"/>
                <a:cs typeface="Arial"/>
              </a:rPr>
              <a:t>gồm</a:t>
            </a:r>
            <a:r>
              <a:rPr lang="en-US" sz="1650" i="1" dirty="0">
                <a:solidFill>
                  <a:schemeClr val="bg1"/>
                </a:solidFill>
                <a:latin typeface="Arial"/>
                <a:cs typeface="Arial"/>
              </a:rPr>
              <a:t> </a:t>
            </a:r>
            <a:r>
              <a:rPr lang="en-US" sz="1650" i="1" dirty="0" err="1">
                <a:solidFill>
                  <a:schemeClr val="bg1"/>
                </a:solidFill>
                <a:latin typeface="Arial"/>
                <a:cs typeface="Arial"/>
              </a:rPr>
              <a:t>các</a:t>
            </a:r>
            <a:r>
              <a:rPr lang="en-US" sz="1650" i="1" dirty="0">
                <a:solidFill>
                  <a:schemeClr val="bg1"/>
                </a:solidFill>
                <a:latin typeface="Arial"/>
                <a:cs typeface="Arial"/>
              </a:rPr>
              <a:t> </a:t>
            </a:r>
            <a:r>
              <a:rPr lang="en-US" sz="1650" i="1" dirty="0" err="1">
                <a:solidFill>
                  <a:schemeClr val="bg1"/>
                </a:solidFill>
                <a:latin typeface="Arial"/>
                <a:cs typeface="Arial"/>
              </a:rPr>
              <a:t>cấu</a:t>
            </a:r>
            <a:r>
              <a:rPr lang="en-US" sz="1650" i="1" dirty="0">
                <a:solidFill>
                  <a:schemeClr val="bg1"/>
                </a:solidFill>
                <a:latin typeface="Arial"/>
                <a:cs typeface="Arial"/>
              </a:rPr>
              <a:t> </a:t>
            </a:r>
            <a:r>
              <a:rPr lang="en-US" sz="1650" i="1" dirty="0" err="1">
                <a:solidFill>
                  <a:schemeClr val="bg1"/>
                </a:solidFill>
                <a:latin typeface="Arial"/>
                <a:cs typeface="Arial"/>
              </a:rPr>
              <a:t>phần</a:t>
            </a:r>
            <a:r>
              <a:rPr lang="en-US" sz="1650" i="1" dirty="0">
                <a:solidFill>
                  <a:schemeClr val="bg1"/>
                </a:solidFill>
                <a:latin typeface="Arial"/>
                <a:cs typeface="Arial"/>
              </a:rPr>
              <a:t>/ </a:t>
            </a:r>
            <a:r>
              <a:rPr lang="en-US" sz="1650" i="1" dirty="0" err="1">
                <a:solidFill>
                  <a:schemeClr val="bg1"/>
                </a:solidFill>
                <a:latin typeface="Arial"/>
                <a:cs typeface="Arial"/>
              </a:rPr>
              <a:t>hoạt</a:t>
            </a:r>
            <a:r>
              <a:rPr lang="en-US" sz="1650" i="1" dirty="0">
                <a:solidFill>
                  <a:schemeClr val="bg1"/>
                </a:solidFill>
                <a:latin typeface="Arial"/>
                <a:cs typeface="Arial"/>
              </a:rPr>
              <a:t> </a:t>
            </a:r>
            <a:r>
              <a:rPr lang="en-US" sz="1650" i="1" dirty="0" err="1">
                <a:solidFill>
                  <a:schemeClr val="bg1"/>
                </a:solidFill>
                <a:latin typeface="Arial"/>
                <a:cs typeface="Arial"/>
              </a:rPr>
              <a:t>động</a:t>
            </a:r>
            <a:r>
              <a:rPr lang="en-US" sz="1650" i="1" dirty="0">
                <a:solidFill>
                  <a:schemeClr val="bg1"/>
                </a:solidFill>
                <a:latin typeface="Arial"/>
                <a:cs typeface="Arial"/>
              </a:rPr>
              <a:t> </a:t>
            </a:r>
            <a:r>
              <a:rPr lang="en-US" sz="1650" i="1" dirty="0" err="1">
                <a:solidFill>
                  <a:schemeClr val="bg1"/>
                </a:solidFill>
                <a:latin typeface="Arial"/>
                <a:cs typeface="Arial"/>
              </a:rPr>
              <a:t>sau</a:t>
            </a:r>
            <a:r>
              <a:rPr lang="en-US" sz="1650" i="1" dirty="0">
                <a:solidFill>
                  <a:schemeClr val="bg1"/>
                </a:solidFill>
                <a:latin typeface="Arial"/>
                <a:cs typeface="Arial"/>
              </a:rPr>
              <a:t>:</a:t>
            </a:r>
            <a:endParaRPr sz="2700" dirty="0">
              <a:latin typeface="Arial" panose="020B0604020202020204" pitchFamily="34" charset="0"/>
            </a:endParaRPr>
          </a:p>
        </p:txBody>
      </p:sp>
      <p:sp>
        <p:nvSpPr>
          <p:cNvPr id="550004695" name="Shape 6"/>
          <p:cNvSpPr/>
          <p:nvPr/>
        </p:nvSpPr>
        <p:spPr bwMode="auto">
          <a:xfrm>
            <a:off x="12374880" y="2933808"/>
            <a:ext cx="1188720" cy="1188720"/>
          </a:xfrm>
          <a:prstGeom prst="ellipse">
            <a:avLst/>
          </a:prstGeom>
          <a:solidFill>
            <a:schemeClr val="bg1"/>
          </a:solidFill>
          <a:ln/>
        </p:spPr>
        <p:txBody>
          <a:bodyPr/>
          <a:lstStyle/>
          <a:p>
            <a:endParaRPr lang="en-US"/>
          </a:p>
        </p:txBody>
      </p:sp>
      <p:pic>
        <p:nvPicPr>
          <p:cNvPr id="580415704" name="Image 1" descr="preencoded.png"/>
          <p:cNvPicPr>
            <a:picLocks noChangeAspect="1"/>
          </p:cNvPicPr>
          <p:nvPr/>
        </p:nvPicPr>
        <p:blipFill rotWithShape="1">
          <a:blip r:embed="rId5"/>
          <a:stretch/>
        </p:blipFill>
        <p:spPr bwMode="auto">
          <a:xfrm>
            <a:off x="12512040" y="3105899"/>
            <a:ext cx="914400" cy="914400"/>
          </a:xfrm>
          <a:prstGeom prst="rect">
            <a:avLst/>
          </a:prstGeom>
        </p:spPr>
      </p:pic>
      <p:sp>
        <p:nvSpPr>
          <p:cNvPr id="522338645" name="Text 7"/>
          <p:cNvSpPr/>
          <p:nvPr/>
        </p:nvSpPr>
        <p:spPr bwMode="auto">
          <a:xfrm>
            <a:off x="13694827" y="3038394"/>
            <a:ext cx="3444086" cy="1069848"/>
          </a:xfrm>
          <a:prstGeom prst="rect">
            <a:avLst/>
          </a:prstGeom>
          <a:noFill/>
          <a:ln/>
        </p:spPr>
        <p:txBody>
          <a:bodyPr wrap="square" rtlCol="0" anchor="ctr"/>
          <a:lstStyle/>
          <a:p>
            <a:pPr>
              <a:defRPr/>
            </a:pPr>
            <a:r>
              <a:rPr lang="en-US" sz="2025" b="1" dirty="0">
                <a:solidFill>
                  <a:schemeClr val="bg1"/>
                </a:solidFill>
                <a:latin typeface="Arial"/>
                <a:ea typeface="Calibri"/>
                <a:cs typeface="Arial"/>
              </a:rPr>
              <a:t>GIAI ĐOẠN C:</a:t>
            </a:r>
            <a:endParaRPr sz="2700" dirty="0">
              <a:latin typeface="Arial" panose="020B0604020202020204" pitchFamily="34" charset="0"/>
            </a:endParaRPr>
          </a:p>
          <a:p>
            <a:pPr>
              <a:defRPr/>
            </a:pPr>
            <a:r>
              <a:rPr lang="en-US" sz="2025" b="1" dirty="0">
                <a:solidFill>
                  <a:schemeClr val="bg1"/>
                </a:solidFill>
                <a:latin typeface="Arial"/>
                <a:ea typeface="Calibri"/>
                <a:cs typeface="Arial"/>
              </a:rPr>
              <a:t>TRIỂN KHAI NHÂN RỘNG (6 THÁNG)</a:t>
            </a:r>
            <a:endParaRPr lang="en-US" sz="2025" b="1" dirty="0">
              <a:solidFill>
                <a:schemeClr val="bg1"/>
              </a:solidFill>
              <a:latin typeface="Arial"/>
              <a:cs typeface="Arial"/>
            </a:endParaRPr>
          </a:p>
        </p:txBody>
      </p:sp>
      <p:sp>
        <p:nvSpPr>
          <p:cNvPr id="514869460" name="Shape 9"/>
          <p:cNvSpPr/>
          <p:nvPr/>
        </p:nvSpPr>
        <p:spPr bwMode="auto">
          <a:xfrm>
            <a:off x="12423432" y="5488646"/>
            <a:ext cx="4616439" cy="879348"/>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a:latin typeface="Arial"/>
                <a:cs typeface="Arial"/>
              </a:rPr>
              <a:t>Tổng kết bài học từ giai đoạn thí điểm</a:t>
            </a:r>
            <a:endParaRPr lang="vi-VN">
              <a:latin typeface="Arial"/>
              <a:cs typeface="Arial"/>
            </a:endParaRPr>
          </a:p>
        </p:txBody>
      </p:sp>
      <p:sp>
        <p:nvSpPr>
          <p:cNvPr id="2060040597" name="Shape 12"/>
          <p:cNvSpPr/>
          <p:nvPr/>
        </p:nvSpPr>
        <p:spPr bwMode="auto">
          <a:xfrm>
            <a:off x="12423432" y="6485518"/>
            <a:ext cx="4616439" cy="896570"/>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a:latin typeface="Arial"/>
                <a:cs typeface="Arial"/>
              </a:rPr>
              <a:t>Chuẩn hóa mô hình QTRR và triển khai thực tế trên toàn TCT</a:t>
            </a:r>
            <a:endParaRPr lang="vi-VN">
              <a:latin typeface="Arial"/>
              <a:cs typeface="Arial"/>
            </a:endParaRPr>
          </a:p>
        </p:txBody>
      </p:sp>
      <p:sp>
        <p:nvSpPr>
          <p:cNvPr id="1475061227" name="Shape 15"/>
          <p:cNvSpPr/>
          <p:nvPr/>
        </p:nvSpPr>
        <p:spPr bwMode="auto">
          <a:xfrm>
            <a:off x="12439800" y="7499610"/>
            <a:ext cx="4616439" cy="977646"/>
          </a:xfrm>
          <a:prstGeom prst="roundRect">
            <a:avLst>
              <a:gd name="adj" fmla="val 12000"/>
            </a:avLst>
          </a:prstGeom>
          <a:solidFill>
            <a:srgbClr val="FFFFFF"/>
          </a:solidFill>
          <a:ln/>
        </p:spPr>
        <p:txBody>
          <a:bodyPr anchor="ctr"/>
          <a:lstStyle/>
          <a:p>
            <a:pPr>
              <a:buClr>
                <a:schemeClr val="tx2">
                  <a:lumMod val="50000"/>
                </a:schemeClr>
              </a:buClr>
              <a:buSzPct val="200000"/>
              <a:defRPr/>
            </a:pPr>
            <a:r>
              <a:rPr lang="en-US" dirty="0">
                <a:latin typeface="Arial"/>
                <a:cs typeface="Arial"/>
              </a:rPr>
              <a:t>Theo </a:t>
            </a:r>
            <a:r>
              <a:rPr lang="en-US" dirty="0" err="1">
                <a:latin typeface="Arial"/>
                <a:cs typeface="Arial"/>
              </a:rPr>
              <a:t>dõi</a:t>
            </a:r>
            <a:r>
              <a:rPr lang="en-US" dirty="0">
                <a:latin typeface="Arial"/>
                <a:cs typeface="Arial"/>
              </a:rPr>
              <a:t> </a:t>
            </a:r>
            <a:r>
              <a:rPr lang="en-US" dirty="0" err="1">
                <a:latin typeface="Arial"/>
                <a:cs typeface="Arial"/>
              </a:rPr>
              <a:t>hiệu</a:t>
            </a:r>
            <a:r>
              <a:rPr lang="en-US" dirty="0">
                <a:latin typeface="Arial"/>
                <a:cs typeface="Arial"/>
              </a:rPr>
              <a:t> </a:t>
            </a:r>
            <a:r>
              <a:rPr lang="en-US" dirty="0" err="1">
                <a:latin typeface="Arial"/>
                <a:cs typeface="Arial"/>
              </a:rPr>
              <a:t>quả</a:t>
            </a:r>
            <a:r>
              <a:rPr lang="en-US" dirty="0">
                <a:latin typeface="Arial"/>
                <a:cs typeface="Arial"/>
              </a:rPr>
              <a:t> </a:t>
            </a:r>
            <a:r>
              <a:rPr lang="en-US" dirty="0" err="1">
                <a:latin typeface="Arial"/>
                <a:cs typeface="Arial"/>
              </a:rPr>
              <a:t>và</a:t>
            </a:r>
            <a:r>
              <a:rPr lang="en-US" dirty="0">
                <a:latin typeface="Arial"/>
                <a:cs typeface="Arial"/>
              </a:rPr>
              <a:t> </a:t>
            </a:r>
            <a:r>
              <a:rPr lang="en-US" dirty="0" err="1">
                <a:latin typeface="Arial"/>
                <a:cs typeface="Arial"/>
              </a:rPr>
              <a:t>hiệu</a:t>
            </a:r>
            <a:r>
              <a:rPr lang="en-US" dirty="0">
                <a:latin typeface="Arial"/>
                <a:cs typeface="Arial"/>
              </a:rPr>
              <a:t> </a:t>
            </a:r>
            <a:r>
              <a:rPr lang="en-US" dirty="0" err="1">
                <a:latin typeface="Arial"/>
                <a:cs typeface="Arial"/>
              </a:rPr>
              <a:t>chỉnh</a:t>
            </a:r>
            <a:endParaRPr sz="2700" dirty="0">
              <a:latin typeface="Arial" panose="020B0604020202020204" pitchFamily="34" charset="0"/>
            </a:endParaRPr>
          </a:p>
        </p:txBody>
      </p:sp>
      <p:sp>
        <p:nvSpPr>
          <p:cNvPr id="113485890" name="Shape 9"/>
          <p:cNvSpPr/>
          <p:nvPr/>
        </p:nvSpPr>
        <p:spPr bwMode="auto">
          <a:xfrm>
            <a:off x="12361128" y="4226996"/>
            <a:ext cx="4758171" cy="1234598"/>
          </a:xfrm>
          <a:prstGeom prst="roundRect">
            <a:avLst>
              <a:gd name="adj" fmla="val 12000"/>
            </a:avLst>
          </a:prstGeom>
          <a:noFill/>
          <a:ln/>
        </p:spPr>
        <p:txBody>
          <a:bodyPr anchor="ctr"/>
          <a:lstStyle/>
          <a:p>
            <a:pPr algn="just">
              <a:buClr>
                <a:schemeClr val="tx2">
                  <a:lumMod val="50000"/>
                </a:schemeClr>
              </a:buClr>
              <a:buSzPct val="200000"/>
              <a:defRPr/>
            </a:pPr>
            <a:r>
              <a:rPr lang="en-US" sz="1650" i="1" dirty="0" err="1">
                <a:solidFill>
                  <a:schemeClr val="bg1"/>
                </a:solidFill>
                <a:latin typeface="Arial"/>
                <a:cs typeface="Arial"/>
              </a:rPr>
              <a:t>Dựa</a:t>
            </a:r>
            <a:r>
              <a:rPr lang="en-US" sz="1650" i="1" dirty="0">
                <a:solidFill>
                  <a:schemeClr val="bg1"/>
                </a:solidFill>
                <a:latin typeface="Arial"/>
                <a:cs typeface="Arial"/>
              </a:rPr>
              <a:t> </a:t>
            </a:r>
            <a:r>
              <a:rPr lang="en-US" sz="1650" i="1" dirty="0" err="1">
                <a:solidFill>
                  <a:schemeClr val="bg1"/>
                </a:solidFill>
                <a:latin typeface="Arial"/>
                <a:cs typeface="Arial"/>
              </a:rPr>
              <a:t>trên</a:t>
            </a:r>
            <a:r>
              <a:rPr lang="en-US" sz="1650" i="1" dirty="0">
                <a:solidFill>
                  <a:schemeClr val="bg1"/>
                </a:solidFill>
                <a:latin typeface="Arial"/>
                <a:cs typeface="Arial"/>
              </a:rPr>
              <a:t> </a:t>
            </a:r>
            <a:r>
              <a:rPr lang="en-US" sz="1650" i="1" dirty="0" err="1">
                <a:solidFill>
                  <a:schemeClr val="bg1"/>
                </a:solidFill>
                <a:latin typeface="Arial"/>
                <a:cs typeface="Arial"/>
              </a:rPr>
              <a:t>thành</a:t>
            </a:r>
            <a:r>
              <a:rPr lang="en-US" sz="1650" i="1" dirty="0">
                <a:solidFill>
                  <a:schemeClr val="bg1"/>
                </a:solidFill>
                <a:latin typeface="Arial"/>
                <a:cs typeface="Arial"/>
              </a:rPr>
              <a:t> </a:t>
            </a:r>
            <a:r>
              <a:rPr lang="en-US" sz="1650" i="1" dirty="0" err="1">
                <a:solidFill>
                  <a:schemeClr val="bg1"/>
                </a:solidFill>
                <a:latin typeface="Arial"/>
                <a:cs typeface="Arial"/>
              </a:rPr>
              <a:t>quả</a:t>
            </a:r>
            <a:r>
              <a:rPr lang="en-US" sz="1650" i="1" dirty="0">
                <a:solidFill>
                  <a:schemeClr val="bg1"/>
                </a:solidFill>
                <a:latin typeface="Arial"/>
                <a:cs typeface="Arial"/>
              </a:rPr>
              <a:t> </a:t>
            </a:r>
            <a:r>
              <a:rPr lang="en-US" sz="1650" i="1" dirty="0" err="1">
                <a:solidFill>
                  <a:schemeClr val="bg1"/>
                </a:solidFill>
                <a:latin typeface="Arial"/>
                <a:cs typeface="Arial"/>
              </a:rPr>
              <a:t>của</a:t>
            </a:r>
            <a:r>
              <a:rPr lang="en-US" sz="1650" i="1" dirty="0">
                <a:solidFill>
                  <a:schemeClr val="bg1"/>
                </a:solidFill>
                <a:latin typeface="Arial"/>
                <a:cs typeface="Arial"/>
              </a:rPr>
              <a:t> </a:t>
            </a:r>
            <a:r>
              <a:rPr lang="en-US" sz="1650" i="1" dirty="0" err="1">
                <a:solidFill>
                  <a:schemeClr val="bg1"/>
                </a:solidFill>
                <a:latin typeface="Arial"/>
                <a:cs typeface="Arial"/>
              </a:rPr>
              <a:t>giai</a:t>
            </a:r>
            <a:r>
              <a:rPr lang="en-US" sz="1650" i="1" dirty="0">
                <a:solidFill>
                  <a:schemeClr val="bg1"/>
                </a:solidFill>
                <a:latin typeface="Arial"/>
                <a:cs typeface="Arial"/>
              </a:rPr>
              <a:t> </a:t>
            </a:r>
            <a:r>
              <a:rPr lang="en-US" sz="1650" i="1" dirty="0" err="1">
                <a:solidFill>
                  <a:schemeClr val="bg1"/>
                </a:solidFill>
                <a:latin typeface="Arial"/>
                <a:cs typeface="Arial"/>
              </a:rPr>
              <a:t>đoạn</a:t>
            </a:r>
            <a:r>
              <a:rPr lang="en-US" sz="1650" i="1" dirty="0">
                <a:solidFill>
                  <a:schemeClr val="bg1"/>
                </a:solidFill>
                <a:latin typeface="Arial"/>
                <a:cs typeface="Arial"/>
              </a:rPr>
              <a:t> </a:t>
            </a:r>
            <a:r>
              <a:rPr lang="en-US" sz="1650" i="1" dirty="0" err="1">
                <a:solidFill>
                  <a:schemeClr val="bg1"/>
                </a:solidFill>
                <a:latin typeface="Arial"/>
                <a:cs typeface="Arial"/>
              </a:rPr>
              <a:t>trước</a:t>
            </a:r>
            <a:r>
              <a:rPr lang="en-US" sz="1650" i="1" dirty="0">
                <a:solidFill>
                  <a:schemeClr val="bg1"/>
                </a:solidFill>
                <a:latin typeface="Arial"/>
                <a:cs typeface="Arial"/>
              </a:rPr>
              <a:t>, ERM </a:t>
            </a:r>
            <a:r>
              <a:rPr lang="en-US" sz="1650" i="1" dirty="0" err="1">
                <a:solidFill>
                  <a:schemeClr val="bg1"/>
                </a:solidFill>
                <a:latin typeface="Arial"/>
                <a:cs typeface="Arial"/>
              </a:rPr>
              <a:t>được</a:t>
            </a:r>
            <a:r>
              <a:rPr lang="en-US" sz="1650" i="1" dirty="0">
                <a:solidFill>
                  <a:schemeClr val="bg1"/>
                </a:solidFill>
                <a:latin typeface="Arial"/>
                <a:cs typeface="Arial"/>
              </a:rPr>
              <a:t> </a:t>
            </a:r>
            <a:r>
              <a:rPr lang="en-US" sz="1650" i="1" dirty="0" err="1">
                <a:solidFill>
                  <a:schemeClr val="bg1"/>
                </a:solidFill>
                <a:latin typeface="Arial"/>
                <a:cs typeface="Arial"/>
              </a:rPr>
              <a:t>triển</a:t>
            </a:r>
            <a:r>
              <a:rPr lang="en-US" sz="1650" i="1" dirty="0">
                <a:solidFill>
                  <a:schemeClr val="bg1"/>
                </a:solidFill>
                <a:latin typeface="Arial"/>
                <a:cs typeface="Arial"/>
              </a:rPr>
              <a:t> </a:t>
            </a:r>
            <a:r>
              <a:rPr lang="en-US" sz="1650" i="1" dirty="0" err="1">
                <a:solidFill>
                  <a:schemeClr val="bg1"/>
                </a:solidFill>
                <a:latin typeface="Arial"/>
                <a:cs typeface="Arial"/>
              </a:rPr>
              <a:t>khai</a:t>
            </a:r>
            <a:r>
              <a:rPr lang="en-US" sz="1650" i="1" dirty="0">
                <a:solidFill>
                  <a:schemeClr val="bg1"/>
                </a:solidFill>
                <a:latin typeface="Arial"/>
                <a:cs typeface="Arial"/>
              </a:rPr>
              <a:t> </a:t>
            </a:r>
            <a:r>
              <a:rPr lang="en-US" sz="1650" i="1" dirty="0" err="1">
                <a:solidFill>
                  <a:schemeClr val="bg1"/>
                </a:solidFill>
                <a:latin typeface="Arial"/>
                <a:cs typeface="Arial"/>
              </a:rPr>
              <a:t>trên</a:t>
            </a:r>
            <a:r>
              <a:rPr lang="en-US" sz="1650" i="1" dirty="0">
                <a:solidFill>
                  <a:schemeClr val="bg1"/>
                </a:solidFill>
                <a:latin typeface="Arial"/>
                <a:cs typeface="Arial"/>
              </a:rPr>
              <a:t> </a:t>
            </a:r>
            <a:r>
              <a:rPr lang="en-US" sz="1650" i="1" dirty="0" err="1">
                <a:solidFill>
                  <a:schemeClr val="bg1"/>
                </a:solidFill>
                <a:latin typeface="Arial"/>
                <a:cs typeface="Arial"/>
              </a:rPr>
              <a:t>toàn</a:t>
            </a:r>
            <a:r>
              <a:rPr lang="en-US" sz="1650" i="1" dirty="0">
                <a:solidFill>
                  <a:schemeClr val="bg1"/>
                </a:solidFill>
                <a:latin typeface="Arial"/>
                <a:cs typeface="Arial"/>
              </a:rPr>
              <a:t> TCT, </a:t>
            </a:r>
            <a:r>
              <a:rPr lang="en-US" sz="1650" i="1" dirty="0" err="1">
                <a:solidFill>
                  <a:schemeClr val="bg1"/>
                </a:solidFill>
                <a:latin typeface="Arial"/>
                <a:cs typeface="Arial"/>
              </a:rPr>
              <a:t>được</a:t>
            </a:r>
            <a:r>
              <a:rPr lang="en-US" sz="1650" i="1" dirty="0">
                <a:solidFill>
                  <a:schemeClr val="bg1"/>
                </a:solidFill>
                <a:latin typeface="Arial"/>
                <a:cs typeface="Arial"/>
              </a:rPr>
              <a:t> </a:t>
            </a:r>
            <a:r>
              <a:rPr lang="en-US" sz="1650" i="1" dirty="0" err="1">
                <a:solidFill>
                  <a:schemeClr val="bg1"/>
                </a:solidFill>
                <a:latin typeface="Arial"/>
                <a:cs typeface="Arial"/>
              </a:rPr>
              <a:t>đánh</a:t>
            </a:r>
            <a:r>
              <a:rPr lang="en-US" sz="1650" i="1" dirty="0">
                <a:solidFill>
                  <a:schemeClr val="bg1"/>
                </a:solidFill>
                <a:latin typeface="Arial"/>
                <a:cs typeface="Arial"/>
              </a:rPr>
              <a:t> </a:t>
            </a:r>
            <a:r>
              <a:rPr lang="en-US" sz="1650" i="1" dirty="0" err="1">
                <a:solidFill>
                  <a:schemeClr val="bg1"/>
                </a:solidFill>
                <a:latin typeface="Arial"/>
                <a:cs typeface="Arial"/>
              </a:rPr>
              <a:t>giá</a:t>
            </a:r>
            <a:r>
              <a:rPr lang="en-US" sz="1650" i="1" dirty="0">
                <a:solidFill>
                  <a:schemeClr val="bg1"/>
                </a:solidFill>
                <a:latin typeface="Arial"/>
                <a:cs typeface="Arial"/>
              </a:rPr>
              <a:t> </a:t>
            </a:r>
            <a:r>
              <a:rPr lang="en-US" sz="1650" i="1" dirty="0" err="1">
                <a:solidFill>
                  <a:schemeClr val="bg1"/>
                </a:solidFill>
                <a:latin typeface="Arial"/>
                <a:cs typeface="Arial"/>
              </a:rPr>
              <a:t>hiệu</a:t>
            </a:r>
            <a:r>
              <a:rPr lang="en-US" sz="1650" i="1" dirty="0">
                <a:solidFill>
                  <a:schemeClr val="bg1"/>
                </a:solidFill>
                <a:latin typeface="Arial"/>
                <a:cs typeface="Arial"/>
              </a:rPr>
              <a:t> </a:t>
            </a:r>
            <a:r>
              <a:rPr lang="en-US" sz="1650" i="1" dirty="0" err="1">
                <a:solidFill>
                  <a:schemeClr val="bg1"/>
                </a:solidFill>
                <a:latin typeface="Arial"/>
                <a:cs typeface="Arial"/>
              </a:rPr>
              <a:t>quả</a:t>
            </a:r>
            <a:r>
              <a:rPr lang="en-US" sz="1650" i="1" dirty="0">
                <a:solidFill>
                  <a:schemeClr val="bg1"/>
                </a:solidFill>
                <a:latin typeface="Arial"/>
                <a:cs typeface="Arial"/>
              </a:rPr>
              <a:t> </a:t>
            </a:r>
            <a:r>
              <a:rPr lang="en-US" sz="1650" i="1" dirty="0" err="1">
                <a:solidFill>
                  <a:schemeClr val="bg1"/>
                </a:solidFill>
                <a:latin typeface="Arial"/>
                <a:cs typeface="Arial"/>
              </a:rPr>
              <a:t>triển</a:t>
            </a:r>
            <a:r>
              <a:rPr lang="en-US" sz="1650" i="1" dirty="0">
                <a:solidFill>
                  <a:schemeClr val="bg1"/>
                </a:solidFill>
                <a:latin typeface="Arial"/>
                <a:cs typeface="Arial"/>
              </a:rPr>
              <a:t> </a:t>
            </a:r>
            <a:r>
              <a:rPr lang="en-US" sz="1650" i="1" dirty="0" err="1">
                <a:solidFill>
                  <a:schemeClr val="bg1"/>
                </a:solidFill>
                <a:latin typeface="Arial"/>
                <a:cs typeface="Arial"/>
              </a:rPr>
              <a:t>khai</a:t>
            </a:r>
            <a:r>
              <a:rPr lang="en-US" sz="1650" i="1" dirty="0">
                <a:solidFill>
                  <a:schemeClr val="bg1"/>
                </a:solidFill>
                <a:latin typeface="Arial"/>
                <a:cs typeface="Arial"/>
              </a:rPr>
              <a:t> </a:t>
            </a:r>
            <a:r>
              <a:rPr lang="en-US" sz="1650" i="1" dirty="0" err="1">
                <a:solidFill>
                  <a:schemeClr val="bg1"/>
                </a:solidFill>
                <a:latin typeface="Arial"/>
                <a:cs typeface="Arial"/>
              </a:rPr>
              <a:t>và</a:t>
            </a:r>
            <a:r>
              <a:rPr lang="en-US" sz="1650" i="1" dirty="0">
                <a:solidFill>
                  <a:schemeClr val="bg1"/>
                </a:solidFill>
                <a:latin typeface="Arial"/>
                <a:cs typeface="Arial"/>
              </a:rPr>
              <a:t> </a:t>
            </a:r>
            <a:r>
              <a:rPr lang="en-US" sz="1650" i="1" dirty="0" err="1">
                <a:solidFill>
                  <a:schemeClr val="bg1"/>
                </a:solidFill>
                <a:latin typeface="Arial"/>
                <a:cs typeface="Arial"/>
              </a:rPr>
              <a:t>hiệu</a:t>
            </a:r>
            <a:r>
              <a:rPr lang="en-US" sz="1650" i="1" dirty="0">
                <a:solidFill>
                  <a:schemeClr val="bg1"/>
                </a:solidFill>
                <a:latin typeface="Arial"/>
                <a:cs typeface="Arial"/>
              </a:rPr>
              <a:t> </a:t>
            </a:r>
            <a:r>
              <a:rPr lang="en-US" sz="1650" i="1" dirty="0" err="1">
                <a:solidFill>
                  <a:schemeClr val="bg1"/>
                </a:solidFill>
                <a:latin typeface="Arial"/>
                <a:cs typeface="Arial"/>
              </a:rPr>
              <a:t>chỉnh</a:t>
            </a:r>
            <a:r>
              <a:rPr lang="en-US" sz="1650" i="1" dirty="0">
                <a:solidFill>
                  <a:schemeClr val="bg1"/>
                </a:solidFill>
                <a:latin typeface="Arial"/>
                <a:cs typeface="Arial"/>
              </a:rPr>
              <a:t> </a:t>
            </a:r>
            <a:r>
              <a:rPr lang="en-US" sz="1650" i="1" dirty="0" err="1">
                <a:solidFill>
                  <a:schemeClr val="bg1"/>
                </a:solidFill>
                <a:latin typeface="Arial"/>
                <a:cs typeface="Arial"/>
              </a:rPr>
              <a:t>dựa</a:t>
            </a:r>
            <a:r>
              <a:rPr lang="en-US" sz="1650" i="1" dirty="0">
                <a:solidFill>
                  <a:schemeClr val="bg1"/>
                </a:solidFill>
                <a:latin typeface="Arial"/>
                <a:cs typeface="Arial"/>
              </a:rPr>
              <a:t> </a:t>
            </a:r>
            <a:r>
              <a:rPr lang="en-US" sz="1650" i="1" dirty="0" err="1">
                <a:solidFill>
                  <a:schemeClr val="bg1"/>
                </a:solidFill>
                <a:latin typeface="Arial"/>
                <a:cs typeface="Arial"/>
              </a:rPr>
              <a:t>trên</a:t>
            </a:r>
            <a:r>
              <a:rPr lang="en-US" sz="1650" i="1" dirty="0">
                <a:solidFill>
                  <a:schemeClr val="bg1"/>
                </a:solidFill>
                <a:latin typeface="Arial"/>
                <a:cs typeface="Arial"/>
              </a:rPr>
              <a:t> </a:t>
            </a:r>
            <a:r>
              <a:rPr lang="en-US" sz="1650" i="1" dirty="0" err="1">
                <a:solidFill>
                  <a:schemeClr val="bg1"/>
                </a:solidFill>
                <a:latin typeface="Arial"/>
                <a:cs typeface="Arial"/>
              </a:rPr>
              <a:t>thực</a:t>
            </a:r>
            <a:r>
              <a:rPr lang="en-US" sz="1650" i="1" dirty="0">
                <a:solidFill>
                  <a:schemeClr val="bg1"/>
                </a:solidFill>
                <a:latin typeface="Arial"/>
                <a:cs typeface="Arial"/>
              </a:rPr>
              <a:t> </a:t>
            </a:r>
            <a:r>
              <a:rPr lang="en-US" sz="1650" i="1" dirty="0" err="1">
                <a:solidFill>
                  <a:schemeClr val="bg1"/>
                </a:solidFill>
                <a:latin typeface="Arial"/>
                <a:cs typeface="Arial"/>
              </a:rPr>
              <a:t>tế</a:t>
            </a:r>
            <a:r>
              <a:rPr lang="en-US" sz="1650" i="1" dirty="0">
                <a:solidFill>
                  <a:schemeClr val="bg1"/>
                </a:solidFill>
                <a:latin typeface="Arial"/>
                <a:cs typeface="Arial"/>
              </a:rPr>
              <a:t> </a:t>
            </a:r>
            <a:r>
              <a:rPr lang="en-US" sz="1650" i="1" dirty="0" err="1">
                <a:solidFill>
                  <a:schemeClr val="bg1"/>
                </a:solidFill>
                <a:latin typeface="Arial"/>
                <a:cs typeface="Arial"/>
              </a:rPr>
              <a:t>triển</a:t>
            </a:r>
            <a:r>
              <a:rPr lang="en-US" sz="1650" i="1" dirty="0">
                <a:solidFill>
                  <a:schemeClr val="bg1"/>
                </a:solidFill>
                <a:latin typeface="Arial"/>
                <a:cs typeface="Arial"/>
              </a:rPr>
              <a:t> </a:t>
            </a:r>
            <a:r>
              <a:rPr lang="en-US" sz="1650" i="1" dirty="0" err="1">
                <a:solidFill>
                  <a:schemeClr val="bg1"/>
                </a:solidFill>
                <a:latin typeface="Arial"/>
                <a:cs typeface="Arial"/>
              </a:rPr>
              <a:t>khai</a:t>
            </a:r>
            <a:r>
              <a:rPr lang="en-US" sz="1650" i="1" dirty="0">
                <a:solidFill>
                  <a:schemeClr val="bg1"/>
                </a:solidFill>
                <a:latin typeface="Arial"/>
                <a:cs typeface="Arial"/>
              </a:rPr>
              <a:t>. Bao </a:t>
            </a:r>
            <a:r>
              <a:rPr lang="en-US" sz="1650" i="1" dirty="0" err="1">
                <a:solidFill>
                  <a:schemeClr val="bg1"/>
                </a:solidFill>
                <a:latin typeface="Arial"/>
                <a:cs typeface="Arial"/>
              </a:rPr>
              <a:t>gồm</a:t>
            </a:r>
            <a:r>
              <a:rPr lang="en-US" sz="1650" i="1" dirty="0">
                <a:solidFill>
                  <a:schemeClr val="bg1"/>
                </a:solidFill>
                <a:latin typeface="Arial"/>
                <a:cs typeface="Arial"/>
              </a:rPr>
              <a:t> </a:t>
            </a:r>
            <a:r>
              <a:rPr lang="en-US" sz="1650" i="1" dirty="0" err="1">
                <a:solidFill>
                  <a:schemeClr val="bg1"/>
                </a:solidFill>
                <a:latin typeface="Arial"/>
                <a:cs typeface="Arial"/>
              </a:rPr>
              <a:t>các</a:t>
            </a:r>
            <a:r>
              <a:rPr lang="en-US" sz="1650" i="1" dirty="0">
                <a:solidFill>
                  <a:schemeClr val="bg1"/>
                </a:solidFill>
                <a:latin typeface="Arial"/>
                <a:cs typeface="Arial"/>
              </a:rPr>
              <a:t> </a:t>
            </a:r>
            <a:r>
              <a:rPr lang="en-US" sz="1650" i="1" dirty="0" err="1">
                <a:solidFill>
                  <a:schemeClr val="bg1"/>
                </a:solidFill>
                <a:latin typeface="Arial"/>
                <a:cs typeface="Arial"/>
              </a:rPr>
              <a:t>cấu</a:t>
            </a:r>
            <a:r>
              <a:rPr lang="en-US" sz="1650" i="1" dirty="0">
                <a:solidFill>
                  <a:schemeClr val="bg1"/>
                </a:solidFill>
                <a:latin typeface="Arial"/>
                <a:cs typeface="Arial"/>
              </a:rPr>
              <a:t> </a:t>
            </a:r>
            <a:r>
              <a:rPr lang="en-US" sz="1650" i="1" dirty="0" err="1">
                <a:solidFill>
                  <a:schemeClr val="bg1"/>
                </a:solidFill>
                <a:latin typeface="Arial"/>
                <a:cs typeface="Arial"/>
              </a:rPr>
              <a:t>phần</a:t>
            </a:r>
            <a:r>
              <a:rPr lang="en-US" sz="1650" i="1" dirty="0">
                <a:solidFill>
                  <a:schemeClr val="bg1"/>
                </a:solidFill>
                <a:latin typeface="Arial"/>
                <a:cs typeface="Arial"/>
              </a:rPr>
              <a:t>/ </a:t>
            </a:r>
            <a:r>
              <a:rPr lang="en-US" sz="1650" i="1" dirty="0" err="1">
                <a:solidFill>
                  <a:schemeClr val="bg1"/>
                </a:solidFill>
                <a:latin typeface="Arial"/>
                <a:cs typeface="Arial"/>
              </a:rPr>
              <a:t>hoạt</a:t>
            </a:r>
            <a:r>
              <a:rPr lang="en-US" sz="1650" i="1" dirty="0">
                <a:solidFill>
                  <a:schemeClr val="bg1"/>
                </a:solidFill>
                <a:latin typeface="Arial"/>
                <a:cs typeface="Arial"/>
              </a:rPr>
              <a:t> </a:t>
            </a:r>
            <a:r>
              <a:rPr lang="en-US" sz="1650" i="1" dirty="0" err="1">
                <a:solidFill>
                  <a:schemeClr val="bg1"/>
                </a:solidFill>
                <a:latin typeface="Arial"/>
                <a:cs typeface="Arial"/>
              </a:rPr>
              <a:t>động</a:t>
            </a:r>
            <a:r>
              <a:rPr lang="en-US" sz="1650" i="1" dirty="0">
                <a:solidFill>
                  <a:schemeClr val="bg1"/>
                </a:solidFill>
                <a:latin typeface="Arial"/>
                <a:cs typeface="Arial"/>
              </a:rPr>
              <a:t> </a:t>
            </a:r>
            <a:r>
              <a:rPr lang="en-US" sz="1650" i="1" dirty="0" err="1">
                <a:solidFill>
                  <a:schemeClr val="bg1"/>
                </a:solidFill>
                <a:latin typeface="Arial"/>
                <a:cs typeface="Arial"/>
              </a:rPr>
              <a:t>sau</a:t>
            </a:r>
            <a:r>
              <a:rPr lang="en-US" sz="1650" i="1" dirty="0">
                <a:solidFill>
                  <a:schemeClr val="bg1"/>
                </a:solidFill>
                <a:latin typeface="Arial"/>
                <a:cs typeface="Arial"/>
              </a:rPr>
              <a:t>:</a:t>
            </a:r>
            <a:endParaRPr sz="2700" dirty="0">
              <a:latin typeface="Arial" panose="020B0604020202020204" pitchFamily="34" charset="0"/>
            </a:endParaRPr>
          </a:p>
        </p:txBody>
      </p:sp>
      <p:sp>
        <p:nvSpPr>
          <p:cNvPr id="539003622" name="Down Arrow 3"/>
          <p:cNvSpPr/>
          <p:nvPr/>
        </p:nvSpPr>
        <p:spPr bwMode="auto">
          <a:xfrm>
            <a:off x="8851830" y="8847625"/>
            <a:ext cx="608466" cy="368621"/>
          </a:xfrm>
          <a:prstGeom prst="downArrow">
            <a:avLst>
              <a:gd name="adj1" fmla="val 50000"/>
              <a:gd name="adj2" fmla="val 50000"/>
            </a:avLst>
          </a:prstGeom>
          <a:solidFill>
            <a:schemeClr val="accent1">
              <a:lumMod val="20000"/>
              <a:lumOff val="80000"/>
            </a:scheme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700" dirty="0">
              <a:latin typeface="Arial" panose="020B0604020202020204" pitchFamily="34" charset="0"/>
            </a:endParaRPr>
          </a:p>
        </p:txBody>
      </p:sp>
      <p:sp>
        <p:nvSpPr>
          <p:cNvPr id="709846887" name="Shape 9"/>
          <p:cNvSpPr/>
          <p:nvPr/>
        </p:nvSpPr>
        <p:spPr bwMode="auto">
          <a:xfrm>
            <a:off x="6847844" y="9295070"/>
            <a:ext cx="4616439" cy="685800"/>
          </a:xfrm>
          <a:prstGeom prst="roundRect">
            <a:avLst>
              <a:gd name="adj" fmla="val 12000"/>
            </a:avLst>
          </a:prstGeom>
          <a:solidFill>
            <a:schemeClr val="accent1">
              <a:lumMod val="60000"/>
              <a:lumOff val="40000"/>
            </a:schemeClr>
          </a:solidFill>
          <a:ln w="28575">
            <a:solidFill>
              <a:schemeClr val="accent1"/>
            </a:solidFill>
            <a:prstDash val="dash"/>
          </a:ln>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a:buClr>
                <a:schemeClr val="tx2">
                  <a:lumMod val="50000"/>
                </a:schemeClr>
              </a:buClr>
              <a:buSzPct val="200000"/>
              <a:defRPr/>
            </a:pPr>
            <a:r>
              <a:rPr lang="en-US" b="1">
                <a:solidFill>
                  <a:schemeClr val="tx1"/>
                </a:solidFill>
                <a:latin typeface="Arial"/>
                <a:cs typeface="Arial"/>
              </a:rPr>
              <a:t>THÍ ĐIỂM TẠI TRUNG TÂM VHKT</a:t>
            </a:r>
            <a:endParaRPr lang="vi-VN" b="1">
              <a:solidFill>
                <a:schemeClr val="tx1"/>
              </a:solidFill>
              <a:latin typeface="Arial"/>
              <a:cs typeface="Arial"/>
            </a:endParaRPr>
          </a:p>
        </p:txBody>
      </p:sp>
      <p:grpSp>
        <p:nvGrpSpPr>
          <p:cNvPr id="2" name="Group 2">
            <a:extLst>
              <a:ext uri="{FF2B5EF4-FFF2-40B4-BE49-F238E27FC236}">
                <a16:creationId xmlns:a16="http://schemas.microsoft.com/office/drawing/2014/main" id="{DD9C927A-F890-FFAC-5491-4A20B2B324E1}"/>
              </a:ext>
            </a:extLst>
          </p:cNvPr>
          <p:cNvGrpSpPr/>
          <p:nvPr/>
        </p:nvGrpSpPr>
        <p:grpSpPr>
          <a:xfrm>
            <a:off x="0" y="114299"/>
            <a:ext cx="12115800" cy="1097280"/>
            <a:chOff x="0" y="-2"/>
            <a:chExt cx="22925487" cy="1664815"/>
          </a:xfrm>
          <a:solidFill>
            <a:schemeClr val="bg1">
              <a:lumMod val="95000"/>
            </a:schemeClr>
          </a:solidFill>
        </p:grpSpPr>
        <p:sp>
          <p:nvSpPr>
            <p:cNvPr id="3" name="Freeform 3">
              <a:extLst>
                <a:ext uri="{FF2B5EF4-FFF2-40B4-BE49-F238E27FC236}">
                  <a16:creationId xmlns:a16="http://schemas.microsoft.com/office/drawing/2014/main" id="{C1304803-82F6-C535-7789-5982E7411070}"/>
                </a:ext>
              </a:extLst>
            </p:cNvPr>
            <p:cNvSpPr/>
            <p:nvPr/>
          </p:nvSpPr>
          <p:spPr>
            <a:xfrm>
              <a:off x="0" y="-2"/>
              <a:ext cx="22925487"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3. Lộ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trình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triển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khai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án</a:t>
              </a:r>
              <a:endParaRPr lang="en-US" sz="3600" b="1" dirty="0">
                <a:solidFill>
                  <a:srgbClr val="000000"/>
                </a:solidFill>
                <a:latin typeface="Arial" panose="020B0604020202020204" pitchFamily="34" charset="0"/>
                <a:ea typeface="Futura Ultra-Bold"/>
                <a:cs typeface="Arial" panose="020B0604020202020204" pitchFamily="34" charset="0"/>
                <a:sym typeface="Futura Ultra-Bold"/>
              </a:endParaRP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Tổng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quan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lộ</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trình</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 14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tháng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3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giai</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đoạn</a:t>
              </a:r>
              <a:endParaRPr lang="en-US" sz="2400" b="1" i="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4" name="Group 4">
            <a:extLst>
              <a:ext uri="{FF2B5EF4-FFF2-40B4-BE49-F238E27FC236}">
                <a16:creationId xmlns:a16="http://schemas.microsoft.com/office/drawing/2014/main" id="{3E25D3AA-4ABB-D20B-6C42-7E7995A45D90}"/>
              </a:ext>
            </a:extLst>
          </p:cNvPr>
          <p:cNvGrpSpPr/>
          <p:nvPr/>
        </p:nvGrpSpPr>
        <p:grpSpPr>
          <a:xfrm>
            <a:off x="0" y="114299"/>
            <a:ext cx="936307" cy="1097280"/>
            <a:chOff x="0" y="0"/>
            <a:chExt cx="1248410" cy="1554290"/>
          </a:xfrm>
        </p:grpSpPr>
        <p:sp>
          <p:nvSpPr>
            <p:cNvPr id="5" name="Freeform 5">
              <a:extLst>
                <a:ext uri="{FF2B5EF4-FFF2-40B4-BE49-F238E27FC236}">
                  <a16:creationId xmlns:a16="http://schemas.microsoft.com/office/drawing/2014/main" id="{1CF4B615-8674-1CD9-0E6E-704F40B3F526}"/>
                </a:ext>
              </a:extLst>
            </p:cNvPr>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6" name="Shape 9">
            <a:extLst>
              <a:ext uri="{FF2B5EF4-FFF2-40B4-BE49-F238E27FC236}">
                <a16:creationId xmlns:a16="http://schemas.microsoft.com/office/drawing/2014/main" id="{A03F8CBE-F7CF-9F07-ED20-93462EA05D31}"/>
              </a:ext>
            </a:extLst>
          </p:cNvPr>
          <p:cNvSpPr/>
          <p:nvPr/>
        </p:nvSpPr>
        <p:spPr>
          <a:xfrm>
            <a:off x="468153" y="1303934"/>
            <a:ext cx="9451033" cy="456286"/>
          </a:xfrm>
          <a:prstGeom prst="roundRect">
            <a:avLst>
              <a:gd name="adj" fmla="val 12000"/>
            </a:avLst>
          </a:prstGeom>
          <a:noFill/>
          <a:ln/>
        </p:spPr>
        <p:txBody>
          <a:bodyPr/>
          <a:lstStyle/>
          <a:p>
            <a:r>
              <a:rPr lang="en-US" sz="2200" i="1" dirty="0">
                <a:latin typeface="Arial" panose="020B0604020202020204" pitchFamily="34" charset="0"/>
                <a:cs typeface="Arial" panose="020B0604020202020204" pitchFamily="34" charset="0"/>
              </a:rPr>
              <a:t>Lộ </a:t>
            </a:r>
            <a:r>
              <a:rPr lang="en-US" sz="2200" i="1" dirty="0" err="1">
                <a:latin typeface="Arial" panose="020B0604020202020204" pitchFamily="34" charset="0"/>
                <a:cs typeface="Arial" panose="020B0604020202020204" pitchFamily="34" charset="0"/>
              </a:rPr>
              <a:t>trình</a:t>
            </a:r>
            <a:r>
              <a:rPr lang="en-US" sz="2200" i="1"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triển</a:t>
            </a:r>
            <a:r>
              <a:rPr lang="en-US" sz="2200" i="1"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khai</a:t>
            </a:r>
            <a:r>
              <a:rPr lang="en-US" sz="2200" i="1"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được</a:t>
            </a:r>
            <a:r>
              <a:rPr lang="en-US" sz="2200" i="1" dirty="0">
                <a:latin typeface="Arial" panose="020B0604020202020204" pitchFamily="34" charset="0"/>
                <a:cs typeface="Arial" panose="020B0604020202020204" pitchFamily="34" charset="0"/>
              </a:rPr>
              <a:t> chia </a:t>
            </a:r>
            <a:r>
              <a:rPr lang="en-US" sz="2200" i="1" dirty="0" err="1">
                <a:latin typeface="Arial" panose="020B0604020202020204" pitchFamily="34" charset="0"/>
                <a:cs typeface="Arial" panose="020B0604020202020204" pitchFamily="34" charset="0"/>
              </a:rPr>
              <a:t>thành</a:t>
            </a:r>
            <a:r>
              <a:rPr lang="en-US" sz="2200" i="1" dirty="0">
                <a:latin typeface="Arial" panose="020B0604020202020204" pitchFamily="34" charset="0"/>
                <a:cs typeface="Arial" panose="020B0604020202020204" pitchFamily="34" charset="0"/>
              </a:rPr>
              <a:t> 03 </a:t>
            </a:r>
            <a:r>
              <a:rPr lang="en-US" sz="2200" i="1" dirty="0" err="1">
                <a:latin typeface="Arial" panose="020B0604020202020204" pitchFamily="34" charset="0"/>
                <a:cs typeface="Arial" panose="020B0604020202020204" pitchFamily="34" charset="0"/>
              </a:rPr>
              <a:t>giai</a:t>
            </a:r>
            <a:r>
              <a:rPr lang="en-US" sz="2200" i="1"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đoạn</a:t>
            </a:r>
            <a:r>
              <a:rPr lang="en-US" sz="2200" i="1"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như</a:t>
            </a:r>
            <a:r>
              <a:rPr lang="en-US" sz="2200" i="1" dirty="0">
                <a:latin typeface="Arial" panose="020B0604020202020204" pitchFamily="34" charset="0"/>
                <a:cs typeface="Arial" panose="020B0604020202020204" pitchFamily="34" charset="0"/>
              </a:rPr>
              <a:t> </a:t>
            </a:r>
            <a:r>
              <a:rPr lang="en-US" sz="2200" i="1" dirty="0" err="1">
                <a:latin typeface="Arial" panose="020B0604020202020204" pitchFamily="34" charset="0"/>
                <a:cs typeface="Arial" panose="020B0604020202020204" pitchFamily="34" charset="0"/>
              </a:rPr>
              <a:t>sau</a:t>
            </a:r>
            <a:r>
              <a:rPr lang="en-US" sz="2200" i="1" dirty="0">
                <a:latin typeface="Arial" panose="020B0604020202020204" pitchFamily="34" charset="0"/>
                <a:cs typeface="Arial" panose="020B0604020202020204" pitchFamily="34" charset="0"/>
              </a:rPr>
              <a:t>:</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hape 3"/>
          <p:cNvSpPr/>
          <p:nvPr/>
        </p:nvSpPr>
        <p:spPr>
          <a:xfrm>
            <a:off x="6103620" y="1425702"/>
            <a:ext cx="852351" cy="411480"/>
          </a:xfrm>
          <a:prstGeom prst="rect">
            <a:avLst/>
          </a:prstGeom>
          <a:solidFill>
            <a:srgbClr val="DCE4F0"/>
          </a:solidFill>
          <a:ln w="9525">
            <a:solidFill>
              <a:srgbClr val="FFFFFF"/>
            </a:solidFill>
            <a:prstDash val="solid"/>
          </a:ln>
        </p:spPr>
        <p:txBody>
          <a:bodyPr/>
          <a:lstStyle/>
          <a:p>
            <a:endParaRPr lang="en-US"/>
          </a:p>
        </p:txBody>
      </p:sp>
      <p:sp>
        <p:nvSpPr>
          <p:cNvPr id="6" name="Text 4"/>
          <p:cNvSpPr/>
          <p:nvPr/>
        </p:nvSpPr>
        <p:spPr>
          <a:xfrm>
            <a:off x="6103620"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T8</a:t>
            </a:r>
            <a:endParaRPr lang="en-US" dirty="0">
              <a:latin typeface="Arial" panose="020B0604020202020204" pitchFamily="34" charset="0"/>
              <a:cs typeface="Arial" panose="020B0604020202020204" pitchFamily="34" charset="0"/>
            </a:endParaRPr>
          </a:p>
        </p:txBody>
      </p:sp>
      <p:sp>
        <p:nvSpPr>
          <p:cNvPr id="7" name="Shape 5"/>
          <p:cNvSpPr/>
          <p:nvPr/>
        </p:nvSpPr>
        <p:spPr>
          <a:xfrm>
            <a:off x="6103621"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8" name="Text 6"/>
          <p:cNvSpPr/>
          <p:nvPr/>
        </p:nvSpPr>
        <p:spPr>
          <a:xfrm>
            <a:off x="6103621"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9" name="Shape 7"/>
          <p:cNvSpPr/>
          <p:nvPr/>
        </p:nvSpPr>
        <p:spPr>
          <a:xfrm>
            <a:off x="6316709"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0" name="Text 8"/>
          <p:cNvSpPr/>
          <p:nvPr/>
        </p:nvSpPr>
        <p:spPr>
          <a:xfrm>
            <a:off x="6316709"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11" name="Shape 9"/>
          <p:cNvSpPr/>
          <p:nvPr/>
        </p:nvSpPr>
        <p:spPr>
          <a:xfrm>
            <a:off x="6529796"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2" name="Text 10"/>
          <p:cNvSpPr/>
          <p:nvPr/>
        </p:nvSpPr>
        <p:spPr>
          <a:xfrm>
            <a:off x="6529796"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13" name="Shape 11"/>
          <p:cNvSpPr/>
          <p:nvPr/>
        </p:nvSpPr>
        <p:spPr>
          <a:xfrm>
            <a:off x="6742885"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4" name="Text 12"/>
          <p:cNvSpPr/>
          <p:nvPr/>
        </p:nvSpPr>
        <p:spPr>
          <a:xfrm>
            <a:off x="6742885"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15" name="Shape 13"/>
          <p:cNvSpPr/>
          <p:nvPr/>
        </p:nvSpPr>
        <p:spPr>
          <a:xfrm>
            <a:off x="6955971" y="1425702"/>
            <a:ext cx="852351" cy="411480"/>
          </a:xfrm>
          <a:prstGeom prst="rect">
            <a:avLst/>
          </a:prstGeom>
          <a:solidFill>
            <a:srgbClr val="E9EEF6"/>
          </a:solidFill>
          <a:ln w="9525">
            <a:solidFill>
              <a:srgbClr val="FFFFFF"/>
            </a:solidFill>
            <a:prstDash val="solid"/>
          </a:ln>
        </p:spPr>
        <p:txBody>
          <a:bodyPr/>
          <a:lstStyle/>
          <a:p>
            <a:endParaRPr lang="en-US"/>
          </a:p>
        </p:txBody>
      </p:sp>
      <p:sp>
        <p:nvSpPr>
          <p:cNvPr id="16" name="Text 14"/>
          <p:cNvSpPr/>
          <p:nvPr/>
        </p:nvSpPr>
        <p:spPr>
          <a:xfrm>
            <a:off x="6955971"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T9</a:t>
            </a:r>
            <a:endParaRPr lang="en-US" dirty="0">
              <a:latin typeface="Arial" panose="020B0604020202020204" pitchFamily="34" charset="0"/>
              <a:cs typeface="Arial" panose="020B0604020202020204" pitchFamily="34" charset="0"/>
            </a:endParaRPr>
          </a:p>
        </p:txBody>
      </p:sp>
      <p:sp>
        <p:nvSpPr>
          <p:cNvPr id="17" name="Shape 15"/>
          <p:cNvSpPr/>
          <p:nvPr/>
        </p:nvSpPr>
        <p:spPr>
          <a:xfrm>
            <a:off x="6955972"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8" name="Text 16"/>
          <p:cNvSpPr/>
          <p:nvPr/>
        </p:nvSpPr>
        <p:spPr>
          <a:xfrm>
            <a:off x="6955972"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19" name="Shape 17"/>
          <p:cNvSpPr/>
          <p:nvPr/>
        </p:nvSpPr>
        <p:spPr>
          <a:xfrm>
            <a:off x="7169060"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20" name="Text 18"/>
          <p:cNvSpPr/>
          <p:nvPr/>
        </p:nvSpPr>
        <p:spPr>
          <a:xfrm>
            <a:off x="7169060"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21" name="Shape 19"/>
          <p:cNvSpPr/>
          <p:nvPr/>
        </p:nvSpPr>
        <p:spPr>
          <a:xfrm>
            <a:off x="7382147"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22" name="Text 20"/>
          <p:cNvSpPr/>
          <p:nvPr/>
        </p:nvSpPr>
        <p:spPr>
          <a:xfrm>
            <a:off x="7382147"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23" name="Shape 21"/>
          <p:cNvSpPr/>
          <p:nvPr/>
        </p:nvSpPr>
        <p:spPr>
          <a:xfrm>
            <a:off x="7595236"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24" name="Text 22"/>
          <p:cNvSpPr/>
          <p:nvPr/>
        </p:nvSpPr>
        <p:spPr>
          <a:xfrm>
            <a:off x="7595236"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25" name="Shape 23"/>
          <p:cNvSpPr/>
          <p:nvPr/>
        </p:nvSpPr>
        <p:spPr>
          <a:xfrm>
            <a:off x="7808324" y="1425702"/>
            <a:ext cx="852351" cy="411480"/>
          </a:xfrm>
          <a:prstGeom prst="rect">
            <a:avLst/>
          </a:prstGeom>
          <a:solidFill>
            <a:srgbClr val="DCE4F0"/>
          </a:solidFill>
          <a:ln w="9525">
            <a:solidFill>
              <a:srgbClr val="FFFFFF"/>
            </a:solidFill>
            <a:prstDash val="solid"/>
          </a:ln>
        </p:spPr>
        <p:txBody>
          <a:bodyPr/>
          <a:lstStyle/>
          <a:p>
            <a:endParaRPr lang="en-US"/>
          </a:p>
        </p:txBody>
      </p:sp>
      <p:sp>
        <p:nvSpPr>
          <p:cNvPr id="26" name="Text 24"/>
          <p:cNvSpPr/>
          <p:nvPr/>
        </p:nvSpPr>
        <p:spPr>
          <a:xfrm>
            <a:off x="7808324"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T10</a:t>
            </a:r>
            <a:endParaRPr lang="en-US" dirty="0">
              <a:latin typeface="Arial" panose="020B0604020202020204" pitchFamily="34" charset="0"/>
              <a:cs typeface="Arial" panose="020B0604020202020204" pitchFamily="34" charset="0"/>
            </a:endParaRPr>
          </a:p>
        </p:txBody>
      </p:sp>
      <p:sp>
        <p:nvSpPr>
          <p:cNvPr id="27" name="Shape 25"/>
          <p:cNvSpPr/>
          <p:nvPr/>
        </p:nvSpPr>
        <p:spPr>
          <a:xfrm>
            <a:off x="7808324"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28" name="Text 26"/>
          <p:cNvSpPr/>
          <p:nvPr/>
        </p:nvSpPr>
        <p:spPr>
          <a:xfrm>
            <a:off x="7808324"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29" name="Shape 27"/>
          <p:cNvSpPr/>
          <p:nvPr/>
        </p:nvSpPr>
        <p:spPr>
          <a:xfrm>
            <a:off x="8021411"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30" name="Text 28"/>
          <p:cNvSpPr/>
          <p:nvPr/>
        </p:nvSpPr>
        <p:spPr>
          <a:xfrm>
            <a:off x="8021411"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31" name="Shape 29"/>
          <p:cNvSpPr/>
          <p:nvPr/>
        </p:nvSpPr>
        <p:spPr>
          <a:xfrm>
            <a:off x="8234500"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32" name="Text 30"/>
          <p:cNvSpPr/>
          <p:nvPr/>
        </p:nvSpPr>
        <p:spPr>
          <a:xfrm>
            <a:off x="8234500"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33" name="Shape 31"/>
          <p:cNvSpPr/>
          <p:nvPr/>
        </p:nvSpPr>
        <p:spPr>
          <a:xfrm>
            <a:off x="8447587"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34" name="Text 32"/>
          <p:cNvSpPr/>
          <p:nvPr/>
        </p:nvSpPr>
        <p:spPr>
          <a:xfrm>
            <a:off x="8447587"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35" name="Shape 33"/>
          <p:cNvSpPr/>
          <p:nvPr/>
        </p:nvSpPr>
        <p:spPr>
          <a:xfrm>
            <a:off x="8660675" y="1425702"/>
            <a:ext cx="852351" cy="411480"/>
          </a:xfrm>
          <a:prstGeom prst="rect">
            <a:avLst/>
          </a:prstGeom>
          <a:solidFill>
            <a:srgbClr val="E9EEF6"/>
          </a:solidFill>
          <a:ln w="9525">
            <a:solidFill>
              <a:srgbClr val="FFFFFF"/>
            </a:solidFill>
            <a:prstDash val="solid"/>
          </a:ln>
        </p:spPr>
        <p:txBody>
          <a:bodyPr/>
          <a:lstStyle/>
          <a:p>
            <a:endParaRPr lang="en-US"/>
          </a:p>
        </p:txBody>
      </p:sp>
      <p:sp>
        <p:nvSpPr>
          <p:cNvPr id="36" name="Text 34"/>
          <p:cNvSpPr/>
          <p:nvPr/>
        </p:nvSpPr>
        <p:spPr>
          <a:xfrm>
            <a:off x="8660675"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T11</a:t>
            </a:r>
            <a:endParaRPr lang="en-US" dirty="0">
              <a:latin typeface="Arial" panose="020B0604020202020204" pitchFamily="34" charset="0"/>
              <a:cs typeface="Arial" panose="020B0604020202020204" pitchFamily="34" charset="0"/>
            </a:endParaRPr>
          </a:p>
        </p:txBody>
      </p:sp>
      <p:sp>
        <p:nvSpPr>
          <p:cNvPr id="37" name="Shape 35"/>
          <p:cNvSpPr/>
          <p:nvPr/>
        </p:nvSpPr>
        <p:spPr>
          <a:xfrm>
            <a:off x="8660675"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38" name="Text 36"/>
          <p:cNvSpPr/>
          <p:nvPr/>
        </p:nvSpPr>
        <p:spPr>
          <a:xfrm>
            <a:off x="8660675"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39" name="Shape 37"/>
          <p:cNvSpPr/>
          <p:nvPr/>
        </p:nvSpPr>
        <p:spPr>
          <a:xfrm>
            <a:off x="8873762"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40" name="Text 38"/>
          <p:cNvSpPr/>
          <p:nvPr/>
        </p:nvSpPr>
        <p:spPr>
          <a:xfrm>
            <a:off x="8873762"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41" name="Shape 39"/>
          <p:cNvSpPr/>
          <p:nvPr/>
        </p:nvSpPr>
        <p:spPr>
          <a:xfrm>
            <a:off x="9086851"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42" name="Text 40"/>
          <p:cNvSpPr/>
          <p:nvPr/>
        </p:nvSpPr>
        <p:spPr>
          <a:xfrm>
            <a:off x="9086851"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43" name="Shape 41"/>
          <p:cNvSpPr/>
          <p:nvPr/>
        </p:nvSpPr>
        <p:spPr>
          <a:xfrm>
            <a:off x="9299939"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44" name="Text 42"/>
          <p:cNvSpPr/>
          <p:nvPr/>
        </p:nvSpPr>
        <p:spPr>
          <a:xfrm>
            <a:off x="9299939"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45" name="Shape 43"/>
          <p:cNvSpPr/>
          <p:nvPr/>
        </p:nvSpPr>
        <p:spPr>
          <a:xfrm>
            <a:off x="9513026" y="1425702"/>
            <a:ext cx="852351" cy="411480"/>
          </a:xfrm>
          <a:prstGeom prst="rect">
            <a:avLst/>
          </a:prstGeom>
          <a:solidFill>
            <a:srgbClr val="DCE4F0"/>
          </a:solidFill>
          <a:ln w="9525">
            <a:solidFill>
              <a:srgbClr val="FFFFFF"/>
            </a:solidFill>
            <a:prstDash val="solid"/>
          </a:ln>
        </p:spPr>
        <p:txBody>
          <a:bodyPr/>
          <a:lstStyle/>
          <a:p>
            <a:endParaRPr lang="en-US"/>
          </a:p>
        </p:txBody>
      </p:sp>
      <p:sp>
        <p:nvSpPr>
          <p:cNvPr id="46" name="Text 44"/>
          <p:cNvSpPr/>
          <p:nvPr/>
        </p:nvSpPr>
        <p:spPr>
          <a:xfrm>
            <a:off x="9513026"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T12</a:t>
            </a:r>
            <a:endParaRPr lang="en-US" dirty="0">
              <a:latin typeface="Arial" panose="020B0604020202020204" pitchFamily="34" charset="0"/>
              <a:cs typeface="Arial" panose="020B0604020202020204" pitchFamily="34" charset="0"/>
            </a:endParaRPr>
          </a:p>
        </p:txBody>
      </p:sp>
      <p:sp>
        <p:nvSpPr>
          <p:cNvPr id="47" name="Shape 45"/>
          <p:cNvSpPr/>
          <p:nvPr/>
        </p:nvSpPr>
        <p:spPr>
          <a:xfrm>
            <a:off x="9513026"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48" name="Text 46"/>
          <p:cNvSpPr/>
          <p:nvPr/>
        </p:nvSpPr>
        <p:spPr>
          <a:xfrm>
            <a:off x="9513026"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49" name="Shape 47"/>
          <p:cNvSpPr/>
          <p:nvPr/>
        </p:nvSpPr>
        <p:spPr>
          <a:xfrm>
            <a:off x="9726115"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50" name="Text 48"/>
          <p:cNvSpPr/>
          <p:nvPr/>
        </p:nvSpPr>
        <p:spPr>
          <a:xfrm>
            <a:off x="9726115"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51" name="Shape 49"/>
          <p:cNvSpPr/>
          <p:nvPr/>
        </p:nvSpPr>
        <p:spPr>
          <a:xfrm>
            <a:off x="9939202"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52" name="Text 50"/>
          <p:cNvSpPr/>
          <p:nvPr/>
        </p:nvSpPr>
        <p:spPr>
          <a:xfrm>
            <a:off x="9939202"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53" name="Shape 51"/>
          <p:cNvSpPr/>
          <p:nvPr/>
        </p:nvSpPr>
        <p:spPr>
          <a:xfrm>
            <a:off x="10152290"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54" name="Text 52"/>
          <p:cNvSpPr/>
          <p:nvPr/>
        </p:nvSpPr>
        <p:spPr>
          <a:xfrm>
            <a:off x="10152290"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55" name="Shape 53"/>
          <p:cNvSpPr/>
          <p:nvPr/>
        </p:nvSpPr>
        <p:spPr>
          <a:xfrm>
            <a:off x="10365377" y="1425702"/>
            <a:ext cx="852351" cy="411480"/>
          </a:xfrm>
          <a:prstGeom prst="rect">
            <a:avLst/>
          </a:prstGeom>
          <a:solidFill>
            <a:srgbClr val="E9EEF6"/>
          </a:solidFill>
          <a:ln w="9525">
            <a:solidFill>
              <a:srgbClr val="FFFFFF"/>
            </a:solidFill>
            <a:prstDash val="solid"/>
          </a:ln>
        </p:spPr>
        <p:txBody>
          <a:bodyPr/>
          <a:lstStyle/>
          <a:p>
            <a:endParaRPr lang="en-US"/>
          </a:p>
        </p:txBody>
      </p:sp>
      <p:sp>
        <p:nvSpPr>
          <p:cNvPr id="56" name="Text 54"/>
          <p:cNvSpPr/>
          <p:nvPr/>
        </p:nvSpPr>
        <p:spPr>
          <a:xfrm>
            <a:off x="10365377"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T1/27</a:t>
            </a:r>
            <a:endParaRPr lang="en-US" dirty="0">
              <a:latin typeface="Arial" panose="020B0604020202020204" pitchFamily="34" charset="0"/>
              <a:cs typeface="Arial" panose="020B0604020202020204" pitchFamily="34" charset="0"/>
            </a:endParaRPr>
          </a:p>
        </p:txBody>
      </p:sp>
      <p:sp>
        <p:nvSpPr>
          <p:cNvPr id="57" name="Shape 55"/>
          <p:cNvSpPr/>
          <p:nvPr/>
        </p:nvSpPr>
        <p:spPr>
          <a:xfrm>
            <a:off x="10365377"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58" name="Text 56"/>
          <p:cNvSpPr/>
          <p:nvPr/>
        </p:nvSpPr>
        <p:spPr>
          <a:xfrm>
            <a:off x="10365377"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59" name="Shape 57"/>
          <p:cNvSpPr/>
          <p:nvPr/>
        </p:nvSpPr>
        <p:spPr>
          <a:xfrm>
            <a:off x="10578466"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60" name="Text 58"/>
          <p:cNvSpPr/>
          <p:nvPr/>
        </p:nvSpPr>
        <p:spPr>
          <a:xfrm>
            <a:off x="10578466"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61" name="Shape 59"/>
          <p:cNvSpPr/>
          <p:nvPr/>
        </p:nvSpPr>
        <p:spPr>
          <a:xfrm>
            <a:off x="10791554"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62" name="Text 60"/>
          <p:cNvSpPr/>
          <p:nvPr/>
        </p:nvSpPr>
        <p:spPr>
          <a:xfrm>
            <a:off x="10791554"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63" name="Shape 61"/>
          <p:cNvSpPr/>
          <p:nvPr/>
        </p:nvSpPr>
        <p:spPr>
          <a:xfrm>
            <a:off x="11004641"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64" name="Text 62"/>
          <p:cNvSpPr/>
          <p:nvPr/>
        </p:nvSpPr>
        <p:spPr>
          <a:xfrm>
            <a:off x="11004641"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65" name="Shape 63"/>
          <p:cNvSpPr/>
          <p:nvPr/>
        </p:nvSpPr>
        <p:spPr>
          <a:xfrm>
            <a:off x="11217729" y="1425702"/>
            <a:ext cx="852351" cy="411480"/>
          </a:xfrm>
          <a:prstGeom prst="rect">
            <a:avLst/>
          </a:prstGeom>
          <a:solidFill>
            <a:srgbClr val="DCE4F0"/>
          </a:solidFill>
          <a:ln w="9525">
            <a:solidFill>
              <a:srgbClr val="FFFFFF"/>
            </a:solidFill>
            <a:prstDash val="solid"/>
          </a:ln>
        </p:spPr>
        <p:txBody>
          <a:bodyPr/>
          <a:lstStyle/>
          <a:p>
            <a:endParaRPr lang="en-US"/>
          </a:p>
        </p:txBody>
      </p:sp>
      <p:sp>
        <p:nvSpPr>
          <p:cNvPr id="66" name="Text 64"/>
          <p:cNvSpPr/>
          <p:nvPr/>
        </p:nvSpPr>
        <p:spPr>
          <a:xfrm>
            <a:off x="11217729"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T2/27</a:t>
            </a:r>
            <a:endParaRPr lang="en-US" dirty="0">
              <a:latin typeface="Arial" panose="020B0604020202020204" pitchFamily="34" charset="0"/>
              <a:cs typeface="Arial" panose="020B0604020202020204" pitchFamily="34" charset="0"/>
            </a:endParaRPr>
          </a:p>
        </p:txBody>
      </p:sp>
      <p:sp>
        <p:nvSpPr>
          <p:cNvPr id="67" name="Shape 65"/>
          <p:cNvSpPr/>
          <p:nvPr/>
        </p:nvSpPr>
        <p:spPr>
          <a:xfrm>
            <a:off x="11217730"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68" name="Text 66"/>
          <p:cNvSpPr/>
          <p:nvPr/>
        </p:nvSpPr>
        <p:spPr>
          <a:xfrm>
            <a:off x="11217730"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69" name="Shape 67"/>
          <p:cNvSpPr/>
          <p:nvPr/>
        </p:nvSpPr>
        <p:spPr>
          <a:xfrm>
            <a:off x="11430817"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70" name="Text 68"/>
          <p:cNvSpPr/>
          <p:nvPr/>
        </p:nvSpPr>
        <p:spPr>
          <a:xfrm>
            <a:off x="11430817"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71" name="Shape 69"/>
          <p:cNvSpPr/>
          <p:nvPr/>
        </p:nvSpPr>
        <p:spPr>
          <a:xfrm>
            <a:off x="11643905"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72" name="Text 70"/>
          <p:cNvSpPr/>
          <p:nvPr/>
        </p:nvSpPr>
        <p:spPr>
          <a:xfrm>
            <a:off x="11643905"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73" name="Shape 71"/>
          <p:cNvSpPr/>
          <p:nvPr/>
        </p:nvSpPr>
        <p:spPr>
          <a:xfrm>
            <a:off x="11856992"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74" name="Text 72"/>
          <p:cNvSpPr/>
          <p:nvPr/>
        </p:nvSpPr>
        <p:spPr>
          <a:xfrm>
            <a:off x="11856992"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75" name="Shape 73"/>
          <p:cNvSpPr/>
          <p:nvPr/>
        </p:nvSpPr>
        <p:spPr>
          <a:xfrm>
            <a:off x="12070080" y="1425702"/>
            <a:ext cx="852351" cy="411480"/>
          </a:xfrm>
          <a:prstGeom prst="rect">
            <a:avLst/>
          </a:prstGeom>
          <a:solidFill>
            <a:srgbClr val="E9EEF6"/>
          </a:solidFill>
          <a:ln w="9525">
            <a:solidFill>
              <a:srgbClr val="FFFFFF"/>
            </a:solidFill>
            <a:prstDash val="solid"/>
          </a:ln>
        </p:spPr>
        <p:txBody>
          <a:bodyPr/>
          <a:lstStyle/>
          <a:p>
            <a:endParaRPr lang="en-US"/>
          </a:p>
        </p:txBody>
      </p:sp>
      <p:sp>
        <p:nvSpPr>
          <p:cNvPr id="76" name="Text 74"/>
          <p:cNvSpPr/>
          <p:nvPr/>
        </p:nvSpPr>
        <p:spPr>
          <a:xfrm>
            <a:off x="12070080"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T3/27</a:t>
            </a:r>
            <a:endParaRPr lang="en-US" dirty="0">
              <a:latin typeface="Arial" panose="020B0604020202020204" pitchFamily="34" charset="0"/>
              <a:cs typeface="Arial" panose="020B0604020202020204" pitchFamily="34" charset="0"/>
            </a:endParaRPr>
          </a:p>
        </p:txBody>
      </p:sp>
      <p:sp>
        <p:nvSpPr>
          <p:cNvPr id="77" name="Shape 75"/>
          <p:cNvSpPr/>
          <p:nvPr/>
        </p:nvSpPr>
        <p:spPr>
          <a:xfrm>
            <a:off x="12070081"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78" name="Text 76"/>
          <p:cNvSpPr/>
          <p:nvPr/>
        </p:nvSpPr>
        <p:spPr>
          <a:xfrm>
            <a:off x="12070081"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79" name="Shape 77"/>
          <p:cNvSpPr/>
          <p:nvPr/>
        </p:nvSpPr>
        <p:spPr>
          <a:xfrm>
            <a:off x="12283169"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80" name="Text 78"/>
          <p:cNvSpPr/>
          <p:nvPr/>
        </p:nvSpPr>
        <p:spPr>
          <a:xfrm>
            <a:off x="12283169"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81" name="Shape 79"/>
          <p:cNvSpPr/>
          <p:nvPr/>
        </p:nvSpPr>
        <p:spPr>
          <a:xfrm>
            <a:off x="12496256"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82" name="Text 80"/>
          <p:cNvSpPr/>
          <p:nvPr/>
        </p:nvSpPr>
        <p:spPr>
          <a:xfrm>
            <a:off x="12496256"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83" name="Shape 81"/>
          <p:cNvSpPr/>
          <p:nvPr/>
        </p:nvSpPr>
        <p:spPr>
          <a:xfrm>
            <a:off x="12709345"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84" name="Text 82"/>
          <p:cNvSpPr/>
          <p:nvPr/>
        </p:nvSpPr>
        <p:spPr>
          <a:xfrm>
            <a:off x="12709345"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85" name="Shape 83"/>
          <p:cNvSpPr/>
          <p:nvPr/>
        </p:nvSpPr>
        <p:spPr>
          <a:xfrm>
            <a:off x="12922431" y="1425702"/>
            <a:ext cx="852351" cy="411480"/>
          </a:xfrm>
          <a:prstGeom prst="rect">
            <a:avLst/>
          </a:prstGeom>
          <a:solidFill>
            <a:srgbClr val="DCE4F0"/>
          </a:solidFill>
          <a:ln w="9525">
            <a:solidFill>
              <a:srgbClr val="FFFFFF"/>
            </a:solidFill>
            <a:prstDash val="solid"/>
          </a:ln>
        </p:spPr>
        <p:txBody>
          <a:bodyPr/>
          <a:lstStyle/>
          <a:p>
            <a:endParaRPr lang="en-US"/>
          </a:p>
        </p:txBody>
      </p:sp>
      <p:sp>
        <p:nvSpPr>
          <p:cNvPr id="86" name="Text 84"/>
          <p:cNvSpPr/>
          <p:nvPr/>
        </p:nvSpPr>
        <p:spPr>
          <a:xfrm>
            <a:off x="12922431"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T4/27</a:t>
            </a:r>
            <a:endParaRPr lang="en-US" dirty="0">
              <a:latin typeface="Arial" panose="020B0604020202020204" pitchFamily="34" charset="0"/>
              <a:cs typeface="Arial" panose="020B0604020202020204" pitchFamily="34" charset="0"/>
            </a:endParaRPr>
          </a:p>
        </p:txBody>
      </p:sp>
      <p:sp>
        <p:nvSpPr>
          <p:cNvPr id="87" name="Shape 85"/>
          <p:cNvSpPr/>
          <p:nvPr/>
        </p:nvSpPr>
        <p:spPr>
          <a:xfrm>
            <a:off x="12922432"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88" name="Text 86"/>
          <p:cNvSpPr/>
          <p:nvPr/>
        </p:nvSpPr>
        <p:spPr>
          <a:xfrm>
            <a:off x="12922432"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89" name="Shape 87"/>
          <p:cNvSpPr/>
          <p:nvPr/>
        </p:nvSpPr>
        <p:spPr>
          <a:xfrm>
            <a:off x="13135520"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90" name="Text 88"/>
          <p:cNvSpPr/>
          <p:nvPr/>
        </p:nvSpPr>
        <p:spPr>
          <a:xfrm>
            <a:off x="13135520"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91" name="Shape 89"/>
          <p:cNvSpPr/>
          <p:nvPr/>
        </p:nvSpPr>
        <p:spPr>
          <a:xfrm>
            <a:off x="13348607"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92" name="Text 90"/>
          <p:cNvSpPr/>
          <p:nvPr/>
        </p:nvSpPr>
        <p:spPr>
          <a:xfrm>
            <a:off x="13348607"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93" name="Shape 91"/>
          <p:cNvSpPr/>
          <p:nvPr/>
        </p:nvSpPr>
        <p:spPr>
          <a:xfrm>
            <a:off x="13561696"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94" name="Text 92"/>
          <p:cNvSpPr/>
          <p:nvPr/>
        </p:nvSpPr>
        <p:spPr>
          <a:xfrm>
            <a:off x="13561696"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95" name="Shape 93"/>
          <p:cNvSpPr/>
          <p:nvPr/>
        </p:nvSpPr>
        <p:spPr>
          <a:xfrm>
            <a:off x="13774784" y="1425702"/>
            <a:ext cx="852351" cy="411480"/>
          </a:xfrm>
          <a:prstGeom prst="rect">
            <a:avLst/>
          </a:prstGeom>
          <a:solidFill>
            <a:srgbClr val="E9EEF6"/>
          </a:solidFill>
          <a:ln w="9525">
            <a:solidFill>
              <a:srgbClr val="FFFFFF"/>
            </a:solidFill>
            <a:prstDash val="solid"/>
          </a:ln>
        </p:spPr>
        <p:txBody>
          <a:bodyPr/>
          <a:lstStyle/>
          <a:p>
            <a:endParaRPr lang="en-US"/>
          </a:p>
        </p:txBody>
      </p:sp>
      <p:sp>
        <p:nvSpPr>
          <p:cNvPr id="96" name="Text 94"/>
          <p:cNvSpPr/>
          <p:nvPr/>
        </p:nvSpPr>
        <p:spPr>
          <a:xfrm>
            <a:off x="13774784"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T5/27</a:t>
            </a:r>
            <a:endParaRPr lang="en-US" dirty="0">
              <a:latin typeface="Arial" panose="020B0604020202020204" pitchFamily="34" charset="0"/>
              <a:cs typeface="Arial" panose="020B0604020202020204" pitchFamily="34" charset="0"/>
            </a:endParaRPr>
          </a:p>
        </p:txBody>
      </p:sp>
      <p:sp>
        <p:nvSpPr>
          <p:cNvPr id="97" name="Shape 95"/>
          <p:cNvSpPr/>
          <p:nvPr/>
        </p:nvSpPr>
        <p:spPr>
          <a:xfrm>
            <a:off x="13774784"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98" name="Text 96"/>
          <p:cNvSpPr/>
          <p:nvPr/>
        </p:nvSpPr>
        <p:spPr>
          <a:xfrm>
            <a:off x="13774784"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99" name="Shape 97"/>
          <p:cNvSpPr/>
          <p:nvPr/>
        </p:nvSpPr>
        <p:spPr>
          <a:xfrm>
            <a:off x="13987871"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00" name="Text 98"/>
          <p:cNvSpPr/>
          <p:nvPr/>
        </p:nvSpPr>
        <p:spPr>
          <a:xfrm>
            <a:off x="13987871"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101" name="Shape 99"/>
          <p:cNvSpPr/>
          <p:nvPr/>
        </p:nvSpPr>
        <p:spPr>
          <a:xfrm>
            <a:off x="14200960"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02" name="Text 100"/>
          <p:cNvSpPr/>
          <p:nvPr/>
        </p:nvSpPr>
        <p:spPr>
          <a:xfrm>
            <a:off x="14200960"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103" name="Shape 101"/>
          <p:cNvSpPr/>
          <p:nvPr/>
        </p:nvSpPr>
        <p:spPr>
          <a:xfrm>
            <a:off x="14414047"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04" name="Text 102"/>
          <p:cNvSpPr/>
          <p:nvPr/>
        </p:nvSpPr>
        <p:spPr>
          <a:xfrm>
            <a:off x="14414047"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105" name="Shape 103"/>
          <p:cNvSpPr/>
          <p:nvPr/>
        </p:nvSpPr>
        <p:spPr>
          <a:xfrm>
            <a:off x="14627135" y="1425702"/>
            <a:ext cx="852351" cy="411480"/>
          </a:xfrm>
          <a:prstGeom prst="rect">
            <a:avLst/>
          </a:prstGeom>
          <a:solidFill>
            <a:srgbClr val="DCE4F0"/>
          </a:solidFill>
          <a:ln w="9525">
            <a:solidFill>
              <a:srgbClr val="FFFFFF"/>
            </a:solidFill>
            <a:prstDash val="solid"/>
          </a:ln>
        </p:spPr>
        <p:txBody>
          <a:bodyPr/>
          <a:lstStyle/>
          <a:p>
            <a:endParaRPr lang="en-US"/>
          </a:p>
        </p:txBody>
      </p:sp>
      <p:sp>
        <p:nvSpPr>
          <p:cNvPr id="106" name="Text 104"/>
          <p:cNvSpPr/>
          <p:nvPr/>
        </p:nvSpPr>
        <p:spPr>
          <a:xfrm>
            <a:off x="14627135"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T6/27</a:t>
            </a:r>
            <a:endParaRPr lang="en-US" dirty="0">
              <a:latin typeface="Arial" panose="020B0604020202020204" pitchFamily="34" charset="0"/>
              <a:cs typeface="Arial" panose="020B0604020202020204" pitchFamily="34" charset="0"/>
            </a:endParaRPr>
          </a:p>
        </p:txBody>
      </p:sp>
      <p:sp>
        <p:nvSpPr>
          <p:cNvPr id="107" name="Shape 105"/>
          <p:cNvSpPr/>
          <p:nvPr/>
        </p:nvSpPr>
        <p:spPr>
          <a:xfrm>
            <a:off x="14627135"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08" name="Text 106"/>
          <p:cNvSpPr/>
          <p:nvPr/>
        </p:nvSpPr>
        <p:spPr>
          <a:xfrm>
            <a:off x="14627135"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109" name="Shape 107"/>
          <p:cNvSpPr/>
          <p:nvPr/>
        </p:nvSpPr>
        <p:spPr>
          <a:xfrm>
            <a:off x="14840222"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10" name="Text 108"/>
          <p:cNvSpPr/>
          <p:nvPr/>
        </p:nvSpPr>
        <p:spPr>
          <a:xfrm>
            <a:off x="14840222"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111" name="Shape 109"/>
          <p:cNvSpPr/>
          <p:nvPr/>
        </p:nvSpPr>
        <p:spPr>
          <a:xfrm>
            <a:off x="15053311"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12" name="Text 110"/>
          <p:cNvSpPr/>
          <p:nvPr/>
        </p:nvSpPr>
        <p:spPr>
          <a:xfrm>
            <a:off x="15053311"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113" name="Shape 111"/>
          <p:cNvSpPr/>
          <p:nvPr/>
        </p:nvSpPr>
        <p:spPr>
          <a:xfrm>
            <a:off x="15266399"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14" name="Text 112"/>
          <p:cNvSpPr/>
          <p:nvPr/>
        </p:nvSpPr>
        <p:spPr>
          <a:xfrm>
            <a:off x="15266399"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115" name="Shape 113"/>
          <p:cNvSpPr/>
          <p:nvPr/>
        </p:nvSpPr>
        <p:spPr>
          <a:xfrm>
            <a:off x="15479486" y="1425702"/>
            <a:ext cx="852351" cy="411480"/>
          </a:xfrm>
          <a:prstGeom prst="rect">
            <a:avLst/>
          </a:prstGeom>
          <a:solidFill>
            <a:srgbClr val="E9EEF6"/>
          </a:solidFill>
          <a:ln w="9525">
            <a:solidFill>
              <a:srgbClr val="FFFFFF"/>
            </a:solidFill>
            <a:prstDash val="solid"/>
          </a:ln>
        </p:spPr>
        <p:txBody>
          <a:bodyPr/>
          <a:lstStyle/>
          <a:p>
            <a:endParaRPr lang="en-US"/>
          </a:p>
        </p:txBody>
      </p:sp>
      <p:sp>
        <p:nvSpPr>
          <p:cNvPr id="116" name="Text 114"/>
          <p:cNvSpPr/>
          <p:nvPr/>
        </p:nvSpPr>
        <p:spPr>
          <a:xfrm>
            <a:off x="15479486"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T7/27</a:t>
            </a:r>
            <a:endParaRPr lang="en-US" dirty="0">
              <a:latin typeface="Arial" panose="020B0604020202020204" pitchFamily="34" charset="0"/>
              <a:cs typeface="Arial" panose="020B0604020202020204" pitchFamily="34" charset="0"/>
            </a:endParaRPr>
          </a:p>
        </p:txBody>
      </p:sp>
      <p:sp>
        <p:nvSpPr>
          <p:cNvPr id="117" name="Shape 115"/>
          <p:cNvSpPr/>
          <p:nvPr/>
        </p:nvSpPr>
        <p:spPr>
          <a:xfrm>
            <a:off x="15479486"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18" name="Text 116"/>
          <p:cNvSpPr/>
          <p:nvPr/>
        </p:nvSpPr>
        <p:spPr>
          <a:xfrm>
            <a:off x="15479486"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119" name="Shape 117"/>
          <p:cNvSpPr/>
          <p:nvPr/>
        </p:nvSpPr>
        <p:spPr>
          <a:xfrm>
            <a:off x="15692575"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20" name="Text 118"/>
          <p:cNvSpPr/>
          <p:nvPr/>
        </p:nvSpPr>
        <p:spPr>
          <a:xfrm>
            <a:off x="15692575"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121" name="Shape 119"/>
          <p:cNvSpPr/>
          <p:nvPr/>
        </p:nvSpPr>
        <p:spPr>
          <a:xfrm>
            <a:off x="15905662"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22" name="Text 120"/>
          <p:cNvSpPr/>
          <p:nvPr/>
        </p:nvSpPr>
        <p:spPr>
          <a:xfrm>
            <a:off x="15905662"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123" name="Shape 121"/>
          <p:cNvSpPr/>
          <p:nvPr/>
        </p:nvSpPr>
        <p:spPr>
          <a:xfrm>
            <a:off x="16118750"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24" name="Text 122"/>
          <p:cNvSpPr/>
          <p:nvPr/>
        </p:nvSpPr>
        <p:spPr>
          <a:xfrm>
            <a:off x="16118750"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125" name="Shape 123"/>
          <p:cNvSpPr/>
          <p:nvPr/>
        </p:nvSpPr>
        <p:spPr>
          <a:xfrm>
            <a:off x="16331837" y="1425702"/>
            <a:ext cx="852351" cy="411480"/>
          </a:xfrm>
          <a:prstGeom prst="rect">
            <a:avLst/>
          </a:prstGeom>
          <a:solidFill>
            <a:srgbClr val="DCE4F0"/>
          </a:solidFill>
          <a:ln w="9525">
            <a:solidFill>
              <a:srgbClr val="FFFFFF"/>
            </a:solidFill>
            <a:prstDash val="solid"/>
          </a:ln>
        </p:spPr>
        <p:txBody>
          <a:bodyPr/>
          <a:lstStyle/>
          <a:p>
            <a:endParaRPr lang="en-US"/>
          </a:p>
        </p:txBody>
      </p:sp>
      <p:sp>
        <p:nvSpPr>
          <p:cNvPr id="126" name="Text 124"/>
          <p:cNvSpPr/>
          <p:nvPr/>
        </p:nvSpPr>
        <p:spPr>
          <a:xfrm>
            <a:off x="16331837"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T8/27</a:t>
            </a:r>
            <a:endParaRPr lang="en-US" dirty="0">
              <a:latin typeface="Arial" panose="020B0604020202020204" pitchFamily="34" charset="0"/>
              <a:cs typeface="Arial" panose="020B0604020202020204" pitchFamily="34" charset="0"/>
            </a:endParaRPr>
          </a:p>
        </p:txBody>
      </p:sp>
      <p:sp>
        <p:nvSpPr>
          <p:cNvPr id="127" name="Shape 125"/>
          <p:cNvSpPr/>
          <p:nvPr/>
        </p:nvSpPr>
        <p:spPr>
          <a:xfrm>
            <a:off x="16331837"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28" name="Text 126"/>
          <p:cNvSpPr/>
          <p:nvPr/>
        </p:nvSpPr>
        <p:spPr>
          <a:xfrm>
            <a:off x="16331837"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129" name="Shape 127"/>
          <p:cNvSpPr/>
          <p:nvPr/>
        </p:nvSpPr>
        <p:spPr>
          <a:xfrm>
            <a:off x="16544926"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30" name="Text 128"/>
          <p:cNvSpPr/>
          <p:nvPr/>
        </p:nvSpPr>
        <p:spPr>
          <a:xfrm>
            <a:off x="16544926"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131" name="Shape 129"/>
          <p:cNvSpPr/>
          <p:nvPr/>
        </p:nvSpPr>
        <p:spPr>
          <a:xfrm>
            <a:off x="16758014"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32" name="Text 130"/>
          <p:cNvSpPr/>
          <p:nvPr/>
        </p:nvSpPr>
        <p:spPr>
          <a:xfrm>
            <a:off x="16758014"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133" name="Shape 131"/>
          <p:cNvSpPr/>
          <p:nvPr/>
        </p:nvSpPr>
        <p:spPr>
          <a:xfrm>
            <a:off x="16971101"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34" name="Text 132"/>
          <p:cNvSpPr/>
          <p:nvPr/>
        </p:nvSpPr>
        <p:spPr>
          <a:xfrm>
            <a:off x="16971101"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135" name="Shape 133"/>
          <p:cNvSpPr/>
          <p:nvPr/>
        </p:nvSpPr>
        <p:spPr>
          <a:xfrm>
            <a:off x="17184189" y="1425702"/>
            <a:ext cx="852351" cy="411480"/>
          </a:xfrm>
          <a:prstGeom prst="rect">
            <a:avLst/>
          </a:prstGeom>
          <a:solidFill>
            <a:srgbClr val="E9EEF6"/>
          </a:solidFill>
          <a:ln w="9525">
            <a:solidFill>
              <a:srgbClr val="FFFFFF"/>
            </a:solidFill>
            <a:prstDash val="solid"/>
          </a:ln>
        </p:spPr>
        <p:txBody>
          <a:bodyPr/>
          <a:lstStyle/>
          <a:p>
            <a:endParaRPr lang="en-US"/>
          </a:p>
        </p:txBody>
      </p:sp>
      <p:sp>
        <p:nvSpPr>
          <p:cNvPr id="136" name="Text 134"/>
          <p:cNvSpPr/>
          <p:nvPr/>
        </p:nvSpPr>
        <p:spPr>
          <a:xfrm>
            <a:off x="17184189" y="1425702"/>
            <a:ext cx="852351" cy="411480"/>
          </a:xfrm>
          <a:prstGeom prst="rect">
            <a:avLst/>
          </a:prstGeom>
          <a:noFill/>
          <a:ln/>
        </p:spPr>
        <p:txBody>
          <a:bodyPr wrap="square" lIns="0" tIns="0" rIns="0" bIns="0" rtlCol="0" anchor="ctr"/>
          <a:lstStyle/>
          <a:p>
            <a:pPr algn="ctr"/>
            <a:r>
              <a:rPr lang="en-US" b="1" dirty="0">
                <a:solidFill>
                  <a:srgbClr val="1E2761"/>
                </a:solidFill>
                <a:latin typeface="Arial" panose="020B0604020202020204" pitchFamily="34" charset="0"/>
                <a:ea typeface="Calibri" pitchFamily="34" charset="-122"/>
                <a:cs typeface="Arial" panose="020B0604020202020204" pitchFamily="34" charset="0"/>
              </a:rPr>
              <a:t>T9/27</a:t>
            </a:r>
            <a:endParaRPr lang="en-US" dirty="0">
              <a:latin typeface="Arial" panose="020B0604020202020204" pitchFamily="34" charset="0"/>
              <a:cs typeface="Arial" panose="020B0604020202020204" pitchFamily="34" charset="0"/>
            </a:endParaRPr>
          </a:p>
        </p:txBody>
      </p:sp>
      <p:sp>
        <p:nvSpPr>
          <p:cNvPr id="137" name="Shape 135"/>
          <p:cNvSpPr/>
          <p:nvPr/>
        </p:nvSpPr>
        <p:spPr>
          <a:xfrm>
            <a:off x="17184190"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38" name="Text 136"/>
          <p:cNvSpPr/>
          <p:nvPr/>
        </p:nvSpPr>
        <p:spPr>
          <a:xfrm>
            <a:off x="17184190"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W1</a:t>
            </a:r>
            <a:endParaRPr lang="en-US" sz="1000" dirty="0">
              <a:latin typeface="Arial" panose="020B0604020202020204" pitchFamily="34" charset="0"/>
              <a:cs typeface="Arial" panose="020B0604020202020204" pitchFamily="34" charset="0"/>
            </a:endParaRPr>
          </a:p>
        </p:txBody>
      </p:sp>
      <p:sp>
        <p:nvSpPr>
          <p:cNvPr id="139" name="Shape 137"/>
          <p:cNvSpPr/>
          <p:nvPr/>
        </p:nvSpPr>
        <p:spPr>
          <a:xfrm>
            <a:off x="17397277"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40" name="Text 138"/>
          <p:cNvSpPr/>
          <p:nvPr/>
        </p:nvSpPr>
        <p:spPr>
          <a:xfrm>
            <a:off x="17397277"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W2</a:t>
            </a:r>
            <a:endParaRPr lang="en-US" sz="1000" dirty="0">
              <a:latin typeface="Arial" panose="020B0604020202020204" pitchFamily="34" charset="0"/>
              <a:cs typeface="Arial" panose="020B0604020202020204" pitchFamily="34" charset="0"/>
            </a:endParaRPr>
          </a:p>
        </p:txBody>
      </p:sp>
      <p:sp>
        <p:nvSpPr>
          <p:cNvPr id="141" name="Shape 139"/>
          <p:cNvSpPr/>
          <p:nvPr/>
        </p:nvSpPr>
        <p:spPr>
          <a:xfrm>
            <a:off x="17610365"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42" name="Text 140"/>
          <p:cNvSpPr/>
          <p:nvPr/>
        </p:nvSpPr>
        <p:spPr>
          <a:xfrm>
            <a:off x="17610365"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W3</a:t>
            </a:r>
            <a:endParaRPr lang="en-US" sz="1000" dirty="0">
              <a:latin typeface="Arial" panose="020B0604020202020204" pitchFamily="34" charset="0"/>
              <a:cs typeface="Arial" panose="020B0604020202020204" pitchFamily="34" charset="0"/>
            </a:endParaRPr>
          </a:p>
        </p:txBody>
      </p:sp>
      <p:sp>
        <p:nvSpPr>
          <p:cNvPr id="143" name="Shape 141"/>
          <p:cNvSpPr/>
          <p:nvPr/>
        </p:nvSpPr>
        <p:spPr>
          <a:xfrm>
            <a:off x="17823452" y="1837182"/>
            <a:ext cx="213089" cy="301752"/>
          </a:xfrm>
          <a:prstGeom prst="rect">
            <a:avLst/>
          </a:prstGeom>
          <a:solidFill>
            <a:srgbClr val="F5F7FB"/>
          </a:solidFill>
          <a:ln w="6350">
            <a:solidFill>
              <a:srgbClr val="FFFFFF"/>
            </a:solidFill>
            <a:prstDash val="solid"/>
          </a:ln>
        </p:spPr>
        <p:txBody>
          <a:bodyPr/>
          <a:lstStyle/>
          <a:p>
            <a:endParaRPr lang="en-US"/>
          </a:p>
        </p:txBody>
      </p:sp>
      <p:sp>
        <p:nvSpPr>
          <p:cNvPr id="144" name="Text 142"/>
          <p:cNvSpPr/>
          <p:nvPr/>
        </p:nvSpPr>
        <p:spPr>
          <a:xfrm>
            <a:off x="17823452" y="1837182"/>
            <a:ext cx="213089" cy="301752"/>
          </a:xfrm>
          <a:prstGeom prst="rect">
            <a:avLst/>
          </a:prstGeom>
          <a:noFill/>
          <a:ln/>
        </p:spPr>
        <p:txBody>
          <a:bodyPr wrap="square" lIns="0" tIns="0" rIns="0" bIns="0" rtlCol="0" anchor="ctr"/>
          <a:lstStyle/>
          <a:p>
            <a:pPr algn="ctr"/>
            <a:r>
              <a:rPr lang="en-US" sz="1000" dirty="0">
                <a:solidFill>
                  <a:srgbClr val="6B7280"/>
                </a:solidFill>
                <a:latin typeface="Arial" panose="020B0604020202020204" pitchFamily="34" charset="0"/>
                <a:ea typeface="Calibri" pitchFamily="34" charset="-122"/>
                <a:cs typeface="Arial" panose="020B0604020202020204" pitchFamily="34" charset="0"/>
              </a:rPr>
              <a:t>W4</a:t>
            </a:r>
            <a:endParaRPr lang="en-US" sz="1000" dirty="0">
              <a:latin typeface="Arial" panose="020B0604020202020204" pitchFamily="34" charset="0"/>
              <a:cs typeface="Arial" panose="020B0604020202020204" pitchFamily="34" charset="0"/>
            </a:endParaRPr>
          </a:p>
        </p:txBody>
      </p:sp>
      <p:sp>
        <p:nvSpPr>
          <p:cNvPr id="145" name="Shape 143"/>
          <p:cNvSpPr/>
          <p:nvPr/>
        </p:nvSpPr>
        <p:spPr>
          <a:xfrm>
            <a:off x="6103620" y="2138934"/>
            <a:ext cx="0" cy="7125462"/>
          </a:xfrm>
          <a:prstGeom prst="line">
            <a:avLst/>
          </a:prstGeom>
          <a:noFill/>
          <a:ln w="9525">
            <a:solidFill>
              <a:srgbClr val="C4CEDE"/>
            </a:solidFill>
            <a:prstDash val="solid"/>
          </a:ln>
        </p:spPr>
        <p:txBody>
          <a:bodyPr/>
          <a:lstStyle/>
          <a:p>
            <a:endParaRPr lang="en-US"/>
          </a:p>
        </p:txBody>
      </p:sp>
      <p:sp>
        <p:nvSpPr>
          <p:cNvPr id="146" name="Shape 144"/>
          <p:cNvSpPr/>
          <p:nvPr/>
        </p:nvSpPr>
        <p:spPr>
          <a:xfrm>
            <a:off x="6955971" y="2138934"/>
            <a:ext cx="0" cy="7125462"/>
          </a:xfrm>
          <a:prstGeom prst="line">
            <a:avLst/>
          </a:prstGeom>
          <a:noFill/>
          <a:ln w="9525">
            <a:solidFill>
              <a:srgbClr val="C4CEDE"/>
            </a:solidFill>
            <a:prstDash val="solid"/>
          </a:ln>
        </p:spPr>
        <p:txBody>
          <a:bodyPr/>
          <a:lstStyle/>
          <a:p>
            <a:endParaRPr lang="en-US"/>
          </a:p>
        </p:txBody>
      </p:sp>
      <p:sp>
        <p:nvSpPr>
          <p:cNvPr id="147" name="Shape 145"/>
          <p:cNvSpPr/>
          <p:nvPr/>
        </p:nvSpPr>
        <p:spPr>
          <a:xfrm>
            <a:off x="7808324" y="2138934"/>
            <a:ext cx="0" cy="7125462"/>
          </a:xfrm>
          <a:prstGeom prst="line">
            <a:avLst/>
          </a:prstGeom>
          <a:noFill/>
          <a:ln w="9525">
            <a:solidFill>
              <a:srgbClr val="C4CEDE"/>
            </a:solidFill>
            <a:prstDash val="solid"/>
          </a:ln>
        </p:spPr>
        <p:txBody>
          <a:bodyPr/>
          <a:lstStyle/>
          <a:p>
            <a:endParaRPr lang="en-US"/>
          </a:p>
        </p:txBody>
      </p:sp>
      <p:sp>
        <p:nvSpPr>
          <p:cNvPr id="148" name="Shape 146"/>
          <p:cNvSpPr/>
          <p:nvPr/>
        </p:nvSpPr>
        <p:spPr>
          <a:xfrm>
            <a:off x="8660675" y="2138934"/>
            <a:ext cx="0" cy="7125462"/>
          </a:xfrm>
          <a:prstGeom prst="line">
            <a:avLst/>
          </a:prstGeom>
          <a:noFill/>
          <a:ln w="9525">
            <a:solidFill>
              <a:srgbClr val="C4CEDE"/>
            </a:solidFill>
            <a:prstDash val="solid"/>
          </a:ln>
        </p:spPr>
        <p:txBody>
          <a:bodyPr/>
          <a:lstStyle/>
          <a:p>
            <a:endParaRPr lang="en-US"/>
          </a:p>
        </p:txBody>
      </p:sp>
      <p:sp>
        <p:nvSpPr>
          <p:cNvPr id="149" name="Shape 147"/>
          <p:cNvSpPr/>
          <p:nvPr/>
        </p:nvSpPr>
        <p:spPr>
          <a:xfrm>
            <a:off x="9513026" y="2138934"/>
            <a:ext cx="0" cy="7125462"/>
          </a:xfrm>
          <a:prstGeom prst="line">
            <a:avLst/>
          </a:prstGeom>
          <a:noFill/>
          <a:ln w="9525">
            <a:solidFill>
              <a:srgbClr val="C4CEDE"/>
            </a:solidFill>
            <a:prstDash val="solid"/>
          </a:ln>
        </p:spPr>
        <p:txBody>
          <a:bodyPr/>
          <a:lstStyle/>
          <a:p>
            <a:endParaRPr lang="en-US"/>
          </a:p>
        </p:txBody>
      </p:sp>
      <p:sp>
        <p:nvSpPr>
          <p:cNvPr id="150" name="Shape 148"/>
          <p:cNvSpPr/>
          <p:nvPr/>
        </p:nvSpPr>
        <p:spPr>
          <a:xfrm>
            <a:off x="10365377" y="2138934"/>
            <a:ext cx="0" cy="7125462"/>
          </a:xfrm>
          <a:prstGeom prst="line">
            <a:avLst/>
          </a:prstGeom>
          <a:noFill/>
          <a:ln w="9525">
            <a:solidFill>
              <a:srgbClr val="C4CEDE"/>
            </a:solidFill>
            <a:prstDash val="solid"/>
          </a:ln>
        </p:spPr>
        <p:txBody>
          <a:bodyPr/>
          <a:lstStyle/>
          <a:p>
            <a:endParaRPr lang="en-US"/>
          </a:p>
        </p:txBody>
      </p:sp>
      <p:sp>
        <p:nvSpPr>
          <p:cNvPr id="151" name="Shape 149"/>
          <p:cNvSpPr/>
          <p:nvPr/>
        </p:nvSpPr>
        <p:spPr>
          <a:xfrm>
            <a:off x="11217729" y="2138934"/>
            <a:ext cx="0" cy="7125462"/>
          </a:xfrm>
          <a:prstGeom prst="line">
            <a:avLst/>
          </a:prstGeom>
          <a:noFill/>
          <a:ln w="9525">
            <a:solidFill>
              <a:srgbClr val="C4CEDE"/>
            </a:solidFill>
            <a:prstDash val="solid"/>
          </a:ln>
        </p:spPr>
        <p:txBody>
          <a:bodyPr/>
          <a:lstStyle/>
          <a:p>
            <a:endParaRPr lang="en-US"/>
          </a:p>
        </p:txBody>
      </p:sp>
      <p:sp>
        <p:nvSpPr>
          <p:cNvPr id="152" name="Shape 150"/>
          <p:cNvSpPr/>
          <p:nvPr/>
        </p:nvSpPr>
        <p:spPr>
          <a:xfrm>
            <a:off x="12070080" y="2138934"/>
            <a:ext cx="0" cy="7125462"/>
          </a:xfrm>
          <a:prstGeom prst="line">
            <a:avLst/>
          </a:prstGeom>
          <a:noFill/>
          <a:ln w="9525">
            <a:solidFill>
              <a:srgbClr val="C4CEDE"/>
            </a:solidFill>
            <a:prstDash val="solid"/>
          </a:ln>
        </p:spPr>
        <p:txBody>
          <a:bodyPr/>
          <a:lstStyle/>
          <a:p>
            <a:endParaRPr lang="en-US"/>
          </a:p>
        </p:txBody>
      </p:sp>
      <p:sp>
        <p:nvSpPr>
          <p:cNvPr id="153" name="Shape 151"/>
          <p:cNvSpPr/>
          <p:nvPr/>
        </p:nvSpPr>
        <p:spPr>
          <a:xfrm>
            <a:off x="12922431" y="2138934"/>
            <a:ext cx="0" cy="7125462"/>
          </a:xfrm>
          <a:prstGeom prst="line">
            <a:avLst/>
          </a:prstGeom>
          <a:noFill/>
          <a:ln w="9525">
            <a:solidFill>
              <a:srgbClr val="C4CEDE"/>
            </a:solidFill>
            <a:prstDash val="solid"/>
          </a:ln>
        </p:spPr>
        <p:txBody>
          <a:bodyPr/>
          <a:lstStyle/>
          <a:p>
            <a:endParaRPr lang="en-US"/>
          </a:p>
        </p:txBody>
      </p:sp>
      <p:sp>
        <p:nvSpPr>
          <p:cNvPr id="154" name="Shape 152"/>
          <p:cNvSpPr/>
          <p:nvPr/>
        </p:nvSpPr>
        <p:spPr>
          <a:xfrm>
            <a:off x="13774784" y="2138934"/>
            <a:ext cx="0" cy="7125462"/>
          </a:xfrm>
          <a:prstGeom prst="line">
            <a:avLst/>
          </a:prstGeom>
          <a:noFill/>
          <a:ln w="9525">
            <a:solidFill>
              <a:srgbClr val="C4CEDE"/>
            </a:solidFill>
            <a:prstDash val="solid"/>
          </a:ln>
        </p:spPr>
        <p:txBody>
          <a:bodyPr/>
          <a:lstStyle/>
          <a:p>
            <a:endParaRPr lang="en-US"/>
          </a:p>
        </p:txBody>
      </p:sp>
      <p:sp>
        <p:nvSpPr>
          <p:cNvPr id="155" name="Shape 153"/>
          <p:cNvSpPr/>
          <p:nvPr/>
        </p:nvSpPr>
        <p:spPr>
          <a:xfrm>
            <a:off x="14627135" y="2138934"/>
            <a:ext cx="0" cy="7125462"/>
          </a:xfrm>
          <a:prstGeom prst="line">
            <a:avLst/>
          </a:prstGeom>
          <a:noFill/>
          <a:ln w="9525">
            <a:solidFill>
              <a:srgbClr val="C4CEDE"/>
            </a:solidFill>
            <a:prstDash val="solid"/>
          </a:ln>
        </p:spPr>
        <p:txBody>
          <a:bodyPr/>
          <a:lstStyle/>
          <a:p>
            <a:endParaRPr lang="en-US"/>
          </a:p>
        </p:txBody>
      </p:sp>
      <p:sp>
        <p:nvSpPr>
          <p:cNvPr id="156" name="Shape 154"/>
          <p:cNvSpPr/>
          <p:nvPr/>
        </p:nvSpPr>
        <p:spPr>
          <a:xfrm>
            <a:off x="15479486" y="2138934"/>
            <a:ext cx="0" cy="7125462"/>
          </a:xfrm>
          <a:prstGeom prst="line">
            <a:avLst/>
          </a:prstGeom>
          <a:noFill/>
          <a:ln w="9525">
            <a:solidFill>
              <a:srgbClr val="C4CEDE"/>
            </a:solidFill>
            <a:prstDash val="solid"/>
          </a:ln>
        </p:spPr>
        <p:txBody>
          <a:bodyPr/>
          <a:lstStyle/>
          <a:p>
            <a:endParaRPr lang="en-US"/>
          </a:p>
        </p:txBody>
      </p:sp>
      <p:sp>
        <p:nvSpPr>
          <p:cNvPr id="157" name="Shape 155"/>
          <p:cNvSpPr/>
          <p:nvPr/>
        </p:nvSpPr>
        <p:spPr>
          <a:xfrm>
            <a:off x="16331837" y="2138934"/>
            <a:ext cx="0" cy="7125462"/>
          </a:xfrm>
          <a:prstGeom prst="line">
            <a:avLst/>
          </a:prstGeom>
          <a:noFill/>
          <a:ln w="9525">
            <a:solidFill>
              <a:srgbClr val="C4CEDE"/>
            </a:solidFill>
            <a:prstDash val="solid"/>
          </a:ln>
        </p:spPr>
        <p:txBody>
          <a:bodyPr/>
          <a:lstStyle/>
          <a:p>
            <a:endParaRPr lang="en-US"/>
          </a:p>
        </p:txBody>
      </p:sp>
      <p:sp>
        <p:nvSpPr>
          <p:cNvPr id="158" name="Shape 156"/>
          <p:cNvSpPr/>
          <p:nvPr/>
        </p:nvSpPr>
        <p:spPr>
          <a:xfrm>
            <a:off x="17184189" y="2138934"/>
            <a:ext cx="0" cy="7125462"/>
          </a:xfrm>
          <a:prstGeom prst="line">
            <a:avLst/>
          </a:prstGeom>
          <a:noFill/>
          <a:ln w="9525">
            <a:solidFill>
              <a:srgbClr val="C4CEDE"/>
            </a:solidFill>
            <a:prstDash val="solid"/>
          </a:ln>
        </p:spPr>
        <p:txBody>
          <a:bodyPr/>
          <a:lstStyle/>
          <a:p>
            <a:endParaRPr lang="en-US"/>
          </a:p>
        </p:txBody>
      </p:sp>
      <p:sp>
        <p:nvSpPr>
          <p:cNvPr id="159" name="Shape 157"/>
          <p:cNvSpPr/>
          <p:nvPr/>
        </p:nvSpPr>
        <p:spPr>
          <a:xfrm>
            <a:off x="18036540" y="2138934"/>
            <a:ext cx="0" cy="7125462"/>
          </a:xfrm>
          <a:prstGeom prst="line">
            <a:avLst/>
          </a:prstGeom>
          <a:noFill/>
          <a:ln w="9525">
            <a:solidFill>
              <a:srgbClr val="C4CEDE"/>
            </a:solidFill>
            <a:prstDash val="solid"/>
          </a:ln>
        </p:spPr>
        <p:txBody>
          <a:bodyPr/>
          <a:lstStyle/>
          <a:p>
            <a:endParaRPr lang="en-US"/>
          </a:p>
        </p:txBody>
      </p:sp>
      <p:sp>
        <p:nvSpPr>
          <p:cNvPr id="160" name="Shape 158"/>
          <p:cNvSpPr/>
          <p:nvPr/>
        </p:nvSpPr>
        <p:spPr>
          <a:xfrm>
            <a:off x="548640" y="2138934"/>
            <a:ext cx="17487900" cy="384048"/>
          </a:xfrm>
          <a:prstGeom prst="rect">
            <a:avLst/>
          </a:prstGeom>
          <a:solidFill>
            <a:srgbClr val="2E4B8B"/>
          </a:solidFill>
          <a:ln/>
        </p:spPr>
        <p:txBody>
          <a:bodyPr/>
          <a:lstStyle/>
          <a:p>
            <a:endParaRPr lang="en-US"/>
          </a:p>
        </p:txBody>
      </p:sp>
      <p:sp>
        <p:nvSpPr>
          <p:cNvPr id="161" name="Text 159"/>
          <p:cNvSpPr/>
          <p:nvPr/>
        </p:nvSpPr>
        <p:spPr>
          <a:xfrm>
            <a:off x="713232" y="2138934"/>
            <a:ext cx="17213580" cy="384048"/>
          </a:xfrm>
          <a:prstGeom prst="rect">
            <a:avLst/>
          </a:prstGeom>
          <a:noFill/>
          <a:ln/>
        </p:spPr>
        <p:txBody>
          <a:bodyPr wrap="square" lIns="0" tIns="0" rIns="0" bIns="0" rtlCol="0" anchor="ctr"/>
          <a:lstStyle/>
          <a:p>
            <a:r>
              <a:rPr lang="en-US" sz="2000" b="1" dirty="0">
                <a:solidFill>
                  <a:srgbClr val="FFFFFF"/>
                </a:solidFill>
                <a:latin typeface="Arial" panose="020B0604020202020204" pitchFamily="34" charset="0"/>
                <a:ea typeface="Calibri" pitchFamily="34" charset="-122"/>
                <a:cs typeface="Arial" panose="020B0604020202020204" pitchFamily="34" charset="0"/>
              </a:rPr>
              <a:t>GIAI ĐOẠN A — NỀN TẢNG KHUNG CẤP TCT ( 2 </a:t>
            </a:r>
            <a:r>
              <a:rPr lang="en-US" sz="2000" b="1" dirty="0" err="1">
                <a:solidFill>
                  <a:srgbClr val="FFFFFF"/>
                </a:solidFill>
                <a:latin typeface="Arial" panose="020B0604020202020204" pitchFamily="34" charset="0"/>
                <a:ea typeface="Calibri" pitchFamily="34" charset="-122"/>
                <a:cs typeface="Arial" panose="020B0604020202020204" pitchFamily="34" charset="0"/>
              </a:rPr>
              <a:t>tháng</a:t>
            </a:r>
            <a:r>
              <a:rPr lang="en-US" sz="2000" b="1" dirty="0">
                <a:solidFill>
                  <a:srgbClr val="FFFFFF"/>
                </a:solidFill>
                <a:latin typeface="Arial" panose="020B0604020202020204" pitchFamily="34" charset="0"/>
                <a:ea typeface="Calibri" pitchFamily="34" charset="-122"/>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
        <p:nvSpPr>
          <p:cNvPr id="162" name="Shape 160"/>
          <p:cNvSpPr/>
          <p:nvPr/>
        </p:nvSpPr>
        <p:spPr>
          <a:xfrm>
            <a:off x="548640" y="2522982"/>
            <a:ext cx="17487900" cy="459486"/>
          </a:xfrm>
          <a:prstGeom prst="rect">
            <a:avLst/>
          </a:prstGeom>
          <a:solidFill>
            <a:srgbClr val="F7F9FC"/>
          </a:solidFill>
          <a:ln/>
        </p:spPr>
        <p:txBody>
          <a:bodyPr/>
          <a:lstStyle/>
          <a:p>
            <a:endParaRPr lang="en-US"/>
          </a:p>
        </p:txBody>
      </p:sp>
      <p:sp>
        <p:nvSpPr>
          <p:cNvPr id="163" name="Text 161"/>
          <p:cNvSpPr/>
          <p:nvPr/>
        </p:nvSpPr>
        <p:spPr>
          <a:xfrm>
            <a:off x="685800" y="2522982"/>
            <a:ext cx="576072" cy="459486"/>
          </a:xfrm>
          <a:prstGeom prst="rect">
            <a:avLst/>
          </a:prstGeom>
          <a:noFill/>
          <a:ln/>
        </p:spPr>
        <p:txBody>
          <a:bodyPr wrap="square" lIns="0" tIns="0" rIns="0" bIns="0" rtlCol="0" anchor="ctr"/>
          <a:lstStyle/>
          <a:p>
            <a:pPr algn="ctr"/>
            <a:r>
              <a:rPr lang="en-US" sz="1600" b="1" dirty="0">
                <a:solidFill>
                  <a:srgbClr val="2E4B8B"/>
                </a:solidFill>
                <a:latin typeface="Arial" panose="020B0604020202020204" pitchFamily="34" charset="0"/>
                <a:ea typeface="Calibri" pitchFamily="34" charset="-122"/>
                <a:cs typeface="Arial" panose="020B0604020202020204" pitchFamily="34" charset="0"/>
              </a:rPr>
              <a:t>I</a:t>
            </a:r>
            <a:endParaRPr lang="en-US" sz="1600" dirty="0">
              <a:latin typeface="Arial" panose="020B0604020202020204" pitchFamily="34" charset="0"/>
              <a:cs typeface="Arial" panose="020B0604020202020204" pitchFamily="34" charset="0"/>
            </a:endParaRPr>
          </a:p>
        </p:txBody>
      </p:sp>
      <p:sp>
        <p:nvSpPr>
          <p:cNvPr id="164" name="Text 162"/>
          <p:cNvSpPr/>
          <p:nvPr/>
        </p:nvSpPr>
        <p:spPr>
          <a:xfrm>
            <a:off x="1344168" y="2522982"/>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Xây dựng &amp; ban hành KVRR cấp TCT</a:t>
            </a:r>
            <a:endParaRPr lang="en-US" sz="1700" dirty="0">
              <a:latin typeface="Arial" panose="020B0604020202020204" pitchFamily="34" charset="0"/>
              <a:cs typeface="Arial" panose="020B0604020202020204" pitchFamily="34" charset="0"/>
            </a:endParaRPr>
          </a:p>
        </p:txBody>
      </p:sp>
      <p:sp>
        <p:nvSpPr>
          <p:cNvPr id="165" name="Shape 163"/>
          <p:cNvSpPr/>
          <p:nvPr/>
        </p:nvSpPr>
        <p:spPr>
          <a:xfrm>
            <a:off x="6742884" y="2614880"/>
            <a:ext cx="852351" cy="275691"/>
          </a:xfrm>
          <a:prstGeom prst="roundRect">
            <a:avLst>
              <a:gd name="adj" fmla="val 14925"/>
            </a:avLst>
          </a:prstGeom>
          <a:solidFill>
            <a:srgbClr val="2E4B8B"/>
          </a:solidFill>
          <a:ln/>
        </p:spPr>
        <p:txBody>
          <a:bodyPr/>
          <a:lstStyle/>
          <a:p>
            <a:endParaRPr lang="en-US"/>
          </a:p>
        </p:txBody>
      </p:sp>
      <p:sp>
        <p:nvSpPr>
          <p:cNvPr id="166" name="Text 164"/>
          <p:cNvSpPr/>
          <p:nvPr/>
        </p:nvSpPr>
        <p:spPr>
          <a:xfrm>
            <a:off x="685800" y="2982468"/>
            <a:ext cx="576072" cy="459486"/>
          </a:xfrm>
          <a:prstGeom prst="rect">
            <a:avLst/>
          </a:prstGeom>
          <a:noFill/>
          <a:ln/>
        </p:spPr>
        <p:txBody>
          <a:bodyPr wrap="square" lIns="0" tIns="0" rIns="0" bIns="0" rtlCol="0" anchor="ctr"/>
          <a:lstStyle/>
          <a:p>
            <a:pPr algn="ctr"/>
            <a:r>
              <a:rPr lang="en-US" sz="1600" b="1" dirty="0">
                <a:solidFill>
                  <a:srgbClr val="2E4B8B"/>
                </a:solidFill>
                <a:latin typeface="Arial" panose="020B0604020202020204" pitchFamily="34" charset="0"/>
                <a:ea typeface="Calibri" pitchFamily="34" charset="-122"/>
                <a:cs typeface="Arial" panose="020B0604020202020204" pitchFamily="34" charset="0"/>
              </a:rPr>
              <a:t>II</a:t>
            </a:r>
            <a:endParaRPr lang="en-US" sz="1600" dirty="0">
              <a:latin typeface="Arial" panose="020B0604020202020204" pitchFamily="34" charset="0"/>
              <a:cs typeface="Arial" panose="020B0604020202020204" pitchFamily="34" charset="0"/>
            </a:endParaRPr>
          </a:p>
        </p:txBody>
      </p:sp>
      <p:sp>
        <p:nvSpPr>
          <p:cNvPr id="167" name="Text 165"/>
          <p:cNvSpPr/>
          <p:nvPr/>
        </p:nvSpPr>
        <p:spPr>
          <a:xfrm>
            <a:off x="1344168" y="2982468"/>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Xây dựng thước đo rủi ro chung toàn TCT</a:t>
            </a:r>
            <a:endParaRPr lang="en-US" sz="1700" dirty="0">
              <a:latin typeface="Arial" panose="020B0604020202020204" pitchFamily="34" charset="0"/>
              <a:cs typeface="Arial" panose="020B0604020202020204" pitchFamily="34" charset="0"/>
            </a:endParaRPr>
          </a:p>
        </p:txBody>
      </p:sp>
      <p:sp>
        <p:nvSpPr>
          <p:cNvPr id="168" name="Shape 166"/>
          <p:cNvSpPr/>
          <p:nvPr/>
        </p:nvSpPr>
        <p:spPr>
          <a:xfrm>
            <a:off x="6955972" y="3074366"/>
            <a:ext cx="1278527" cy="275691"/>
          </a:xfrm>
          <a:prstGeom prst="roundRect">
            <a:avLst>
              <a:gd name="adj" fmla="val 14925"/>
            </a:avLst>
          </a:prstGeom>
          <a:solidFill>
            <a:srgbClr val="2E4B8B"/>
          </a:solidFill>
          <a:ln/>
        </p:spPr>
        <p:txBody>
          <a:bodyPr/>
          <a:lstStyle/>
          <a:p>
            <a:endParaRPr lang="en-US"/>
          </a:p>
        </p:txBody>
      </p:sp>
      <p:sp>
        <p:nvSpPr>
          <p:cNvPr id="169" name="Shape 167"/>
          <p:cNvSpPr/>
          <p:nvPr/>
        </p:nvSpPr>
        <p:spPr>
          <a:xfrm>
            <a:off x="548640" y="3441954"/>
            <a:ext cx="17487900" cy="459486"/>
          </a:xfrm>
          <a:prstGeom prst="rect">
            <a:avLst/>
          </a:prstGeom>
          <a:solidFill>
            <a:srgbClr val="F7F9FC"/>
          </a:solidFill>
          <a:ln/>
        </p:spPr>
        <p:txBody>
          <a:bodyPr/>
          <a:lstStyle/>
          <a:p>
            <a:endParaRPr lang="en-US"/>
          </a:p>
        </p:txBody>
      </p:sp>
      <p:sp>
        <p:nvSpPr>
          <p:cNvPr id="170" name="Text 168"/>
          <p:cNvSpPr/>
          <p:nvPr/>
        </p:nvSpPr>
        <p:spPr>
          <a:xfrm>
            <a:off x="685800" y="3441954"/>
            <a:ext cx="576072" cy="459486"/>
          </a:xfrm>
          <a:prstGeom prst="rect">
            <a:avLst/>
          </a:prstGeom>
          <a:noFill/>
          <a:ln/>
        </p:spPr>
        <p:txBody>
          <a:bodyPr wrap="square" lIns="0" tIns="0" rIns="0" bIns="0" rtlCol="0" anchor="ctr"/>
          <a:lstStyle/>
          <a:p>
            <a:pPr algn="ctr"/>
            <a:r>
              <a:rPr lang="en-US" sz="1600" b="1" dirty="0">
                <a:solidFill>
                  <a:srgbClr val="2E4B8B"/>
                </a:solidFill>
                <a:latin typeface="Arial" panose="020B0604020202020204" pitchFamily="34" charset="0"/>
                <a:ea typeface="Calibri" pitchFamily="34" charset="-122"/>
                <a:cs typeface="Arial" panose="020B0604020202020204" pitchFamily="34" charset="0"/>
              </a:rPr>
              <a:t>III</a:t>
            </a:r>
            <a:endParaRPr lang="en-US" sz="1600" dirty="0">
              <a:latin typeface="Arial" panose="020B0604020202020204" pitchFamily="34" charset="0"/>
              <a:cs typeface="Arial" panose="020B0604020202020204" pitchFamily="34" charset="0"/>
            </a:endParaRPr>
          </a:p>
        </p:txBody>
      </p:sp>
      <p:sp>
        <p:nvSpPr>
          <p:cNvPr id="171" name="Text 169"/>
          <p:cNvSpPr/>
          <p:nvPr/>
        </p:nvSpPr>
        <p:spPr>
          <a:xfrm>
            <a:off x="1344168" y="3441954"/>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Ban hành quy chế/khung QTRR cấp TCT</a:t>
            </a:r>
            <a:endParaRPr lang="en-US" sz="1700" dirty="0">
              <a:latin typeface="Arial" panose="020B0604020202020204" pitchFamily="34" charset="0"/>
              <a:cs typeface="Arial" panose="020B0604020202020204" pitchFamily="34" charset="0"/>
            </a:endParaRPr>
          </a:p>
        </p:txBody>
      </p:sp>
      <p:sp>
        <p:nvSpPr>
          <p:cNvPr id="172" name="Shape 170"/>
          <p:cNvSpPr/>
          <p:nvPr/>
        </p:nvSpPr>
        <p:spPr>
          <a:xfrm>
            <a:off x="7808324" y="3533852"/>
            <a:ext cx="426176" cy="275691"/>
          </a:xfrm>
          <a:prstGeom prst="roundRect">
            <a:avLst>
              <a:gd name="adj" fmla="val 14925"/>
            </a:avLst>
          </a:prstGeom>
          <a:solidFill>
            <a:srgbClr val="2E4B8B"/>
          </a:solidFill>
          <a:ln/>
        </p:spPr>
        <p:txBody>
          <a:bodyPr/>
          <a:lstStyle/>
          <a:p>
            <a:endParaRPr lang="en-US"/>
          </a:p>
        </p:txBody>
      </p:sp>
      <p:sp>
        <p:nvSpPr>
          <p:cNvPr id="173" name="Text 171"/>
          <p:cNvSpPr/>
          <p:nvPr/>
        </p:nvSpPr>
        <p:spPr>
          <a:xfrm>
            <a:off x="685800" y="3901440"/>
            <a:ext cx="576072" cy="459486"/>
          </a:xfrm>
          <a:prstGeom prst="rect">
            <a:avLst/>
          </a:prstGeom>
          <a:noFill/>
          <a:ln/>
        </p:spPr>
        <p:txBody>
          <a:bodyPr wrap="square" lIns="0" tIns="0" rIns="0" bIns="0" rtlCol="0" anchor="ctr"/>
          <a:lstStyle/>
          <a:p>
            <a:pPr algn="ctr"/>
            <a:r>
              <a:rPr lang="en-US" sz="1600" b="1" dirty="0">
                <a:solidFill>
                  <a:srgbClr val="2E4B8B"/>
                </a:solidFill>
                <a:latin typeface="Arial" panose="020B0604020202020204" pitchFamily="34" charset="0"/>
                <a:ea typeface="Calibri" pitchFamily="34" charset="-122"/>
                <a:cs typeface="Arial" panose="020B0604020202020204" pitchFamily="34" charset="0"/>
              </a:rPr>
              <a:t>IV</a:t>
            </a:r>
            <a:endParaRPr lang="en-US" sz="1600" dirty="0">
              <a:latin typeface="Arial" panose="020B0604020202020204" pitchFamily="34" charset="0"/>
              <a:cs typeface="Arial" panose="020B0604020202020204" pitchFamily="34" charset="0"/>
            </a:endParaRPr>
          </a:p>
        </p:txBody>
      </p:sp>
      <p:sp>
        <p:nvSpPr>
          <p:cNvPr id="174" name="Text 172"/>
          <p:cNvSpPr/>
          <p:nvPr/>
        </p:nvSpPr>
        <p:spPr>
          <a:xfrm>
            <a:off x="1344168" y="3901440"/>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Xác định rủi ro trọng yếu định hướng cấp TCT</a:t>
            </a:r>
            <a:endParaRPr lang="en-US" sz="1700" dirty="0">
              <a:latin typeface="Arial" panose="020B0604020202020204" pitchFamily="34" charset="0"/>
              <a:cs typeface="Arial" panose="020B0604020202020204" pitchFamily="34" charset="0"/>
            </a:endParaRPr>
          </a:p>
        </p:txBody>
      </p:sp>
      <p:sp>
        <p:nvSpPr>
          <p:cNvPr id="175" name="Shape 173"/>
          <p:cNvSpPr/>
          <p:nvPr/>
        </p:nvSpPr>
        <p:spPr>
          <a:xfrm>
            <a:off x="6955972" y="3993338"/>
            <a:ext cx="1278527" cy="275691"/>
          </a:xfrm>
          <a:prstGeom prst="roundRect">
            <a:avLst>
              <a:gd name="adj" fmla="val 14925"/>
            </a:avLst>
          </a:prstGeom>
          <a:solidFill>
            <a:srgbClr val="2E4B8B"/>
          </a:solidFill>
          <a:ln/>
        </p:spPr>
        <p:txBody>
          <a:bodyPr/>
          <a:lstStyle/>
          <a:p>
            <a:endParaRPr lang="en-US"/>
          </a:p>
        </p:txBody>
      </p:sp>
      <p:sp>
        <p:nvSpPr>
          <p:cNvPr id="176" name="Shape 174"/>
          <p:cNvSpPr/>
          <p:nvPr/>
        </p:nvSpPr>
        <p:spPr>
          <a:xfrm>
            <a:off x="548640" y="4360926"/>
            <a:ext cx="17487900" cy="384048"/>
          </a:xfrm>
          <a:prstGeom prst="rect">
            <a:avLst/>
          </a:prstGeom>
          <a:solidFill>
            <a:srgbClr val="0F7A6B"/>
          </a:solidFill>
          <a:ln/>
        </p:spPr>
        <p:txBody>
          <a:bodyPr/>
          <a:lstStyle/>
          <a:p>
            <a:endParaRPr lang="en-US"/>
          </a:p>
        </p:txBody>
      </p:sp>
      <p:sp>
        <p:nvSpPr>
          <p:cNvPr id="177" name="Text 175"/>
          <p:cNvSpPr/>
          <p:nvPr/>
        </p:nvSpPr>
        <p:spPr>
          <a:xfrm>
            <a:off x="713232" y="4360926"/>
            <a:ext cx="17213580" cy="384048"/>
          </a:xfrm>
          <a:prstGeom prst="rect">
            <a:avLst/>
          </a:prstGeom>
          <a:noFill/>
          <a:ln/>
        </p:spPr>
        <p:txBody>
          <a:bodyPr wrap="square" lIns="0" tIns="0" rIns="0" bIns="0" rtlCol="0" anchor="ctr"/>
          <a:lstStyle/>
          <a:p>
            <a:r>
              <a:rPr lang="en-US" sz="2000" b="1" dirty="0">
                <a:solidFill>
                  <a:srgbClr val="FFFFFF"/>
                </a:solidFill>
                <a:latin typeface="Arial" panose="020B0604020202020204" pitchFamily="34" charset="0"/>
                <a:ea typeface="Calibri" pitchFamily="34" charset="-122"/>
                <a:cs typeface="Arial" panose="020B0604020202020204" pitchFamily="34" charset="0"/>
              </a:rPr>
              <a:t>GIAI ĐOẠN B — THÍ ĐIỂM TẠI TRUNG TÂM VHKT &amp; XÂY HỆ THỐNG/CÔNG CỤ ERM (6 </a:t>
            </a:r>
            <a:r>
              <a:rPr lang="en-US" sz="2000" b="1" dirty="0" err="1">
                <a:solidFill>
                  <a:srgbClr val="FFFFFF"/>
                </a:solidFill>
                <a:latin typeface="Arial" panose="020B0604020202020204" pitchFamily="34" charset="0"/>
                <a:ea typeface="Calibri" pitchFamily="34" charset="-122"/>
                <a:cs typeface="Arial" panose="020B0604020202020204" pitchFamily="34" charset="0"/>
              </a:rPr>
              <a:t>tháng</a:t>
            </a:r>
            <a:r>
              <a:rPr lang="en-US" sz="2000" b="1" dirty="0">
                <a:solidFill>
                  <a:srgbClr val="FFFFFF"/>
                </a:solidFill>
                <a:latin typeface="Arial" panose="020B0604020202020204" pitchFamily="34" charset="0"/>
                <a:ea typeface="Calibri" pitchFamily="34" charset="-122"/>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
        <p:nvSpPr>
          <p:cNvPr id="178" name="Shape 176"/>
          <p:cNvSpPr/>
          <p:nvPr/>
        </p:nvSpPr>
        <p:spPr>
          <a:xfrm>
            <a:off x="548640" y="4744974"/>
            <a:ext cx="17487900" cy="459486"/>
          </a:xfrm>
          <a:prstGeom prst="rect">
            <a:avLst/>
          </a:prstGeom>
          <a:solidFill>
            <a:srgbClr val="F7F9FC"/>
          </a:solidFill>
          <a:ln/>
        </p:spPr>
        <p:txBody>
          <a:bodyPr/>
          <a:lstStyle/>
          <a:p>
            <a:endParaRPr lang="en-US"/>
          </a:p>
        </p:txBody>
      </p:sp>
      <p:sp>
        <p:nvSpPr>
          <p:cNvPr id="179" name="Text 177"/>
          <p:cNvSpPr/>
          <p:nvPr/>
        </p:nvSpPr>
        <p:spPr>
          <a:xfrm>
            <a:off x="685800" y="4744974"/>
            <a:ext cx="576072" cy="459486"/>
          </a:xfrm>
          <a:prstGeom prst="rect">
            <a:avLst/>
          </a:prstGeom>
          <a:noFill/>
          <a:ln/>
        </p:spPr>
        <p:txBody>
          <a:bodyPr wrap="square" lIns="0" tIns="0" rIns="0" bIns="0" rtlCol="0" anchor="ctr"/>
          <a:lstStyle/>
          <a:p>
            <a:pPr algn="ctr"/>
            <a:r>
              <a:rPr lang="en-US" sz="1600" b="1" dirty="0">
                <a:solidFill>
                  <a:srgbClr val="0F7A6B"/>
                </a:solidFill>
                <a:latin typeface="Arial" panose="020B0604020202020204" pitchFamily="34" charset="0"/>
                <a:ea typeface="Calibri" pitchFamily="34" charset="-122"/>
                <a:cs typeface="Arial" panose="020B0604020202020204" pitchFamily="34" charset="0"/>
              </a:rPr>
              <a:t>I</a:t>
            </a:r>
            <a:endParaRPr lang="en-US" sz="1600" dirty="0">
              <a:latin typeface="Arial" panose="020B0604020202020204" pitchFamily="34" charset="0"/>
              <a:cs typeface="Arial" panose="020B0604020202020204" pitchFamily="34" charset="0"/>
            </a:endParaRPr>
          </a:p>
        </p:txBody>
      </p:sp>
      <p:sp>
        <p:nvSpPr>
          <p:cNvPr id="180" name="Text 178"/>
          <p:cNvSpPr/>
          <p:nvPr/>
        </p:nvSpPr>
        <p:spPr>
          <a:xfrm>
            <a:off x="1344168" y="4744974"/>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Khởi động &amp; </a:t>
            </a:r>
            <a:r>
              <a:rPr lang="en-US" sz="1700" dirty="0" err="1">
                <a:solidFill>
                  <a:srgbClr val="222B45"/>
                </a:solidFill>
                <a:latin typeface="Arial" panose="020B0604020202020204" pitchFamily="34" charset="0"/>
                <a:ea typeface="Calibri" pitchFamily="34" charset="-122"/>
                <a:cs typeface="Arial" panose="020B0604020202020204" pitchFamily="34" charset="0"/>
              </a:rPr>
              <a:t>đánh</a:t>
            </a:r>
            <a:r>
              <a:rPr lang="en-US" sz="1700" dirty="0">
                <a:solidFill>
                  <a:srgbClr val="222B45"/>
                </a:solidFill>
                <a:latin typeface="Arial" panose="020B0604020202020204" pitchFamily="34" charset="0"/>
                <a:ea typeface="Calibri" pitchFamily="34" charset="-122"/>
                <a:cs typeface="Arial" panose="020B0604020202020204" pitchFamily="34" charset="0"/>
              </a:rPr>
              <a:t> giá hiện trạng tại TT VHKT</a:t>
            </a:r>
            <a:endParaRPr lang="en-US" sz="1700" dirty="0">
              <a:latin typeface="Arial" panose="020B0604020202020204" pitchFamily="34" charset="0"/>
              <a:cs typeface="Arial" panose="020B0604020202020204" pitchFamily="34" charset="0"/>
            </a:endParaRPr>
          </a:p>
        </p:txBody>
      </p:sp>
      <p:sp>
        <p:nvSpPr>
          <p:cNvPr id="181" name="Shape 179"/>
          <p:cNvSpPr/>
          <p:nvPr/>
        </p:nvSpPr>
        <p:spPr>
          <a:xfrm>
            <a:off x="6529796" y="4836872"/>
            <a:ext cx="639264" cy="275691"/>
          </a:xfrm>
          <a:prstGeom prst="roundRect">
            <a:avLst>
              <a:gd name="adj" fmla="val 14925"/>
            </a:avLst>
          </a:prstGeom>
          <a:solidFill>
            <a:srgbClr val="0F7A6B"/>
          </a:solidFill>
          <a:ln/>
        </p:spPr>
        <p:txBody>
          <a:bodyPr/>
          <a:lstStyle/>
          <a:p>
            <a:endParaRPr lang="en-US"/>
          </a:p>
        </p:txBody>
      </p:sp>
      <p:sp>
        <p:nvSpPr>
          <p:cNvPr id="182" name="Text 180"/>
          <p:cNvSpPr/>
          <p:nvPr/>
        </p:nvSpPr>
        <p:spPr>
          <a:xfrm>
            <a:off x="685800" y="5204460"/>
            <a:ext cx="576072" cy="459486"/>
          </a:xfrm>
          <a:prstGeom prst="rect">
            <a:avLst/>
          </a:prstGeom>
          <a:noFill/>
          <a:ln/>
        </p:spPr>
        <p:txBody>
          <a:bodyPr wrap="square" lIns="0" tIns="0" rIns="0" bIns="0" rtlCol="0" anchor="ctr"/>
          <a:lstStyle/>
          <a:p>
            <a:pPr algn="ctr"/>
            <a:r>
              <a:rPr lang="en-US" sz="1600" b="1" dirty="0">
                <a:solidFill>
                  <a:srgbClr val="0F7A6B"/>
                </a:solidFill>
                <a:latin typeface="Arial" panose="020B0604020202020204" pitchFamily="34" charset="0"/>
                <a:ea typeface="Calibri" pitchFamily="34" charset="-122"/>
                <a:cs typeface="Arial" panose="020B0604020202020204" pitchFamily="34" charset="0"/>
              </a:rPr>
              <a:t>II</a:t>
            </a:r>
            <a:endParaRPr lang="en-US" sz="1600" dirty="0">
              <a:latin typeface="Arial" panose="020B0604020202020204" pitchFamily="34" charset="0"/>
              <a:cs typeface="Arial" panose="020B0604020202020204" pitchFamily="34" charset="0"/>
            </a:endParaRPr>
          </a:p>
        </p:txBody>
      </p:sp>
      <p:sp>
        <p:nvSpPr>
          <p:cNvPr id="183" name="Text 181"/>
          <p:cNvSpPr/>
          <p:nvPr/>
        </p:nvSpPr>
        <p:spPr>
          <a:xfrm>
            <a:off x="1344168" y="5204460"/>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KVRR, thư viện &amp; rủi ro trọng yếu cấp TT</a:t>
            </a:r>
            <a:endParaRPr lang="en-US" sz="1700" dirty="0">
              <a:latin typeface="Arial" panose="020B0604020202020204" pitchFamily="34" charset="0"/>
              <a:cs typeface="Arial" panose="020B0604020202020204" pitchFamily="34" charset="0"/>
            </a:endParaRPr>
          </a:p>
        </p:txBody>
      </p:sp>
      <p:sp>
        <p:nvSpPr>
          <p:cNvPr id="184" name="Shape 182"/>
          <p:cNvSpPr/>
          <p:nvPr/>
        </p:nvSpPr>
        <p:spPr>
          <a:xfrm>
            <a:off x="7169060" y="5296358"/>
            <a:ext cx="852351" cy="275691"/>
          </a:xfrm>
          <a:prstGeom prst="roundRect">
            <a:avLst>
              <a:gd name="adj" fmla="val 14925"/>
            </a:avLst>
          </a:prstGeom>
          <a:solidFill>
            <a:srgbClr val="0F7A6B"/>
          </a:solidFill>
          <a:ln/>
        </p:spPr>
        <p:txBody>
          <a:bodyPr/>
          <a:lstStyle/>
          <a:p>
            <a:endParaRPr lang="en-US"/>
          </a:p>
        </p:txBody>
      </p:sp>
      <p:sp>
        <p:nvSpPr>
          <p:cNvPr id="185" name="Shape 183"/>
          <p:cNvSpPr/>
          <p:nvPr/>
        </p:nvSpPr>
        <p:spPr>
          <a:xfrm>
            <a:off x="548640" y="5663946"/>
            <a:ext cx="17487900" cy="459486"/>
          </a:xfrm>
          <a:prstGeom prst="rect">
            <a:avLst/>
          </a:prstGeom>
          <a:solidFill>
            <a:srgbClr val="F7F9FC"/>
          </a:solidFill>
          <a:ln/>
        </p:spPr>
        <p:txBody>
          <a:bodyPr/>
          <a:lstStyle/>
          <a:p>
            <a:endParaRPr lang="en-US"/>
          </a:p>
        </p:txBody>
      </p:sp>
      <p:sp>
        <p:nvSpPr>
          <p:cNvPr id="186" name="Text 184"/>
          <p:cNvSpPr/>
          <p:nvPr/>
        </p:nvSpPr>
        <p:spPr>
          <a:xfrm>
            <a:off x="685800" y="5663946"/>
            <a:ext cx="576072" cy="459486"/>
          </a:xfrm>
          <a:prstGeom prst="rect">
            <a:avLst/>
          </a:prstGeom>
          <a:noFill/>
          <a:ln/>
        </p:spPr>
        <p:txBody>
          <a:bodyPr wrap="square" lIns="0" tIns="0" rIns="0" bIns="0" rtlCol="0" anchor="ctr"/>
          <a:lstStyle/>
          <a:p>
            <a:pPr algn="ctr"/>
            <a:r>
              <a:rPr lang="en-US" sz="1600" b="1" dirty="0">
                <a:solidFill>
                  <a:srgbClr val="0F7A6B"/>
                </a:solidFill>
                <a:latin typeface="Arial" panose="020B0604020202020204" pitchFamily="34" charset="0"/>
                <a:ea typeface="Calibri" pitchFamily="34" charset="-122"/>
                <a:cs typeface="Arial" panose="020B0604020202020204" pitchFamily="34" charset="0"/>
              </a:rPr>
              <a:t>III</a:t>
            </a:r>
            <a:endParaRPr lang="en-US" sz="1600" dirty="0">
              <a:latin typeface="Arial" panose="020B0604020202020204" pitchFamily="34" charset="0"/>
              <a:cs typeface="Arial" panose="020B0604020202020204" pitchFamily="34" charset="0"/>
            </a:endParaRPr>
          </a:p>
        </p:txBody>
      </p:sp>
      <p:sp>
        <p:nvSpPr>
          <p:cNvPr id="187" name="Text 185"/>
          <p:cNvSpPr/>
          <p:nvPr/>
        </p:nvSpPr>
        <p:spPr>
          <a:xfrm>
            <a:off x="1344168" y="5663946"/>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KRI &amp; </a:t>
            </a:r>
            <a:r>
              <a:rPr lang="en-US" sz="1700" dirty="0" err="1">
                <a:solidFill>
                  <a:srgbClr val="222B45"/>
                </a:solidFill>
                <a:latin typeface="Arial" panose="020B0604020202020204" pitchFamily="34" charset="0"/>
                <a:ea typeface="Calibri" pitchFamily="34" charset="-122"/>
                <a:cs typeface="Arial" panose="020B0604020202020204" pitchFamily="34" charset="0"/>
              </a:rPr>
              <a:t>kế</a:t>
            </a:r>
            <a:r>
              <a:rPr lang="en-US" sz="1700" dirty="0">
                <a:solidFill>
                  <a:srgbClr val="222B45"/>
                </a:solidFill>
                <a:latin typeface="Arial" panose="020B0604020202020204" pitchFamily="34" charset="0"/>
                <a:ea typeface="Calibri" pitchFamily="34" charset="-122"/>
                <a:cs typeface="Arial" panose="020B0604020202020204" pitchFamily="34" charset="0"/>
              </a:rPr>
              <a:t> hoạch hành động xử lý rủi ro</a:t>
            </a:r>
            <a:endParaRPr lang="en-US" sz="1700" dirty="0">
              <a:latin typeface="Arial" panose="020B0604020202020204" pitchFamily="34" charset="0"/>
              <a:cs typeface="Arial" panose="020B0604020202020204" pitchFamily="34" charset="0"/>
            </a:endParaRPr>
          </a:p>
        </p:txBody>
      </p:sp>
      <p:sp>
        <p:nvSpPr>
          <p:cNvPr id="188" name="Shape 186"/>
          <p:cNvSpPr/>
          <p:nvPr/>
        </p:nvSpPr>
        <p:spPr>
          <a:xfrm>
            <a:off x="8021411" y="5755844"/>
            <a:ext cx="1704704" cy="275691"/>
          </a:xfrm>
          <a:prstGeom prst="roundRect">
            <a:avLst>
              <a:gd name="adj" fmla="val 14925"/>
            </a:avLst>
          </a:prstGeom>
          <a:solidFill>
            <a:srgbClr val="0F7A6B"/>
          </a:solidFill>
          <a:ln/>
        </p:spPr>
        <p:txBody>
          <a:bodyPr/>
          <a:lstStyle/>
          <a:p>
            <a:endParaRPr lang="en-US"/>
          </a:p>
        </p:txBody>
      </p:sp>
      <p:sp>
        <p:nvSpPr>
          <p:cNvPr id="189" name="Text 187"/>
          <p:cNvSpPr/>
          <p:nvPr/>
        </p:nvSpPr>
        <p:spPr>
          <a:xfrm>
            <a:off x="685800" y="6123432"/>
            <a:ext cx="576072" cy="459486"/>
          </a:xfrm>
          <a:prstGeom prst="rect">
            <a:avLst/>
          </a:prstGeom>
          <a:noFill/>
          <a:ln/>
        </p:spPr>
        <p:txBody>
          <a:bodyPr wrap="square" lIns="0" tIns="0" rIns="0" bIns="0" rtlCol="0" anchor="ctr"/>
          <a:lstStyle/>
          <a:p>
            <a:pPr algn="ctr"/>
            <a:r>
              <a:rPr lang="en-US" sz="1600" b="1" dirty="0">
                <a:solidFill>
                  <a:srgbClr val="0F7A6B"/>
                </a:solidFill>
                <a:latin typeface="Arial" panose="020B0604020202020204" pitchFamily="34" charset="0"/>
                <a:ea typeface="Calibri" pitchFamily="34" charset="-122"/>
                <a:cs typeface="Arial" panose="020B0604020202020204" pitchFamily="34" charset="0"/>
              </a:rPr>
              <a:t>IV</a:t>
            </a:r>
            <a:endParaRPr lang="en-US" sz="1600" dirty="0">
              <a:latin typeface="Arial" panose="020B0604020202020204" pitchFamily="34" charset="0"/>
              <a:cs typeface="Arial" panose="020B0604020202020204" pitchFamily="34" charset="0"/>
            </a:endParaRPr>
          </a:p>
        </p:txBody>
      </p:sp>
      <p:sp>
        <p:nvSpPr>
          <p:cNvPr id="190" name="Text 188"/>
          <p:cNvSpPr/>
          <p:nvPr/>
        </p:nvSpPr>
        <p:spPr>
          <a:xfrm>
            <a:off x="1344168" y="6123432"/>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Công cụ/dashboard &amp; triển khai KRI, KHHĐ</a:t>
            </a:r>
            <a:endParaRPr lang="en-US" sz="1700" dirty="0">
              <a:latin typeface="Arial" panose="020B0604020202020204" pitchFamily="34" charset="0"/>
              <a:cs typeface="Arial" panose="020B0604020202020204" pitchFamily="34" charset="0"/>
            </a:endParaRPr>
          </a:p>
        </p:txBody>
      </p:sp>
      <p:sp>
        <p:nvSpPr>
          <p:cNvPr id="191" name="Shape 189"/>
          <p:cNvSpPr/>
          <p:nvPr/>
        </p:nvSpPr>
        <p:spPr>
          <a:xfrm>
            <a:off x="7382147" y="6215330"/>
            <a:ext cx="4261757" cy="275691"/>
          </a:xfrm>
          <a:prstGeom prst="roundRect">
            <a:avLst>
              <a:gd name="adj" fmla="val 14925"/>
            </a:avLst>
          </a:prstGeom>
          <a:solidFill>
            <a:srgbClr val="0F7A6B"/>
          </a:solidFill>
          <a:ln/>
        </p:spPr>
        <p:txBody>
          <a:bodyPr/>
          <a:lstStyle/>
          <a:p>
            <a:endParaRPr lang="en-US"/>
          </a:p>
        </p:txBody>
      </p:sp>
      <p:sp>
        <p:nvSpPr>
          <p:cNvPr id="192" name="Shape 190"/>
          <p:cNvSpPr/>
          <p:nvPr/>
        </p:nvSpPr>
        <p:spPr>
          <a:xfrm>
            <a:off x="548640" y="6582918"/>
            <a:ext cx="17487900" cy="384048"/>
          </a:xfrm>
          <a:prstGeom prst="rect">
            <a:avLst/>
          </a:prstGeom>
          <a:solidFill>
            <a:srgbClr val="B26A12"/>
          </a:solidFill>
          <a:ln/>
        </p:spPr>
        <p:txBody>
          <a:bodyPr/>
          <a:lstStyle/>
          <a:p>
            <a:endParaRPr lang="en-US"/>
          </a:p>
        </p:txBody>
      </p:sp>
      <p:sp>
        <p:nvSpPr>
          <p:cNvPr id="193" name="Text 191"/>
          <p:cNvSpPr/>
          <p:nvPr/>
        </p:nvSpPr>
        <p:spPr>
          <a:xfrm>
            <a:off x="713232" y="6582918"/>
            <a:ext cx="17213580" cy="384048"/>
          </a:xfrm>
          <a:prstGeom prst="rect">
            <a:avLst/>
          </a:prstGeom>
          <a:noFill/>
          <a:ln/>
        </p:spPr>
        <p:txBody>
          <a:bodyPr wrap="square" lIns="0" tIns="0" rIns="0" bIns="0" rtlCol="0" anchor="ctr"/>
          <a:lstStyle/>
          <a:p>
            <a:r>
              <a:rPr lang="en-US" sz="2000" b="1" dirty="0">
                <a:solidFill>
                  <a:srgbClr val="FFFFFF"/>
                </a:solidFill>
                <a:latin typeface="Arial" panose="020B0604020202020204" pitchFamily="34" charset="0"/>
                <a:ea typeface="Calibri" pitchFamily="34" charset="-122"/>
                <a:cs typeface="Arial" panose="020B0604020202020204" pitchFamily="34" charset="0"/>
              </a:rPr>
              <a:t>GIAI ĐOẠN C — NHÂN RỘNG TOÀN TCT (6 </a:t>
            </a:r>
            <a:r>
              <a:rPr lang="en-US" sz="2000" b="1" dirty="0" err="1">
                <a:solidFill>
                  <a:srgbClr val="FFFFFF"/>
                </a:solidFill>
                <a:latin typeface="Arial" panose="020B0604020202020204" pitchFamily="34" charset="0"/>
                <a:ea typeface="Calibri" pitchFamily="34" charset="-122"/>
                <a:cs typeface="Arial" panose="020B0604020202020204" pitchFamily="34" charset="0"/>
              </a:rPr>
              <a:t>tháng</a:t>
            </a:r>
            <a:r>
              <a:rPr lang="en-US" sz="2000" b="1" dirty="0">
                <a:solidFill>
                  <a:srgbClr val="FFFFFF"/>
                </a:solidFill>
                <a:latin typeface="Arial" panose="020B0604020202020204" pitchFamily="34" charset="0"/>
                <a:ea typeface="Calibri" pitchFamily="34" charset="-122"/>
                <a:cs typeface="Arial" panose="020B0604020202020204" pitchFamily="34" charset="0"/>
              </a:rPr>
              <a:t>)</a:t>
            </a:r>
            <a:endParaRPr lang="en-US" sz="2000" dirty="0">
              <a:latin typeface="Arial" panose="020B0604020202020204" pitchFamily="34" charset="0"/>
              <a:cs typeface="Arial" panose="020B0604020202020204" pitchFamily="34" charset="0"/>
            </a:endParaRPr>
          </a:p>
        </p:txBody>
      </p:sp>
      <p:sp>
        <p:nvSpPr>
          <p:cNvPr id="194" name="Shape 192"/>
          <p:cNvSpPr/>
          <p:nvPr/>
        </p:nvSpPr>
        <p:spPr>
          <a:xfrm>
            <a:off x="548640" y="6966966"/>
            <a:ext cx="17487900" cy="459486"/>
          </a:xfrm>
          <a:prstGeom prst="rect">
            <a:avLst/>
          </a:prstGeom>
          <a:solidFill>
            <a:srgbClr val="F7F9FC"/>
          </a:solidFill>
          <a:ln/>
        </p:spPr>
        <p:txBody>
          <a:bodyPr/>
          <a:lstStyle/>
          <a:p>
            <a:endParaRPr lang="en-US"/>
          </a:p>
        </p:txBody>
      </p:sp>
      <p:sp>
        <p:nvSpPr>
          <p:cNvPr id="195" name="Text 193"/>
          <p:cNvSpPr/>
          <p:nvPr/>
        </p:nvSpPr>
        <p:spPr>
          <a:xfrm>
            <a:off x="685800" y="6966966"/>
            <a:ext cx="576072" cy="459486"/>
          </a:xfrm>
          <a:prstGeom prst="rect">
            <a:avLst/>
          </a:prstGeom>
          <a:noFill/>
          <a:ln/>
        </p:spPr>
        <p:txBody>
          <a:bodyPr wrap="square" lIns="0" tIns="0" rIns="0" bIns="0" rtlCol="0" anchor="ctr"/>
          <a:lstStyle/>
          <a:p>
            <a:pPr algn="ctr"/>
            <a:r>
              <a:rPr lang="en-US" sz="1600" b="1" dirty="0">
                <a:solidFill>
                  <a:srgbClr val="B26A12"/>
                </a:solidFill>
                <a:latin typeface="Arial" panose="020B0604020202020204" pitchFamily="34" charset="0"/>
                <a:ea typeface="Calibri" pitchFamily="34" charset="-122"/>
                <a:cs typeface="Arial" panose="020B0604020202020204" pitchFamily="34" charset="0"/>
              </a:rPr>
              <a:t>I</a:t>
            </a:r>
            <a:endParaRPr lang="en-US" sz="1600" dirty="0">
              <a:latin typeface="Arial" panose="020B0604020202020204" pitchFamily="34" charset="0"/>
              <a:cs typeface="Arial" panose="020B0604020202020204" pitchFamily="34" charset="0"/>
            </a:endParaRPr>
          </a:p>
        </p:txBody>
      </p:sp>
      <p:sp>
        <p:nvSpPr>
          <p:cNvPr id="196" name="Text 194"/>
          <p:cNvSpPr/>
          <p:nvPr/>
        </p:nvSpPr>
        <p:spPr>
          <a:xfrm>
            <a:off x="1344168" y="6966966"/>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Xác định đầu mối &amp; đào tạo QTRR toàn TCT</a:t>
            </a:r>
            <a:endParaRPr lang="en-US" sz="1700" dirty="0">
              <a:latin typeface="Arial" panose="020B0604020202020204" pitchFamily="34" charset="0"/>
              <a:cs typeface="Arial" panose="020B0604020202020204" pitchFamily="34" charset="0"/>
            </a:endParaRPr>
          </a:p>
        </p:txBody>
      </p:sp>
      <p:sp>
        <p:nvSpPr>
          <p:cNvPr id="197" name="Shape 195"/>
          <p:cNvSpPr/>
          <p:nvPr/>
        </p:nvSpPr>
        <p:spPr>
          <a:xfrm>
            <a:off x="11643905" y="7058864"/>
            <a:ext cx="1065440" cy="275691"/>
          </a:xfrm>
          <a:prstGeom prst="roundRect">
            <a:avLst>
              <a:gd name="adj" fmla="val 14925"/>
            </a:avLst>
          </a:prstGeom>
          <a:solidFill>
            <a:srgbClr val="B26A12"/>
          </a:solidFill>
          <a:ln/>
        </p:spPr>
        <p:txBody>
          <a:bodyPr/>
          <a:lstStyle/>
          <a:p>
            <a:endParaRPr lang="en-US"/>
          </a:p>
        </p:txBody>
      </p:sp>
      <p:sp>
        <p:nvSpPr>
          <p:cNvPr id="198" name="Text 196"/>
          <p:cNvSpPr/>
          <p:nvPr/>
        </p:nvSpPr>
        <p:spPr>
          <a:xfrm>
            <a:off x="685800" y="7426452"/>
            <a:ext cx="576072" cy="459486"/>
          </a:xfrm>
          <a:prstGeom prst="rect">
            <a:avLst/>
          </a:prstGeom>
          <a:noFill/>
          <a:ln/>
        </p:spPr>
        <p:txBody>
          <a:bodyPr wrap="square" lIns="0" tIns="0" rIns="0" bIns="0" rtlCol="0" anchor="ctr"/>
          <a:lstStyle/>
          <a:p>
            <a:pPr algn="ctr"/>
            <a:r>
              <a:rPr lang="en-US" sz="1600" b="1" dirty="0">
                <a:solidFill>
                  <a:srgbClr val="B26A12"/>
                </a:solidFill>
                <a:latin typeface="Arial" panose="020B0604020202020204" pitchFamily="34" charset="0"/>
                <a:ea typeface="Calibri" pitchFamily="34" charset="-122"/>
                <a:cs typeface="Arial" panose="020B0604020202020204" pitchFamily="34" charset="0"/>
              </a:rPr>
              <a:t>II</a:t>
            </a:r>
            <a:endParaRPr lang="en-US" sz="1600" dirty="0">
              <a:latin typeface="Arial" panose="020B0604020202020204" pitchFamily="34" charset="0"/>
              <a:cs typeface="Arial" panose="020B0604020202020204" pitchFamily="34" charset="0"/>
            </a:endParaRPr>
          </a:p>
        </p:txBody>
      </p:sp>
      <p:sp>
        <p:nvSpPr>
          <p:cNvPr id="199" name="Text 197"/>
          <p:cNvSpPr/>
          <p:nvPr/>
        </p:nvSpPr>
        <p:spPr>
          <a:xfrm>
            <a:off x="1344168" y="7426452"/>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Đánh giá lại danh mục rủi ro &amp; </a:t>
            </a:r>
            <a:r>
              <a:rPr lang="en-US" sz="1700" dirty="0" err="1">
                <a:solidFill>
                  <a:srgbClr val="222B45"/>
                </a:solidFill>
                <a:latin typeface="Arial" panose="020B0604020202020204" pitchFamily="34" charset="0"/>
                <a:ea typeface="Calibri" pitchFamily="34" charset="-122"/>
                <a:cs typeface="Arial" panose="020B0604020202020204" pitchFamily="34" charset="0"/>
              </a:rPr>
              <a:t>xây</a:t>
            </a:r>
            <a:r>
              <a:rPr lang="en-US" sz="1700" dirty="0">
                <a:solidFill>
                  <a:srgbClr val="222B45"/>
                </a:solidFill>
                <a:latin typeface="Arial" panose="020B0604020202020204" pitchFamily="34" charset="0"/>
                <a:ea typeface="Calibri" pitchFamily="34" charset="-122"/>
                <a:cs typeface="Arial" panose="020B0604020202020204" pitchFamily="34" charset="0"/>
              </a:rPr>
              <a:t> KHHĐ cấp TCT</a:t>
            </a:r>
            <a:endParaRPr lang="en-US" sz="1700" dirty="0">
              <a:latin typeface="Arial" panose="020B0604020202020204" pitchFamily="34" charset="0"/>
              <a:cs typeface="Arial" panose="020B0604020202020204" pitchFamily="34" charset="0"/>
            </a:endParaRPr>
          </a:p>
        </p:txBody>
      </p:sp>
      <p:sp>
        <p:nvSpPr>
          <p:cNvPr id="200" name="Shape 198"/>
          <p:cNvSpPr/>
          <p:nvPr/>
        </p:nvSpPr>
        <p:spPr>
          <a:xfrm>
            <a:off x="12496256" y="7518350"/>
            <a:ext cx="1491615" cy="275691"/>
          </a:xfrm>
          <a:prstGeom prst="roundRect">
            <a:avLst>
              <a:gd name="adj" fmla="val 14925"/>
            </a:avLst>
          </a:prstGeom>
          <a:solidFill>
            <a:srgbClr val="B26A12"/>
          </a:solidFill>
          <a:ln/>
        </p:spPr>
        <p:txBody>
          <a:bodyPr/>
          <a:lstStyle/>
          <a:p>
            <a:endParaRPr lang="en-US"/>
          </a:p>
        </p:txBody>
      </p:sp>
      <p:sp>
        <p:nvSpPr>
          <p:cNvPr id="201" name="Shape 199"/>
          <p:cNvSpPr/>
          <p:nvPr/>
        </p:nvSpPr>
        <p:spPr>
          <a:xfrm>
            <a:off x="548640" y="7885938"/>
            <a:ext cx="17487900" cy="459486"/>
          </a:xfrm>
          <a:prstGeom prst="rect">
            <a:avLst/>
          </a:prstGeom>
          <a:solidFill>
            <a:srgbClr val="F7F9FC"/>
          </a:solidFill>
          <a:ln/>
        </p:spPr>
        <p:txBody>
          <a:bodyPr/>
          <a:lstStyle/>
          <a:p>
            <a:endParaRPr lang="en-US"/>
          </a:p>
        </p:txBody>
      </p:sp>
      <p:sp>
        <p:nvSpPr>
          <p:cNvPr id="202" name="Text 200"/>
          <p:cNvSpPr/>
          <p:nvPr/>
        </p:nvSpPr>
        <p:spPr>
          <a:xfrm>
            <a:off x="685800" y="7885938"/>
            <a:ext cx="576072" cy="459486"/>
          </a:xfrm>
          <a:prstGeom prst="rect">
            <a:avLst/>
          </a:prstGeom>
          <a:noFill/>
          <a:ln/>
        </p:spPr>
        <p:txBody>
          <a:bodyPr wrap="square" lIns="0" tIns="0" rIns="0" bIns="0" rtlCol="0" anchor="ctr"/>
          <a:lstStyle/>
          <a:p>
            <a:pPr algn="ctr"/>
            <a:r>
              <a:rPr lang="en-US" sz="1600" b="1" dirty="0">
                <a:solidFill>
                  <a:srgbClr val="B26A12"/>
                </a:solidFill>
                <a:latin typeface="Arial" panose="020B0604020202020204" pitchFamily="34" charset="0"/>
                <a:ea typeface="Calibri" pitchFamily="34" charset="-122"/>
                <a:cs typeface="Arial" panose="020B0604020202020204" pitchFamily="34" charset="0"/>
              </a:rPr>
              <a:t>III</a:t>
            </a:r>
            <a:endParaRPr lang="en-US" sz="1600" dirty="0">
              <a:latin typeface="Arial" panose="020B0604020202020204" pitchFamily="34" charset="0"/>
              <a:cs typeface="Arial" panose="020B0604020202020204" pitchFamily="34" charset="0"/>
            </a:endParaRPr>
          </a:p>
        </p:txBody>
      </p:sp>
      <p:sp>
        <p:nvSpPr>
          <p:cNvPr id="203" name="Text 201"/>
          <p:cNvSpPr/>
          <p:nvPr/>
        </p:nvSpPr>
        <p:spPr>
          <a:xfrm>
            <a:off x="1344168" y="7885938"/>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Xây bộ KRI cấp TCT &amp; </a:t>
            </a:r>
            <a:r>
              <a:rPr lang="en-US" sz="1700" dirty="0" err="1">
                <a:solidFill>
                  <a:srgbClr val="222B45"/>
                </a:solidFill>
                <a:latin typeface="Arial" panose="020B0604020202020204" pitchFamily="34" charset="0"/>
                <a:ea typeface="Calibri" pitchFamily="34" charset="-122"/>
                <a:cs typeface="Arial" panose="020B0604020202020204" pitchFamily="34" charset="0"/>
              </a:rPr>
              <a:t>cơ</a:t>
            </a:r>
            <a:r>
              <a:rPr lang="en-US" sz="1700" dirty="0">
                <a:solidFill>
                  <a:srgbClr val="222B45"/>
                </a:solidFill>
                <a:latin typeface="Arial" panose="020B0604020202020204" pitchFamily="34" charset="0"/>
                <a:ea typeface="Calibri" pitchFamily="34" charset="-122"/>
                <a:cs typeface="Arial" panose="020B0604020202020204" pitchFamily="34" charset="0"/>
              </a:rPr>
              <a:t> chế thu thập tổn thất</a:t>
            </a:r>
            <a:endParaRPr lang="en-US" sz="1700" dirty="0">
              <a:latin typeface="Arial" panose="020B0604020202020204" pitchFamily="34" charset="0"/>
              <a:cs typeface="Arial" panose="020B0604020202020204" pitchFamily="34" charset="0"/>
            </a:endParaRPr>
          </a:p>
        </p:txBody>
      </p:sp>
      <p:sp>
        <p:nvSpPr>
          <p:cNvPr id="204" name="Shape 202"/>
          <p:cNvSpPr/>
          <p:nvPr/>
        </p:nvSpPr>
        <p:spPr>
          <a:xfrm>
            <a:off x="13774784" y="7977836"/>
            <a:ext cx="1491615" cy="275691"/>
          </a:xfrm>
          <a:prstGeom prst="roundRect">
            <a:avLst>
              <a:gd name="adj" fmla="val 14925"/>
            </a:avLst>
          </a:prstGeom>
          <a:solidFill>
            <a:srgbClr val="B26A12"/>
          </a:solidFill>
          <a:ln/>
        </p:spPr>
        <p:txBody>
          <a:bodyPr/>
          <a:lstStyle/>
          <a:p>
            <a:endParaRPr lang="en-US"/>
          </a:p>
        </p:txBody>
      </p:sp>
      <p:sp>
        <p:nvSpPr>
          <p:cNvPr id="205" name="Text 203"/>
          <p:cNvSpPr/>
          <p:nvPr/>
        </p:nvSpPr>
        <p:spPr>
          <a:xfrm>
            <a:off x="685800" y="8345424"/>
            <a:ext cx="576072" cy="459486"/>
          </a:xfrm>
          <a:prstGeom prst="rect">
            <a:avLst/>
          </a:prstGeom>
          <a:noFill/>
          <a:ln/>
        </p:spPr>
        <p:txBody>
          <a:bodyPr wrap="square" lIns="0" tIns="0" rIns="0" bIns="0" rtlCol="0" anchor="ctr"/>
          <a:lstStyle/>
          <a:p>
            <a:pPr algn="ctr"/>
            <a:r>
              <a:rPr lang="en-US" sz="1600" b="1" dirty="0">
                <a:solidFill>
                  <a:srgbClr val="B26A12"/>
                </a:solidFill>
                <a:latin typeface="Arial" panose="020B0604020202020204" pitchFamily="34" charset="0"/>
                <a:ea typeface="Calibri" pitchFamily="34" charset="-122"/>
                <a:cs typeface="Arial" panose="020B0604020202020204" pitchFamily="34" charset="0"/>
              </a:rPr>
              <a:t>IV</a:t>
            </a:r>
            <a:endParaRPr lang="en-US" sz="1600" dirty="0">
              <a:latin typeface="Arial" panose="020B0604020202020204" pitchFamily="34" charset="0"/>
              <a:cs typeface="Arial" panose="020B0604020202020204" pitchFamily="34" charset="0"/>
            </a:endParaRPr>
          </a:p>
        </p:txBody>
      </p:sp>
      <p:sp>
        <p:nvSpPr>
          <p:cNvPr id="206" name="Text 204"/>
          <p:cNvSpPr/>
          <p:nvPr/>
        </p:nvSpPr>
        <p:spPr>
          <a:xfrm>
            <a:off x="1344168" y="8345424"/>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Thí điểm triển khai KRI và KHHĐ (toàn TCT)</a:t>
            </a:r>
            <a:endParaRPr lang="en-US" sz="1700" dirty="0">
              <a:latin typeface="Arial" panose="020B0604020202020204" pitchFamily="34" charset="0"/>
              <a:cs typeface="Arial" panose="020B0604020202020204" pitchFamily="34" charset="0"/>
            </a:endParaRPr>
          </a:p>
        </p:txBody>
      </p:sp>
      <p:sp>
        <p:nvSpPr>
          <p:cNvPr id="207" name="Shape 205"/>
          <p:cNvSpPr/>
          <p:nvPr/>
        </p:nvSpPr>
        <p:spPr>
          <a:xfrm>
            <a:off x="15053310" y="8437322"/>
            <a:ext cx="2130879" cy="275691"/>
          </a:xfrm>
          <a:prstGeom prst="roundRect">
            <a:avLst>
              <a:gd name="adj" fmla="val 14925"/>
            </a:avLst>
          </a:prstGeom>
          <a:solidFill>
            <a:srgbClr val="B26A12"/>
          </a:solidFill>
          <a:ln/>
        </p:spPr>
        <p:txBody>
          <a:bodyPr/>
          <a:lstStyle/>
          <a:p>
            <a:endParaRPr lang="en-US"/>
          </a:p>
        </p:txBody>
      </p:sp>
      <p:sp>
        <p:nvSpPr>
          <p:cNvPr id="208" name="Shape 206"/>
          <p:cNvSpPr/>
          <p:nvPr/>
        </p:nvSpPr>
        <p:spPr>
          <a:xfrm>
            <a:off x="548640" y="8804910"/>
            <a:ext cx="17487900" cy="459486"/>
          </a:xfrm>
          <a:prstGeom prst="rect">
            <a:avLst/>
          </a:prstGeom>
          <a:solidFill>
            <a:srgbClr val="F7F9FC"/>
          </a:solidFill>
          <a:ln/>
        </p:spPr>
        <p:txBody>
          <a:bodyPr/>
          <a:lstStyle/>
          <a:p>
            <a:endParaRPr lang="en-US"/>
          </a:p>
        </p:txBody>
      </p:sp>
      <p:sp>
        <p:nvSpPr>
          <p:cNvPr id="209" name="Text 207"/>
          <p:cNvSpPr/>
          <p:nvPr/>
        </p:nvSpPr>
        <p:spPr>
          <a:xfrm>
            <a:off x="685800" y="8804910"/>
            <a:ext cx="576072" cy="459486"/>
          </a:xfrm>
          <a:prstGeom prst="rect">
            <a:avLst/>
          </a:prstGeom>
          <a:noFill/>
          <a:ln/>
        </p:spPr>
        <p:txBody>
          <a:bodyPr wrap="square" lIns="0" tIns="0" rIns="0" bIns="0" rtlCol="0" anchor="ctr"/>
          <a:lstStyle/>
          <a:p>
            <a:pPr algn="ctr"/>
            <a:r>
              <a:rPr lang="en-US" sz="1600" b="1" dirty="0">
                <a:solidFill>
                  <a:srgbClr val="B26A12"/>
                </a:solidFill>
                <a:latin typeface="Arial" panose="020B0604020202020204" pitchFamily="34" charset="0"/>
                <a:ea typeface="Calibri" pitchFamily="34" charset="-122"/>
                <a:cs typeface="Arial" panose="020B0604020202020204" pitchFamily="34" charset="0"/>
              </a:rPr>
              <a:t>V</a:t>
            </a:r>
            <a:endParaRPr lang="en-US" sz="1600" dirty="0">
              <a:latin typeface="Arial" panose="020B0604020202020204" pitchFamily="34" charset="0"/>
              <a:cs typeface="Arial" panose="020B0604020202020204" pitchFamily="34" charset="0"/>
            </a:endParaRPr>
          </a:p>
        </p:txBody>
      </p:sp>
      <p:sp>
        <p:nvSpPr>
          <p:cNvPr id="210" name="Text 208"/>
          <p:cNvSpPr/>
          <p:nvPr/>
        </p:nvSpPr>
        <p:spPr>
          <a:xfrm>
            <a:off x="1344168" y="8804910"/>
            <a:ext cx="4663440" cy="459486"/>
          </a:xfrm>
          <a:prstGeom prst="rect">
            <a:avLst/>
          </a:prstGeom>
          <a:noFill/>
          <a:ln/>
        </p:spPr>
        <p:txBody>
          <a:bodyPr wrap="square" lIns="0" tIns="0" rIns="0" bIns="0" rtlCol="0" anchor="ctr"/>
          <a:lstStyle/>
          <a:p>
            <a:r>
              <a:rPr lang="en-US" sz="1700" dirty="0">
                <a:solidFill>
                  <a:srgbClr val="222B45"/>
                </a:solidFill>
                <a:latin typeface="Arial" panose="020B0604020202020204" pitchFamily="34" charset="0"/>
                <a:ea typeface="Calibri" pitchFamily="34" charset="-122"/>
                <a:cs typeface="Arial" panose="020B0604020202020204" pitchFamily="34" charset="0"/>
              </a:rPr>
              <a:t>Đánh giá hiệu quả &amp; tổng kết dự án</a:t>
            </a:r>
            <a:endParaRPr lang="en-US" sz="1700" dirty="0">
              <a:latin typeface="Arial" panose="020B0604020202020204" pitchFamily="34" charset="0"/>
              <a:cs typeface="Arial" panose="020B0604020202020204" pitchFamily="34" charset="0"/>
            </a:endParaRPr>
          </a:p>
        </p:txBody>
      </p:sp>
      <p:sp>
        <p:nvSpPr>
          <p:cNvPr id="211" name="Shape 209"/>
          <p:cNvSpPr/>
          <p:nvPr/>
        </p:nvSpPr>
        <p:spPr>
          <a:xfrm>
            <a:off x="16971101" y="8896808"/>
            <a:ext cx="1065440" cy="275691"/>
          </a:xfrm>
          <a:prstGeom prst="roundRect">
            <a:avLst>
              <a:gd name="adj" fmla="val 14925"/>
            </a:avLst>
          </a:prstGeom>
          <a:solidFill>
            <a:srgbClr val="B26A12"/>
          </a:solidFill>
          <a:ln/>
        </p:spPr>
        <p:txBody>
          <a:bodyPr/>
          <a:lstStyle/>
          <a:p>
            <a:endParaRPr lang="en-US"/>
          </a:p>
        </p:txBody>
      </p:sp>
      <p:sp>
        <p:nvSpPr>
          <p:cNvPr id="212" name="Shape 210"/>
          <p:cNvSpPr/>
          <p:nvPr/>
        </p:nvSpPr>
        <p:spPr>
          <a:xfrm>
            <a:off x="6103620" y="2138934"/>
            <a:ext cx="0" cy="7125462"/>
          </a:xfrm>
          <a:prstGeom prst="line">
            <a:avLst/>
          </a:prstGeom>
          <a:noFill/>
          <a:ln w="12700">
            <a:solidFill>
              <a:srgbClr val="9FB0D0"/>
            </a:solidFill>
            <a:prstDash val="solid"/>
          </a:ln>
        </p:spPr>
        <p:txBody>
          <a:bodyPr/>
          <a:lstStyle/>
          <a:p>
            <a:endParaRPr lang="en-US"/>
          </a:p>
        </p:txBody>
      </p:sp>
      <p:sp>
        <p:nvSpPr>
          <p:cNvPr id="213" name="Text 211"/>
          <p:cNvSpPr/>
          <p:nvPr/>
        </p:nvSpPr>
        <p:spPr>
          <a:xfrm>
            <a:off x="617220" y="9456420"/>
            <a:ext cx="17282160" cy="411480"/>
          </a:xfrm>
          <a:prstGeom prst="rect">
            <a:avLst/>
          </a:prstGeom>
          <a:noFill/>
          <a:ln/>
        </p:spPr>
        <p:txBody>
          <a:bodyPr wrap="square" lIns="0" tIns="0" rIns="0" bIns="0" rtlCol="0" anchor="ctr"/>
          <a:lstStyle/>
          <a:p>
            <a:r>
              <a:rPr lang="en-US" sz="1350" b="1" dirty="0">
                <a:solidFill>
                  <a:srgbClr val="2E4B8B"/>
                </a:solidFill>
                <a:latin typeface="Calibri" pitchFamily="34" charset="0"/>
                <a:ea typeface="Calibri" pitchFamily="34" charset="-122"/>
                <a:cs typeface="Calibri" pitchFamily="34" charset="-120"/>
              </a:rPr>
              <a:t>■ </a:t>
            </a:r>
            <a:r>
              <a:rPr lang="en-US" sz="1350" dirty="0">
                <a:solidFill>
                  <a:srgbClr val="222B45"/>
                </a:solidFill>
                <a:latin typeface="Calibri" pitchFamily="34" charset="0"/>
                <a:ea typeface="Calibri" pitchFamily="34" charset="-122"/>
                <a:cs typeface="Calibri" pitchFamily="34" charset="-120"/>
              </a:rPr>
              <a:t>Giai đoạn A    </a:t>
            </a:r>
            <a:r>
              <a:rPr lang="en-US" sz="1350" b="1" dirty="0">
                <a:solidFill>
                  <a:srgbClr val="0F7A6B"/>
                </a:solidFill>
                <a:latin typeface="Calibri" pitchFamily="34" charset="0"/>
                <a:ea typeface="Calibri" pitchFamily="34" charset="-122"/>
                <a:cs typeface="Calibri" pitchFamily="34" charset="-120"/>
              </a:rPr>
              <a:t>■ </a:t>
            </a:r>
            <a:r>
              <a:rPr lang="en-US" sz="1350" dirty="0">
                <a:solidFill>
                  <a:srgbClr val="222B45"/>
                </a:solidFill>
                <a:latin typeface="Calibri" pitchFamily="34" charset="0"/>
                <a:ea typeface="Calibri" pitchFamily="34" charset="-122"/>
                <a:cs typeface="Calibri" pitchFamily="34" charset="-120"/>
              </a:rPr>
              <a:t>Giai đoạn B    </a:t>
            </a:r>
            <a:r>
              <a:rPr lang="en-US" sz="1350" b="1" dirty="0">
                <a:solidFill>
                  <a:srgbClr val="B26A12"/>
                </a:solidFill>
                <a:latin typeface="Calibri" pitchFamily="34" charset="0"/>
                <a:ea typeface="Calibri" pitchFamily="34" charset="-122"/>
                <a:cs typeface="Calibri" pitchFamily="34" charset="-120"/>
              </a:rPr>
              <a:t>■ </a:t>
            </a:r>
            <a:r>
              <a:rPr lang="en-US" sz="1350" dirty="0">
                <a:solidFill>
                  <a:srgbClr val="222B45"/>
                </a:solidFill>
                <a:latin typeface="Calibri" pitchFamily="34" charset="0"/>
                <a:ea typeface="Calibri" pitchFamily="34" charset="-122"/>
                <a:cs typeface="Calibri" pitchFamily="34" charset="-120"/>
              </a:rPr>
              <a:t>Giai đoạn C    </a:t>
            </a:r>
            <a:r>
              <a:rPr lang="en-US" sz="1350" i="1" dirty="0">
                <a:solidFill>
                  <a:srgbClr val="6B7280"/>
                </a:solidFill>
                <a:latin typeface="Calibri" pitchFamily="34" charset="0"/>
                <a:ea typeface="Calibri" pitchFamily="34" charset="-122"/>
                <a:cs typeface="Calibri" pitchFamily="34" charset="-120"/>
              </a:rPr>
              <a:t>— Mốc A &amp; B giữ theo </a:t>
            </a:r>
            <a:r>
              <a:rPr lang="en-US" sz="1350" i="1" dirty="0" err="1">
                <a:solidFill>
                  <a:srgbClr val="6B7280"/>
                </a:solidFill>
                <a:latin typeface="Calibri" pitchFamily="34" charset="0"/>
                <a:ea typeface="Calibri" pitchFamily="34" charset="-122"/>
                <a:cs typeface="Calibri" pitchFamily="34" charset="-120"/>
              </a:rPr>
              <a:t>kế</a:t>
            </a:r>
            <a:r>
              <a:rPr lang="en-US" sz="1350" i="1" dirty="0">
                <a:solidFill>
                  <a:srgbClr val="6B7280"/>
                </a:solidFill>
                <a:latin typeface="Calibri" pitchFamily="34" charset="0"/>
                <a:ea typeface="Calibri" pitchFamily="34" charset="-122"/>
                <a:cs typeface="Calibri" pitchFamily="34" charset="-120"/>
              </a:rPr>
              <a:t> hoạch đã chốt; C được phân bổ sau khi B kết thúc, trong tổng thời gian 14 tháng.</a:t>
            </a:r>
            <a:endParaRPr lang="en-US" sz="1350" dirty="0"/>
          </a:p>
        </p:txBody>
      </p:sp>
      <p:grpSp>
        <p:nvGrpSpPr>
          <p:cNvPr id="214" name="Group 2">
            <a:extLst>
              <a:ext uri="{FF2B5EF4-FFF2-40B4-BE49-F238E27FC236}">
                <a16:creationId xmlns:a16="http://schemas.microsoft.com/office/drawing/2014/main" id="{AB8EA19B-0F0B-B372-591D-E026BA8EE2BF}"/>
              </a:ext>
            </a:extLst>
          </p:cNvPr>
          <p:cNvGrpSpPr/>
          <p:nvPr/>
        </p:nvGrpSpPr>
        <p:grpSpPr>
          <a:xfrm>
            <a:off x="0" y="4309"/>
            <a:ext cx="13335000" cy="1024391"/>
            <a:chOff x="0" y="0"/>
            <a:chExt cx="17492870" cy="1554226"/>
          </a:xfrm>
          <a:solidFill>
            <a:schemeClr val="bg1">
              <a:lumMod val="95000"/>
            </a:schemeClr>
          </a:solidFill>
        </p:grpSpPr>
        <p:sp>
          <p:nvSpPr>
            <p:cNvPr id="215" name="Freeform 3">
              <a:extLst>
                <a:ext uri="{FF2B5EF4-FFF2-40B4-BE49-F238E27FC236}">
                  <a16:creationId xmlns:a16="http://schemas.microsoft.com/office/drawing/2014/main" id="{91424F9C-B46B-A04B-FF63-53A49DDA854A}"/>
                </a:ext>
              </a:extLst>
            </p:cNvPr>
            <p:cNvSpPr/>
            <p:nvPr/>
          </p:nvSpPr>
          <p:spPr>
            <a:xfrm>
              <a:off x="0" y="0"/>
              <a:ext cx="17492870" cy="1554226"/>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lstStyle/>
            <a:p>
              <a:endParaRPr lang="en-US"/>
            </a:p>
          </p:txBody>
        </p:sp>
      </p:grpSp>
      <p:grpSp>
        <p:nvGrpSpPr>
          <p:cNvPr id="216" name="Group 4">
            <a:extLst>
              <a:ext uri="{FF2B5EF4-FFF2-40B4-BE49-F238E27FC236}">
                <a16:creationId xmlns:a16="http://schemas.microsoft.com/office/drawing/2014/main" id="{2F4CD75F-F8C4-2CC6-99DE-CE4F4AA23C92}"/>
              </a:ext>
            </a:extLst>
          </p:cNvPr>
          <p:cNvGrpSpPr/>
          <p:nvPr/>
        </p:nvGrpSpPr>
        <p:grpSpPr>
          <a:xfrm>
            <a:off x="0" y="4309"/>
            <a:ext cx="936307" cy="1024391"/>
            <a:chOff x="0" y="0"/>
            <a:chExt cx="1248410" cy="1554290"/>
          </a:xfrm>
        </p:grpSpPr>
        <p:sp>
          <p:nvSpPr>
            <p:cNvPr id="217" name="Freeform 5">
              <a:extLst>
                <a:ext uri="{FF2B5EF4-FFF2-40B4-BE49-F238E27FC236}">
                  <a16:creationId xmlns:a16="http://schemas.microsoft.com/office/drawing/2014/main" id="{60753ED0-D6E9-6745-44EE-5C304EF82249}"/>
                </a:ext>
              </a:extLst>
            </p:cNvPr>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218" name="TextBox 34">
            <a:extLst>
              <a:ext uri="{FF2B5EF4-FFF2-40B4-BE49-F238E27FC236}">
                <a16:creationId xmlns:a16="http://schemas.microsoft.com/office/drawing/2014/main" id="{3538AE9E-391A-00AC-CAE6-3FC91C07D0D4}"/>
              </a:ext>
            </a:extLst>
          </p:cNvPr>
          <p:cNvSpPr txBox="1"/>
          <p:nvPr/>
        </p:nvSpPr>
        <p:spPr>
          <a:xfrm>
            <a:off x="1066800" y="54839"/>
            <a:ext cx="10896600" cy="923330"/>
          </a:xfrm>
          <a:prstGeom prst="rect">
            <a:avLst/>
          </a:prstGeom>
        </p:spPr>
        <p:txBody>
          <a:bodyPr wrap="square" lIns="0" tIns="0" rIns="0" bIns="0" rtlCol="0" anchor="t">
            <a:spAutoFit/>
          </a:bodyPr>
          <a:lstStyle/>
          <a:p>
            <a:pPr algn="l"/>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3. Lộ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trình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triển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khai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án</a:t>
            </a:r>
            <a:endParaRPr lang="en-US" sz="3600" b="1" dirty="0">
              <a:solidFill>
                <a:srgbClr val="000000"/>
              </a:solidFill>
              <a:latin typeface="Arial" panose="020B0604020202020204" pitchFamily="34" charset="0"/>
              <a:ea typeface="Futura Ultra-Bold"/>
              <a:cs typeface="Arial" panose="020B0604020202020204" pitchFamily="34" charset="0"/>
              <a:sym typeface="Futura Ultra-Bold"/>
            </a:endParaRPr>
          </a:p>
          <a:p>
            <a:pPr algn="l"/>
            <a:r>
              <a:rPr lang="en-US" sz="2400" b="1" i="1" dirty="0">
                <a:solidFill>
                  <a:srgbClr val="000000"/>
                </a:solidFill>
                <a:latin typeface="Arial" panose="020B0604020202020204" pitchFamily="34" charset="0"/>
                <a:cs typeface="Arial" panose="020B0604020202020204" pitchFamily="34" charset="0"/>
                <a:sym typeface="Futura Ultra-Bold"/>
              </a:rPr>
              <a:t>Timeline </a:t>
            </a:r>
            <a:r>
              <a:rPr lang="en-US" sz="2400" b="1" i="1" dirty="0" err="1">
                <a:solidFill>
                  <a:srgbClr val="000000"/>
                </a:solidFill>
                <a:latin typeface="Arial" panose="020B0604020202020204" pitchFamily="34" charset="0"/>
                <a:cs typeface="Arial" panose="020B0604020202020204" pitchFamily="34" charset="0"/>
                <a:sym typeface="Futura Ultra-Bold"/>
              </a:rPr>
              <a:t>dự</a:t>
            </a:r>
            <a:r>
              <a:rPr lang="en-US" sz="2400" b="1" i="1" dirty="0">
                <a:solidFill>
                  <a:srgbClr val="000000"/>
                </a:solidFill>
                <a:latin typeface="Arial" panose="020B0604020202020204" pitchFamily="34" charset="0"/>
                <a:cs typeface="Arial" panose="020B0604020202020204" pitchFamily="34" charset="0"/>
                <a:sym typeface="Futura Ultra-Bold"/>
              </a:rPr>
              <a:t> </a:t>
            </a:r>
            <a:r>
              <a:rPr lang="en-US" sz="2400" b="1" i="1" dirty="0" err="1">
                <a:solidFill>
                  <a:srgbClr val="000000"/>
                </a:solidFill>
                <a:latin typeface="Arial" panose="020B0604020202020204" pitchFamily="34" charset="0"/>
                <a:cs typeface="Arial" panose="020B0604020202020204" pitchFamily="34" charset="0"/>
                <a:sym typeface="Futura Ultra-Bold"/>
              </a:rPr>
              <a:t>án</a:t>
            </a:r>
            <a:endParaRPr lang="en-US" sz="2400" b="1" i="1" dirty="0">
              <a:solidFill>
                <a:srgbClr val="000000"/>
              </a:solidFill>
              <a:latin typeface="Arial" panose="020B0604020202020204" pitchFamily="34" charset="0"/>
              <a:cs typeface="Arial" panose="020B0604020202020204" pitchFamily="34" charset="0"/>
              <a:sym typeface="Futura Ultra-Bo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CBE1E-A164-FED8-4D04-08E2EDA99D4C}"/>
            </a:ext>
          </a:extLst>
        </p:cNvPr>
        <p:cNvGrpSpPr/>
        <p:nvPr/>
      </p:nvGrpSpPr>
      <p:grpSpPr>
        <a:xfrm>
          <a:off x="0" y="0"/>
          <a:ext cx="0" cy="0"/>
          <a:chOff x="0" y="0"/>
          <a:chExt cx="0" cy="0"/>
        </a:xfrm>
      </p:grpSpPr>
      <p:grpSp>
        <p:nvGrpSpPr>
          <p:cNvPr id="214" name="Group 2">
            <a:extLst>
              <a:ext uri="{FF2B5EF4-FFF2-40B4-BE49-F238E27FC236}">
                <a16:creationId xmlns:a16="http://schemas.microsoft.com/office/drawing/2014/main" id="{A5910D31-6A27-6984-8F7E-C1F35CF0C9B5}"/>
              </a:ext>
            </a:extLst>
          </p:cNvPr>
          <p:cNvGrpSpPr/>
          <p:nvPr/>
        </p:nvGrpSpPr>
        <p:grpSpPr>
          <a:xfrm>
            <a:off x="0" y="156709"/>
            <a:ext cx="13335000" cy="1024391"/>
            <a:chOff x="0" y="0"/>
            <a:chExt cx="17492870" cy="1554226"/>
          </a:xfrm>
          <a:solidFill>
            <a:schemeClr val="bg1">
              <a:lumMod val="95000"/>
            </a:schemeClr>
          </a:solidFill>
        </p:grpSpPr>
        <p:sp>
          <p:nvSpPr>
            <p:cNvPr id="215" name="Freeform 3">
              <a:extLst>
                <a:ext uri="{FF2B5EF4-FFF2-40B4-BE49-F238E27FC236}">
                  <a16:creationId xmlns:a16="http://schemas.microsoft.com/office/drawing/2014/main" id="{07D8BEBD-9B6F-D6FD-3A94-D437C711067C}"/>
                </a:ext>
              </a:extLst>
            </p:cNvPr>
            <p:cNvSpPr/>
            <p:nvPr/>
          </p:nvSpPr>
          <p:spPr>
            <a:xfrm>
              <a:off x="0" y="0"/>
              <a:ext cx="17492870" cy="1554226"/>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lstStyle/>
            <a:p>
              <a:endParaRPr lang="en-US"/>
            </a:p>
          </p:txBody>
        </p:sp>
      </p:grpSp>
      <p:grpSp>
        <p:nvGrpSpPr>
          <p:cNvPr id="216" name="Group 4">
            <a:extLst>
              <a:ext uri="{FF2B5EF4-FFF2-40B4-BE49-F238E27FC236}">
                <a16:creationId xmlns:a16="http://schemas.microsoft.com/office/drawing/2014/main" id="{D4764CAE-CD07-4FC4-0871-18CCB7E3EA46}"/>
              </a:ext>
            </a:extLst>
          </p:cNvPr>
          <p:cNvGrpSpPr/>
          <p:nvPr/>
        </p:nvGrpSpPr>
        <p:grpSpPr>
          <a:xfrm>
            <a:off x="0" y="156709"/>
            <a:ext cx="936307" cy="1024391"/>
            <a:chOff x="0" y="0"/>
            <a:chExt cx="1248410" cy="1554290"/>
          </a:xfrm>
        </p:grpSpPr>
        <p:sp>
          <p:nvSpPr>
            <p:cNvPr id="217" name="Freeform 5">
              <a:extLst>
                <a:ext uri="{FF2B5EF4-FFF2-40B4-BE49-F238E27FC236}">
                  <a16:creationId xmlns:a16="http://schemas.microsoft.com/office/drawing/2014/main" id="{30AEC384-AC89-4707-7751-D74CA2A4B670}"/>
                </a:ext>
              </a:extLst>
            </p:cNvPr>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218" name="TextBox 34">
            <a:extLst>
              <a:ext uri="{FF2B5EF4-FFF2-40B4-BE49-F238E27FC236}">
                <a16:creationId xmlns:a16="http://schemas.microsoft.com/office/drawing/2014/main" id="{EB2F0756-536D-6C7C-B47D-D1F1375E855A}"/>
              </a:ext>
            </a:extLst>
          </p:cNvPr>
          <p:cNvSpPr txBox="1"/>
          <p:nvPr/>
        </p:nvSpPr>
        <p:spPr>
          <a:xfrm>
            <a:off x="1066800" y="207239"/>
            <a:ext cx="10896600" cy="923330"/>
          </a:xfrm>
          <a:prstGeom prst="rect">
            <a:avLst/>
          </a:prstGeom>
        </p:spPr>
        <p:txBody>
          <a:bodyPr wrap="square" lIns="0" tIns="0" rIns="0" bIns="0" rtlCol="0" anchor="t">
            <a:spAutoFit/>
          </a:bodyPr>
          <a:lstStyle/>
          <a:p>
            <a:pPr algn="l"/>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3. Lộ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trình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triển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khai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án</a:t>
            </a:r>
            <a:endParaRPr lang="en-US" sz="3600" b="1" dirty="0">
              <a:solidFill>
                <a:srgbClr val="000000"/>
              </a:solidFill>
              <a:latin typeface="Arial" panose="020B0604020202020204" pitchFamily="34" charset="0"/>
              <a:ea typeface="Futura Ultra-Bold"/>
              <a:cs typeface="Arial" panose="020B0604020202020204" pitchFamily="34" charset="0"/>
              <a:sym typeface="Futura Ultra-Bold"/>
            </a:endParaRPr>
          </a:p>
          <a:p>
            <a:pPr algn="l"/>
            <a:r>
              <a:rPr lang="en-US" sz="2400" b="1" i="1" dirty="0">
                <a:solidFill>
                  <a:srgbClr val="000000"/>
                </a:solidFill>
                <a:latin typeface="Arial" panose="020B0604020202020204" pitchFamily="34" charset="0"/>
                <a:cs typeface="Arial" panose="020B0604020202020204" pitchFamily="34" charset="0"/>
                <a:sym typeface="Futura Ultra-Bold"/>
              </a:rPr>
              <a:t>Các </a:t>
            </a:r>
            <a:r>
              <a:rPr lang="en-US" sz="2400" b="1" i="1" dirty="0" err="1">
                <a:solidFill>
                  <a:srgbClr val="000000"/>
                </a:solidFill>
                <a:latin typeface="Arial" panose="020B0604020202020204" pitchFamily="34" charset="0"/>
                <a:cs typeface="Arial" panose="020B0604020202020204" pitchFamily="34" charset="0"/>
                <a:sym typeface="Futura Ultra-Bold"/>
              </a:rPr>
              <a:t>mốc</a:t>
            </a:r>
            <a:r>
              <a:rPr lang="en-US" sz="2400" b="1" i="1" dirty="0">
                <a:solidFill>
                  <a:srgbClr val="000000"/>
                </a:solidFill>
                <a:latin typeface="Arial" panose="020B0604020202020204" pitchFamily="34" charset="0"/>
                <a:cs typeface="Arial" panose="020B0604020202020204" pitchFamily="34" charset="0"/>
                <a:sym typeface="Futura Ultra-Bold"/>
              </a:rPr>
              <a:t> </a:t>
            </a:r>
            <a:r>
              <a:rPr lang="en-US" sz="2400" b="1" i="1" dirty="0" err="1">
                <a:solidFill>
                  <a:srgbClr val="000000"/>
                </a:solidFill>
                <a:latin typeface="Arial" panose="020B0604020202020204" pitchFamily="34" charset="0"/>
                <a:cs typeface="Arial" panose="020B0604020202020204" pitchFamily="34" charset="0"/>
                <a:sym typeface="Futura Ultra-Bold"/>
              </a:rPr>
              <a:t>quan</a:t>
            </a:r>
            <a:r>
              <a:rPr lang="en-US" sz="2400" b="1" i="1" dirty="0">
                <a:solidFill>
                  <a:srgbClr val="000000"/>
                </a:solidFill>
                <a:latin typeface="Arial" panose="020B0604020202020204" pitchFamily="34" charset="0"/>
                <a:cs typeface="Arial" panose="020B0604020202020204" pitchFamily="34" charset="0"/>
                <a:sym typeface="Futura Ultra-Bold"/>
              </a:rPr>
              <a:t> </a:t>
            </a:r>
            <a:r>
              <a:rPr lang="en-US" sz="2400" b="1" i="1" dirty="0" err="1">
                <a:solidFill>
                  <a:srgbClr val="000000"/>
                </a:solidFill>
                <a:latin typeface="Arial" panose="020B0604020202020204" pitchFamily="34" charset="0"/>
                <a:cs typeface="Arial" panose="020B0604020202020204" pitchFamily="34" charset="0"/>
                <a:sym typeface="Futura Ultra-Bold"/>
              </a:rPr>
              <a:t>trọng</a:t>
            </a:r>
            <a:r>
              <a:rPr lang="en-US" sz="2400" b="1" i="1" dirty="0">
                <a:solidFill>
                  <a:srgbClr val="000000"/>
                </a:solidFill>
                <a:latin typeface="Arial" panose="020B0604020202020204" pitchFamily="34" charset="0"/>
                <a:cs typeface="Arial" panose="020B0604020202020204" pitchFamily="34" charset="0"/>
                <a:sym typeface="Futura Ultra-Bold"/>
              </a:rPr>
              <a:t> </a:t>
            </a:r>
            <a:r>
              <a:rPr lang="en-US" sz="2400" b="1" i="1" dirty="0" err="1">
                <a:solidFill>
                  <a:srgbClr val="000000"/>
                </a:solidFill>
                <a:latin typeface="Arial" panose="020B0604020202020204" pitchFamily="34" charset="0"/>
                <a:cs typeface="Arial" panose="020B0604020202020204" pitchFamily="34" charset="0"/>
                <a:sym typeface="Futura Ultra-Bold"/>
              </a:rPr>
              <a:t>và</a:t>
            </a:r>
            <a:r>
              <a:rPr lang="en-US" sz="2400" b="1" i="1" dirty="0">
                <a:solidFill>
                  <a:srgbClr val="000000"/>
                </a:solidFill>
                <a:latin typeface="Arial" panose="020B0604020202020204" pitchFamily="34" charset="0"/>
                <a:cs typeface="Arial" panose="020B0604020202020204" pitchFamily="34" charset="0"/>
                <a:sym typeface="Futura Ultra-Bold"/>
              </a:rPr>
              <a:t> </a:t>
            </a:r>
            <a:r>
              <a:rPr lang="en-US" sz="2400" b="1" i="1" dirty="0" err="1">
                <a:solidFill>
                  <a:srgbClr val="000000"/>
                </a:solidFill>
                <a:latin typeface="Arial" panose="020B0604020202020204" pitchFamily="34" charset="0"/>
                <a:cs typeface="Arial" panose="020B0604020202020204" pitchFamily="34" charset="0"/>
                <a:sym typeface="Futura Ultra-Bold"/>
              </a:rPr>
              <a:t>giao</a:t>
            </a:r>
            <a:r>
              <a:rPr lang="en-US" sz="2400" b="1" i="1" dirty="0">
                <a:solidFill>
                  <a:srgbClr val="000000"/>
                </a:solidFill>
                <a:latin typeface="Arial" panose="020B0604020202020204" pitchFamily="34" charset="0"/>
                <a:cs typeface="Arial" panose="020B0604020202020204" pitchFamily="34" charset="0"/>
                <a:sym typeface="Futura Ultra-Bold"/>
              </a:rPr>
              <a:t> </a:t>
            </a:r>
            <a:r>
              <a:rPr lang="en-US" sz="2400" b="1" i="1" dirty="0" err="1">
                <a:solidFill>
                  <a:srgbClr val="000000"/>
                </a:solidFill>
                <a:latin typeface="Arial" panose="020B0604020202020204" pitchFamily="34" charset="0"/>
                <a:cs typeface="Arial" panose="020B0604020202020204" pitchFamily="34" charset="0"/>
                <a:sym typeface="Futura Ultra-Bold"/>
              </a:rPr>
              <a:t>phẩm</a:t>
            </a:r>
            <a:r>
              <a:rPr lang="en-US" sz="2400" b="1" i="1" dirty="0">
                <a:solidFill>
                  <a:srgbClr val="000000"/>
                </a:solidFill>
                <a:latin typeface="Arial" panose="020B0604020202020204" pitchFamily="34" charset="0"/>
                <a:cs typeface="Arial" panose="020B0604020202020204" pitchFamily="34" charset="0"/>
                <a:sym typeface="Futura Ultra-Bold"/>
              </a:rPr>
              <a:t> </a:t>
            </a:r>
            <a:r>
              <a:rPr lang="en-US" sz="2400" b="1" i="1" dirty="0" err="1">
                <a:solidFill>
                  <a:srgbClr val="000000"/>
                </a:solidFill>
                <a:latin typeface="Arial" panose="020B0604020202020204" pitchFamily="34" charset="0"/>
                <a:cs typeface="Arial" panose="020B0604020202020204" pitchFamily="34" charset="0"/>
                <a:sym typeface="Futura Ultra-Bold"/>
              </a:rPr>
              <a:t>kỳ</a:t>
            </a:r>
            <a:r>
              <a:rPr lang="en-US" sz="2400" b="1" i="1" dirty="0">
                <a:solidFill>
                  <a:srgbClr val="000000"/>
                </a:solidFill>
                <a:latin typeface="Arial" panose="020B0604020202020204" pitchFamily="34" charset="0"/>
                <a:cs typeface="Arial" panose="020B0604020202020204" pitchFamily="34" charset="0"/>
                <a:sym typeface="Futura Ultra-Bold"/>
              </a:rPr>
              <a:t> </a:t>
            </a:r>
            <a:r>
              <a:rPr lang="en-US" sz="2400" b="1" i="1" dirty="0" err="1">
                <a:solidFill>
                  <a:srgbClr val="000000"/>
                </a:solidFill>
                <a:latin typeface="Arial" panose="020B0604020202020204" pitchFamily="34" charset="0"/>
                <a:cs typeface="Arial" panose="020B0604020202020204" pitchFamily="34" charset="0"/>
                <a:sym typeface="Futura Ultra-Bold"/>
              </a:rPr>
              <a:t>vọng</a:t>
            </a:r>
            <a:endParaRPr lang="en-US" sz="2400" b="1" i="1" dirty="0">
              <a:solidFill>
                <a:srgbClr val="000000"/>
              </a:solidFill>
              <a:latin typeface="Arial" panose="020B0604020202020204" pitchFamily="34" charset="0"/>
              <a:cs typeface="Arial" panose="020B0604020202020204" pitchFamily="34" charset="0"/>
              <a:sym typeface="Futura Ultra-Bold"/>
            </a:endParaRPr>
          </a:p>
        </p:txBody>
      </p:sp>
      <p:sp>
        <p:nvSpPr>
          <p:cNvPr id="3" name="Shape 3">
            <a:extLst>
              <a:ext uri="{FF2B5EF4-FFF2-40B4-BE49-F238E27FC236}">
                <a16:creationId xmlns:a16="http://schemas.microsoft.com/office/drawing/2014/main" id="{F2561DE2-C5C7-3248-BCE9-F0D1CAA7F438}"/>
              </a:ext>
            </a:extLst>
          </p:cNvPr>
          <p:cNvSpPr/>
          <p:nvPr/>
        </p:nvSpPr>
        <p:spPr>
          <a:xfrm>
            <a:off x="579120" y="1638300"/>
            <a:ext cx="5532120" cy="8077200"/>
          </a:xfrm>
          <a:prstGeom prst="roundRect">
            <a:avLst>
              <a:gd name="adj" fmla="val 2314"/>
            </a:avLst>
          </a:prstGeom>
          <a:solidFill>
            <a:srgbClr val="FFFFFF"/>
          </a:solidFill>
          <a:ln w="12700">
            <a:solidFill>
              <a:srgbClr val="E1E7F0"/>
            </a:solidFill>
            <a:prstDash val="solid"/>
          </a:ln>
        </p:spPr>
        <p:txBody>
          <a:bodyPr/>
          <a:lstStyle/>
          <a:p>
            <a:endParaRPr lang="en-VN"/>
          </a:p>
        </p:txBody>
      </p:sp>
      <p:sp>
        <p:nvSpPr>
          <p:cNvPr id="219" name="Shape 4">
            <a:extLst>
              <a:ext uri="{FF2B5EF4-FFF2-40B4-BE49-F238E27FC236}">
                <a16:creationId xmlns:a16="http://schemas.microsoft.com/office/drawing/2014/main" id="{DCF62974-70AF-A0C6-228C-542384DA53DE}"/>
              </a:ext>
            </a:extLst>
          </p:cNvPr>
          <p:cNvSpPr/>
          <p:nvPr/>
        </p:nvSpPr>
        <p:spPr>
          <a:xfrm>
            <a:off x="579120" y="1638300"/>
            <a:ext cx="5532120" cy="1417320"/>
          </a:xfrm>
          <a:prstGeom prst="roundRect">
            <a:avLst>
              <a:gd name="adj" fmla="val 9032"/>
            </a:avLst>
          </a:prstGeom>
          <a:solidFill>
            <a:srgbClr val="C00000"/>
          </a:solidFill>
          <a:ln/>
        </p:spPr>
        <p:txBody>
          <a:bodyPr/>
          <a:lstStyle/>
          <a:p>
            <a:endParaRPr lang="en-VN"/>
          </a:p>
        </p:txBody>
      </p:sp>
      <p:sp>
        <p:nvSpPr>
          <p:cNvPr id="221" name="Shape 5">
            <a:extLst>
              <a:ext uri="{FF2B5EF4-FFF2-40B4-BE49-F238E27FC236}">
                <a16:creationId xmlns:a16="http://schemas.microsoft.com/office/drawing/2014/main" id="{AEF37C2B-1F05-2617-1DBB-F746B9F1FFC0}"/>
              </a:ext>
            </a:extLst>
          </p:cNvPr>
          <p:cNvSpPr/>
          <p:nvPr/>
        </p:nvSpPr>
        <p:spPr>
          <a:xfrm>
            <a:off x="579120" y="2232660"/>
            <a:ext cx="5532120" cy="822960"/>
          </a:xfrm>
          <a:prstGeom prst="rect">
            <a:avLst/>
          </a:prstGeom>
          <a:solidFill>
            <a:srgbClr val="C00000"/>
          </a:solidFill>
          <a:ln/>
        </p:spPr>
        <p:txBody>
          <a:bodyPr/>
          <a:lstStyle/>
          <a:p>
            <a:endParaRPr lang="en-VN"/>
          </a:p>
        </p:txBody>
      </p:sp>
      <p:sp>
        <p:nvSpPr>
          <p:cNvPr id="223" name="Shape 6">
            <a:extLst>
              <a:ext uri="{FF2B5EF4-FFF2-40B4-BE49-F238E27FC236}">
                <a16:creationId xmlns:a16="http://schemas.microsoft.com/office/drawing/2014/main" id="{F916E19E-E345-16E0-87E0-BEADB72B7CA0}"/>
              </a:ext>
            </a:extLst>
          </p:cNvPr>
          <p:cNvSpPr/>
          <p:nvPr/>
        </p:nvSpPr>
        <p:spPr>
          <a:xfrm>
            <a:off x="944880" y="1885188"/>
            <a:ext cx="914400" cy="914400"/>
          </a:xfrm>
          <a:prstGeom prst="ellipse">
            <a:avLst/>
          </a:prstGeom>
          <a:solidFill>
            <a:srgbClr val="FFFFFF"/>
          </a:solidFill>
          <a:ln/>
        </p:spPr>
        <p:txBody>
          <a:bodyPr/>
          <a:lstStyle/>
          <a:p>
            <a:endParaRPr lang="en-VN"/>
          </a:p>
        </p:txBody>
      </p:sp>
      <p:sp>
        <p:nvSpPr>
          <p:cNvPr id="225" name="Text 7">
            <a:extLst>
              <a:ext uri="{FF2B5EF4-FFF2-40B4-BE49-F238E27FC236}">
                <a16:creationId xmlns:a16="http://schemas.microsoft.com/office/drawing/2014/main" id="{7B15138A-9B5C-E12A-C561-D630E512C38E}"/>
              </a:ext>
            </a:extLst>
          </p:cNvPr>
          <p:cNvSpPr/>
          <p:nvPr/>
        </p:nvSpPr>
        <p:spPr>
          <a:xfrm>
            <a:off x="944880" y="1885188"/>
            <a:ext cx="914400" cy="914400"/>
          </a:xfrm>
          <a:prstGeom prst="rect">
            <a:avLst/>
          </a:prstGeom>
          <a:noFill/>
          <a:ln/>
        </p:spPr>
        <p:txBody>
          <a:bodyPr wrap="square" lIns="0" tIns="0" rIns="0" bIns="0" rtlCol="0" anchor="ctr"/>
          <a:lstStyle/>
          <a:p>
            <a:pPr marL="0" indent="0" algn="ctr">
              <a:buNone/>
            </a:pPr>
            <a:r>
              <a:rPr lang="en-US" sz="3000" b="1" dirty="0">
                <a:solidFill>
                  <a:srgbClr val="C00000"/>
                </a:solidFill>
                <a:latin typeface="Arial" panose="020B0604020202020204" pitchFamily="34" charset="0"/>
                <a:ea typeface="Cambria" pitchFamily="34" charset="-122"/>
                <a:cs typeface="Arial" panose="020B0604020202020204" pitchFamily="34" charset="0"/>
              </a:rPr>
              <a:t>A</a:t>
            </a:r>
            <a:endParaRPr lang="en-US" sz="3000" dirty="0">
              <a:solidFill>
                <a:srgbClr val="C00000"/>
              </a:solidFill>
              <a:latin typeface="Arial" panose="020B0604020202020204" pitchFamily="34" charset="0"/>
              <a:cs typeface="Arial" panose="020B0604020202020204" pitchFamily="34" charset="0"/>
            </a:endParaRPr>
          </a:p>
        </p:txBody>
      </p:sp>
      <p:sp>
        <p:nvSpPr>
          <p:cNvPr id="227" name="Text 8">
            <a:extLst>
              <a:ext uri="{FF2B5EF4-FFF2-40B4-BE49-F238E27FC236}">
                <a16:creationId xmlns:a16="http://schemas.microsoft.com/office/drawing/2014/main" id="{01B4CE1E-398C-D911-4977-C5269AB74D26}"/>
              </a:ext>
            </a:extLst>
          </p:cNvPr>
          <p:cNvSpPr/>
          <p:nvPr/>
        </p:nvSpPr>
        <p:spPr>
          <a:xfrm>
            <a:off x="2042160" y="1885188"/>
            <a:ext cx="3886200" cy="384048"/>
          </a:xfrm>
          <a:prstGeom prst="rect">
            <a:avLst/>
          </a:prstGeom>
          <a:noFill/>
          <a:ln/>
        </p:spPr>
        <p:txBody>
          <a:bodyPr wrap="square" lIns="0" tIns="0" rIns="0" bIns="0" rtlCol="0" anchor="ctr"/>
          <a:lstStyle/>
          <a:p>
            <a:pPr marL="0" indent="0" algn="l">
              <a:buNone/>
            </a:pPr>
            <a:r>
              <a:rPr lang="en-US" sz="2000" b="1" kern="0" spc="100" dirty="0">
                <a:solidFill>
                  <a:srgbClr val="D9E2F0"/>
                </a:solidFill>
                <a:latin typeface="Arial" panose="020B0604020202020204" pitchFamily="34" charset="0"/>
                <a:ea typeface="Calibri" pitchFamily="34" charset="-122"/>
                <a:cs typeface="Arial" panose="020B0604020202020204" pitchFamily="34" charset="0"/>
              </a:rPr>
              <a:t>GIAI ĐOẠN A</a:t>
            </a:r>
            <a:endParaRPr lang="en-US" sz="2000" dirty="0">
              <a:latin typeface="Arial" panose="020B0604020202020204" pitchFamily="34" charset="0"/>
              <a:cs typeface="Arial" panose="020B0604020202020204" pitchFamily="34" charset="0"/>
            </a:endParaRPr>
          </a:p>
        </p:txBody>
      </p:sp>
      <p:sp>
        <p:nvSpPr>
          <p:cNvPr id="229" name="Text 9">
            <a:extLst>
              <a:ext uri="{FF2B5EF4-FFF2-40B4-BE49-F238E27FC236}">
                <a16:creationId xmlns:a16="http://schemas.microsoft.com/office/drawing/2014/main" id="{D846577E-F49A-7509-D320-C805EB0812B3}"/>
              </a:ext>
            </a:extLst>
          </p:cNvPr>
          <p:cNvSpPr/>
          <p:nvPr/>
        </p:nvSpPr>
        <p:spPr>
          <a:xfrm>
            <a:off x="2042160" y="2232660"/>
            <a:ext cx="388620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Arial" panose="020B0604020202020204" pitchFamily="34" charset="0"/>
                <a:ea typeface="Cambria" pitchFamily="34" charset="-122"/>
                <a:cs typeface="Arial" panose="020B0604020202020204" pitchFamily="34" charset="0"/>
              </a:rPr>
              <a:t>NỀN TẢNG CẤP TCT</a:t>
            </a:r>
            <a:endParaRPr lang="en-US" sz="2800" dirty="0">
              <a:latin typeface="Arial" panose="020B0604020202020204" pitchFamily="34" charset="0"/>
              <a:cs typeface="Arial" panose="020B0604020202020204" pitchFamily="34" charset="0"/>
            </a:endParaRPr>
          </a:p>
        </p:txBody>
      </p:sp>
      <p:sp>
        <p:nvSpPr>
          <p:cNvPr id="231" name="Shape 10">
            <a:extLst>
              <a:ext uri="{FF2B5EF4-FFF2-40B4-BE49-F238E27FC236}">
                <a16:creationId xmlns:a16="http://schemas.microsoft.com/office/drawing/2014/main" id="{EDC09104-7BE1-DEB6-D0A4-E61DE3F93E85}"/>
              </a:ext>
            </a:extLst>
          </p:cNvPr>
          <p:cNvSpPr/>
          <p:nvPr/>
        </p:nvSpPr>
        <p:spPr>
          <a:xfrm>
            <a:off x="944880" y="3284220"/>
            <a:ext cx="1920240" cy="548640"/>
          </a:xfrm>
          <a:prstGeom prst="roundRect">
            <a:avLst>
              <a:gd name="adj" fmla="val 16667"/>
            </a:avLst>
          </a:prstGeom>
          <a:solidFill>
            <a:schemeClr val="accent2">
              <a:lumMod val="20000"/>
              <a:lumOff val="80000"/>
            </a:schemeClr>
          </a:solidFill>
          <a:ln/>
        </p:spPr>
        <p:txBody>
          <a:bodyPr/>
          <a:lstStyle/>
          <a:p>
            <a:endParaRPr lang="en-VN"/>
          </a:p>
        </p:txBody>
      </p:sp>
      <p:sp>
        <p:nvSpPr>
          <p:cNvPr id="233" name="Text 11">
            <a:extLst>
              <a:ext uri="{FF2B5EF4-FFF2-40B4-BE49-F238E27FC236}">
                <a16:creationId xmlns:a16="http://schemas.microsoft.com/office/drawing/2014/main" id="{001C9F23-2690-F1D5-A33D-803E24E0F764}"/>
              </a:ext>
            </a:extLst>
          </p:cNvPr>
          <p:cNvSpPr/>
          <p:nvPr/>
        </p:nvSpPr>
        <p:spPr>
          <a:xfrm>
            <a:off x="944880" y="3284220"/>
            <a:ext cx="1920240" cy="548640"/>
          </a:xfrm>
          <a:prstGeom prst="rect">
            <a:avLst/>
          </a:prstGeom>
          <a:noFill/>
          <a:ln/>
        </p:spPr>
        <p:txBody>
          <a:bodyPr wrap="square" lIns="0" tIns="0" rIns="0" bIns="0" rtlCol="0" anchor="ctr"/>
          <a:lstStyle/>
          <a:p>
            <a:pPr marL="0" indent="0" algn="ctr">
              <a:buNone/>
            </a:pPr>
            <a:r>
              <a:rPr lang="en-US" sz="1500" b="1" dirty="0">
                <a:solidFill>
                  <a:srgbClr val="C00000"/>
                </a:solidFill>
                <a:latin typeface="Arial" panose="020B0604020202020204" pitchFamily="34" charset="0"/>
                <a:ea typeface="Calibri" pitchFamily="34" charset="-122"/>
                <a:cs typeface="Arial" panose="020B0604020202020204" pitchFamily="34" charset="0"/>
              </a:rPr>
              <a:t>~2 tháng</a:t>
            </a:r>
            <a:endParaRPr lang="en-US" sz="1500" dirty="0">
              <a:solidFill>
                <a:srgbClr val="C00000"/>
              </a:solidFill>
              <a:latin typeface="Arial" panose="020B0604020202020204" pitchFamily="34" charset="0"/>
              <a:cs typeface="Arial" panose="020B0604020202020204" pitchFamily="34" charset="0"/>
            </a:endParaRPr>
          </a:p>
        </p:txBody>
      </p:sp>
      <p:sp>
        <p:nvSpPr>
          <p:cNvPr id="235" name="Text 12">
            <a:extLst>
              <a:ext uri="{FF2B5EF4-FFF2-40B4-BE49-F238E27FC236}">
                <a16:creationId xmlns:a16="http://schemas.microsoft.com/office/drawing/2014/main" id="{C14481A6-DDEC-4127-3EB6-3821D576C435}"/>
              </a:ext>
            </a:extLst>
          </p:cNvPr>
          <p:cNvSpPr/>
          <p:nvPr/>
        </p:nvSpPr>
        <p:spPr>
          <a:xfrm>
            <a:off x="3002280" y="3284220"/>
            <a:ext cx="2880360" cy="548640"/>
          </a:xfrm>
          <a:prstGeom prst="rect">
            <a:avLst/>
          </a:prstGeom>
          <a:noFill/>
          <a:ln/>
        </p:spPr>
        <p:txBody>
          <a:bodyPr wrap="square" lIns="0" tIns="0" rIns="0" bIns="0" rtlCol="0" anchor="ctr"/>
          <a:lstStyle/>
          <a:p>
            <a:pPr marL="0" indent="0" algn="l">
              <a:buNone/>
            </a:pPr>
            <a:r>
              <a:rPr lang="en-US" sz="1300" i="1" dirty="0">
                <a:solidFill>
                  <a:srgbClr val="6B7280"/>
                </a:solidFill>
                <a:latin typeface="Arial" panose="020B0604020202020204" pitchFamily="34" charset="0"/>
                <a:ea typeface="Calibri" pitchFamily="34" charset="-122"/>
                <a:cs typeface="Arial" panose="020B0604020202020204" pitchFamily="34" charset="0"/>
              </a:rPr>
              <a:t>Giao phẩm</a:t>
            </a:r>
            <a:endParaRPr lang="en-US" sz="1300" dirty="0">
              <a:latin typeface="Arial" panose="020B0604020202020204" pitchFamily="34" charset="0"/>
              <a:cs typeface="Arial" panose="020B0604020202020204" pitchFamily="34" charset="0"/>
            </a:endParaRPr>
          </a:p>
        </p:txBody>
      </p:sp>
      <p:sp>
        <p:nvSpPr>
          <p:cNvPr id="237" name="Shape 13">
            <a:extLst>
              <a:ext uri="{FF2B5EF4-FFF2-40B4-BE49-F238E27FC236}">
                <a16:creationId xmlns:a16="http://schemas.microsoft.com/office/drawing/2014/main" id="{7F24A3CF-080A-1FAC-F986-55F7C5A43EF0}"/>
              </a:ext>
            </a:extLst>
          </p:cNvPr>
          <p:cNvSpPr/>
          <p:nvPr/>
        </p:nvSpPr>
        <p:spPr>
          <a:xfrm>
            <a:off x="899160" y="4061460"/>
            <a:ext cx="4892040" cy="804672"/>
          </a:xfrm>
          <a:prstGeom prst="roundRect">
            <a:avLst>
              <a:gd name="adj" fmla="val 6818"/>
            </a:avLst>
          </a:prstGeom>
          <a:solidFill>
            <a:srgbClr val="F7F9FC"/>
          </a:solidFill>
          <a:ln w="9525">
            <a:solidFill>
              <a:srgbClr val="E1E7F0"/>
            </a:solidFill>
            <a:prstDash val="solid"/>
          </a:ln>
        </p:spPr>
        <p:txBody>
          <a:bodyPr/>
          <a:lstStyle/>
          <a:p>
            <a:endParaRPr lang="en-VN"/>
          </a:p>
        </p:txBody>
      </p:sp>
      <p:sp>
        <p:nvSpPr>
          <p:cNvPr id="239" name="Shape 14">
            <a:extLst>
              <a:ext uri="{FF2B5EF4-FFF2-40B4-BE49-F238E27FC236}">
                <a16:creationId xmlns:a16="http://schemas.microsoft.com/office/drawing/2014/main" id="{F6E49869-D814-6499-5D69-6AAC0AD6BFC2}"/>
              </a:ext>
            </a:extLst>
          </p:cNvPr>
          <p:cNvSpPr/>
          <p:nvPr/>
        </p:nvSpPr>
        <p:spPr>
          <a:xfrm>
            <a:off x="899160" y="4061460"/>
            <a:ext cx="91440" cy="804672"/>
          </a:xfrm>
          <a:prstGeom prst="rect">
            <a:avLst/>
          </a:prstGeom>
          <a:solidFill>
            <a:srgbClr val="C00000"/>
          </a:solidFill>
          <a:ln/>
        </p:spPr>
        <p:txBody>
          <a:bodyPr/>
          <a:lstStyle/>
          <a:p>
            <a:endParaRPr lang="en-VN"/>
          </a:p>
        </p:txBody>
      </p:sp>
      <p:sp>
        <p:nvSpPr>
          <p:cNvPr id="241" name="Text 15">
            <a:extLst>
              <a:ext uri="{FF2B5EF4-FFF2-40B4-BE49-F238E27FC236}">
                <a16:creationId xmlns:a16="http://schemas.microsoft.com/office/drawing/2014/main" id="{55E67D96-465C-E929-C031-075FE53C1A13}"/>
              </a:ext>
            </a:extLst>
          </p:cNvPr>
          <p:cNvSpPr/>
          <p:nvPr/>
        </p:nvSpPr>
        <p:spPr>
          <a:xfrm>
            <a:off x="1036320" y="4061460"/>
            <a:ext cx="320040" cy="804672"/>
          </a:xfrm>
          <a:prstGeom prst="rect">
            <a:avLst/>
          </a:prstGeom>
          <a:noFill/>
          <a:ln/>
        </p:spPr>
        <p:txBody>
          <a:bodyPr wrap="square" lIns="0" tIns="0" rIns="0" bIns="0" rtlCol="0" anchor="ctr"/>
          <a:lstStyle/>
          <a:p>
            <a:pPr marL="0" indent="0" algn="l">
              <a:buNone/>
            </a:pPr>
            <a:r>
              <a:rPr lang="en-US" sz="1200" dirty="0">
                <a:solidFill>
                  <a:srgbClr val="2E4B8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243" name="Text 16">
            <a:extLst>
              <a:ext uri="{FF2B5EF4-FFF2-40B4-BE49-F238E27FC236}">
                <a16:creationId xmlns:a16="http://schemas.microsoft.com/office/drawing/2014/main" id="{E4D88EA1-F269-4502-E888-6B9E8D0203FA}"/>
              </a:ext>
            </a:extLst>
          </p:cNvPr>
          <p:cNvSpPr/>
          <p:nvPr/>
        </p:nvSpPr>
        <p:spPr>
          <a:xfrm>
            <a:off x="1341121" y="4061460"/>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Tuyên bố KVRR cấp TCT &amp; Quy định thiết lập KVRR</a:t>
            </a:r>
            <a:endParaRPr lang="en-US" sz="2000" dirty="0">
              <a:latin typeface="Arial" panose="020B0604020202020204" pitchFamily="34" charset="0"/>
              <a:cs typeface="Arial" panose="020B0604020202020204" pitchFamily="34" charset="0"/>
            </a:endParaRPr>
          </a:p>
        </p:txBody>
      </p:sp>
      <p:sp>
        <p:nvSpPr>
          <p:cNvPr id="245" name="Shape 17">
            <a:extLst>
              <a:ext uri="{FF2B5EF4-FFF2-40B4-BE49-F238E27FC236}">
                <a16:creationId xmlns:a16="http://schemas.microsoft.com/office/drawing/2014/main" id="{B8E4891D-1888-4329-30AA-9A9294B29623}"/>
              </a:ext>
            </a:extLst>
          </p:cNvPr>
          <p:cNvSpPr/>
          <p:nvPr/>
        </p:nvSpPr>
        <p:spPr>
          <a:xfrm>
            <a:off x="899160" y="5030724"/>
            <a:ext cx="4892040" cy="804672"/>
          </a:xfrm>
          <a:prstGeom prst="roundRect">
            <a:avLst>
              <a:gd name="adj" fmla="val 6818"/>
            </a:avLst>
          </a:prstGeom>
          <a:solidFill>
            <a:srgbClr val="F7F9FC"/>
          </a:solidFill>
          <a:ln w="9525">
            <a:solidFill>
              <a:srgbClr val="E1E7F0"/>
            </a:solidFill>
            <a:prstDash val="solid"/>
          </a:ln>
        </p:spPr>
        <p:txBody>
          <a:bodyPr/>
          <a:lstStyle/>
          <a:p>
            <a:endParaRPr lang="en-VN"/>
          </a:p>
        </p:txBody>
      </p:sp>
      <p:sp>
        <p:nvSpPr>
          <p:cNvPr id="247" name="Shape 18">
            <a:extLst>
              <a:ext uri="{FF2B5EF4-FFF2-40B4-BE49-F238E27FC236}">
                <a16:creationId xmlns:a16="http://schemas.microsoft.com/office/drawing/2014/main" id="{3AEB83EB-4476-A639-11AF-859E6C63298E}"/>
              </a:ext>
            </a:extLst>
          </p:cNvPr>
          <p:cNvSpPr/>
          <p:nvPr/>
        </p:nvSpPr>
        <p:spPr>
          <a:xfrm>
            <a:off x="899160" y="5030724"/>
            <a:ext cx="91440" cy="804672"/>
          </a:xfrm>
          <a:prstGeom prst="rect">
            <a:avLst/>
          </a:prstGeom>
          <a:solidFill>
            <a:srgbClr val="C00000"/>
          </a:solidFill>
          <a:ln/>
        </p:spPr>
        <p:txBody>
          <a:bodyPr/>
          <a:lstStyle/>
          <a:p>
            <a:endParaRPr lang="en-VN"/>
          </a:p>
        </p:txBody>
      </p:sp>
      <p:sp>
        <p:nvSpPr>
          <p:cNvPr id="249" name="Text 19">
            <a:extLst>
              <a:ext uri="{FF2B5EF4-FFF2-40B4-BE49-F238E27FC236}">
                <a16:creationId xmlns:a16="http://schemas.microsoft.com/office/drawing/2014/main" id="{9AD7A40D-690F-18D1-5A76-C9E3FCA9709F}"/>
              </a:ext>
            </a:extLst>
          </p:cNvPr>
          <p:cNvSpPr/>
          <p:nvPr/>
        </p:nvSpPr>
        <p:spPr>
          <a:xfrm>
            <a:off x="1036320" y="5030724"/>
            <a:ext cx="320040" cy="804672"/>
          </a:xfrm>
          <a:prstGeom prst="rect">
            <a:avLst/>
          </a:prstGeom>
          <a:noFill/>
          <a:ln/>
        </p:spPr>
        <p:txBody>
          <a:bodyPr wrap="square" lIns="0" tIns="0" rIns="0" bIns="0" rtlCol="0" anchor="ctr"/>
          <a:lstStyle/>
          <a:p>
            <a:pPr marL="0" indent="0" algn="l">
              <a:buNone/>
            </a:pPr>
            <a:r>
              <a:rPr lang="en-US" sz="1200" dirty="0">
                <a:solidFill>
                  <a:srgbClr val="2E4B8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251" name="Text 20">
            <a:extLst>
              <a:ext uri="{FF2B5EF4-FFF2-40B4-BE49-F238E27FC236}">
                <a16:creationId xmlns:a16="http://schemas.microsoft.com/office/drawing/2014/main" id="{7663A016-6A50-80F8-C92C-881EE4E68874}"/>
              </a:ext>
            </a:extLst>
          </p:cNvPr>
          <p:cNvSpPr/>
          <p:nvPr/>
        </p:nvSpPr>
        <p:spPr>
          <a:xfrm>
            <a:off x="1341121" y="5030724"/>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Thước đo rủi ro chung toàn TCT + bản đồ nhiệt</a:t>
            </a:r>
            <a:endParaRPr lang="en-US" sz="2000" dirty="0">
              <a:latin typeface="Arial" panose="020B0604020202020204" pitchFamily="34" charset="0"/>
              <a:cs typeface="Arial" panose="020B0604020202020204" pitchFamily="34" charset="0"/>
            </a:endParaRPr>
          </a:p>
        </p:txBody>
      </p:sp>
      <p:sp>
        <p:nvSpPr>
          <p:cNvPr id="253" name="Shape 21">
            <a:extLst>
              <a:ext uri="{FF2B5EF4-FFF2-40B4-BE49-F238E27FC236}">
                <a16:creationId xmlns:a16="http://schemas.microsoft.com/office/drawing/2014/main" id="{575E4B91-14B6-5E54-8286-C88A1BED64B4}"/>
              </a:ext>
            </a:extLst>
          </p:cNvPr>
          <p:cNvSpPr/>
          <p:nvPr/>
        </p:nvSpPr>
        <p:spPr>
          <a:xfrm>
            <a:off x="899160" y="5999988"/>
            <a:ext cx="4892040" cy="640080"/>
          </a:xfrm>
          <a:prstGeom prst="roundRect">
            <a:avLst>
              <a:gd name="adj" fmla="val 8571"/>
            </a:avLst>
          </a:prstGeom>
          <a:solidFill>
            <a:srgbClr val="F7F9FC"/>
          </a:solidFill>
          <a:ln w="9525">
            <a:solidFill>
              <a:srgbClr val="E1E7F0"/>
            </a:solidFill>
            <a:prstDash val="solid"/>
          </a:ln>
        </p:spPr>
        <p:txBody>
          <a:bodyPr/>
          <a:lstStyle/>
          <a:p>
            <a:endParaRPr lang="en-VN"/>
          </a:p>
        </p:txBody>
      </p:sp>
      <p:sp>
        <p:nvSpPr>
          <p:cNvPr id="255" name="Shape 22">
            <a:extLst>
              <a:ext uri="{FF2B5EF4-FFF2-40B4-BE49-F238E27FC236}">
                <a16:creationId xmlns:a16="http://schemas.microsoft.com/office/drawing/2014/main" id="{A4570192-9E33-A216-C2EE-6266BBF3D054}"/>
              </a:ext>
            </a:extLst>
          </p:cNvPr>
          <p:cNvSpPr/>
          <p:nvPr/>
        </p:nvSpPr>
        <p:spPr>
          <a:xfrm>
            <a:off x="899160" y="5999988"/>
            <a:ext cx="91440" cy="640080"/>
          </a:xfrm>
          <a:prstGeom prst="rect">
            <a:avLst/>
          </a:prstGeom>
          <a:solidFill>
            <a:srgbClr val="C00000"/>
          </a:solidFill>
          <a:ln/>
        </p:spPr>
        <p:txBody>
          <a:bodyPr/>
          <a:lstStyle/>
          <a:p>
            <a:endParaRPr lang="en-VN"/>
          </a:p>
        </p:txBody>
      </p:sp>
      <p:sp>
        <p:nvSpPr>
          <p:cNvPr id="257" name="Text 23">
            <a:extLst>
              <a:ext uri="{FF2B5EF4-FFF2-40B4-BE49-F238E27FC236}">
                <a16:creationId xmlns:a16="http://schemas.microsoft.com/office/drawing/2014/main" id="{47EAE27B-2CF1-56DF-5106-2C4453DF167D}"/>
              </a:ext>
            </a:extLst>
          </p:cNvPr>
          <p:cNvSpPr/>
          <p:nvPr/>
        </p:nvSpPr>
        <p:spPr>
          <a:xfrm>
            <a:off x="1036320" y="5999988"/>
            <a:ext cx="320040" cy="640080"/>
          </a:xfrm>
          <a:prstGeom prst="rect">
            <a:avLst/>
          </a:prstGeom>
          <a:noFill/>
          <a:ln/>
        </p:spPr>
        <p:txBody>
          <a:bodyPr wrap="square" lIns="0" tIns="0" rIns="0" bIns="0" rtlCol="0" anchor="ctr"/>
          <a:lstStyle/>
          <a:p>
            <a:pPr marL="0" indent="0" algn="l">
              <a:buNone/>
            </a:pPr>
            <a:r>
              <a:rPr lang="en-US" sz="1200" dirty="0">
                <a:solidFill>
                  <a:srgbClr val="2E4B8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259" name="Text 24">
            <a:extLst>
              <a:ext uri="{FF2B5EF4-FFF2-40B4-BE49-F238E27FC236}">
                <a16:creationId xmlns:a16="http://schemas.microsoft.com/office/drawing/2014/main" id="{F9A7CF09-334B-CCFA-8CF1-E631025BDFAA}"/>
              </a:ext>
            </a:extLst>
          </p:cNvPr>
          <p:cNvSpPr/>
          <p:nvPr/>
        </p:nvSpPr>
        <p:spPr>
          <a:xfrm>
            <a:off x="1341121" y="5999988"/>
            <a:ext cx="4343400" cy="640080"/>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Quy chế / khung QTRR cấp TCT</a:t>
            </a:r>
            <a:endParaRPr lang="en-US" sz="2000" dirty="0">
              <a:latin typeface="Arial" panose="020B0604020202020204" pitchFamily="34" charset="0"/>
              <a:cs typeface="Arial" panose="020B0604020202020204" pitchFamily="34" charset="0"/>
            </a:endParaRPr>
          </a:p>
        </p:txBody>
      </p:sp>
      <p:sp>
        <p:nvSpPr>
          <p:cNvPr id="261" name="Shape 25">
            <a:extLst>
              <a:ext uri="{FF2B5EF4-FFF2-40B4-BE49-F238E27FC236}">
                <a16:creationId xmlns:a16="http://schemas.microsoft.com/office/drawing/2014/main" id="{8353B726-D641-FE40-6DE6-8A91EBB21CCC}"/>
              </a:ext>
            </a:extLst>
          </p:cNvPr>
          <p:cNvSpPr/>
          <p:nvPr/>
        </p:nvSpPr>
        <p:spPr>
          <a:xfrm>
            <a:off x="899160" y="6804660"/>
            <a:ext cx="4892040" cy="804672"/>
          </a:xfrm>
          <a:prstGeom prst="roundRect">
            <a:avLst>
              <a:gd name="adj" fmla="val 6818"/>
            </a:avLst>
          </a:prstGeom>
          <a:solidFill>
            <a:srgbClr val="F7F9FC"/>
          </a:solidFill>
          <a:ln w="9525">
            <a:solidFill>
              <a:srgbClr val="E1E7F0"/>
            </a:solidFill>
            <a:prstDash val="solid"/>
          </a:ln>
        </p:spPr>
        <p:txBody>
          <a:bodyPr/>
          <a:lstStyle/>
          <a:p>
            <a:endParaRPr lang="en-VN"/>
          </a:p>
        </p:txBody>
      </p:sp>
      <p:sp>
        <p:nvSpPr>
          <p:cNvPr id="263" name="Shape 26">
            <a:extLst>
              <a:ext uri="{FF2B5EF4-FFF2-40B4-BE49-F238E27FC236}">
                <a16:creationId xmlns:a16="http://schemas.microsoft.com/office/drawing/2014/main" id="{B51E071B-F5C1-45D2-EC22-D8AF2EBFA47D}"/>
              </a:ext>
            </a:extLst>
          </p:cNvPr>
          <p:cNvSpPr/>
          <p:nvPr/>
        </p:nvSpPr>
        <p:spPr>
          <a:xfrm>
            <a:off x="899160" y="6804660"/>
            <a:ext cx="91440" cy="804672"/>
          </a:xfrm>
          <a:prstGeom prst="rect">
            <a:avLst/>
          </a:prstGeom>
          <a:solidFill>
            <a:srgbClr val="C00000"/>
          </a:solidFill>
          <a:ln/>
        </p:spPr>
        <p:txBody>
          <a:bodyPr/>
          <a:lstStyle/>
          <a:p>
            <a:endParaRPr lang="en-VN"/>
          </a:p>
        </p:txBody>
      </p:sp>
      <p:sp>
        <p:nvSpPr>
          <p:cNvPr id="265" name="Text 27">
            <a:extLst>
              <a:ext uri="{FF2B5EF4-FFF2-40B4-BE49-F238E27FC236}">
                <a16:creationId xmlns:a16="http://schemas.microsoft.com/office/drawing/2014/main" id="{A866F5F1-4935-5542-C675-53F1F235A686}"/>
              </a:ext>
            </a:extLst>
          </p:cNvPr>
          <p:cNvSpPr/>
          <p:nvPr/>
        </p:nvSpPr>
        <p:spPr>
          <a:xfrm>
            <a:off x="1036320" y="6804660"/>
            <a:ext cx="320040" cy="804672"/>
          </a:xfrm>
          <a:prstGeom prst="rect">
            <a:avLst/>
          </a:prstGeom>
          <a:noFill/>
          <a:ln/>
        </p:spPr>
        <p:txBody>
          <a:bodyPr wrap="square" lIns="0" tIns="0" rIns="0" bIns="0" rtlCol="0" anchor="ctr"/>
          <a:lstStyle/>
          <a:p>
            <a:pPr marL="0" indent="0" algn="l">
              <a:buNone/>
            </a:pPr>
            <a:r>
              <a:rPr lang="en-US" sz="1200" dirty="0">
                <a:solidFill>
                  <a:srgbClr val="2E4B8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267" name="Text 28">
            <a:extLst>
              <a:ext uri="{FF2B5EF4-FFF2-40B4-BE49-F238E27FC236}">
                <a16:creationId xmlns:a16="http://schemas.microsoft.com/office/drawing/2014/main" id="{D42C1020-2FB5-7EF5-DB89-D7A57F1AE9F8}"/>
              </a:ext>
            </a:extLst>
          </p:cNvPr>
          <p:cNvSpPr/>
          <p:nvPr/>
        </p:nvSpPr>
        <p:spPr>
          <a:xfrm>
            <a:off x="1341121" y="6804660"/>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Danh mục rủi ro trọng yếu định hướng cấp TCT</a:t>
            </a:r>
            <a:endParaRPr lang="en-US" sz="2000" dirty="0">
              <a:latin typeface="Arial" panose="020B0604020202020204" pitchFamily="34" charset="0"/>
              <a:cs typeface="Arial" panose="020B0604020202020204" pitchFamily="34" charset="0"/>
            </a:endParaRPr>
          </a:p>
        </p:txBody>
      </p:sp>
      <p:sp>
        <p:nvSpPr>
          <p:cNvPr id="269" name="Shape 29">
            <a:extLst>
              <a:ext uri="{FF2B5EF4-FFF2-40B4-BE49-F238E27FC236}">
                <a16:creationId xmlns:a16="http://schemas.microsoft.com/office/drawing/2014/main" id="{9CF578EA-B59A-9438-2CA0-24A506A5B7F8}"/>
              </a:ext>
            </a:extLst>
          </p:cNvPr>
          <p:cNvSpPr/>
          <p:nvPr/>
        </p:nvSpPr>
        <p:spPr>
          <a:xfrm>
            <a:off x="6431280" y="1638300"/>
            <a:ext cx="5532120" cy="8077200"/>
          </a:xfrm>
          <a:prstGeom prst="roundRect">
            <a:avLst>
              <a:gd name="adj" fmla="val 2314"/>
            </a:avLst>
          </a:prstGeom>
          <a:solidFill>
            <a:srgbClr val="FFFFFF"/>
          </a:solidFill>
          <a:ln w="12700">
            <a:solidFill>
              <a:srgbClr val="E1E7F0"/>
            </a:solidFill>
            <a:prstDash val="solid"/>
          </a:ln>
        </p:spPr>
        <p:txBody>
          <a:bodyPr/>
          <a:lstStyle/>
          <a:p>
            <a:endParaRPr lang="en-VN"/>
          </a:p>
        </p:txBody>
      </p:sp>
      <p:sp>
        <p:nvSpPr>
          <p:cNvPr id="271" name="Shape 30">
            <a:extLst>
              <a:ext uri="{FF2B5EF4-FFF2-40B4-BE49-F238E27FC236}">
                <a16:creationId xmlns:a16="http://schemas.microsoft.com/office/drawing/2014/main" id="{1FC6E21B-299E-0B9F-7CA3-920075FB6A64}"/>
              </a:ext>
            </a:extLst>
          </p:cNvPr>
          <p:cNvSpPr/>
          <p:nvPr/>
        </p:nvSpPr>
        <p:spPr>
          <a:xfrm>
            <a:off x="6431280" y="1638300"/>
            <a:ext cx="5532120" cy="1417320"/>
          </a:xfrm>
          <a:prstGeom prst="roundRect">
            <a:avLst>
              <a:gd name="adj" fmla="val 9032"/>
            </a:avLst>
          </a:prstGeom>
          <a:solidFill>
            <a:srgbClr val="4F81BD"/>
          </a:solidFill>
          <a:ln/>
        </p:spPr>
        <p:txBody>
          <a:bodyPr/>
          <a:lstStyle/>
          <a:p>
            <a:endParaRPr lang="en-VN"/>
          </a:p>
        </p:txBody>
      </p:sp>
      <p:sp>
        <p:nvSpPr>
          <p:cNvPr id="273" name="Shape 31">
            <a:extLst>
              <a:ext uri="{FF2B5EF4-FFF2-40B4-BE49-F238E27FC236}">
                <a16:creationId xmlns:a16="http://schemas.microsoft.com/office/drawing/2014/main" id="{D0E49CB6-0898-2674-456C-2CFC994D9DAA}"/>
              </a:ext>
            </a:extLst>
          </p:cNvPr>
          <p:cNvSpPr/>
          <p:nvPr/>
        </p:nvSpPr>
        <p:spPr>
          <a:xfrm>
            <a:off x="6431280" y="2232660"/>
            <a:ext cx="5532120" cy="822960"/>
          </a:xfrm>
          <a:prstGeom prst="rect">
            <a:avLst/>
          </a:prstGeom>
          <a:solidFill>
            <a:srgbClr val="4F81BD"/>
          </a:solidFill>
          <a:ln/>
        </p:spPr>
        <p:txBody>
          <a:bodyPr/>
          <a:lstStyle/>
          <a:p>
            <a:endParaRPr lang="en-VN"/>
          </a:p>
        </p:txBody>
      </p:sp>
      <p:sp>
        <p:nvSpPr>
          <p:cNvPr id="275" name="Shape 32">
            <a:extLst>
              <a:ext uri="{FF2B5EF4-FFF2-40B4-BE49-F238E27FC236}">
                <a16:creationId xmlns:a16="http://schemas.microsoft.com/office/drawing/2014/main" id="{78A76DD4-E535-DA94-4698-31C35AD10E72}"/>
              </a:ext>
            </a:extLst>
          </p:cNvPr>
          <p:cNvSpPr/>
          <p:nvPr/>
        </p:nvSpPr>
        <p:spPr>
          <a:xfrm>
            <a:off x="6797040" y="1885188"/>
            <a:ext cx="914400" cy="914400"/>
          </a:xfrm>
          <a:prstGeom prst="ellipse">
            <a:avLst/>
          </a:prstGeom>
          <a:solidFill>
            <a:srgbClr val="FFFFFF"/>
          </a:solidFill>
          <a:ln/>
        </p:spPr>
        <p:txBody>
          <a:bodyPr/>
          <a:lstStyle/>
          <a:p>
            <a:endParaRPr lang="en-VN"/>
          </a:p>
        </p:txBody>
      </p:sp>
      <p:sp>
        <p:nvSpPr>
          <p:cNvPr id="277" name="Text 33">
            <a:extLst>
              <a:ext uri="{FF2B5EF4-FFF2-40B4-BE49-F238E27FC236}">
                <a16:creationId xmlns:a16="http://schemas.microsoft.com/office/drawing/2014/main" id="{80079F16-B3F7-BD8E-C24C-297F54B09602}"/>
              </a:ext>
            </a:extLst>
          </p:cNvPr>
          <p:cNvSpPr/>
          <p:nvPr/>
        </p:nvSpPr>
        <p:spPr>
          <a:xfrm>
            <a:off x="6797040" y="1885188"/>
            <a:ext cx="914400" cy="914400"/>
          </a:xfrm>
          <a:prstGeom prst="rect">
            <a:avLst/>
          </a:prstGeom>
          <a:noFill/>
          <a:ln/>
        </p:spPr>
        <p:txBody>
          <a:bodyPr wrap="square" lIns="0" tIns="0" rIns="0" bIns="0" rtlCol="0" anchor="ctr"/>
          <a:lstStyle/>
          <a:p>
            <a:pPr marL="0" indent="0" algn="ctr">
              <a:buNone/>
            </a:pPr>
            <a:r>
              <a:rPr lang="en-US" sz="3000" b="1" dirty="0">
                <a:solidFill>
                  <a:schemeClr val="accent1"/>
                </a:solidFill>
                <a:latin typeface="Arial" panose="020B0604020202020204" pitchFamily="34" charset="0"/>
                <a:ea typeface="Cambria" pitchFamily="34" charset="-122"/>
                <a:cs typeface="Arial" panose="020B0604020202020204" pitchFamily="34" charset="0"/>
              </a:rPr>
              <a:t>B</a:t>
            </a:r>
            <a:endParaRPr lang="en-US" sz="3000" dirty="0">
              <a:solidFill>
                <a:schemeClr val="accent1"/>
              </a:solidFill>
              <a:latin typeface="Arial" panose="020B0604020202020204" pitchFamily="34" charset="0"/>
              <a:cs typeface="Arial" panose="020B0604020202020204" pitchFamily="34" charset="0"/>
            </a:endParaRPr>
          </a:p>
        </p:txBody>
      </p:sp>
      <p:sp>
        <p:nvSpPr>
          <p:cNvPr id="279" name="Text 34">
            <a:extLst>
              <a:ext uri="{FF2B5EF4-FFF2-40B4-BE49-F238E27FC236}">
                <a16:creationId xmlns:a16="http://schemas.microsoft.com/office/drawing/2014/main" id="{B1AC1373-AFAF-6356-932B-3C660A1528D6}"/>
              </a:ext>
            </a:extLst>
          </p:cNvPr>
          <p:cNvSpPr/>
          <p:nvPr/>
        </p:nvSpPr>
        <p:spPr>
          <a:xfrm>
            <a:off x="7894320" y="1885188"/>
            <a:ext cx="3886200" cy="384048"/>
          </a:xfrm>
          <a:prstGeom prst="rect">
            <a:avLst/>
          </a:prstGeom>
          <a:noFill/>
          <a:ln/>
        </p:spPr>
        <p:txBody>
          <a:bodyPr wrap="square" lIns="0" tIns="0" rIns="0" bIns="0" rtlCol="0" anchor="ctr"/>
          <a:lstStyle/>
          <a:p>
            <a:pPr marL="0" indent="0" algn="l">
              <a:buNone/>
            </a:pPr>
            <a:r>
              <a:rPr lang="en-US" sz="2000" b="1" kern="0" spc="100" dirty="0">
                <a:solidFill>
                  <a:srgbClr val="D9E2F0"/>
                </a:solidFill>
                <a:latin typeface="Arial" panose="020B0604020202020204" pitchFamily="34" charset="0"/>
                <a:ea typeface="Calibri" pitchFamily="34" charset="-122"/>
                <a:cs typeface="Arial" panose="020B0604020202020204" pitchFamily="34" charset="0"/>
              </a:rPr>
              <a:t>GIAI ĐOẠN B</a:t>
            </a:r>
            <a:endParaRPr lang="en-US" sz="2000" dirty="0">
              <a:latin typeface="Arial" panose="020B0604020202020204" pitchFamily="34" charset="0"/>
              <a:cs typeface="Arial" panose="020B0604020202020204" pitchFamily="34" charset="0"/>
            </a:endParaRPr>
          </a:p>
        </p:txBody>
      </p:sp>
      <p:sp>
        <p:nvSpPr>
          <p:cNvPr id="281" name="Text 35">
            <a:extLst>
              <a:ext uri="{FF2B5EF4-FFF2-40B4-BE49-F238E27FC236}">
                <a16:creationId xmlns:a16="http://schemas.microsoft.com/office/drawing/2014/main" id="{0765E5D9-1B35-D618-2915-D3EF692B3B4E}"/>
              </a:ext>
            </a:extLst>
          </p:cNvPr>
          <p:cNvSpPr/>
          <p:nvPr/>
        </p:nvSpPr>
        <p:spPr>
          <a:xfrm>
            <a:off x="7894320" y="2232660"/>
            <a:ext cx="3886200" cy="502920"/>
          </a:xfrm>
          <a:prstGeom prst="rect">
            <a:avLst/>
          </a:prstGeom>
          <a:noFill/>
          <a:ln/>
        </p:spPr>
        <p:txBody>
          <a:bodyPr wrap="square" lIns="0" tIns="0" rIns="0" bIns="0" rtlCol="0" anchor="ctr"/>
          <a:lstStyle/>
          <a:p>
            <a:pPr marL="0" indent="0" algn="l">
              <a:buNone/>
            </a:pPr>
            <a:r>
              <a:rPr lang="en-US" sz="2800" b="1" dirty="0">
                <a:solidFill>
                  <a:srgbClr val="FFFFFF"/>
                </a:solidFill>
                <a:latin typeface="Arial" panose="020B0604020202020204" pitchFamily="34" charset="0"/>
                <a:ea typeface="Cambria" pitchFamily="34" charset="-122"/>
                <a:cs typeface="Arial" panose="020B0604020202020204" pitchFamily="34" charset="0"/>
              </a:rPr>
              <a:t>THÍ ĐIỂM TẠI TT VHKT</a:t>
            </a:r>
            <a:endParaRPr lang="en-US" sz="2800" dirty="0">
              <a:latin typeface="Arial" panose="020B0604020202020204" pitchFamily="34" charset="0"/>
              <a:cs typeface="Arial" panose="020B0604020202020204" pitchFamily="34" charset="0"/>
            </a:endParaRPr>
          </a:p>
        </p:txBody>
      </p:sp>
      <p:sp>
        <p:nvSpPr>
          <p:cNvPr id="283" name="Shape 36">
            <a:extLst>
              <a:ext uri="{FF2B5EF4-FFF2-40B4-BE49-F238E27FC236}">
                <a16:creationId xmlns:a16="http://schemas.microsoft.com/office/drawing/2014/main" id="{FB083475-AD19-376D-14EA-6077348CAB1A}"/>
              </a:ext>
            </a:extLst>
          </p:cNvPr>
          <p:cNvSpPr/>
          <p:nvPr/>
        </p:nvSpPr>
        <p:spPr>
          <a:xfrm>
            <a:off x="6797040" y="3284220"/>
            <a:ext cx="1920240" cy="548640"/>
          </a:xfrm>
          <a:prstGeom prst="roundRect">
            <a:avLst>
              <a:gd name="adj" fmla="val 16667"/>
            </a:avLst>
          </a:prstGeom>
          <a:solidFill>
            <a:schemeClr val="accent1">
              <a:lumMod val="20000"/>
              <a:lumOff val="80000"/>
            </a:schemeClr>
          </a:solidFill>
          <a:ln/>
        </p:spPr>
        <p:txBody>
          <a:bodyPr/>
          <a:lstStyle/>
          <a:p>
            <a:endParaRPr lang="en-VN"/>
          </a:p>
        </p:txBody>
      </p:sp>
      <p:sp>
        <p:nvSpPr>
          <p:cNvPr id="285" name="Text 37">
            <a:extLst>
              <a:ext uri="{FF2B5EF4-FFF2-40B4-BE49-F238E27FC236}">
                <a16:creationId xmlns:a16="http://schemas.microsoft.com/office/drawing/2014/main" id="{698F7F49-CF29-2671-B2E6-C166183D768B}"/>
              </a:ext>
            </a:extLst>
          </p:cNvPr>
          <p:cNvSpPr/>
          <p:nvPr/>
        </p:nvSpPr>
        <p:spPr>
          <a:xfrm>
            <a:off x="6797040" y="3284220"/>
            <a:ext cx="1920240" cy="548640"/>
          </a:xfrm>
          <a:prstGeom prst="rect">
            <a:avLst/>
          </a:prstGeom>
          <a:noFill/>
          <a:ln/>
        </p:spPr>
        <p:txBody>
          <a:bodyPr wrap="square" lIns="0" tIns="0" rIns="0" bIns="0" rtlCol="0" anchor="ctr"/>
          <a:lstStyle/>
          <a:p>
            <a:pPr marL="0" indent="0" algn="ctr">
              <a:buNone/>
            </a:pPr>
            <a:r>
              <a:rPr lang="en-US" sz="1500" b="1" dirty="0">
                <a:solidFill>
                  <a:schemeClr val="tx2">
                    <a:lumMod val="75000"/>
                  </a:schemeClr>
                </a:solidFill>
                <a:latin typeface="Arial" panose="020B0604020202020204" pitchFamily="34" charset="0"/>
                <a:ea typeface="Calibri" pitchFamily="34" charset="-122"/>
                <a:cs typeface="Arial" panose="020B0604020202020204" pitchFamily="34" charset="0"/>
              </a:rPr>
              <a:t>6 tháng</a:t>
            </a:r>
            <a:endParaRPr lang="en-US" sz="1500" dirty="0">
              <a:solidFill>
                <a:schemeClr val="tx2">
                  <a:lumMod val="75000"/>
                </a:schemeClr>
              </a:solidFill>
              <a:latin typeface="Arial" panose="020B0604020202020204" pitchFamily="34" charset="0"/>
              <a:cs typeface="Arial" panose="020B0604020202020204" pitchFamily="34" charset="0"/>
            </a:endParaRPr>
          </a:p>
        </p:txBody>
      </p:sp>
      <p:sp>
        <p:nvSpPr>
          <p:cNvPr id="287" name="Text 38">
            <a:extLst>
              <a:ext uri="{FF2B5EF4-FFF2-40B4-BE49-F238E27FC236}">
                <a16:creationId xmlns:a16="http://schemas.microsoft.com/office/drawing/2014/main" id="{9C9763D7-5B06-CED3-63FB-C1E664F503E7}"/>
              </a:ext>
            </a:extLst>
          </p:cNvPr>
          <p:cNvSpPr/>
          <p:nvPr/>
        </p:nvSpPr>
        <p:spPr>
          <a:xfrm>
            <a:off x="8854440" y="3284220"/>
            <a:ext cx="2880360" cy="548640"/>
          </a:xfrm>
          <a:prstGeom prst="rect">
            <a:avLst/>
          </a:prstGeom>
          <a:noFill/>
          <a:ln/>
        </p:spPr>
        <p:txBody>
          <a:bodyPr wrap="square" lIns="0" tIns="0" rIns="0" bIns="0" rtlCol="0" anchor="ctr"/>
          <a:lstStyle/>
          <a:p>
            <a:pPr marL="0" indent="0" algn="l">
              <a:buNone/>
            </a:pPr>
            <a:r>
              <a:rPr lang="en-US" sz="1300" i="1" dirty="0">
                <a:solidFill>
                  <a:srgbClr val="6B7280"/>
                </a:solidFill>
                <a:latin typeface="Arial" panose="020B0604020202020204" pitchFamily="34" charset="0"/>
                <a:ea typeface="Calibri" pitchFamily="34" charset="-122"/>
                <a:cs typeface="Arial" panose="020B0604020202020204" pitchFamily="34" charset="0"/>
              </a:rPr>
              <a:t>Giao phẩm</a:t>
            </a:r>
            <a:endParaRPr lang="en-US" sz="1300" dirty="0">
              <a:latin typeface="Arial" panose="020B0604020202020204" pitchFamily="34" charset="0"/>
              <a:cs typeface="Arial" panose="020B0604020202020204" pitchFamily="34" charset="0"/>
            </a:endParaRPr>
          </a:p>
        </p:txBody>
      </p:sp>
      <p:sp>
        <p:nvSpPr>
          <p:cNvPr id="289" name="Shape 39">
            <a:extLst>
              <a:ext uri="{FF2B5EF4-FFF2-40B4-BE49-F238E27FC236}">
                <a16:creationId xmlns:a16="http://schemas.microsoft.com/office/drawing/2014/main" id="{3400B584-AD49-EBDD-9298-DFFBEA98AA46}"/>
              </a:ext>
            </a:extLst>
          </p:cNvPr>
          <p:cNvSpPr/>
          <p:nvPr/>
        </p:nvSpPr>
        <p:spPr>
          <a:xfrm>
            <a:off x="6751320" y="4061460"/>
            <a:ext cx="4892040" cy="804672"/>
          </a:xfrm>
          <a:prstGeom prst="roundRect">
            <a:avLst>
              <a:gd name="adj" fmla="val 6818"/>
            </a:avLst>
          </a:prstGeom>
          <a:solidFill>
            <a:srgbClr val="FFFFFF"/>
          </a:solidFill>
          <a:ln w="9525">
            <a:solidFill>
              <a:srgbClr val="E1E7F0"/>
            </a:solidFill>
            <a:prstDash val="solid"/>
          </a:ln>
        </p:spPr>
        <p:txBody>
          <a:bodyPr/>
          <a:lstStyle/>
          <a:p>
            <a:endParaRPr lang="en-VN"/>
          </a:p>
        </p:txBody>
      </p:sp>
      <p:sp>
        <p:nvSpPr>
          <p:cNvPr id="291" name="Shape 40">
            <a:extLst>
              <a:ext uri="{FF2B5EF4-FFF2-40B4-BE49-F238E27FC236}">
                <a16:creationId xmlns:a16="http://schemas.microsoft.com/office/drawing/2014/main" id="{CD3C00AE-2398-EF87-FEDE-281BD51DB7E8}"/>
              </a:ext>
            </a:extLst>
          </p:cNvPr>
          <p:cNvSpPr/>
          <p:nvPr/>
        </p:nvSpPr>
        <p:spPr>
          <a:xfrm>
            <a:off x="6751320" y="4061460"/>
            <a:ext cx="91440" cy="804672"/>
          </a:xfrm>
          <a:prstGeom prst="rect">
            <a:avLst/>
          </a:prstGeom>
          <a:solidFill>
            <a:schemeClr val="accent1"/>
          </a:solidFill>
          <a:ln/>
        </p:spPr>
        <p:txBody>
          <a:bodyPr/>
          <a:lstStyle/>
          <a:p>
            <a:endParaRPr lang="en-VN"/>
          </a:p>
        </p:txBody>
      </p:sp>
      <p:sp>
        <p:nvSpPr>
          <p:cNvPr id="293" name="Text 41">
            <a:extLst>
              <a:ext uri="{FF2B5EF4-FFF2-40B4-BE49-F238E27FC236}">
                <a16:creationId xmlns:a16="http://schemas.microsoft.com/office/drawing/2014/main" id="{AAFE3BBF-9658-CF6D-F7F5-3631687CC6EA}"/>
              </a:ext>
            </a:extLst>
          </p:cNvPr>
          <p:cNvSpPr/>
          <p:nvPr/>
        </p:nvSpPr>
        <p:spPr>
          <a:xfrm>
            <a:off x="6888480" y="4061460"/>
            <a:ext cx="320040" cy="804672"/>
          </a:xfrm>
          <a:prstGeom prst="rect">
            <a:avLst/>
          </a:prstGeom>
          <a:noFill/>
          <a:ln/>
        </p:spPr>
        <p:txBody>
          <a:bodyPr wrap="square" lIns="0" tIns="0" rIns="0" bIns="0" rtlCol="0" anchor="ctr"/>
          <a:lstStyle/>
          <a:p>
            <a:pPr marL="0" indent="0" algn="l">
              <a:buNone/>
            </a:pPr>
            <a:r>
              <a:rPr lang="en-US" sz="1200" dirty="0">
                <a:solidFill>
                  <a:srgbClr val="0F7A6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295" name="Text 42">
            <a:extLst>
              <a:ext uri="{FF2B5EF4-FFF2-40B4-BE49-F238E27FC236}">
                <a16:creationId xmlns:a16="http://schemas.microsoft.com/office/drawing/2014/main" id="{D4F98A2E-F5D6-F8A6-5400-BC335DC54645}"/>
              </a:ext>
            </a:extLst>
          </p:cNvPr>
          <p:cNvSpPr/>
          <p:nvPr/>
        </p:nvSpPr>
        <p:spPr>
          <a:xfrm>
            <a:off x="7193281" y="4061460"/>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Báo cáo đánh giá hiện trạng QTRR tại Trung tâm</a:t>
            </a:r>
            <a:endParaRPr lang="en-US" sz="2000" dirty="0">
              <a:latin typeface="Arial" panose="020B0604020202020204" pitchFamily="34" charset="0"/>
              <a:cs typeface="Arial" panose="020B0604020202020204" pitchFamily="34" charset="0"/>
            </a:endParaRPr>
          </a:p>
        </p:txBody>
      </p:sp>
      <p:sp>
        <p:nvSpPr>
          <p:cNvPr id="297" name="Shape 43">
            <a:extLst>
              <a:ext uri="{FF2B5EF4-FFF2-40B4-BE49-F238E27FC236}">
                <a16:creationId xmlns:a16="http://schemas.microsoft.com/office/drawing/2014/main" id="{BFF43F4C-E9FA-6A86-E987-472085183D9B}"/>
              </a:ext>
            </a:extLst>
          </p:cNvPr>
          <p:cNvSpPr/>
          <p:nvPr/>
        </p:nvSpPr>
        <p:spPr>
          <a:xfrm>
            <a:off x="6751320" y="5030724"/>
            <a:ext cx="4892040" cy="1207008"/>
          </a:xfrm>
          <a:prstGeom prst="roundRect">
            <a:avLst>
              <a:gd name="adj" fmla="val 4545"/>
            </a:avLst>
          </a:prstGeom>
          <a:solidFill>
            <a:srgbClr val="FFFFFF"/>
          </a:solidFill>
          <a:ln w="9525">
            <a:solidFill>
              <a:srgbClr val="E1E7F0"/>
            </a:solidFill>
            <a:prstDash val="solid"/>
          </a:ln>
        </p:spPr>
        <p:txBody>
          <a:bodyPr/>
          <a:lstStyle/>
          <a:p>
            <a:endParaRPr lang="en-VN"/>
          </a:p>
        </p:txBody>
      </p:sp>
      <p:sp>
        <p:nvSpPr>
          <p:cNvPr id="299" name="Shape 44">
            <a:extLst>
              <a:ext uri="{FF2B5EF4-FFF2-40B4-BE49-F238E27FC236}">
                <a16:creationId xmlns:a16="http://schemas.microsoft.com/office/drawing/2014/main" id="{5A44DFE0-1AD3-E3E0-35CA-EC93E11D5C55}"/>
              </a:ext>
            </a:extLst>
          </p:cNvPr>
          <p:cNvSpPr/>
          <p:nvPr/>
        </p:nvSpPr>
        <p:spPr>
          <a:xfrm>
            <a:off x="6751320" y="5030724"/>
            <a:ext cx="91440" cy="1207008"/>
          </a:xfrm>
          <a:prstGeom prst="rect">
            <a:avLst/>
          </a:prstGeom>
          <a:solidFill>
            <a:schemeClr val="accent1"/>
          </a:solidFill>
          <a:ln/>
        </p:spPr>
        <p:txBody>
          <a:bodyPr/>
          <a:lstStyle/>
          <a:p>
            <a:endParaRPr lang="en-VN"/>
          </a:p>
        </p:txBody>
      </p:sp>
      <p:sp>
        <p:nvSpPr>
          <p:cNvPr id="301" name="Text 45">
            <a:extLst>
              <a:ext uri="{FF2B5EF4-FFF2-40B4-BE49-F238E27FC236}">
                <a16:creationId xmlns:a16="http://schemas.microsoft.com/office/drawing/2014/main" id="{DF6EB511-F55A-AD54-7274-E53588F36E05}"/>
              </a:ext>
            </a:extLst>
          </p:cNvPr>
          <p:cNvSpPr/>
          <p:nvPr/>
        </p:nvSpPr>
        <p:spPr>
          <a:xfrm>
            <a:off x="6888480" y="5030724"/>
            <a:ext cx="320040" cy="1207008"/>
          </a:xfrm>
          <a:prstGeom prst="rect">
            <a:avLst/>
          </a:prstGeom>
          <a:noFill/>
          <a:ln/>
        </p:spPr>
        <p:txBody>
          <a:bodyPr wrap="square" lIns="0" tIns="0" rIns="0" bIns="0" rtlCol="0" anchor="ctr"/>
          <a:lstStyle/>
          <a:p>
            <a:pPr marL="0" indent="0" algn="l">
              <a:buNone/>
            </a:pPr>
            <a:r>
              <a:rPr lang="en-US" sz="1200" dirty="0">
                <a:solidFill>
                  <a:srgbClr val="0F7A6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03" name="Text 46">
            <a:extLst>
              <a:ext uri="{FF2B5EF4-FFF2-40B4-BE49-F238E27FC236}">
                <a16:creationId xmlns:a16="http://schemas.microsoft.com/office/drawing/2014/main" id="{4E5400A2-E429-D2B2-77EE-07FABC3B9801}"/>
              </a:ext>
            </a:extLst>
          </p:cNvPr>
          <p:cNvSpPr/>
          <p:nvPr/>
        </p:nvSpPr>
        <p:spPr>
          <a:xfrm>
            <a:off x="7193281" y="5030724"/>
            <a:ext cx="4343400" cy="1207008"/>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KVRR cấp TT, thư viện rủi ro &amp; danh mục rủi ro trọng yếu + Risk Owner</a:t>
            </a:r>
            <a:endParaRPr lang="en-US" sz="2000" dirty="0">
              <a:latin typeface="Arial" panose="020B0604020202020204" pitchFamily="34" charset="0"/>
              <a:cs typeface="Arial" panose="020B0604020202020204" pitchFamily="34" charset="0"/>
            </a:endParaRPr>
          </a:p>
        </p:txBody>
      </p:sp>
      <p:sp>
        <p:nvSpPr>
          <p:cNvPr id="305" name="Shape 47">
            <a:extLst>
              <a:ext uri="{FF2B5EF4-FFF2-40B4-BE49-F238E27FC236}">
                <a16:creationId xmlns:a16="http://schemas.microsoft.com/office/drawing/2014/main" id="{792E2B10-1B15-E8DF-B886-0EFCD8CD7944}"/>
              </a:ext>
            </a:extLst>
          </p:cNvPr>
          <p:cNvSpPr/>
          <p:nvPr/>
        </p:nvSpPr>
        <p:spPr>
          <a:xfrm>
            <a:off x="6751320" y="6402324"/>
            <a:ext cx="4892040" cy="804672"/>
          </a:xfrm>
          <a:prstGeom prst="roundRect">
            <a:avLst>
              <a:gd name="adj" fmla="val 6818"/>
            </a:avLst>
          </a:prstGeom>
          <a:solidFill>
            <a:srgbClr val="FFFFFF"/>
          </a:solidFill>
          <a:ln w="9525">
            <a:solidFill>
              <a:srgbClr val="E1E7F0"/>
            </a:solidFill>
            <a:prstDash val="solid"/>
          </a:ln>
        </p:spPr>
        <p:txBody>
          <a:bodyPr/>
          <a:lstStyle/>
          <a:p>
            <a:endParaRPr lang="en-VN"/>
          </a:p>
        </p:txBody>
      </p:sp>
      <p:sp>
        <p:nvSpPr>
          <p:cNvPr id="307" name="Shape 48">
            <a:extLst>
              <a:ext uri="{FF2B5EF4-FFF2-40B4-BE49-F238E27FC236}">
                <a16:creationId xmlns:a16="http://schemas.microsoft.com/office/drawing/2014/main" id="{FF7D2436-15FB-C43C-45FF-3564B20878B8}"/>
              </a:ext>
            </a:extLst>
          </p:cNvPr>
          <p:cNvSpPr/>
          <p:nvPr/>
        </p:nvSpPr>
        <p:spPr>
          <a:xfrm>
            <a:off x="6751320" y="6402324"/>
            <a:ext cx="91440" cy="804672"/>
          </a:xfrm>
          <a:prstGeom prst="rect">
            <a:avLst/>
          </a:prstGeom>
          <a:solidFill>
            <a:schemeClr val="accent1"/>
          </a:solidFill>
          <a:ln/>
        </p:spPr>
        <p:txBody>
          <a:bodyPr/>
          <a:lstStyle/>
          <a:p>
            <a:endParaRPr lang="en-VN"/>
          </a:p>
        </p:txBody>
      </p:sp>
      <p:sp>
        <p:nvSpPr>
          <p:cNvPr id="309" name="Text 49">
            <a:extLst>
              <a:ext uri="{FF2B5EF4-FFF2-40B4-BE49-F238E27FC236}">
                <a16:creationId xmlns:a16="http://schemas.microsoft.com/office/drawing/2014/main" id="{3B00CB6E-FBB5-0F64-1D7C-DC5E275ABF11}"/>
              </a:ext>
            </a:extLst>
          </p:cNvPr>
          <p:cNvSpPr/>
          <p:nvPr/>
        </p:nvSpPr>
        <p:spPr>
          <a:xfrm>
            <a:off x="6888480" y="6402324"/>
            <a:ext cx="320040" cy="804672"/>
          </a:xfrm>
          <a:prstGeom prst="rect">
            <a:avLst/>
          </a:prstGeom>
          <a:noFill/>
          <a:ln/>
        </p:spPr>
        <p:txBody>
          <a:bodyPr wrap="square" lIns="0" tIns="0" rIns="0" bIns="0" rtlCol="0" anchor="ctr"/>
          <a:lstStyle/>
          <a:p>
            <a:pPr marL="0" indent="0" algn="l">
              <a:buNone/>
            </a:pPr>
            <a:r>
              <a:rPr lang="en-US" sz="1200" dirty="0">
                <a:solidFill>
                  <a:srgbClr val="0F7A6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11" name="Text 50">
            <a:extLst>
              <a:ext uri="{FF2B5EF4-FFF2-40B4-BE49-F238E27FC236}">
                <a16:creationId xmlns:a16="http://schemas.microsoft.com/office/drawing/2014/main" id="{39C140DC-2A04-9340-F921-35EE1BCC5CBC}"/>
              </a:ext>
            </a:extLst>
          </p:cNvPr>
          <p:cNvSpPr/>
          <p:nvPr/>
        </p:nvSpPr>
        <p:spPr>
          <a:xfrm>
            <a:off x="7193281" y="6402324"/>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Bộ KRI, kế hoạch hành động (KHHĐ) &amp; cơ chế ghi nhận sự cố/tổn thất</a:t>
            </a:r>
            <a:endParaRPr lang="en-US" sz="2000" dirty="0">
              <a:latin typeface="Arial" panose="020B0604020202020204" pitchFamily="34" charset="0"/>
              <a:cs typeface="Arial" panose="020B0604020202020204" pitchFamily="34" charset="0"/>
            </a:endParaRPr>
          </a:p>
        </p:txBody>
      </p:sp>
      <p:sp>
        <p:nvSpPr>
          <p:cNvPr id="313" name="Shape 51">
            <a:extLst>
              <a:ext uri="{FF2B5EF4-FFF2-40B4-BE49-F238E27FC236}">
                <a16:creationId xmlns:a16="http://schemas.microsoft.com/office/drawing/2014/main" id="{651803D9-E6FA-0E9E-06D9-74E16F5B5EA1}"/>
              </a:ext>
            </a:extLst>
          </p:cNvPr>
          <p:cNvSpPr/>
          <p:nvPr/>
        </p:nvSpPr>
        <p:spPr>
          <a:xfrm>
            <a:off x="6751320" y="7371588"/>
            <a:ext cx="4892040" cy="804672"/>
          </a:xfrm>
          <a:prstGeom prst="roundRect">
            <a:avLst>
              <a:gd name="adj" fmla="val 6818"/>
            </a:avLst>
          </a:prstGeom>
          <a:solidFill>
            <a:srgbClr val="FFFFFF"/>
          </a:solidFill>
          <a:ln w="9525">
            <a:solidFill>
              <a:srgbClr val="E1E7F0"/>
            </a:solidFill>
            <a:prstDash val="solid"/>
          </a:ln>
        </p:spPr>
        <p:txBody>
          <a:bodyPr/>
          <a:lstStyle/>
          <a:p>
            <a:endParaRPr lang="en-VN"/>
          </a:p>
        </p:txBody>
      </p:sp>
      <p:sp>
        <p:nvSpPr>
          <p:cNvPr id="315" name="Shape 52">
            <a:extLst>
              <a:ext uri="{FF2B5EF4-FFF2-40B4-BE49-F238E27FC236}">
                <a16:creationId xmlns:a16="http://schemas.microsoft.com/office/drawing/2014/main" id="{5CB4536B-0255-5DEC-946A-EC2DC535FB92}"/>
              </a:ext>
            </a:extLst>
          </p:cNvPr>
          <p:cNvSpPr/>
          <p:nvPr/>
        </p:nvSpPr>
        <p:spPr>
          <a:xfrm>
            <a:off x="6751320" y="7371588"/>
            <a:ext cx="91440" cy="804672"/>
          </a:xfrm>
          <a:prstGeom prst="rect">
            <a:avLst/>
          </a:prstGeom>
          <a:solidFill>
            <a:schemeClr val="accent1"/>
          </a:solidFill>
          <a:ln/>
        </p:spPr>
        <p:txBody>
          <a:bodyPr/>
          <a:lstStyle/>
          <a:p>
            <a:endParaRPr lang="en-VN"/>
          </a:p>
        </p:txBody>
      </p:sp>
      <p:sp>
        <p:nvSpPr>
          <p:cNvPr id="317" name="Text 53">
            <a:extLst>
              <a:ext uri="{FF2B5EF4-FFF2-40B4-BE49-F238E27FC236}">
                <a16:creationId xmlns:a16="http://schemas.microsoft.com/office/drawing/2014/main" id="{A74A7241-D177-3E62-660F-CE7D9D058820}"/>
              </a:ext>
            </a:extLst>
          </p:cNvPr>
          <p:cNvSpPr/>
          <p:nvPr/>
        </p:nvSpPr>
        <p:spPr>
          <a:xfrm>
            <a:off x="6888480" y="7371588"/>
            <a:ext cx="320040" cy="804672"/>
          </a:xfrm>
          <a:prstGeom prst="rect">
            <a:avLst/>
          </a:prstGeom>
          <a:noFill/>
          <a:ln/>
        </p:spPr>
        <p:txBody>
          <a:bodyPr wrap="square" lIns="0" tIns="0" rIns="0" bIns="0" rtlCol="0" anchor="ctr"/>
          <a:lstStyle/>
          <a:p>
            <a:pPr marL="0" indent="0" algn="l">
              <a:buNone/>
            </a:pPr>
            <a:r>
              <a:rPr lang="en-US" sz="1200" dirty="0">
                <a:solidFill>
                  <a:srgbClr val="0F7A6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19" name="Text 54">
            <a:extLst>
              <a:ext uri="{FF2B5EF4-FFF2-40B4-BE49-F238E27FC236}">
                <a16:creationId xmlns:a16="http://schemas.microsoft.com/office/drawing/2014/main" id="{26990784-1807-C310-2A1E-61C02E04C60C}"/>
              </a:ext>
            </a:extLst>
          </p:cNvPr>
          <p:cNvSpPr/>
          <p:nvPr/>
        </p:nvSpPr>
        <p:spPr>
          <a:xfrm>
            <a:off x="7193281" y="7371588"/>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Công cụ / dashboard QTRR (chạy thử)</a:t>
            </a:r>
            <a:endParaRPr lang="en-US" sz="2000" dirty="0">
              <a:latin typeface="Arial" panose="020B0604020202020204" pitchFamily="34" charset="0"/>
              <a:cs typeface="Arial" panose="020B0604020202020204" pitchFamily="34" charset="0"/>
            </a:endParaRPr>
          </a:p>
        </p:txBody>
      </p:sp>
      <p:sp>
        <p:nvSpPr>
          <p:cNvPr id="321" name="Shape 55">
            <a:extLst>
              <a:ext uri="{FF2B5EF4-FFF2-40B4-BE49-F238E27FC236}">
                <a16:creationId xmlns:a16="http://schemas.microsoft.com/office/drawing/2014/main" id="{4B24A0C1-FD24-FF43-4DD0-0BC465E12B95}"/>
              </a:ext>
            </a:extLst>
          </p:cNvPr>
          <p:cNvSpPr/>
          <p:nvPr/>
        </p:nvSpPr>
        <p:spPr>
          <a:xfrm>
            <a:off x="6751320" y="8340852"/>
            <a:ext cx="4892040" cy="804672"/>
          </a:xfrm>
          <a:prstGeom prst="roundRect">
            <a:avLst>
              <a:gd name="adj" fmla="val 6818"/>
            </a:avLst>
          </a:prstGeom>
          <a:solidFill>
            <a:srgbClr val="FFFFFF"/>
          </a:solidFill>
          <a:ln w="9525">
            <a:solidFill>
              <a:srgbClr val="E1E7F0"/>
            </a:solidFill>
            <a:prstDash val="solid"/>
          </a:ln>
        </p:spPr>
        <p:txBody>
          <a:bodyPr/>
          <a:lstStyle/>
          <a:p>
            <a:endParaRPr lang="en-VN"/>
          </a:p>
        </p:txBody>
      </p:sp>
      <p:sp>
        <p:nvSpPr>
          <p:cNvPr id="323" name="Shape 56">
            <a:extLst>
              <a:ext uri="{FF2B5EF4-FFF2-40B4-BE49-F238E27FC236}">
                <a16:creationId xmlns:a16="http://schemas.microsoft.com/office/drawing/2014/main" id="{B488B7E0-3AC8-05EE-06B3-FE4F04C2FB18}"/>
              </a:ext>
            </a:extLst>
          </p:cNvPr>
          <p:cNvSpPr/>
          <p:nvPr/>
        </p:nvSpPr>
        <p:spPr>
          <a:xfrm>
            <a:off x="6751320" y="8340852"/>
            <a:ext cx="91440" cy="804672"/>
          </a:xfrm>
          <a:prstGeom prst="rect">
            <a:avLst/>
          </a:prstGeom>
          <a:solidFill>
            <a:schemeClr val="accent1"/>
          </a:solidFill>
          <a:ln/>
        </p:spPr>
        <p:txBody>
          <a:bodyPr/>
          <a:lstStyle/>
          <a:p>
            <a:endParaRPr lang="en-VN"/>
          </a:p>
        </p:txBody>
      </p:sp>
      <p:sp>
        <p:nvSpPr>
          <p:cNvPr id="325" name="Text 57">
            <a:extLst>
              <a:ext uri="{FF2B5EF4-FFF2-40B4-BE49-F238E27FC236}">
                <a16:creationId xmlns:a16="http://schemas.microsoft.com/office/drawing/2014/main" id="{39A38168-5D44-FF7E-EDF9-8FC110B0DD2B}"/>
              </a:ext>
            </a:extLst>
          </p:cNvPr>
          <p:cNvSpPr/>
          <p:nvPr/>
        </p:nvSpPr>
        <p:spPr>
          <a:xfrm>
            <a:off x="6888480" y="8340852"/>
            <a:ext cx="320040" cy="804672"/>
          </a:xfrm>
          <a:prstGeom prst="rect">
            <a:avLst/>
          </a:prstGeom>
          <a:noFill/>
          <a:ln/>
        </p:spPr>
        <p:txBody>
          <a:bodyPr wrap="square" lIns="0" tIns="0" rIns="0" bIns="0" rtlCol="0" anchor="ctr"/>
          <a:lstStyle/>
          <a:p>
            <a:pPr marL="0" indent="0" algn="l">
              <a:buNone/>
            </a:pPr>
            <a:r>
              <a:rPr lang="en-US" sz="1200" dirty="0">
                <a:solidFill>
                  <a:srgbClr val="0F7A6B"/>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27" name="Text 58">
            <a:extLst>
              <a:ext uri="{FF2B5EF4-FFF2-40B4-BE49-F238E27FC236}">
                <a16:creationId xmlns:a16="http://schemas.microsoft.com/office/drawing/2014/main" id="{CF6B9EE8-1B24-15A4-0B38-71D29DD2CC72}"/>
              </a:ext>
            </a:extLst>
          </p:cNvPr>
          <p:cNvSpPr/>
          <p:nvPr/>
        </p:nvSpPr>
        <p:spPr>
          <a:xfrm>
            <a:off x="7193281" y="8340852"/>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Báo cáo rủi ro định kỳ chuẩn hóa &amp; định hướng nhân rộng cấp TCT</a:t>
            </a:r>
            <a:endParaRPr lang="en-US" sz="2000" dirty="0">
              <a:latin typeface="Arial" panose="020B0604020202020204" pitchFamily="34" charset="0"/>
              <a:cs typeface="Arial" panose="020B0604020202020204" pitchFamily="34" charset="0"/>
            </a:endParaRPr>
          </a:p>
        </p:txBody>
      </p:sp>
      <p:sp>
        <p:nvSpPr>
          <p:cNvPr id="329" name="Shape 59">
            <a:extLst>
              <a:ext uri="{FF2B5EF4-FFF2-40B4-BE49-F238E27FC236}">
                <a16:creationId xmlns:a16="http://schemas.microsoft.com/office/drawing/2014/main" id="{E32B5164-7A25-2929-9A39-6FBDD1B13D63}"/>
              </a:ext>
            </a:extLst>
          </p:cNvPr>
          <p:cNvSpPr/>
          <p:nvPr/>
        </p:nvSpPr>
        <p:spPr>
          <a:xfrm>
            <a:off x="12283440" y="1638300"/>
            <a:ext cx="5532120" cy="8077200"/>
          </a:xfrm>
          <a:prstGeom prst="roundRect">
            <a:avLst>
              <a:gd name="adj" fmla="val 2314"/>
            </a:avLst>
          </a:prstGeom>
          <a:solidFill>
            <a:srgbClr val="FFFFFF"/>
          </a:solidFill>
          <a:ln w="12700">
            <a:solidFill>
              <a:srgbClr val="E1E7F0"/>
            </a:solidFill>
            <a:prstDash val="solid"/>
          </a:ln>
        </p:spPr>
        <p:txBody>
          <a:bodyPr/>
          <a:lstStyle/>
          <a:p>
            <a:endParaRPr lang="en-VN"/>
          </a:p>
        </p:txBody>
      </p:sp>
      <p:sp>
        <p:nvSpPr>
          <p:cNvPr id="331" name="Shape 60">
            <a:extLst>
              <a:ext uri="{FF2B5EF4-FFF2-40B4-BE49-F238E27FC236}">
                <a16:creationId xmlns:a16="http://schemas.microsoft.com/office/drawing/2014/main" id="{603253EB-653F-0BFE-C609-B58DAFDF7BBF}"/>
              </a:ext>
            </a:extLst>
          </p:cNvPr>
          <p:cNvSpPr/>
          <p:nvPr/>
        </p:nvSpPr>
        <p:spPr>
          <a:xfrm>
            <a:off x="12283440" y="1638300"/>
            <a:ext cx="5532120" cy="1417320"/>
          </a:xfrm>
          <a:prstGeom prst="roundRect">
            <a:avLst>
              <a:gd name="adj" fmla="val 9032"/>
            </a:avLst>
          </a:prstGeom>
          <a:solidFill>
            <a:srgbClr val="77933C"/>
          </a:solidFill>
          <a:ln/>
        </p:spPr>
        <p:txBody>
          <a:bodyPr/>
          <a:lstStyle/>
          <a:p>
            <a:endParaRPr lang="en-VN"/>
          </a:p>
        </p:txBody>
      </p:sp>
      <p:sp>
        <p:nvSpPr>
          <p:cNvPr id="333" name="Shape 61">
            <a:extLst>
              <a:ext uri="{FF2B5EF4-FFF2-40B4-BE49-F238E27FC236}">
                <a16:creationId xmlns:a16="http://schemas.microsoft.com/office/drawing/2014/main" id="{4CF25015-9464-55A6-1F26-B4847216A631}"/>
              </a:ext>
            </a:extLst>
          </p:cNvPr>
          <p:cNvSpPr/>
          <p:nvPr/>
        </p:nvSpPr>
        <p:spPr>
          <a:xfrm>
            <a:off x="12283440" y="2232660"/>
            <a:ext cx="5532120" cy="822960"/>
          </a:xfrm>
          <a:prstGeom prst="rect">
            <a:avLst/>
          </a:prstGeom>
          <a:solidFill>
            <a:srgbClr val="77933C"/>
          </a:solidFill>
          <a:ln/>
        </p:spPr>
        <p:txBody>
          <a:bodyPr/>
          <a:lstStyle/>
          <a:p>
            <a:endParaRPr lang="en-VN"/>
          </a:p>
        </p:txBody>
      </p:sp>
      <p:sp>
        <p:nvSpPr>
          <p:cNvPr id="335" name="Shape 62">
            <a:extLst>
              <a:ext uri="{FF2B5EF4-FFF2-40B4-BE49-F238E27FC236}">
                <a16:creationId xmlns:a16="http://schemas.microsoft.com/office/drawing/2014/main" id="{1EB2F837-C76E-00EE-EC1E-1E1FDAA7A5B1}"/>
              </a:ext>
            </a:extLst>
          </p:cNvPr>
          <p:cNvSpPr/>
          <p:nvPr/>
        </p:nvSpPr>
        <p:spPr>
          <a:xfrm>
            <a:off x="12649200" y="1885188"/>
            <a:ext cx="914400" cy="914400"/>
          </a:xfrm>
          <a:prstGeom prst="ellipse">
            <a:avLst/>
          </a:prstGeom>
          <a:solidFill>
            <a:srgbClr val="FFFFFF"/>
          </a:solidFill>
          <a:ln/>
        </p:spPr>
        <p:txBody>
          <a:bodyPr/>
          <a:lstStyle/>
          <a:p>
            <a:endParaRPr lang="en-VN"/>
          </a:p>
        </p:txBody>
      </p:sp>
      <p:sp>
        <p:nvSpPr>
          <p:cNvPr id="337" name="Text 63">
            <a:extLst>
              <a:ext uri="{FF2B5EF4-FFF2-40B4-BE49-F238E27FC236}">
                <a16:creationId xmlns:a16="http://schemas.microsoft.com/office/drawing/2014/main" id="{3046539F-718A-1768-340F-091FDBDF9A43}"/>
              </a:ext>
            </a:extLst>
          </p:cNvPr>
          <p:cNvSpPr/>
          <p:nvPr/>
        </p:nvSpPr>
        <p:spPr>
          <a:xfrm>
            <a:off x="12649200" y="1885188"/>
            <a:ext cx="914400" cy="914400"/>
          </a:xfrm>
          <a:prstGeom prst="rect">
            <a:avLst/>
          </a:prstGeom>
          <a:noFill/>
          <a:ln/>
        </p:spPr>
        <p:txBody>
          <a:bodyPr wrap="square" lIns="0" tIns="0" rIns="0" bIns="0" rtlCol="0" anchor="ctr"/>
          <a:lstStyle/>
          <a:p>
            <a:pPr marL="0" indent="0" algn="ctr">
              <a:buNone/>
            </a:pPr>
            <a:r>
              <a:rPr lang="en-US" sz="3000" b="1" dirty="0">
                <a:solidFill>
                  <a:schemeClr val="accent3">
                    <a:lumMod val="75000"/>
                  </a:schemeClr>
                </a:solidFill>
                <a:latin typeface="Arial" panose="020B0604020202020204" pitchFamily="34" charset="0"/>
                <a:ea typeface="Cambria" pitchFamily="34" charset="-122"/>
                <a:cs typeface="Arial" panose="020B0604020202020204" pitchFamily="34" charset="0"/>
              </a:rPr>
              <a:t>C</a:t>
            </a:r>
            <a:endParaRPr lang="en-US" sz="3000" dirty="0">
              <a:solidFill>
                <a:schemeClr val="accent3">
                  <a:lumMod val="75000"/>
                </a:schemeClr>
              </a:solidFill>
              <a:latin typeface="Arial" panose="020B0604020202020204" pitchFamily="34" charset="0"/>
              <a:cs typeface="Arial" panose="020B0604020202020204" pitchFamily="34" charset="0"/>
            </a:endParaRPr>
          </a:p>
        </p:txBody>
      </p:sp>
      <p:sp>
        <p:nvSpPr>
          <p:cNvPr id="339" name="Text 64">
            <a:extLst>
              <a:ext uri="{FF2B5EF4-FFF2-40B4-BE49-F238E27FC236}">
                <a16:creationId xmlns:a16="http://schemas.microsoft.com/office/drawing/2014/main" id="{2A47F0AA-8974-0C6D-2961-2B0145F32AA3}"/>
              </a:ext>
            </a:extLst>
          </p:cNvPr>
          <p:cNvSpPr/>
          <p:nvPr/>
        </p:nvSpPr>
        <p:spPr>
          <a:xfrm>
            <a:off x="13746480" y="1885188"/>
            <a:ext cx="3886200" cy="384048"/>
          </a:xfrm>
          <a:prstGeom prst="rect">
            <a:avLst/>
          </a:prstGeom>
          <a:noFill/>
          <a:ln/>
        </p:spPr>
        <p:txBody>
          <a:bodyPr wrap="square" lIns="0" tIns="0" rIns="0" bIns="0" rtlCol="0" anchor="ctr"/>
          <a:lstStyle/>
          <a:p>
            <a:pPr marL="0" indent="0" algn="l">
              <a:buNone/>
            </a:pPr>
            <a:r>
              <a:rPr lang="en-US" sz="2000" b="1" kern="0" spc="100" dirty="0">
                <a:solidFill>
                  <a:srgbClr val="D9E2F0"/>
                </a:solidFill>
                <a:latin typeface="Arial" panose="020B0604020202020204" pitchFamily="34" charset="0"/>
                <a:ea typeface="Calibri" pitchFamily="34" charset="-122"/>
                <a:cs typeface="Arial" panose="020B0604020202020204" pitchFamily="34" charset="0"/>
              </a:rPr>
              <a:t>GIAI ĐOẠN C</a:t>
            </a:r>
            <a:endParaRPr lang="en-US" sz="2000" dirty="0">
              <a:latin typeface="Arial" panose="020B0604020202020204" pitchFamily="34" charset="0"/>
              <a:cs typeface="Arial" panose="020B0604020202020204" pitchFamily="34" charset="0"/>
            </a:endParaRPr>
          </a:p>
        </p:txBody>
      </p:sp>
      <p:sp>
        <p:nvSpPr>
          <p:cNvPr id="341" name="Text 65">
            <a:extLst>
              <a:ext uri="{FF2B5EF4-FFF2-40B4-BE49-F238E27FC236}">
                <a16:creationId xmlns:a16="http://schemas.microsoft.com/office/drawing/2014/main" id="{BFDB62DF-06DE-CFF9-DB08-F1386CF1DF33}"/>
              </a:ext>
            </a:extLst>
          </p:cNvPr>
          <p:cNvSpPr/>
          <p:nvPr/>
        </p:nvSpPr>
        <p:spPr>
          <a:xfrm>
            <a:off x="13746480" y="2232660"/>
            <a:ext cx="4236720" cy="466344"/>
          </a:xfrm>
          <a:prstGeom prst="rect">
            <a:avLst/>
          </a:prstGeom>
          <a:noFill/>
          <a:ln/>
        </p:spPr>
        <p:txBody>
          <a:bodyPr wrap="square" lIns="0" tIns="0" rIns="0" bIns="0" rtlCol="0" anchor="ctr"/>
          <a:lstStyle/>
          <a:p>
            <a:pPr marL="0" indent="0" algn="l">
              <a:buNone/>
            </a:pPr>
            <a:r>
              <a:rPr lang="en-US" sz="2800" b="1" dirty="0">
                <a:solidFill>
                  <a:srgbClr val="FFFFFF"/>
                </a:solidFill>
                <a:latin typeface="Arial" panose="020B0604020202020204" pitchFamily="34" charset="0"/>
                <a:ea typeface="Cambria" pitchFamily="34" charset="-122"/>
                <a:cs typeface="Arial" panose="020B0604020202020204" pitchFamily="34" charset="0"/>
              </a:rPr>
              <a:t>NHÂN RỘNG</a:t>
            </a:r>
            <a:endParaRPr lang="en-US" sz="2800" dirty="0">
              <a:latin typeface="Arial" panose="020B0604020202020204" pitchFamily="34" charset="0"/>
              <a:cs typeface="Arial" panose="020B0604020202020204" pitchFamily="34" charset="0"/>
            </a:endParaRPr>
          </a:p>
        </p:txBody>
      </p:sp>
      <p:sp>
        <p:nvSpPr>
          <p:cNvPr id="343" name="Shape 66">
            <a:extLst>
              <a:ext uri="{FF2B5EF4-FFF2-40B4-BE49-F238E27FC236}">
                <a16:creationId xmlns:a16="http://schemas.microsoft.com/office/drawing/2014/main" id="{59BD02AB-69BF-F6C1-C77F-674A0BC37034}"/>
              </a:ext>
            </a:extLst>
          </p:cNvPr>
          <p:cNvSpPr/>
          <p:nvPr/>
        </p:nvSpPr>
        <p:spPr>
          <a:xfrm>
            <a:off x="12649200" y="3284220"/>
            <a:ext cx="1920240" cy="548640"/>
          </a:xfrm>
          <a:prstGeom prst="roundRect">
            <a:avLst>
              <a:gd name="adj" fmla="val 16667"/>
            </a:avLst>
          </a:prstGeom>
          <a:solidFill>
            <a:schemeClr val="accent3">
              <a:lumMod val="20000"/>
              <a:lumOff val="80000"/>
            </a:schemeClr>
          </a:solidFill>
          <a:ln/>
        </p:spPr>
        <p:txBody>
          <a:bodyPr/>
          <a:lstStyle/>
          <a:p>
            <a:endParaRPr lang="en-VN"/>
          </a:p>
        </p:txBody>
      </p:sp>
      <p:sp>
        <p:nvSpPr>
          <p:cNvPr id="345" name="Text 67">
            <a:extLst>
              <a:ext uri="{FF2B5EF4-FFF2-40B4-BE49-F238E27FC236}">
                <a16:creationId xmlns:a16="http://schemas.microsoft.com/office/drawing/2014/main" id="{37F9B404-DD49-1605-84F6-3BB225FF5043}"/>
              </a:ext>
            </a:extLst>
          </p:cNvPr>
          <p:cNvSpPr/>
          <p:nvPr/>
        </p:nvSpPr>
        <p:spPr>
          <a:xfrm>
            <a:off x="12649200" y="3284220"/>
            <a:ext cx="1920240" cy="548640"/>
          </a:xfrm>
          <a:prstGeom prst="rect">
            <a:avLst/>
          </a:prstGeom>
          <a:noFill/>
          <a:ln/>
        </p:spPr>
        <p:txBody>
          <a:bodyPr wrap="square" lIns="0" tIns="0" rIns="0" bIns="0" rtlCol="0" anchor="ctr"/>
          <a:lstStyle/>
          <a:p>
            <a:pPr marL="0" indent="0" algn="ctr">
              <a:buNone/>
            </a:pPr>
            <a:r>
              <a:rPr lang="en-US" sz="1500" b="1" dirty="0">
                <a:solidFill>
                  <a:schemeClr val="accent3">
                    <a:lumMod val="50000"/>
                  </a:schemeClr>
                </a:solidFill>
                <a:latin typeface="Arial" panose="020B0604020202020204" pitchFamily="34" charset="0"/>
                <a:ea typeface="Calibri" pitchFamily="34" charset="-122"/>
                <a:cs typeface="Arial" panose="020B0604020202020204" pitchFamily="34" charset="0"/>
              </a:rPr>
              <a:t>6 tháng</a:t>
            </a:r>
            <a:endParaRPr lang="en-US" sz="1500" dirty="0">
              <a:solidFill>
                <a:schemeClr val="accent3">
                  <a:lumMod val="50000"/>
                </a:schemeClr>
              </a:solidFill>
              <a:latin typeface="Arial" panose="020B0604020202020204" pitchFamily="34" charset="0"/>
              <a:cs typeface="Arial" panose="020B0604020202020204" pitchFamily="34" charset="0"/>
            </a:endParaRPr>
          </a:p>
        </p:txBody>
      </p:sp>
      <p:sp>
        <p:nvSpPr>
          <p:cNvPr id="347" name="Text 68">
            <a:extLst>
              <a:ext uri="{FF2B5EF4-FFF2-40B4-BE49-F238E27FC236}">
                <a16:creationId xmlns:a16="http://schemas.microsoft.com/office/drawing/2014/main" id="{D20FD926-5957-836C-F3F1-9172400A9A3D}"/>
              </a:ext>
            </a:extLst>
          </p:cNvPr>
          <p:cNvSpPr/>
          <p:nvPr/>
        </p:nvSpPr>
        <p:spPr>
          <a:xfrm>
            <a:off x="14706600" y="3284220"/>
            <a:ext cx="2880360" cy="548640"/>
          </a:xfrm>
          <a:prstGeom prst="rect">
            <a:avLst/>
          </a:prstGeom>
          <a:noFill/>
          <a:ln/>
        </p:spPr>
        <p:txBody>
          <a:bodyPr wrap="square" lIns="0" tIns="0" rIns="0" bIns="0" rtlCol="0" anchor="ctr"/>
          <a:lstStyle/>
          <a:p>
            <a:pPr marL="0" indent="0" algn="l">
              <a:buNone/>
            </a:pPr>
            <a:r>
              <a:rPr lang="en-US" sz="1300" i="1" dirty="0">
                <a:solidFill>
                  <a:srgbClr val="6B7280"/>
                </a:solidFill>
                <a:latin typeface="Arial" panose="020B0604020202020204" pitchFamily="34" charset="0"/>
                <a:ea typeface="Calibri" pitchFamily="34" charset="-122"/>
                <a:cs typeface="Arial" panose="020B0604020202020204" pitchFamily="34" charset="0"/>
              </a:rPr>
              <a:t>Giao phẩm</a:t>
            </a:r>
            <a:endParaRPr lang="en-US" sz="1300" dirty="0">
              <a:latin typeface="Arial" panose="020B0604020202020204" pitchFamily="34" charset="0"/>
              <a:cs typeface="Arial" panose="020B0604020202020204" pitchFamily="34" charset="0"/>
            </a:endParaRPr>
          </a:p>
        </p:txBody>
      </p:sp>
      <p:sp>
        <p:nvSpPr>
          <p:cNvPr id="349" name="Shape 69">
            <a:extLst>
              <a:ext uri="{FF2B5EF4-FFF2-40B4-BE49-F238E27FC236}">
                <a16:creationId xmlns:a16="http://schemas.microsoft.com/office/drawing/2014/main" id="{278A5EA6-C5ED-7C69-9BF0-A211D5E014D5}"/>
              </a:ext>
            </a:extLst>
          </p:cNvPr>
          <p:cNvSpPr/>
          <p:nvPr/>
        </p:nvSpPr>
        <p:spPr>
          <a:xfrm>
            <a:off x="12603480" y="4061460"/>
            <a:ext cx="4892040" cy="804672"/>
          </a:xfrm>
          <a:prstGeom prst="roundRect">
            <a:avLst>
              <a:gd name="adj" fmla="val 6818"/>
            </a:avLst>
          </a:prstGeom>
          <a:solidFill>
            <a:srgbClr val="F7F9FC"/>
          </a:solidFill>
          <a:ln w="9525">
            <a:solidFill>
              <a:srgbClr val="E1E7F0"/>
            </a:solidFill>
            <a:prstDash val="solid"/>
          </a:ln>
        </p:spPr>
        <p:txBody>
          <a:bodyPr/>
          <a:lstStyle/>
          <a:p>
            <a:endParaRPr lang="en-VN"/>
          </a:p>
        </p:txBody>
      </p:sp>
      <p:sp>
        <p:nvSpPr>
          <p:cNvPr id="351" name="Shape 70">
            <a:extLst>
              <a:ext uri="{FF2B5EF4-FFF2-40B4-BE49-F238E27FC236}">
                <a16:creationId xmlns:a16="http://schemas.microsoft.com/office/drawing/2014/main" id="{D9D717CC-BC16-A916-0252-60592EB54C57}"/>
              </a:ext>
            </a:extLst>
          </p:cNvPr>
          <p:cNvSpPr/>
          <p:nvPr/>
        </p:nvSpPr>
        <p:spPr>
          <a:xfrm>
            <a:off x="12603480" y="4061460"/>
            <a:ext cx="91440" cy="804672"/>
          </a:xfrm>
          <a:prstGeom prst="rect">
            <a:avLst/>
          </a:prstGeom>
          <a:solidFill>
            <a:schemeClr val="accent3">
              <a:lumMod val="75000"/>
            </a:schemeClr>
          </a:solidFill>
          <a:ln/>
        </p:spPr>
        <p:txBody>
          <a:bodyPr/>
          <a:lstStyle/>
          <a:p>
            <a:endParaRPr lang="en-VN"/>
          </a:p>
        </p:txBody>
      </p:sp>
      <p:sp>
        <p:nvSpPr>
          <p:cNvPr id="353" name="Text 71">
            <a:extLst>
              <a:ext uri="{FF2B5EF4-FFF2-40B4-BE49-F238E27FC236}">
                <a16:creationId xmlns:a16="http://schemas.microsoft.com/office/drawing/2014/main" id="{818E4335-1ECD-1B3A-400D-872F5394FD65}"/>
              </a:ext>
            </a:extLst>
          </p:cNvPr>
          <p:cNvSpPr/>
          <p:nvPr/>
        </p:nvSpPr>
        <p:spPr>
          <a:xfrm>
            <a:off x="12740640" y="4061460"/>
            <a:ext cx="320040" cy="804672"/>
          </a:xfrm>
          <a:prstGeom prst="rect">
            <a:avLst/>
          </a:prstGeom>
          <a:noFill/>
          <a:ln/>
        </p:spPr>
        <p:txBody>
          <a:bodyPr wrap="square" lIns="0" tIns="0" rIns="0" bIns="0" rtlCol="0" anchor="ctr"/>
          <a:lstStyle/>
          <a:p>
            <a:pPr marL="0" indent="0" algn="l">
              <a:buNone/>
            </a:pPr>
            <a:r>
              <a:rPr lang="en-US" sz="1200" dirty="0">
                <a:solidFill>
                  <a:srgbClr val="B26A12"/>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55" name="Text 72">
            <a:extLst>
              <a:ext uri="{FF2B5EF4-FFF2-40B4-BE49-F238E27FC236}">
                <a16:creationId xmlns:a16="http://schemas.microsoft.com/office/drawing/2014/main" id="{9AEBB7ED-A260-8931-B0D2-CF7F40E2DA12}"/>
              </a:ext>
            </a:extLst>
          </p:cNvPr>
          <p:cNvSpPr/>
          <p:nvPr/>
        </p:nvSpPr>
        <p:spPr>
          <a:xfrm>
            <a:off x="13045441" y="4061460"/>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Mạng lưới đầu mối QTRR &amp; tài liệu, chương trình đào tạo</a:t>
            </a:r>
            <a:endParaRPr lang="en-US" sz="2000" dirty="0">
              <a:latin typeface="Arial" panose="020B0604020202020204" pitchFamily="34" charset="0"/>
              <a:cs typeface="Arial" panose="020B0604020202020204" pitchFamily="34" charset="0"/>
            </a:endParaRPr>
          </a:p>
        </p:txBody>
      </p:sp>
      <p:sp>
        <p:nvSpPr>
          <p:cNvPr id="357" name="Shape 73">
            <a:extLst>
              <a:ext uri="{FF2B5EF4-FFF2-40B4-BE49-F238E27FC236}">
                <a16:creationId xmlns:a16="http://schemas.microsoft.com/office/drawing/2014/main" id="{B4244554-14C3-A21D-71A5-A72CA2E47A60}"/>
              </a:ext>
            </a:extLst>
          </p:cNvPr>
          <p:cNvSpPr/>
          <p:nvPr/>
        </p:nvSpPr>
        <p:spPr>
          <a:xfrm>
            <a:off x="12603480" y="5030724"/>
            <a:ext cx="4892040" cy="804672"/>
          </a:xfrm>
          <a:prstGeom prst="roundRect">
            <a:avLst>
              <a:gd name="adj" fmla="val 6818"/>
            </a:avLst>
          </a:prstGeom>
          <a:solidFill>
            <a:srgbClr val="F7F9FC"/>
          </a:solidFill>
          <a:ln w="9525">
            <a:solidFill>
              <a:srgbClr val="E1E7F0"/>
            </a:solidFill>
            <a:prstDash val="solid"/>
          </a:ln>
        </p:spPr>
        <p:txBody>
          <a:bodyPr/>
          <a:lstStyle/>
          <a:p>
            <a:endParaRPr lang="en-VN"/>
          </a:p>
        </p:txBody>
      </p:sp>
      <p:sp>
        <p:nvSpPr>
          <p:cNvPr id="359" name="Shape 74">
            <a:extLst>
              <a:ext uri="{FF2B5EF4-FFF2-40B4-BE49-F238E27FC236}">
                <a16:creationId xmlns:a16="http://schemas.microsoft.com/office/drawing/2014/main" id="{7BE7AF3E-43F2-6738-DFAC-FD789462DF63}"/>
              </a:ext>
            </a:extLst>
          </p:cNvPr>
          <p:cNvSpPr/>
          <p:nvPr/>
        </p:nvSpPr>
        <p:spPr>
          <a:xfrm>
            <a:off x="12603480" y="5030724"/>
            <a:ext cx="91440" cy="804672"/>
          </a:xfrm>
          <a:prstGeom prst="rect">
            <a:avLst/>
          </a:prstGeom>
          <a:solidFill>
            <a:schemeClr val="accent3">
              <a:lumMod val="75000"/>
            </a:schemeClr>
          </a:solidFill>
          <a:ln/>
        </p:spPr>
        <p:txBody>
          <a:bodyPr/>
          <a:lstStyle/>
          <a:p>
            <a:endParaRPr lang="en-VN"/>
          </a:p>
        </p:txBody>
      </p:sp>
      <p:sp>
        <p:nvSpPr>
          <p:cNvPr id="361" name="Text 75">
            <a:extLst>
              <a:ext uri="{FF2B5EF4-FFF2-40B4-BE49-F238E27FC236}">
                <a16:creationId xmlns:a16="http://schemas.microsoft.com/office/drawing/2014/main" id="{E4DE2FF3-1EBC-1DDE-71E8-979D13FDA7BE}"/>
              </a:ext>
            </a:extLst>
          </p:cNvPr>
          <p:cNvSpPr/>
          <p:nvPr/>
        </p:nvSpPr>
        <p:spPr>
          <a:xfrm>
            <a:off x="12740640" y="5030724"/>
            <a:ext cx="320040" cy="804672"/>
          </a:xfrm>
          <a:prstGeom prst="rect">
            <a:avLst/>
          </a:prstGeom>
          <a:noFill/>
          <a:ln/>
        </p:spPr>
        <p:txBody>
          <a:bodyPr wrap="square" lIns="0" tIns="0" rIns="0" bIns="0" rtlCol="0" anchor="ctr"/>
          <a:lstStyle/>
          <a:p>
            <a:pPr marL="0" indent="0" algn="l">
              <a:buNone/>
            </a:pPr>
            <a:r>
              <a:rPr lang="en-US" sz="1200" dirty="0">
                <a:solidFill>
                  <a:srgbClr val="B26A12"/>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63" name="Text 76">
            <a:extLst>
              <a:ext uri="{FF2B5EF4-FFF2-40B4-BE49-F238E27FC236}">
                <a16:creationId xmlns:a16="http://schemas.microsoft.com/office/drawing/2014/main" id="{08E50A61-F362-2E5E-B2CF-4A8CA08AC011}"/>
              </a:ext>
            </a:extLst>
          </p:cNvPr>
          <p:cNvSpPr/>
          <p:nvPr/>
        </p:nvSpPr>
        <p:spPr>
          <a:xfrm>
            <a:off x="13045441" y="5030724"/>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Danh mục rủi ro trọng yếu cấp TCT (cập nhật) &amp; KHHĐ cấp TCT</a:t>
            </a:r>
            <a:endParaRPr lang="en-US" sz="2000" dirty="0">
              <a:latin typeface="Arial" panose="020B0604020202020204" pitchFamily="34" charset="0"/>
              <a:cs typeface="Arial" panose="020B0604020202020204" pitchFamily="34" charset="0"/>
            </a:endParaRPr>
          </a:p>
        </p:txBody>
      </p:sp>
      <p:sp>
        <p:nvSpPr>
          <p:cNvPr id="365" name="Shape 77">
            <a:extLst>
              <a:ext uri="{FF2B5EF4-FFF2-40B4-BE49-F238E27FC236}">
                <a16:creationId xmlns:a16="http://schemas.microsoft.com/office/drawing/2014/main" id="{4A72C727-8FB9-2D66-A9DC-4AB1E04BA193}"/>
              </a:ext>
            </a:extLst>
          </p:cNvPr>
          <p:cNvSpPr/>
          <p:nvPr/>
        </p:nvSpPr>
        <p:spPr>
          <a:xfrm>
            <a:off x="12603480" y="5999988"/>
            <a:ext cx="4892040" cy="804672"/>
          </a:xfrm>
          <a:prstGeom prst="roundRect">
            <a:avLst>
              <a:gd name="adj" fmla="val 6818"/>
            </a:avLst>
          </a:prstGeom>
          <a:solidFill>
            <a:srgbClr val="F7F9FC"/>
          </a:solidFill>
          <a:ln w="9525">
            <a:solidFill>
              <a:srgbClr val="E1E7F0"/>
            </a:solidFill>
            <a:prstDash val="solid"/>
          </a:ln>
        </p:spPr>
        <p:txBody>
          <a:bodyPr/>
          <a:lstStyle/>
          <a:p>
            <a:endParaRPr lang="en-VN"/>
          </a:p>
        </p:txBody>
      </p:sp>
      <p:sp>
        <p:nvSpPr>
          <p:cNvPr id="367" name="Shape 78">
            <a:extLst>
              <a:ext uri="{FF2B5EF4-FFF2-40B4-BE49-F238E27FC236}">
                <a16:creationId xmlns:a16="http://schemas.microsoft.com/office/drawing/2014/main" id="{376EDD9A-C273-FAD3-AD3B-E57285F6B031}"/>
              </a:ext>
            </a:extLst>
          </p:cNvPr>
          <p:cNvSpPr/>
          <p:nvPr/>
        </p:nvSpPr>
        <p:spPr>
          <a:xfrm>
            <a:off x="12603480" y="5999988"/>
            <a:ext cx="91440" cy="804672"/>
          </a:xfrm>
          <a:prstGeom prst="rect">
            <a:avLst/>
          </a:prstGeom>
          <a:solidFill>
            <a:schemeClr val="accent3">
              <a:lumMod val="75000"/>
            </a:schemeClr>
          </a:solidFill>
          <a:ln/>
        </p:spPr>
        <p:txBody>
          <a:bodyPr/>
          <a:lstStyle/>
          <a:p>
            <a:endParaRPr lang="en-VN"/>
          </a:p>
        </p:txBody>
      </p:sp>
      <p:sp>
        <p:nvSpPr>
          <p:cNvPr id="369" name="Text 79">
            <a:extLst>
              <a:ext uri="{FF2B5EF4-FFF2-40B4-BE49-F238E27FC236}">
                <a16:creationId xmlns:a16="http://schemas.microsoft.com/office/drawing/2014/main" id="{68B90B71-7F9C-8B60-4639-F85CFC6FDEAB}"/>
              </a:ext>
            </a:extLst>
          </p:cNvPr>
          <p:cNvSpPr/>
          <p:nvPr/>
        </p:nvSpPr>
        <p:spPr>
          <a:xfrm>
            <a:off x="12740640" y="5999988"/>
            <a:ext cx="320040" cy="804672"/>
          </a:xfrm>
          <a:prstGeom prst="rect">
            <a:avLst/>
          </a:prstGeom>
          <a:noFill/>
          <a:ln/>
        </p:spPr>
        <p:txBody>
          <a:bodyPr wrap="square" lIns="0" tIns="0" rIns="0" bIns="0" rtlCol="0" anchor="ctr"/>
          <a:lstStyle/>
          <a:p>
            <a:pPr marL="0" indent="0" algn="l">
              <a:buNone/>
            </a:pPr>
            <a:r>
              <a:rPr lang="en-US" sz="1200" dirty="0">
                <a:solidFill>
                  <a:srgbClr val="B26A12"/>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71" name="Text 80">
            <a:extLst>
              <a:ext uri="{FF2B5EF4-FFF2-40B4-BE49-F238E27FC236}">
                <a16:creationId xmlns:a16="http://schemas.microsoft.com/office/drawing/2014/main" id="{CECAAEA2-9FC2-6D94-6544-27F37B420F82}"/>
              </a:ext>
            </a:extLst>
          </p:cNvPr>
          <p:cNvSpPr/>
          <p:nvPr/>
        </p:nvSpPr>
        <p:spPr>
          <a:xfrm>
            <a:off x="13045441" y="5999988"/>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Bộ KRI cấp TCT &amp; cơ chế thu thập dữ liệu tổn thất (loss database)</a:t>
            </a:r>
            <a:endParaRPr lang="en-US" sz="2000" dirty="0">
              <a:latin typeface="Arial" panose="020B0604020202020204" pitchFamily="34" charset="0"/>
              <a:cs typeface="Arial" panose="020B0604020202020204" pitchFamily="34" charset="0"/>
            </a:endParaRPr>
          </a:p>
        </p:txBody>
      </p:sp>
      <p:sp>
        <p:nvSpPr>
          <p:cNvPr id="373" name="Shape 81">
            <a:extLst>
              <a:ext uri="{FF2B5EF4-FFF2-40B4-BE49-F238E27FC236}">
                <a16:creationId xmlns:a16="http://schemas.microsoft.com/office/drawing/2014/main" id="{993C8264-721D-98E9-0CAF-ED39981413B9}"/>
              </a:ext>
            </a:extLst>
          </p:cNvPr>
          <p:cNvSpPr/>
          <p:nvPr/>
        </p:nvSpPr>
        <p:spPr>
          <a:xfrm>
            <a:off x="12603480" y="6969252"/>
            <a:ext cx="4892040" cy="804672"/>
          </a:xfrm>
          <a:prstGeom prst="roundRect">
            <a:avLst>
              <a:gd name="adj" fmla="val 6818"/>
            </a:avLst>
          </a:prstGeom>
          <a:solidFill>
            <a:srgbClr val="F7F9FC"/>
          </a:solidFill>
          <a:ln w="9525">
            <a:solidFill>
              <a:srgbClr val="E1E7F0"/>
            </a:solidFill>
            <a:prstDash val="solid"/>
          </a:ln>
        </p:spPr>
        <p:txBody>
          <a:bodyPr/>
          <a:lstStyle/>
          <a:p>
            <a:endParaRPr lang="en-VN"/>
          </a:p>
        </p:txBody>
      </p:sp>
      <p:sp>
        <p:nvSpPr>
          <p:cNvPr id="375" name="Shape 82">
            <a:extLst>
              <a:ext uri="{FF2B5EF4-FFF2-40B4-BE49-F238E27FC236}">
                <a16:creationId xmlns:a16="http://schemas.microsoft.com/office/drawing/2014/main" id="{F36629F7-E2BC-B707-DDE4-96A2FF15DBC6}"/>
              </a:ext>
            </a:extLst>
          </p:cNvPr>
          <p:cNvSpPr/>
          <p:nvPr/>
        </p:nvSpPr>
        <p:spPr>
          <a:xfrm>
            <a:off x="12603480" y="6969252"/>
            <a:ext cx="91440" cy="804672"/>
          </a:xfrm>
          <a:prstGeom prst="rect">
            <a:avLst/>
          </a:prstGeom>
          <a:solidFill>
            <a:schemeClr val="accent3">
              <a:lumMod val="75000"/>
            </a:schemeClr>
          </a:solidFill>
          <a:ln/>
        </p:spPr>
        <p:txBody>
          <a:bodyPr/>
          <a:lstStyle/>
          <a:p>
            <a:endParaRPr lang="en-VN"/>
          </a:p>
        </p:txBody>
      </p:sp>
      <p:sp>
        <p:nvSpPr>
          <p:cNvPr id="377" name="Text 83">
            <a:extLst>
              <a:ext uri="{FF2B5EF4-FFF2-40B4-BE49-F238E27FC236}">
                <a16:creationId xmlns:a16="http://schemas.microsoft.com/office/drawing/2014/main" id="{9C515FE9-7339-3BED-C1FD-0299634ECF43}"/>
              </a:ext>
            </a:extLst>
          </p:cNvPr>
          <p:cNvSpPr/>
          <p:nvPr/>
        </p:nvSpPr>
        <p:spPr>
          <a:xfrm>
            <a:off x="12740640" y="6969252"/>
            <a:ext cx="320040" cy="804672"/>
          </a:xfrm>
          <a:prstGeom prst="rect">
            <a:avLst/>
          </a:prstGeom>
          <a:noFill/>
          <a:ln/>
        </p:spPr>
        <p:txBody>
          <a:bodyPr wrap="square" lIns="0" tIns="0" rIns="0" bIns="0" rtlCol="0" anchor="ctr"/>
          <a:lstStyle/>
          <a:p>
            <a:pPr marL="0" indent="0" algn="l">
              <a:buNone/>
            </a:pPr>
            <a:r>
              <a:rPr lang="en-US" sz="1200" dirty="0">
                <a:solidFill>
                  <a:srgbClr val="B26A12"/>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79" name="Text 84">
            <a:extLst>
              <a:ext uri="{FF2B5EF4-FFF2-40B4-BE49-F238E27FC236}">
                <a16:creationId xmlns:a16="http://schemas.microsoft.com/office/drawing/2014/main" id="{43922929-A43B-40C9-14AE-C05C3952F87C}"/>
              </a:ext>
            </a:extLst>
          </p:cNvPr>
          <p:cNvSpPr/>
          <p:nvPr/>
        </p:nvSpPr>
        <p:spPr>
          <a:xfrm>
            <a:off x="13045441" y="6969252"/>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Báo cáo kết quả thí điểm triển khai KRI &amp; KHHĐ toàn TCT</a:t>
            </a:r>
            <a:endParaRPr lang="en-US" sz="2000" dirty="0">
              <a:latin typeface="Arial" panose="020B0604020202020204" pitchFamily="34" charset="0"/>
              <a:cs typeface="Arial" panose="020B0604020202020204" pitchFamily="34" charset="0"/>
            </a:endParaRPr>
          </a:p>
        </p:txBody>
      </p:sp>
      <p:sp>
        <p:nvSpPr>
          <p:cNvPr id="381" name="Shape 85">
            <a:extLst>
              <a:ext uri="{FF2B5EF4-FFF2-40B4-BE49-F238E27FC236}">
                <a16:creationId xmlns:a16="http://schemas.microsoft.com/office/drawing/2014/main" id="{DC516A16-08AD-F7D7-AF4D-13DC4B530879}"/>
              </a:ext>
            </a:extLst>
          </p:cNvPr>
          <p:cNvSpPr/>
          <p:nvPr/>
        </p:nvSpPr>
        <p:spPr>
          <a:xfrm>
            <a:off x="12603480" y="7938516"/>
            <a:ext cx="4892040" cy="804672"/>
          </a:xfrm>
          <a:prstGeom prst="roundRect">
            <a:avLst>
              <a:gd name="adj" fmla="val 6818"/>
            </a:avLst>
          </a:prstGeom>
          <a:solidFill>
            <a:srgbClr val="F7F9FC"/>
          </a:solidFill>
          <a:ln w="9525">
            <a:solidFill>
              <a:srgbClr val="E1E7F0"/>
            </a:solidFill>
            <a:prstDash val="solid"/>
          </a:ln>
        </p:spPr>
        <p:txBody>
          <a:bodyPr/>
          <a:lstStyle/>
          <a:p>
            <a:endParaRPr lang="en-VN"/>
          </a:p>
        </p:txBody>
      </p:sp>
      <p:sp>
        <p:nvSpPr>
          <p:cNvPr id="383" name="Shape 86">
            <a:extLst>
              <a:ext uri="{FF2B5EF4-FFF2-40B4-BE49-F238E27FC236}">
                <a16:creationId xmlns:a16="http://schemas.microsoft.com/office/drawing/2014/main" id="{17E16ADE-2868-8F7B-7782-6C4029AB4C48}"/>
              </a:ext>
            </a:extLst>
          </p:cNvPr>
          <p:cNvSpPr/>
          <p:nvPr/>
        </p:nvSpPr>
        <p:spPr>
          <a:xfrm>
            <a:off x="12603480" y="7938516"/>
            <a:ext cx="91440" cy="804672"/>
          </a:xfrm>
          <a:prstGeom prst="rect">
            <a:avLst/>
          </a:prstGeom>
          <a:solidFill>
            <a:schemeClr val="accent3">
              <a:lumMod val="75000"/>
            </a:schemeClr>
          </a:solidFill>
          <a:ln/>
        </p:spPr>
        <p:txBody>
          <a:bodyPr/>
          <a:lstStyle/>
          <a:p>
            <a:endParaRPr lang="en-VN"/>
          </a:p>
        </p:txBody>
      </p:sp>
      <p:sp>
        <p:nvSpPr>
          <p:cNvPr id="385" name="Text 87">
            <a:extLst>
              <a:ext uri="{FF2B5EF4-FFF2-40B4-BE49-F238E27FC236}">
                <a16:creationId xmlns:a16="http://schemas.microsoft.com/office/drawing/2014/main" id="{6D3805E0-70D7-2B0F-52B9-6E185D6DE56B}"/>
              </a:ext>
            </a:extLst>
          </p:cNvPr>
          <p:cNvSpPr/>
          <p:nvPr/>
        </p:nvSpPr>
        <p:spPr>
          <a:xfrm>
            <a:off x="12740640" y="7938516"/>
            <a:ext cx="320040" cy="804672"/>
          </a:xfrm>
          <a:prstGeom prst="rect">
            <a:avLst/>
          </a:prstGeom>
          <a:noFill/>
          <a:ln/>
        </p:spPr>
        <p:txBody>
          <a:bodyPr wrap="square" lIns="0" tIns="0" rIns="0" bIns="0" rtlCol="0" anchor="ctr"/>
          <a:lstStyle/>
          <a:p>
            <a:pPr marL="0" indent="0" algn="l">
              <a:buNone/>
            </a:pPr>
            <a:r>
              <a:rPr lang="en-US" sz="1200" dirty="0">
                <a:solidFill>
                  <a:srgbClr val="B26A12"/>
                </a:solidFill>
                <a:latin typeface="Arial" panose="020B0604020202020204" pitchFamily="34" charset="0"/>
                <a:ea typeface="Calibri" pitchFamily="34" charset="-122"/>
                <a:cs typeface="Arial" panose="020B0604020202020204" pitchFamily="34" charset="0"/>
              </a:rPr>
              <a:t>▪</a:t>
            </a:r>
            <a:endParaRPr lang="en-US" sz="1200" dirty="0">
              <a:latin typeface="Arial" panose="020B0604020202020204" pitchFamily="34" charset="0"/>
              <a:cs typeface="Arial" panose="020B0604020202020204" pitchFamily="34" charset="0"/>
            </a:endParaRPr>
          </a:p>
        </p:txBody>
      </p:sp>
      <p:sp>
        <p:nvSpPr>
          <p:cNvPr id="387" name="Text 88">
            <a:extLst>
              <a:ext uri="{FF2B5EF4-FFF2-40B4-BE49-F238E27FC236}">
                <a16:creationId xmlns:a16="http://schemas.microsoft.com/office/drawing/2014/main" id="{7589270D-BA30-D8FC-1807-B7059AA85DF5}"/>
              </a:ext>
            </a:extLst>
          </p:cNvPr>
          <p:cNvSpPr/>
          <p:nvPr/>
        </p:nvSpPr>
        <p:spPr>
          <a:xfrm>
            <a:off x="13045441" y="7938516"/>
            <a:ext cx="4343400" cy="804672"/>
          </a:xfrm>
          <a:prstGeom prst="rect">
            <a:avLst/>
          </a:prstGeom>
          <a:noFill/>
          <a:ln/>
        </p:spPr>
        <p:txBody>
          <a:bodyPr wrap="square" lIns="0" tIns="0" rIns="0" bIns="0" rtlCol="0" anchor="ctr"/>
          <a:lstStyle/>
          <a:p>
            <a:pPr marL="0" indent="0" algn="l">
              <a:lnSpc>
                <a:spcPct val="102000"/>
              </a:lnSpc>
              <a:buNone/>
            </a:pPr>
            <a:r>
              <a:rPr lang="en-US" sz="2000" dirty="0">
                <a:solidFill>
                  <a:srgbClr val="222B45"/>
                </a:solidFill>
                <a:latin typeface="Arial" panose="020B0604020202020204" pitchFamily="34" charset="0"/>
                <a:ea typeface="Calibri" pitchFamily="34" charset="-122"/>
                <a:cs typeface="Arial" panose="020B0604020202020204" pitchFamily="34" charset="0"/>
              </a:rPr>
              <a:t>Báo cáo mức độ trưởng thành QTRR &amp; tổng kết dự án</a:t>
            </a:r>
            <a:endParaRPr lang="en-US" sz="2000" dirty="0">
              <a:latin typeface="Arial" panose="020B0604020202020204" pitchFamily="34" charset="0"/>
              <a:cs typeface="Arial" panose="020B0604020202020204" pitchFamily="34" charset="0"/>
            </a:endParaRPr>
          </a:p>
        </p:txBody>
      </p:sp>
      <p:sp>
        <p:nvSpPr>
          <p:cNvPr id="389" name="Shape 89">
            <a:extLst>
              <a:ext uri="{FF2B5EF4-FFF2-40B4-BE49-F238E27FC236}">
                <a16:creationId xmlns:a16="http://schemas.microsoft.com/office/drawing/2014/main" id="{EF3F9EC7-7087-A4D0-0DD3-D67602DF24FD}"/>
              </a:ext>
            </a:extLst>
          </p:cNvPr>
          <p:cNvSpPr/>
          <p:nvPr/>
        </p:nvSpPr>
        <p:spPr>
          <a:xfrm>
            <a:off x="579120" y="9291828"/>
            <a:ext cx="16870680" cy="91"/>
          </a:xfrm>
          <a:prstGeom prst="rightArrow">
            <a:avLst/>
          </a:prstGeom>
          <a:solidFill>
            <a:srgbClr val="FFFFFF"/>
          </a:solidFill>
          <a:ln/>
        </p:spPr>
        <p:txBody>
          <a:bodyPr/>
          <a:lstStyle/>
          <a:p>
            <a:endParaRPr lang="en-VN"/>
          </a:p>
        </p:txBody>
      </p:sp>
    </p:spTree>
    <p:extLst>
      <p:ext uri="{BB962C8B-B14F-4D97-AF65-F5344CB8AC3E}">
        <p14:creationId xmlns:p14="http://schemas.microsoft.com/office/powerpoint/2010/main" val="30588973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664214" y="0"/>
            <a:ext cx="5658816" cy="2538160"/>
            <a:chOff x="0" y="0"/>
            <a:chExt cx="7545088" cy="3384214"/>
          </a:xfrm>
        </p:grpSpPr>
        <p:sp>
          <p:nvSpPr>
            <p:cNvPr id="4" name="Freeform 4"/>
            <p:cNvSpPr/>
            <p:nvPr/>
          </p:nvSpPr>
          <p:spPr>
            <a:xfrm>
              <a:off x="0" y="0"/>
              <a:ext cx="7545129" cy="3384228"/>
            </a:xfrm>
            <a:custGeom>
              <a:avLst/>
              <a:gdLst/>
              <a:ahLst/>
              <a:cxnLst/>
              <a:rect l="l" t="t" r="r" b="b"/>
              <a:pathLst>
                <a:path w="7545129" h="3384228">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EF233C"/>
            </a:solidFill>
          </p:spPr>
          <p:txBody>
            <a:bodyPr/>
            <a:lstStyle/>
            <a:p>
              <a:endParaRPr lang="en-US"/>
            </a:p>
          </p:txBody>
        </p:sp>
      </p:grpSp>
      <p:grpSp>
        <p:nvGrpSpPr>
          <p:cNvPr id="5" name="Group 5"/>
          <p:cNvGrpSpPr/>
          <p:nvPr/>
        </p:nvGrpSpPr>
        <p:grpSpPr>
          <a:xfrm>
            <a:off x="0" y="803518"/>
            <a:ext cx="8786678" cy="9483482"/>
            <a:chOff x="0" y="0"/>
            <a:chExt cx="11715570" cy="12644642"/>
          </a:xfrm>
        </p:grpSpPr>
        <p:sp>
          <p:nvSpPr>
            <p:cNvPr id="6" name="Freeform 6"/>
            <p:cNvSpPr/>
            <p:nvPr/>
          </p:nvSpPr>
          <p:spPr>
            <a:xfrm>
              <a:off x="0" y="-31"/>
              <a:ext cx="11715574" cy="12644660"/>
            </a:xfrm>
            <a:custGeom>
              <a:avLst/>
              <a:gdLst/>
              <a:ahLst/>
              <a:cxnLst/>
              <a:rect l="l" t="t" r="r" b="b"/>
              <a:pathLst>
                <a:path w="11715574" h="12644660">
                  <a:moveTo>
                    <a:pt x="2338324" y="1809"/>
                  </a:moveTo>
                  <a:cubicBezTo>
                    <a:pt x="3612515" y="-26766"/>
                    <a:pt x="4910328" y="282606"/>
                    <a:pt x="6094730" y="966374"/>
                  </a:cubicBezTo>
                  <a:lnTo>
                    <a:pt x="8112506" y="2131345"/>
                  </a:lnTo>
                  <a:cubicBezTo>
                    <a:pt x="11558016" y="4120546"/>
                    <a:pt x="12738481" y="8526303"/>
                    <a:pt x="10749280" y="11971813"/>
                  </a:cubicBezTo>
                  <a:cubicBezTo>
                    <a:pt x="10624947" y="12187206"/>
                    <a:pt x="10491216" y="12393707"/>
                    <a:pt x="10348849" y="12591066"/>
                  </a:cubicBezTo>
                  <a:lnTo>
                    <a:pt x="10305923" y="12644659"/>
                  </a:lnTo>
                  <a:lnTo>
                    <a:pt x="0" y="12644659"/>
                  </a:lnTo>
                  <a:lnTo>
                    <a:pt x="0" y="446817"/>
                  </a:lnTo>
                  <a:lnTo>
                    <a:pt x="296799" y="344074"/>
                  </a:lnTo>
                  <a:cubicBezTo>
                    <a:pt x="955421" y="133508"/>
                    <a:pt x="1643380" y="17430"/>
                    <a:pt x="2338324" y="1809"/>
                  </a:cubicBezTo>
                  <a:close/>
                </a:path>
              </a:pathLst>
            </a:custGeom>
            <a:blipFill>
              <a:blip r:embed="rId2"/>
              <a:stretch>
                <a:fillRect l="-25591" r="-36303"/>
              </a:stretch>
            </a:blipFill>
          </p:spPr>
          <p:txBody>
            <a:bodyPr/>
            <a:lstStyle/>
            <a:p>
              <a:endParaRPr lang="en-US"/>
            </a:p>
          </p:txBody>
        </p:sp>
      </p:grpSp>
      <p:grpSp>
        <p:nvGrpSpPr>
          <p:cNvPr id="7" name="Group 7"/>
          <p:cNvGrpSpPr/>
          <p:nvPr/>
        </p:nvGrpSpPr>
        <p:grpSpPr>
          <a:xfrm rot="1800000">
            <a:off x="5011489" y="1324627"/>
            <a:ext cx="2536481" cy="411363"/>
            <a:chOff x="0" y="0"/>
            <a:chExt cx="3381974" cy="548484"/>
          </a:xfrm>
        </p:grpSpPr>
        <p:sp>
          <p:nvSpPr>
            <p:cNvPr id="8" name="Freeform 8"/>
            <p:cNvSpPr/>
            <p:nvPr/>
          </p:nvSpPr>
          <p:spPr>
            <a:xfrm>
              <a:off x="0" y="0"/>
              <a:ext cx="3381883" cy="548386"/>
            </a:xfrm>
            <a:custGeom>
              <a:avLst/>
              <a:gdLst/>
              <a:ahLst/>
              <a:cxnLst/>
              <a:rect l="l" t="t" r="r" b="b"/>
              <a:pathLst>
                <a:path w="3381883" h="548386">
                  <a:moveTo>
                    <a:pt x="0" y="274193"/>
                  </a:moveTo>
                  <a:cubicBezTo>
                    <a:pt x="0" y="122809"/>
                    <a:pt x="122809" y="0"/>
                    <a:pt x="274193" y="0"/>
                  </a:cubicBezTo>
                  <a:lnTo>
                    <a:pt x="3107690" y="0"/>
                  </a:lnTo>
                  <a:cubicBezTo>
                    <a:pt x="3259201" y="0"/>
                    <a:pt x="3381883" y="122809"/>
                    <a:pt x="3381883" y="274193"/>
                  </a:cubicBezTo>
                  <a:cubicBezTo>
                    <a:pt x="3381883" y="425577"/>
                    <a:pt x="3259074" y="548386"/>
                    <a:pt x="3107690" y="548386"/>
                  </a:cubicBezTo>
                  <a:lnTo>
                    <a:pt x="274193" y="548386"/>
                  </a:lnTo>
                  <a:cubicBezTo>
                    <a:pt x="122809" y="548513"/>
                    <a:pt x="0" y="425704"/>
                    <a:pt x="0" y="274193"/>
                  </a:cubicBezTo>
                  <a:close/>
                </a:path>
              </a:pathLst>
            </a:custGeom>
            <a:solidFill>
              <a:srgbClr val="F2F2F2"/>
            </a:solidFill>
          </p:spPr>
          <p:txBody>
            <a:bodyPr/>
            <a:lstStyle/>
            <a:p>
              <a:endParaRPr lang="en-US"/>
            </a:p>
          </p:txBody>
        </p:sp>
      </p:grpSp>
      <p:grpSp>
        <p:nvGrpSpPr>
          <p:cNvPr id="9" name="Group 9"/>
          <p:cNvGrpSpPr/>
          <p:nvPr/>
        </p:nvGrpSpPr>
        <p:grpSpPr>
          <a:xfrm>
            <a:off x="5392881" y="8654158"/>
            <a:ext cx="3956217" cy="1632842"/>
            <a:chOff x="0" y="0"/>
            <a:chExt cx="5274956" cy="2177122"/>
          </a:xfrm>
        </p:grpSpPr>
        <p:sp>
          <p:nvSpPr>
            <p:cNvPr id="10" name="Freeform 10"/>
            <p:cNvSpPr/>
            <p:nvPr/>
          </p:nvSpPr>
          <p:spPr>
            <a:xfrm>
              <a:off x="3" y="27"/>
              <a:ext cx="5274942" cy="2177134"/>
            </a:xfrm>
            <a:custGeom>
              <a:avLst/>
              <a:gdLst/>
              <a:ahLst/>
              <a:cxnLst/>
              <a:rect l="l" t="t" r="r" b="b"/>
              <a:pathLst>
                <a:path w="5274942" h="2177134">
                  <a:moveTo>
                    <a:pt x="1268727" y="3402"/>
                  </a:moveTo>
                  <a:cubicBezTo>
                    <a:pt x="1530728" y="-15140"/>
                    <a:pt x="1800730" y="41756"/>
                    <a:pt x="2045332" y="182853"/>
                  </a:cubicBezTo>
                  <a:lnTo>
                    <a:pt x="4863335" y="1809850"/>
                  </a:lnTo>
                  <a:cubicBezTo>
                    <a:pt x="5026403" y="1903957"/>
                    <a:pt x="5162547" y="2026639"/>
                    <a:pt x="5269354" y="2167990"/>
                  </a:cubicBezTo>
                  <a:lnTo>
                    <a:pt x="5274942" y="2177134"/>
                  </a:lnTo>
                  <a:lnTo>
                    <a:pt x="270253" y="2177134"/>
                  </a:lnTo>
                  <a:lnTo>
                    <a:pt x="138173" y="1961615"/>
                  </a:lnTo>
                  <a:cubicBezTo>
                    <a:pt x="-53343" y="1568042"/>
                    <a:pt x="-52454" y="1089506"/>
                    <a:pt x="182877" y="681963"/>
                  </a:cubicBezTo>
                  <a:cubicBezTo>
                    <a:pt x="418208" y="274420"/>
                    <a:pt x="832101" y="34263"/>
                    <a:pt x="1268727" y="3402"/>
                  </a:cubicBezTo>
                  <a:close/>
                </a:path>
              </a:pathLst>
            </a:custGeom>
            <a:solidFill>
              <a:srgbClr val="EF233C"/>
            </a:solidFill>
          </p:spPr>
          <p:txBody>
            <a:bodyPr/>
            <a:lstStyle/>
            <a:p>
              <a:endParaRPr lang="en-US"/>
            </a:p>
          </p:txBody>
        </p:sp>
      </p:grpSp>
      <p:sp>
        <p:nvSpPr>
          <p:cNvPr id="11" name="Rectangle 10"/>
          <p:cNvSpPr/>
          <p:nvPr/>
        </p:nvSpPr>
        <p:spPr>
          <a:xfrm>
            <a:off x="9067800" y="5414236"/>
            <a:ext cx="8650309" cy="1200329"/>
          </a:xfrm>
          <a:prstGeom prst="rect">
            <a:avLst/>
          </a:prstGeom>
        </p:spPr>
        <p:txBody>
          <a:bodyPr wrap="square">
            <a:spAutoFit/>
          </a:bodyPr>
          <a:lstStyle/>
          <a:p>
            <a:pPr algn="r"/>
            <a:r>
              <a:rPr lang="vi-VN"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CƠ CẤU TỔ CHỨC VÀ </a:t>
            </a:r>
            <a:endPar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a:p>
            <a:pPr algn="r"/>
            <a:r>
              <a:rPr lang="vi-VN"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LUỒNG PHỐI HỢP</a:t>
            </a:r>
            <a:r>
              <a:rPr lang="en-US" sz="3600" b="1" dirty="0">
                <a:solidFill>
                  <a:srgbClr val="EF233C"/>
                </a:solidFill>
                <a:latin typeface="Arial" panose="020B0604020202020204" pitchFamily="34" charset="0"/>
                <a:ea typeface="Segoe UI Black" panose="020B0A02040204020203" pitchFamily="34" charset="0"/>
                <a:cs typeface="Arial" panose="020B0604020202020204" pitchFamily="34" charset="0"/>
              </a:rPr>
              <a:t> THỰC HIỆN DỰ ÁN</a:t>
            </a:r>
            <a:endParaRPr lang="vi-VN" sz="36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sp>
        <p:nvSpPr>
          <p:cNvPr id="12" name="Rectangle 11"/>
          <p:cNvSpPr/>
          <p:nvPr/>
        </p:nvSpPr>
        <p:spPr>
          <a:xfrm>
            <a:off x="16764001" y="4076700"/>
            <a:ext cx="954107" cy="1200329"/>
          </a:xfrm>
          <a:prstGeom prst="rect">
            <a:avLst/>
          </a:prstGeom>
        </p:spPr>
        <p:txBody>
          <a:bodyPr wrap="none">
            <a:spAutoFit/>
          </a:bodyPr>
          <a:lstStyle/>
          <a:p>
            <a:pPr algn="r"/>
            <a:r>
              <a:rPr lang="en-US" sz="7200" b="1">
                <a:solidFill>
                  <a:srgbClr val="EF233C"/>
                </a:solidFill>
                <a:latin typeface="Arial" panose="020B0604020202020204" pitchFamily="34" charset="0"/>
                <a:ea typeface="Segoe UI Black" panose="020B0A02040204020203" pitchFamily="34" charset="0"/>
                <a:cs typeface="Arial" panose="020B0604020202020204" pitchFamily="34" charset="0"/>
              </a:rPr>
              <a:t>4.</a:t>
            </a:r>
            <a:endParaRPr lang="en-US" sz="7200" b="1" dirty="0">
              <a:solidFill>
                <a:srgbClr val="EF233C"/>
              </a:solidFill>
              <a:latin typeface="Arial" panose="020B0604020202020204" pitchFamily="34" charset="0"/>
              <a:ea typeface="Segoe UI Black" panose="020B0A02040204020203" pitchFamily="34" charset="0"/>
              <a:cs typeface="Arial" panose="020B0604020202020204" pitchFamily="34" charset="0"/>
            </a:endParaRPr>
          </a:p>
        </p:txBody>
      </p:sp>
      <p:pic>
        <p:nvPicPr>
          <p:cNvPr id="13" name="Picture 30">
            <a:extLst>
              <a:ext uri="{FF2B5EF4-FFF2-40B4-BE49-F238E27FC236}">
                <a16:creationId xmlns:a16="http://schemas.microsoft.com/office/drawing/2014/main" id="{2D7FB2D5-E8B9-462F-A151-A61F197B4A37}"/>
              </a:ext>
            </a:extLst>
          </p:cNvPr>
          <p:cNvPicPr>
            <a:picLocks noChangeAspect="1"/>
          </p:cNvPicPr>
          <p:nvPr/>
        </p:nvPicPr>
        <p:blipFill>
          <a:blip r:embed="rId3">
            <a:alphaModFix amt="16000"/>
          </a:blip>
          <a:stretch>
            <a:fillRect/>
          </a:stretch>
        </p:blipFill>
        <p:spPr>
          <a:xfrm>
            <a:off x="0" y="-3079557"/>
            <a:ext cx="12268725" cy="12268725"/>
          </a:xfrm>
          <a:prstGeom prst="rect">
            <a:avLst/>
          </a:prstGeom>
        </p:spPr>
      </p:pic>
    </p:spTree>
    <p:extLst>
      <p:ext uri="{BB962C8B-B14F-4D97-AF65-F5344CB8AC3E}">
        <p14:creationId xmlns:p14="http://schemas.microsoft.com/office/powerpoint/2010/main" val="40496968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pic>
        <p:nvPicPr>
          <p:cNvPr id="2070868824" name="Picture 124"/>
          <p:cNvPicPr>
            <a:picLocks noChangeAspect="1"/>
          </p:cNvPicPr>
          <p:nvPr/>
        </p:nvPicPr>
        <p:blipFill rotWithShape="1">
          <a:blip r:embed="rId3"/>
          <a:stretch/>
        </p:blipFill>
        <p:spPr bwMode="auto">
          <a:xfrm>
            <a:off x="15972881" y="459367"/>
            <a:ext cx="1745229" cy="688259"/>
          </a:xfrm>
          <a:prstGeom prst="rect">
            <a:avLst/>
          </a:prstGeom>
        </p:spPr>
      </p:pic>
      <p:grpSp>
        <p:nvGrpSpPr>
          <p:cNvPr id="6" name="Group 2">
            <a:extLst>
              <a:ext uri="{FF2B5EF4-FFF2-40B4-BE49-F238E27FC236}">
                <a16:creationId xmlns:a16="http://schemas.microsoft.com/office/drawing/2014/main" id="{063B7E5E-D205-9D31-5E0F-87312AA705DE}"/>
              </a:ext>
            </a:extLst>
          </p:cNvPr>
          <p:cNvGrpSpPr/>
          <p:nvPr/>
        </p:nvGrpSpPr>
        <p:grpSpPr>
          <a:xfrm>
            <a:off x="0" y="114299"/>
            <a:ext cx="13868400" cy="1097280"/>
            <a:chOff x="0" y="-2"/>
            <a:chExt cx="26241753" cy="1664815"/>
          </a:xfrm>
          <a:solidFill>
            <a:schemeClr val="bg1">
              <a:lumMod val="95000"/>
            </a:schemeClr>
          </a:solidFill>
        </p:grpSpPr>
        <p:sp>
          <p:nvSpPr>
            <p:cNvPr id="7" name="Freeform 3">
              <a:extLst>
                <a:ext uri="{FF2B5EF4-FFF2-40B4-BE49-F238E27FC236}">
                  <a16:creationId xmlns:a16="http://schemas.microsoft.com/office/drawing/2014/main" id="{1700E0D3-456D-1423-8423-CEEAD64CC78F}"/>
                </a:ext>
              </a:extLst>
            </p:cNvPr>
            <p:cNvSpPr/>
            <p:nvPr/>
          </p:nvSpPr>
          <p:spPr>
            <a:xfrm>
              <a:off x="0" y="-2"/>
              <a:ext cx="26241753"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4. </a:t>
              </a:r>
              <a:r>
                <a:rPr lang="vi-VN" sz="3600" b="1" dirty="0">
                  <a:solidFill>
                    <a:srgbClr val="000000"/>
                  </a:solidFill>
                  <a:latin typeface="Arial" panose="020B0604020202020204" pitchFamily="34" charset="0"/>
                  <a:ea typeface="Futura Ultra-Bold"/>
                  <a:cs typeface="Arial" panose="020B0604020202020204" pitchFamily="34" charset="0"/>
                  <a:sym typeface="Futura Ultra-Bold"/>
                </a:rPr>
                <a:t>Cơ cấu tổ chức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và</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luồng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phối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hợp</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thực</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án</a:t>
              </a:r>
              <a:endParaRPr lang="vi-VN" sz="3600" b="1" dirty="0">
                <a:solidFill>
                  <a:srgbClr val="000000"/>
                </a:solidFill>
                <a:latin typeface="Arial" panose="020B0604020202020204" pitchFamily="34" charset="0"/>
                <a:ea typeface="Futura Ultra-Bold"/>
                <a:cs typeface="Arial" panose="020B0604020202020204" pitchFamily="34" charset="0"/>
                <a:sym typeface="Futura Ultra-Bold"/>
              </a:endParaRP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Cơ</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cấu</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tổ</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chức</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Ban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án</a:t>
              </a:r>
              <a:endParaRPr lang="en-US" sz="2400" b="1" i="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8" name="Group 4">
            <a:extLst>
              <a:ext uri="{FF2B5EF4-FFF2-40B4-BE49-F238E27FC236}">
                <a16:creationId xmlns:a16="http://schemas.microsoft.com/office/drawing/2014/main" id="{179D1EF3-38F1-C6F1-CA89-2851DF7B7F6A}"/>
              </a:ext>
            </a:extLst>
          </p:cNvPr>
          <p:cNvGrpSpPr/>
          <p:nvPr/>
        </p:nvGrpSpPr>
        <p:grpSpPr>
          <a:xfrm>
            <a:off x="0" y="114299"/>
            <a:ext cx="936307" cy="1097280"/>
            <a:chOff x="0" y="0"/>
            <a:chExt cx="1248410" cy="1554290"/>
          </a:xfrm>
        </p:grpSpPr>
        <p:sp>
          <p:nvSpPr>
            <p:cNvPr id="9" name="Freeform 5">
              <a:extLst>
                <a:ext uri="{FF2B5EF4-FFF2-40B4-BE49-F238E27FC236}">
                  <a16:creationId xmlns:a16="http://schemas.microsoft.com/office/drawing/2014/main" id="{AE4193E8-031E-25C0-3BEF-90F9798096A0}"/>
                </a:ext>
              </a:extLst>
            </p:cNvPr>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latin typeface="Arial" panose="020B0604020202020204" pitchFamily="34" charset="0"/>
                <a:cs typeface="Arial" panose="020B0604020202020204" pitchFamily="34" charset="0"/>
              </a:endParaRPr>
            </a:p>
          </p:txBody>
        </p:sp>
      </p:grpSp>
      <p:sp>
        <p:nvSpPr>
          <p:cNvPr id="11" name="Shape 3">
            <a:extLst>
              <a:ext uri="{FF2B5EF4-FFF2-40B4-BE49-F238E27FC236}">
                <a16:creationId xmlns:a16="http://schemas.microsoft.com/office/drawing/2014/main" id="{B21CD1DB-369F-3271-129E-CE0B611210CE}"/>
              </a:ext>
            </a:extLst>
          </p:cNvPr>
          <p:cNvSpPr/>
          <p:nvPr/>
        </p:nvSpPr>
        <p:spPr>
          <a:xfrm>
            <a:off x="5669280" y="1638300"/>
            <a:ext cx="6949440" cy="914400"/>
          </a:xfrm>
          <a:prstGeom prst="roundRect">
            <a:avLst>
              <a:gd name="adj" fmla="val 10000"/>
            </a:avLst>
          </a:prstGeom>
          <a:solidFill>
            <a:srgbClr val="C00000"/>
          </a:solidFill>
          <a:ln/>
        </p:spPr>
        <p:txBody>
          <a:bodyPr/>
          <a:lstStyle/>
          <a:p>
            <a:endParaRPr lang="en-VN"/>
          </a:p>
        </p:txBody>
      </p:sp>
      <p:sp>
        <p:nvSpPr>
          <p:cNvPr id="13" name="Text 4">
            <a:extLst>
              <a:ext uri="{FF2B5EF4-FFF2-40B4-BE49-F238E27FC236}">
                <a16:creationId xmlns:a16="http://schemas.microsoft.com/office/drawing/2014/main" id="{ACAF5737-A4FB-EB21-F809-B0DAAC34F2B7}"/>
              </a:ext>
            </a:extLst>
          </p:cNvPr>
          <p:cNvSpPr/>
          <p:nvPr/>
        </p:nvSpPr>
        <p:spPr>
          <a:xfrm>
            <a:off x="5806440" y="1714500"/>
            <a:ext cx="6675120" cy="457200"/>
          </a:xfrm>
          <a:prstGeom prst="rect">
            <a:avLst/>
          </a:prstGeom>
          <a:noFill/>
          <a:ln/>
        </p:spPr>
        <p:txBody>
          <a:bodyPr wrap="square" lIns="0" tIns="0" rIns="0" bIns="0" rtlCol="0" anchor="ctr"/>
          <a:lstStyle/>
          <a:p>
            <a:pPr marL="0" indent="0" algn="ctr">
              <a:buNone/>
            </a:pPr>
            <a:r>
              <a:rPr lang="en-US" sz="2000" b="1" dirty="0" err="1">
                <a:solidFill>
                  <a:srgbClr val="FFFFFF"/>
                </a:solidFill>
                <a:latin typeface="Arial" panose="020B0604020202020204" pitchFamily="34" charset="0"/>
                <a:ea typeface="Calibri" pitchFamily="34" charset="-122"/>
                <a:cs typeface="Arial" panose="020B0604020202020204" pitchFamily="34" charset="0"/>
              </a:rPr>
              <a:t>Chỉ</a:t>
            </a:r>
            <a:r>
              <a:rPr lang="en-US" sz="2000" b="1" dirty="0">
                <a:solidFill>
                  <a:srgbClr val="FFFFFF"/>
                </a:solidFill>
                <a:latin typeface="Arial" panose="020B0604020202020204" pitchFamily="34" charset="0"/>
                <a:ea typeface="Calibri" pitchFamily="34" charset="-122"/>
                <a:cs typeface="Arial" panose="020B0604020202020204" pitchFamily="34" charset="0"/>
              </a:rPr>
              <a:t> </a:t>
            </a:r>
            <a:r>
              <a:rPr lang="en-US" sz="2000" b="1" dirty="0" err="1">
                <a:solidFill>
                  <a:srgbClr val="FFFFFF"/>
                </a:solidFill>
                <a:latin typeface="Arial" panose="020B0604020202020204" pitchFamily="34" charset="0"/>
                <a:ea typeface="Calibri" pitchFamily="34" charset="-122"/>
                <a:cs typeface="Arial" panose="020B0604020202020204" pitchFamily="34" charset="0"/>
              </a:rPr>
              <a:t>đạo</a:t>
            </a:r>
            <a:r>
              <a:rPr lang="en-US" sz="2000" b="1" dirty="0">
                <a:solidFill>
                  <a:srgbClr val="FFFFFF"/>
                </a:solidFill>
                <a:latin typeface="Arial" panose="020B0604020202020204" pitchFamily="34" charset="0"/>
                <a:ea typeface="Calibri" pitchFamily="34" charset="-122"/>
                <a:cs typeface="Arial" panose="020B0604020202020204" pitchFamily="34" charset="0"/>
              </a:rPr>
              <a:t>, </a:t>
            </a:r>
            <a:r>
              <a:rPr lang="en-US" sz="2000" b="1" dirty="0" err="1">
                <a:solidFill>
                  <a:srgbClr val="FFFFFF"/>
                </a:solidFill>
                <a:latin typeface="Arial" panose="020B0604020202020204" pitchFamily="34" charset="0"/>
                <a:ea typeface="Calibri" pitchFamily="34" charset="-122"/>
                <a:cs typeface="Arial" panose="020B0604020202020204" pitchFamily="34" charset="0"/>
              </a:rPr>
              <a:t>bảo</a:t>
            </a:r>
            <a:r>
              <a:rPr lang="en-US" sz="2000" b="1" dirty="0">
                <a:solidFill>
                  <a:srgbClr val="FFFFFF"/>
                </a:solidFill>
                <a:latin typeface="Arial" panose="020B0604020202020204" pitchFamily="34" charset="0"/>
                <a:ea typeface="Calibri" pitchFamily="34" charset="-122"/>
                <a:cs typeface="Arial" panose="020B0604020202020204" pitchFamily="34" charset="0"/>
              </a:rPr>
              <a:t> </a:t>
            </a:r>
            <a:r>
              <a:rPr lang="en-US" sz="2000" b="1" dirty="0" err="1">
                <a:solidFill>
                  <a:srgbClr val="FFFFFF"/>
                </a:solidFill>
                <a:latin typeface="Arial" panose="020B0604020202020204" pitchFamily="34" charset="0"/>
                <a:ea typeface="Calibri" pitchFamily="34" charset="-122"/>
                <a:cs typeface="Arial" panose="020B0604020202020204" pitchFamily="34" charset="0"/>
              </a:rPr>
              <a:t>trợ</a:t>
            </a:r>
            <a:r>
              <a:rPr lang="en-US" sz="2000" b="1" dirty="0">
                <a:solidFill>
                  <a:srgbClr val="FFFFFF"/>
                </a:solidFill>
                <a:latin typeface="Arial" panose="020B0604020202020204" pitchFamily="34" charset="0"/>
                <a:ea typeface="Calibri" pitchFamily="34" charset="-122"/>
                <a:cs typeface="Arial" panose="020B0604020202020204" pitchFamily="34" charset="0"/>
              </a:rPr>
              <a:t> </a:t>
            </a:r>
            <a:r>
              <a:rPr lang="en-US" sz="2000" b="1" dirty="0" err="1">
                <a:solidFill>
                  <a:srgbClr val="FFFFFF"/>
                </a:solidFill>
                <a:latin typeface="Arial" panose="020B0604020202020204" pitchFamily="34" charset="0"/>
                <a:ea typeface="Calibri" pitchFamily="34" charset="-122"/>
                <a:cs typeface="Arial" panose="020B0604020202020204" pitchFamily="34" charset="0"/>
              </a:rPr>
              <a:t>dự</a:t>
            </a:r>
            <a:r>
              <a:rPr lang="en-US" sz="2000" b="1" dirty="0">
                <a:solidFill>
                  <a:srgbClr val="FFFFFF"/>
                </a:solidFill>
                <a:latin typeface="Arial" panose="020B0604020202020204" pitchFamily="34" charset="0"/>
                <a:ea typeface="Calibri" pitchFamily="34" charset="-122"/>
                <a:cs typeface="Arial" panose="020B0604020202020204" pitchFamily="34" charset="0"/>
              </a:rPr>
              <a:t> </a:t>
            </a:r>
            <a:r>
              <a:rPr lang="en-US" sz="2000" b="1" dirty="0" err="1">
                <a:solidFill>
                  <a:srgbClr val="FFFFFF"/>
                </a:solidFill>
                <a:latin typeface="Arial" panose="020B0604020202020204" pitchFamily="34" charset="0"/>
                <a:ea typeface="Calibri" pitchFamily="34" charset="-122"/>
                <a:cs typeface="Arial" panose="020B0604020202020204" pitchFamily="34" charset="0"/>
              </a:rPr>
              <a:t>án</a:t>
            </a:r>
            <a:r>
              <a:rPr lang="en-US" sz="2000" b="1" dirty="0">
                <a:solidFill>
                  <a:srgbClr val="FFFFFF"/>
                </a:solidFill>
                <a:latin typeface="Arial" panose="020B0604020202020204" pitchFamily="34" charset="0"/>
                <a:ea typeface="Calibri" pitchFamily="34" charset="-122"/>
                <a:cs typeface="Arial" panose="020B0604020202020204" pitchFamily="34" charset="0"/>
              </a:rPr>
              <a:t> – PTGĐ </a:t>
            </a:r>
            <a:r>
              <a:rPr lang="en-US" sz="2000" b="1" dirty="0" err="1">
                <a:solidFill>
                  <a:srgbClr val="FFFFFF"/>
                </a:solidFill>
                <a:latin typeface="Arial" panose="020B0604020202020204" pitchFamily="34" charset="0"/>
                <a:ea typeface="Calibri" pitchFamily="34" charset="-122"/>
                <a:cs typeface="Arial" panose="020B0604020202020204" pitchFamily="34" charset="0"/>
              </a:rPr>
              <a:t>Tống</a:t>
            </a:r>
            <a:r>
              <a:rPr lang="en-US" sz="2000" b="1" dirty="0">
                <a:solidFill>
                  <a:srgbClr val="FFFFFF"/>
                </a:solidFill>
                <a:latin typeface="Arial" panose="020B0604020202020204" pitchFamily="34" charset="0"/>
                <a:ea typeface="Calibri" pitchFamily="34" charset="-122"/>
                <a:cs typeface="Arial" panose="020B0604020202020204" pitchFamily="34" charset="0"/>
              </a:rPr>
              <a:t> </a:t>
            </a:r>
            <a:r>
              <a:rPr lang="en-US" sz="2000" b="1" dirty="0" err="1">
                <a:solidFill>
                  <a:srgbClr val="FFFFFF"/>
                </a:solidFill>
                <a:latin typeface="Arial" panose="020B0604020202020204" pitchFamily="34" charset="0"/>
                <a:ea typeface="Calibri" pitchFamily="34" charset="-122"/>
                <a:cs typeface="Arial" panose="020B0604020202020204" pitchFamily="34" charset="0"/>
              </a:rPr>
              <a:t>Mỹ</a:t>
            </a:r>
            <a:r>
              <a:rPr lang="en-US" sz="2000" b="1" dirty="0">
                <a:solidFill>
                  <a:srgbClr val="FFFFFF"/>
                </a:solidFill>
                <a:latin typeface="Arial" panose="020B0604020202020204" pitchFamily="34" charset="0"/>
                <a:ea typeface="Calibri" pitchFamily="34" charset="-122"/>
                <a:cs typeface="Arial" panose="020B0604020202020204" pitchFamily="34" charset="0"/>
              </a:rPr>
              <a:t> </a:t>
            </a:r>
            <a:r>
              <a:rPr lang="en-US" sz="2000" b="1" dirty="0" err="1">
                <a:solidFill>
                  <a:srgbClr val="FFFFFF"/>
                </a:solidFill>
                <a:latin typeface="Arial" panose="020B0604020202020204" pitchFamily="34" charset="0"/>
                <a:ea typeface="Calibri" pitchFamily="34" charset="-122"/>
                <a:cs typeface="Arial" panose="020B0604020202020204" pitchFamily="34" charset="0"/>
              </a:rPr>
              <a:t>Hạnh</a:t>
            </a:r>
            <a:endParaRPr lang="en-US" sz="2000" dirty="0">
              <a:latin typeface="Arial" panose="020B0604020202020204" pitchFamily="34" charset="0"/>
              <a:cs typeface="Arial" panose="020B0604020202020204" pitchFamily="34" charset="0"/>
            </a:endParaRPr>
          </a:p>
        </p:txBody>
      </p:sp>
      <p:sp>
        <p:nvSpPr>
          <p:cNvPr id="15" name="Text 5">
            <a:extLst>
              <a:ext uri="{FF2B5EF4-FFF2-40B4-BE49-F238E27FC236}">
                <a16:creationId xmlns:a16="http://schemas.microsoft.com/office/drawing/2014/main" id="{5B54EA27-98DE-69EE-447F-F083EB77EE6C}"/>
              </a:ext>
            </a:extLst>
          </p:cNvPr>
          <p:cNvSpPr/>
          <p:nvPr/>
        </p:nvSpPr>
        <p:spPr>
          <a:xfrm>
            <a:off x="5806440" y="2153412"/>
            <a:ext cx="6675120" cy="256032"/>
          </a:xfrm>
          <a:prstGeom prst="rect">
            <a:avLst/>
          </a:prstGeom>
          <a:noFill/>
          <a:ln/>
        </p:spPr>
        <p:txBody>
          <a:bodyPr wrap="square" lIns="0" tIns="0" rIns="0" bIns="0" rtlCol="0" anchor="t"/>
          <a:lstStyle/>
          <a:p>
            <a:pPr marL="0" indent="0" algn="ctr">
              <a:lnSpc>
                <a:spcPct val="100000"/>
              </a:lnSpc>
              <a:buNone/>
            </a:pPr>
            <a:r>
              <a:rPr lang="en-US" sz="1600" dirty="0">
                <a:solidFill>
                  <a:srgbClr val="C9D3E8"/>
                </a:solidFill>
                <a:latin typeface="Arial" panose="020B0604020202020204" pitchFamily="34" charset="0"/>
                <a:ea typeface="Calibri" pitchFamily="34" charset="-122"/>
                <a:cs typeface="Arial" panose="020B0604020202020204" pitchFamily="34" charset="0"/>
              </a:rPr>
              <a:t>Bảo trợ, phê duyệt KVRR, tháo gỡ vướng mắc</a:t>
            </a:r>
            <a:endParaRPr lang="en-US" sz="1600" dirty="0">
              <a:latin typeface="Arial" panose="020B0604020202020204" pitchFamily="34" charset="0"/>
              <a:cs typeface="Arial" panose="020B0604020202020204" pitchFamily="34" charset="0"/>
            </a:endParaRPr>
          </a:p>
        </p:txBody>
      </p:sp>
      <p:sp>
        <p:nvSpPr>
          <p:cNvPr id="23" name="Shape 9">
            <a:extLst>
              <a:ext uri="{FF2B5EF4-FFF2-40B4-BE49-F238E27FC236}">
                <a16:creationId xmlns:a16="http://schemas.microsoft.com/office/drawing/2014/main" id="{03D94E00-BB66-567B-6F14-9CD0EED7E52F}"/>
              </a:ext>
            </a:extLst>
          </p:cNvPr>
          <p:cNvSpPr/>
          <p:nvPr/>
        </p:nvSpPr>
        <p:spPr>
          <a:xfrm>
            <a:off x="5669280" y="2781300"/>
            <a:ext cx="6949440" cy="868680"/>
          </a:xfrm>
          <a:prstGeom prst="roundRect">
            <a:avLst>
              <a:gd name="adj" fmla="val 10526"/>
            </a:avLst>
          </a:prstGeom>
          <a:solidFill>
            <a:schemeClr val="tx2"/>
          </a:solidFill>
          <a:ln/>
        </p:spPr>
        <p:txBody>
          <a:bodyPr/>
          <a:lstStyle/>
          <a:p>
            <a:endParaRPr lang="en-VN"/>
          </a:p>
        </p:txBody>
      </p:sp>
      <p:sp>
        <p:nvSpPr>
          <p:cNvPr id="25" name="Text 10">
            <a:extLst>
              <a:ext uri="{FF2B5EF4-FFF2-40B4-BE49-F238E27FC236}">
                <a16:creationId xmlns:a16="http://schemas.microsoft.com/office/drawing/2014/main" id="{E09DA8D9-93FD-C2F5-5D52-E318DCA635D8}"/>
              </a:ext>
            </a:extLst>
          </p:cNvPr>
          <p:cNvSpPr/>
          <p:nvPr/>
        </p:nvSpPr>
        <p:spPr>
          <a:xfrm>
            <a:off x="5806440" y="2857500"/>
            <a:ext cx="667512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Arial" panose="020B0604020202020204" pitchFamily="34" charset="0"/>
                <a:ea typeface="Calibri" pitchFamily="34" charset="-122"/>
                <a:cs typeface="Arial" panose="020B0604020202020204" pitchFamily="34" charset="0"/>
              </a:rPr>
              <a:t>Trưởng ban dự án — P.QTRR</a:t>
            </a:r>
            <a:endParaRPr lang="en-US" sz="2000" dirty="0">
              <a:latin typeface="Arial" panose="020B0604020202020204" pitchFamily="34" charset="0"/>
              <a:cs typeface="Arial" panose="020B0604020202020204" pitchFamily="34" charset="0"/>
            </a:endParaRPr>
          </a:p>
        </p:txBody>
      </p:sp>
      <p:sp>
        <p:nvSpPr>
          <p:cNvPr id="27" name="Text 11">
            <a:extLst>
              <a:ext uri="{FF2B5EF4-FFF2-40B4-BE49-F238E27FC236}">
                <a16:creationId xmlns:a16="http://schemas.microsoft.com/office/drawing/2014/main" id="{8A113690-685A-D85C-339F-442E2593F8E4}"/>
              </a:ext>
            </a:extLst>
          </p:cNvPr>
          <p:cNvSpPr/>
          <p:nvPr/>
        </p:nvSpPr>
        <p:spPr>
          <a:xfrm>
            <a:off x="5806440" y="3296412"/>
            <a:ext cx="6675120" cy="210312"/>
          </a:xfrm>
          <a:prstGeom prst="rect">
            <a:avLst/>
          </a:prstGeom>
          <a:noFill/>
          <a:ln/>
        </p:spPr>
        <p:txBody>
          <a:bodyPr wrap="square" lIns="0" tIns="0" rIns="0" bIns="0" rtlCol="0" anchor="t"/>
          <a:lstStyle/>
          <a:p>
            <a:pPr marL="0" indent="0" algn="ctr">
              <a:lnSpc>
                <a:spcPct val="100000"/>
              </a:lnSpc>
              <a:buNone/>
            </a:pPr>
            <a:r>
              <a:rPr lang="en-US" sz="1600" dirty="0">
                <a:solidFill>
                  <a:srgbClr val="D3EEE7"/>
                </a:solidFill>
                <a:latin typeface="Arial" panose="020B0604020202020204" pitchFamily="34" charset="0"/>
                <a:ea typeface="Calibri" pitchFamily="34" charset="-122"/>
                <a:cs typeface="Arial" panose="020B0604020202020204" pitchFamily="34" charset="0"/>
              </a:rPr>
              <a:t>Điều </a:t>
            </a:r>
            <a:r>
              <a:rPr lang="en-US" sz="1600" dirty="0" err="1">
                <a:solidFill>
                  <a:srgbClr val="D3EEE7"/>
                </a:solidFill>
                <a:latin typeface="Arial" panose="020B0604020202020204" pitchFamily="34" charset="0"/>
                <a:ea typeface="Calibri" pitchFamily="34" charset="-122"/>
                <a:cs typeface="Arial" panose="020B0604020202020204" pitchFamily="34" charset="0"/>
              </a:rPr>
              <a:t>phối</a:t>
            </a:r>
            <a:r>
              <a:rPr lang="en-US" sz="1600" dirty="0">
                <a:solidFill>
                  <a:srgbClr val="D3EEE7"/>
                </a:solidFill>
                <a:latin typeface="Arial" panose="020B0604020202020204" pitchFamily="34" charset="0"/>
                <a:ea typeface="Calibri" pitchFamily="34" charset="-122"/>
                <a:cs typeface="Arial" panose="020B0604020202020204" pitchFamily="34" charset="0"/>
              </a:rPr>
              <a:t> </a:t>
            </a:r>
            <a:r>
              <a:rPr lang="en-US" sz="1600" dirty="0" err="1">
                <a:solidFill>
                  <a:srgbClr val="D3EEE7"/>
                </a:solidFill>
                <a:latin typeface="Arial" panose="020B0604020202020204" pitchFamily="34" charset="0"/>
                <a:ea typeface="Calibri" pitchFamily="34" charset="-122"/>
                <a:cs typeface="Arial" panose="020B0604020202020204" pitchFamily="34" charset="0"/>
              </a:rPr>
              <a:t>dự</a:t>
            </a:r>
            <a:r>
              <a:rPr lang="en-US" sz="1600" dirty="0">
                <a:solidFill>
                  <a:srgbClr val="D3EEE7"/>
                </a:solidFill>
                <a:latin typeface="Arial" panose="020B0604020202020204" pitchFamily="34" charset="0"/>
                <a:ea typeface="Calibri" pitchFamily="34" charset="-122"/>
                <a:cs typeface="Arial" panose="020B0604020202020204" pitchFamily="34" charset="0"/>
              </a:rPr>
              <a:t> </a:t>
            </a:r>
            <a:r>
              <a:rPr lang="en-US" sz="1600" dirty="0" err="1">
                <a:solidFill>
                  <a:srgbClr val="D3EEE7"/>
                </a:solidFill>
                <a:latin typeface="Arial" panose="020B0604020202020204" pitchFamily="34" charset="0"/>
                <a:ea typeface="Calibri" pitchFamily="34" charset="-122"/>
                <a:cs typeface="Arial" panose="020B0604020202020204" pitchFamily="34" charset="0"/>
              </a:rPr>
              <a:t>án</a:t>
            </a:r>
            <a:r>
              <a:rPr lang="en-US" sz="1600" dirty="0">
                <a:solidFill>
                  <a:srgbClr val="D3EEE7"/>
                </a:solidFill>
                <a:latin typeface="Arial" panose="020B0604020202020204" pitchFamily="34" charset="0"/>
                <a:ea typeface="Calibri" pitchFamily="34" charset="-122"/>
                <a:cs typeface="Arial" panose="020B0604020202020204" pitchFamily="34" charset="0"/>
              </a:rPr>
              <a:t> </a:t>
            </a:r>
            <a:r>
              <a:rPr lang="en-US" sz="1600" dirty="0" err="1">
                <a:solidFill>
                  <a:srgbClr val="D3EEE7"/>
                </a:solidFill>
                <a:latin typeface="Arial" panose="020B0604020202020204" pitchFamily="34" charset="0"/>
                <a:ea typeface="Calibri" pitchFamily="34" charset="-122"/>
                <a:cs typeface="Arial" panose="020B0604020202020204" pitchFamily="34" charset="0"/>
              </a:rPr>
              <a:t>toàn</a:t>
            </a:r>
            <a:r>
              <a:rPr lang="en-US" sz="1600" dirty="0">
                <a:solidFill>
                  <a:srgbClr val="D3EEE7"/>
                </a:solidFill>
                <a:latin typeface="Arial" panose="020B0604020202020204" pitchFamily="34" charset="0"/>
                <a:ea typeface="Calibri" pitchFamily="34" charset="-122"/>
                <a:cs typeface="Arial" panose="020B0604020202020204" pitchFamily="34" charset="0"/>
              </a:rPr>
              <a:t> Tổng công ty · </a:t>
            </a:r>
            <a:r>
              <a:rPr lang="en-US" sz="1600" dirty="0" err="1">
                <a:solidFill>
                  <a:srgbClr val="D3EEE7"/>
                </a:solidFill>
                <a:latin typeface="Arial" panose="020B0604020202020204" pitchFamily="34" charset="0"/>
                <a:ea typeface="Calibri" pitchFamily="34" charset="-122"/>
                <a:cs typeface="Arial" panose="020B0604020202020204" pitchFamily="34" charset="0"/>
              </a:rPr>
              <a:t>Chủ</a:t>
            </a:r>
            <a:r>
              <a:rPr lang="en-US" sz="1600" dirty="0">
                <a:solidFill>
                  <a:srgbClr val="D3EEE7"/>
                </a:solidFill>
                <a:latin typeface="Arial" panose="020B0604020202020204" pitchFamily="34" charset="0"/>
                <a:ea typeface="Calibri" pitchFamily="34" charset="-122"/>
                <a:cs typeface="Arial" panose="020B0604020202020204" pitchFamily="34" charset="0"/>
              </a:rPr>
              <a:t> </a:t>
            </a:r>
            <a:r>
              <a:rPr lang="en-US" sz="1600" dirty="0" err="1">
                <a:solidFill>
                  <a:srgbClr val="D3EEE7"/>
                </a:solidFill>
                <a:latin typeface="Arial" panose="020B0604020202020204" pitchFamily="34" charset="0"/>
                <a:ea typeface="Calibri" pitchFamily="34" charset="-122"/>
                <a:cs typeface="Arial" panose="020B0604020202020204" pitchFamily="34" charset="0"/>
              </a:rPr>
              <a:t>trì</a:t>
            </a:r>
            <a:r>
              <a:rPr lang="en-US" sz="1600" dirty="0">
                <a:solidFill>
                  <a:srgbClr val="D3EEE7"/>
                </a:solidFill>
                <a:latin typeface="Arial" panose="020B0604020202020204" pitchFamily="34" charset="0"/>
                <a:ea typeface="Calibri" pitchFamily="34" charset="-122"/>
                <a:cs typeface="Arial" panose="020B0604020202020204" pitchFamily="34" charset="0"/>
              </a:rPr>
              <a:t> PP </a:t>
            </a:r>
            <a:r>
              <a:rPr lang="en-US" sz="1600" dirty="0" err="1">
                <a:solidFill>
                  <a:srgbClr val="D3EEE7"/>
                </a:solidFill>
                <a:latin typeface="Arial" panose="020B0604020202020204" pitchFamily="34" charset="0"/>
                <a:ea typeface="Calibri" pitchFamily="34" charset="-122"/>
                <a:cs typeface="Arial" panose="020B0604020202020204" pitchFamily="34" charset="0"/>
              </a:rPr>
              <a:t>luận</a:t>
            </a:r>
            <a:r>
              <a:rPr lang="en-US" sz="1600" dirty="0">
                <a:solidFill>
                  <a:srgbClr val="D3EEE7"/>
                </a:solidFill>
                <a:latin typeface="Arial" panose="020B0604020202020204" pitchFamily="34" charset="0"/>
                <a:ea typeface="Calibri" pitchFamily="34" charset="-122"/>
                <a:cs typeface="Arial" panose="020B0604020202020204" pitchFamily="34" charset="0"/>
              </a:rPr>
              <a:t> · Báo cáo</a:t>
            </a:r>
            <a:endParaRPr lang="en-US" sz="1600" dirty="0">
              <a:latin typeface="Arial" panose="020B0604020202020204" pitchFamily="34" charset="0"/>
              <a:cs typeface="Arial" panose="020B0604020202020204" pitchFamily="34" charset="0"/>
            </a:endParaRPr>
          </a:p>
        </p:txBody>
      </p:sp>
      <p:sp>
        <p:nvSpPr>
          <p:cNvPr id="31" name="Shape 13">
            <a:extLst>
              <a:ext uri="{FF2B5EF4-FFF2-40B4-BE49-F238E27FC236}">
                <a16:creationId xmlns:a16="http://schemas.microsoft.com/office/drawing/2014/main" id="{086741D0-8617-5241-189D-9BFC13C91C19}"/>
              </a:ext>
            </a:extLst>
          </p:cNvPr>
          <p:cNvSpPr/>
          <p:nvPr/>
        </p:nvSpPr>
        <p:spPr>
          <a:xfrm>
            <a:off x="9144000" y="2552700"/>
            <a:ext cx="0" cy="228600"/>
          </a:xfrm>
          <a:prstGeom prst="line">
            <a:avLst/>
          </a:prstGeom>
          <a:noFill/>
          <a:ln w="19050">
            <a:solidFill>
              <a:srgbClr val="6B7280"/>
            </a:solidFill>
            <a:prstDash val="solid"/>
          </a:ln>
        </p:spPr>
        <p:txBody>
          <a:bodyPr/>
          <a:lstStyle/>
          <a:p>
            <a:endParaRPr lang="en-VN"/>
          </a:p>
        </p:txBody>
      </p:sp>
      <p:sp>
        <p:nvSpPr>
          <p:cNvPr id="33" name="Shape 14">
            <a:extLst>
              <a:ext uri="{FF2B5EF4-FFF2-40B4-BE49-F238E27FC236}">
                <a16:creationId xmlns:a16="http://schemas.microsoft.com/office/drawing/2014/main" id="{4610CB86-0C36-721F-469E-8CD8190406EA}"/>
              </a:ext>
            </a:extLst>
          </p:cNvPr>
          <p:cNvSpPr/>
          <p:nvPr/>
        </p:nvSpPr>
        <p:spPr>
          <a:xfrm>
            <a:off x="9144000" y="3649980"/>
            <a:ext cx="0" cy="320040"/>
          </a:xfrm>
          <a:prstGeom prst="line">
            <a:avLst/>
          </a:prstGeom>
          <a:noFill/>
          <a:ln w="19050">
            <a:solidFill>
              <a:srgbClr val="6B7280"/>
            </a:solidFill>
            <a:prstDash val="solid"/>
          </a:ln>
        </p:spPr>
        <p:txBody>
          <a:bodyPr/>
          <a:lstStyle/>
          <a:p>
            <a:endParaRPr lang="en-VN"/>
          </a:p>
        </p:txBody>
      </p:sp>
      <p:sp>
        <p:nvSpPr>
          <p:cNvPr id="35" name="Shape 15">
            <a:extLst>
              <a:ext uri="{FF2B5EF4-FFF2-40B4-BE49-F238E27FC236}">
                <a16:creationId xmlns:a16="http://schemas.microsoft.com/office/drawing/2014/main" id="{80691D93-DC2A-29D3-8869-FB126C19FB9A}"/>
              </a:ext>
            </a:extLst>
          </p:cNvPr>
          <p:cNvSpPr/>
          <p:nvPr/>
        </p:nvSpPr>
        <p:spPr>
          <a:xfrm>
            <a:off x="2697480" y="3970020"/>
            <a:ext cx="12701016" cy="0"/>
          </a:xfrm>
          <a:prstGeom prst="line">
            <a:avLst/>
          </a:prstGeom>
          <a:noFill/>
          <a:ln w="19050">
            <a:solidFill>
              <a:srgbClr val="6B7280"/>
            </a:solidFill>
            <a:prstDash val="solid"/>
          </a:ln>
        </p:spPr>
        <p:txBody>
          <a:bodyPr/>
          <a:lstStyle/>
          <a:p>
            <a:endParaRPr lang="en-VN"/>
          </a:p>
        </p:txBody>
      </p:sp>
      <p:sp>
        <p:nvSpPr>
          <p:cNvPr id="37" name="Shape 16">
            <a:extLst>
              <a:ext uri="{FF2B5EF4-FFF2-40B4-BE49-F238E27FC236}">
                <a16:creationId xmlns:a16="http://schemas.microsoft.com/office/drawing/2014/main" id="{22911FED-0DD9-DE8A-EBE4-9F57083E158A}"/>
              </a:ext>
            </a:extLst>
          </p:cNvPr>
          <p:cNvSpPr/>
          <p:nvPr/>
        </p:nvSpPr>
        <p:spPr>
          <a:xfrm>
            <a:off x="2697480" y="3970020"/>
            <a:ext cx="0" cy="210312"/>
          </a:xfrm>
          <a:prstGeom prst="line">
            <a:avLst/>
          </a:prstGeom>
          <a:noFill/>
          <a:ln w="19050">
            <a:solidFill>
              <a:srgbClr val="6B7280"/>
            </a:solidFill>
            <a:prstDash val="solid"/>
          </a:ln>
        </p:spPr>
        <p:txBody>
          <a:bodyPr/>
          <a:lstStyle/>
          <a:p>
            <a:endParaRPr lang="en-VN"/>
          </a:p>
        </p:txBody>
      </p:sp>
      <p:sp>
        <p:nvSpPr>
          <p:cNvPr id="39" name="Shape 17">
            <a:extLst>
              <a:ext uri="{FF2B5EF4-FFF2-40B4-BE49-F238E27FC236}">
                <a16:creationId xmlns:a16="http://schemas.microsoft.com/office/drawing/2014/main" id="{F17C157F-2C05-6727-12AF-91DC769F7B2A}"/>
              </a:ext>
            </a:extLst>
          </p:cNvPr>
          <p:cNvSpPr/>
          <p:nvPr/>
        </p:nvSpPr>
        <p:spPr>
          <a:xfrm>
            <a:off x="685800" y="4180332"/>
            <a:ext cx="4023360" cy="502920"/>
          </a:xfrm>
          <a:prstGeom prst="rect">
            <a:avLst/>
          </a:prstGeom>
          <a:solidFill>
            <a:srgbClr val="0F7A6B"/>
          </a:solidFill>
          <a:ln/>
        </p:spPr>
        <p:txBody>
          <a:bodyPr/>
          <a:lstStyle/>
          <a:p>
            <a:endParaRPr lang="en-VN"/>
          </a:p>
        </p:txBody>
      </p:sp>
      <p:sp>
        <p:nvSpPr>
          <p:cNvPr id="41" name="Text 18">
            <a:extLst>
              <a:ext uri="{FF2B5EF4-FFF2-40B4-BE49-F238E27FC236}">
                <a16:creationId xmlns:a16="http://schemas.microsoft.com/office/drawing/2014/main" id="{5A20FD43-837F-1CDA-7315-7CA30C9B5ACC}"/>
              </a:ext>
            </a:extLst>
          </p:cNvPr>
          <p:cNvSpPr/>
          <p:nvPr/>
        </p:nvSpPr>
        <p:spPr>
          <a:xfrm>
            <a:off x="777240" y="4180332"/>
            <a:ext cx="3840480" cy="502920"/>
          </a:xfrm>
          <a:prstGeom prst="rect">
            <a:avLst/>
          </a:prstGeom>
          <a:noFill/>
          <a:ln/>
        </p:spPr>
        <p:txBody>
          <a:bodyPr wrap="square" lIns="0" tIns="0" rIns="0" bIns="0"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KHỐI KINH DOANH</a:t>
            </a:r>
            <a:endParaRPr lang="en-US" dirty="0">
              <a:latin typeface="Arial" panose="020B0604020202020204" pitchFamily="34" charset="0"/>
              <a:cs typeface="Arial" panose="020B0604020202020204" pitchFamily="34" charset="0"/>
            </a:endParaRPr>
          </a:p>
        </p:txBody>
      </p:sp>
      <p:sp>
        <p:nvSpPr>
          <p:cNvPr id="43" name="Shape 19">
            <a:extLst>
              <a:ext uri="{FF2B5EF4-FFF2-40B4-BE49-F238E27FC236}">
                <a16:creationId xmlns:a16="http://schemas.microsoft.com/office/drawing/2014/main" id="{F47BEE3D-8B81-D564-94D3-527BEB120774}"/>
              </a:ext>
            </a:extLst>
          </p:cNvPr>
          <p:cNvSpPr/>
          <p:nvPr/>
        </p:nvSpPr>
        <p:spPr>
          <a:xfrm>
            <a:off x="685800" y="4802124"/>
            <a:ext cx="4023360" cy="658368"/>
          </a:xfrm>
          <a:prstGeom prst="roundRect">
            <a:avLst>
              <a:gd name="adj" fmla="val 8333"/>
            </a:avLst>
          </a:prstGeom>
          <a:solidFill>
            <a:srgbClr val="E4F1EF"/>
          </a:solidFill>
          <a:ln w="12700">
            <a:solidFill>
              <a:srgbClr val="FFFFFF"/>
            </a:solidFill>
            <a:prstDash val="solid"/>
          </a:ln>
        </p:spPr>
        <p:txBody>
          <a:bodyPr/>
          <a:lstStyle/>
          <a:p>
            <a:endParaRPr lang="en-VN"/>
          </a:p>
        </p:txBody>
      </p:sp>
      <p:sp>
        <p:nvSpPr>
          <p:cNvPr id="45" name="Shape 20">
            <a:extLst>
              <a:ext uri="{FF2B5EF4-FFF2-40B4-BE49-F238E27FC236}">
                <a16:creationId xmlns:a16="http://schemas.microsoft.com/office/drawing/2014/main" id="{1E6C23B4-AC13-B3F0-177E-BD1875BF79CB}"/>
              </a:ext>
            </a:extLst>
          </p:cNvPr>
          <p:cNvSpPr/>
          <p:nvPr/>
        </p:nvSpPr>
        <p:spPr>
          <a:xfrm>
            <a:off x="685800" y="4802124"/>
            <a:ext cx="100584" cy="658368"/>
          </a:xfrm>
          <a:prstGeom prst="rect">
            <a:avLst/>
          </a:prstGeom>
          <a:solidFill>
            <a:srgbClr val="0F7A6B"/>
          </a:solidFill>
          <a:ln/>
        </p:spPr>
        <p:txBody>
          <a:bodyPr/>
          <a:lstStyle/>
          <a:p>
            <a:endParaRPr lang="en-VN"/>
          </a:p>
        </p:txBody>
      </p:sp>
      <p:sp>
        <p:nvSpPr>
          <p:cNvPr id="47" name="Text 21">
            <a:extLst>
              <a:ext uri="{FF2B5EF4-FFF2-40B4-BE49-F238E27FC236}">
                <a16:creationId xmlns:a16="http://schemas.microsoft.com/office/drawing/2014/main" id="{00BA0052-0393-E6A2-1104-456C6980BA12}"/>
              </a:ext>
            </a:extLst>
          </p:cNvPr>
          <p:cNvSpPr/>
          <p:nvPr/>
        </p:nvSpPr>
        <p:spPr>
          <a:xfrm>
            <a:off x="914400" y="4802124"/>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TT Thanh toán số</a:t>
            </a:r>
            <a:endParaRPr lang="en-US" sz="1600" dirty="0">
              <a:latin typeface="Arial" panose="020B0604020202020204" pitchFamily="34" charset="0"/>
              <a:cs typeface="Arial" panose="020B0604020202020204" pitchFamily="34" charset="0"/>
            </a:endParaRPr>
          </a:p>
        </p:txBody>
      </p:sp>
      <p:sp>
        <p:nvSpPr>
          <p:cNvPr id="49" name="Shape 22">
            <a:extLst>
              <a:ext uri="{FF2B5EF4-FFF2-40B4-BE49-F238E27FC236}">
                <a16:creationId xmlns:a16="http://schemas.microsoft.com/office/drawing/2014/main" id="{E59BDC4C-F200-FE79-C009-450E7D393561}"/>
              </a:ext>
            </a:extLst>
          </p:cNvPr>
          <p:cNvSpPr/>
          <p:nvPr/>
        </p:nvSpPr>
        <p:spPr>
          <a:xfrm>
            <a:off x="685800" y="5551932"/>
            <a:ext cx="4023360" cy="658368"/>
          </a:xfrm>
          <a:prstGeom prst="roundRect">
            <a:avLst>
              <a:gd name="adj" fmla="val 8333"/>
            </a:avLst>
          </a:prstGeom>
          <a:solidFill>
            <a:srgbClr val="E4F1EF"/>
          </a:solidFill>
          <a:ln w="12700">
            <a:solidFill>
              <a:srgbClr val="FFFFFF"/>
            </a:solidFill>
            <a:prstDash val="solid"/>
          </a:ln>
        </p:spPr>
        <p:txBody>
          <a:bodyPr/>
          <a:lstStyle/>
          <a:p>
            <a:endParaRPr lang="en-VN"/>
          </a:p>
        </p:txBody>
      </p:sp>
      <p:sp>
        <p:nvSpPr>
          <p:cNvPr id="51" name="Shape 23">
            <a:extLst>
              <a:ext uri="{FF2B5EF4-FFF2-40B4-BE49-F238E27FC236}">
                <a16:creationId xmlns:a16="http://schemas.microsoft.com/office/drawing/2014/main" id="{3F1B1B84-73B4-EC9E-0C6B-AA70C0E2E33A}"/>
              </a:ext>
            </a:extLst>
          </p:cNvPr>
          <p:cNvSpPr/>
          <p:nvPr/>
        </p:nvSpPr>
        <p:spPr>
          <a:xfrm>
            <a:off x="685800" y="5551932"/>
            <a:ext cx="100584" cy="658368"/>
          </a:xfrm>
          <a:prstGeom prst="rect">
            <a:avLst/>
          </a:prstGeom>
          <a:solidFill>
            <a:srgbClr val="0F7A6B"/>
          </a:solidFill>
          <a:ln/>
        </p:spPr>
        <p:txBody>
          <a:bodyPr/>
          <a:lstStyle/>
          <a:p>
            <a:endParaRPr lang="en-VN"/>
          </a:p>
        </p:txBody>
      </p:sp>
      <p:sp>
        <p:nvSpPr>
          <p:cNvPr id="53" name="Text 24">
            <a:extLst>
              <a:ext uri="{FF2B5EF4-FFF2-40B4-BE49-F238E27FC236}">
                <a16:creationId xmlns:a16="http://schemas.microsoft.com/office/drawing/2014/main" id="{85446B6F-B5A9-56CD-4F40-46389171DE40}"/>
              </a:ext>
            </a:extLst>
          </p:cNvPr>
          <p:cNvSpPr/>
          <p:nvPr/>
        </p:nvSpPr>
        <p:spPr>
          <a:xfrm>
            <a:off x="914400" y="5551932"/>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TT Tài chính số</a:t>
            </a:r>
            <a:endParaRPr lang="en-US" sz="1600" dirty="0">
              <a:latin typeface="Arial" panose="020B0604020202020204" pitchFamily="34" charset="0"/>
              <a:cs typeface="Arial" panose="020B0604020202020204" pitchFamily="34" charset="0"/>
            </a:endParaRPr>
          </a:p>
        </p:txBody>
      </p:sp>
      <p:sp>
        <p:nvSpPr>
          <p:cNvPr id="55" name="Shape 25">
            <a:extLst>
              <a:ext uri="{FF2B5EF4-FFF2-40B4-BE49-F238E27FC236}">
                <a16:creationId xmlns:a16="http://schemas.microsoft.com/office/drawing/2014/main" id="{E096F261-9528-E4E3-3338-B6C103B2C663}"/>
              </a:ext>
            </a:extLst>
          </p:cNvPr>
          <p:cNvSpPr/>
          <p:nvPr/>
        </p:nvSpPr>
        <p:spPr>
          <a:xfrm>
            <a:off x="685800" y="6301740"/>
            <a:ext cx="4023360" cy="658368"/>
          </a:xfrm>
          <a:prstGeom prst="roundRect">
            <a:avLst>
              <a:gd name="adj" fmla="val 8333"/>
            </a:avLst>
          </a:prstGeom>
          <a:solidFill>
            <a:srgbClr val="E4F1EF"/>
          </a:solidFill>
          <a:ln w="12700">
            <a:solidFill>
              <a:srgbClr val="FFFFFF"/>
            </a:solidFill>
            <a:prstDash val="solid"/>
          </a:ln>
        </p:spPr>
        <p:txBody>
          <a:bodyPr/>
          <a:lstStyle/>
          <a:p>
            <a:endParaRPr lang="en-VN"/>
          </a:p>
        </p:txBody>
      </p:sp>
      <p:sp>
        <p:nvSpPr>
          <p:cNvPr id="57" name="Shape 26">
            <a:extLst>
              <a:ext uri="{FF2B5EF4-FFF2-40B4-BE49-F238E27FC236}">
                <a16:creationId xmlns:a16="http://schemas.microsoft.com/office/drawing/2014/main" id="{C7907577-5CAB-3742-8020-CD2189B224F2}"/>
              </a:ext>
            </a:extLst>
          </p:cNvPr>
          <p:cNvSpPr/>
          <p:nvPr/>
        </p:nvSpPr>
        <p:spPr>
          <a:xfrm>
            <a:off x="685800" y="6301740"/>
            <a:ext cx="100584" cy="658368"/>
          </a:xfrm>
          <a:prstGeom prst="rect">
            <a:avLst/>
          </a:prstGeom>
          <a:solidFill>
            <a:srgbClr val="0F7A6B"/>
          </a:solidFill>
          <a:ln/>
        </p:spPr>
        <p:txBody>
          <a:bodyPr/>
          <a:lstStyle/>
          <a:p>
            <a:endParaRPr lang="en-VN"/>
          </a:p>
        </p:txBody>
      </p:sp>
      <p:sp>
        <p:nvSpPr>
          <p:cNvPr id="59" name="Text 27">
            <a:extLst>
              <a:ext uri="{FF2B5EF4-FFF2-40B4-BE49-F238E27FC236}">
                <a16:creationId xmlns:a16="http://schemas.microsoft.com/office/drawing/2014/main" id="{9366647B-BB62-759D-87D7-D633BD3A0EE1}"/>
              </a:ext>
            </a:extLst>
          </p:cNvPr>
          <p:cNvSpPr/>
          <p:nvPr/>
        </p:nvSpPr>
        <p:spPr>
          <a:xfrm>
            <a:off x="914400" y="6301740"/>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TT Giải pháp CN tài chính toàn cầu</a:t>
            </a:r>
            <a:endParaRPr lang="en-US" sz="1600" dirty="0">
              <a:latin typeface="Arial" panose="020B0604020202020204" pitchFamily="34" charset="0"/>
              <a:cs typeface="Arial" panose="020B0604020202020204" pitchFamily="34" charset="0"/>
            </a:endParaRPr>
          </a:p>
        </p:txBody>
      </p:sp>
      <p:sp>
        <p:nvSpPr>
          <p:cNvPr id="61" name="Shape 28">
            <a:extLst>
              <a:ext uri="{FF2B5EF4-FFF2-40B4-BE49-F238E27FC236}">
                <a16:creationId xmlns:a16="http://schemas.microsoft.com/office/drawing/2014/main" id="{2F91E773-431F-686D-BCA0-8B2822DB94B1}"/>
              </a:ext>
            </a:extLst>
          </p:cNvPr>
          <p:cNvSpPr/>
          <p:nvPr/>
        </p:nvSpPr>
        <p:spPr>
          <a:xfrm>
            <a:off x="6931152" y="3970020"/>
            <a:ext cx="0" cy="210312"/>
          </a:xfrm>
          <a:prstGeom prst="line">
            <a:avLst/>
          </a:prstGeom>
          <a:noFill/>
          <a:ln w="19050">
            <a:solidFill>
              <a:srgbClr val="6B7280"/>
            </a:solidFill>
            <a:prstDash val="solid"/>
          </a:ln>
        </p:spPr>
        <p:txBody>
          <a:bodyPr/>
          <a:lstStyle/>
          <a:p>
            <a:endParaRPr lang="en-VN"/>
          </a:p>
        </p:txBody>
      </p:sp>
      <p:sp>
        <p:nvSpPr>
          <p:cNvPr id="63" name="Shape 29">
            <a:extLst>
              <a:ext uri="{FF2B5EF4-FFF2-40B4-BE49-F238E27FC236}">
                <a16:creationId xmlns:a16="http://schemas.microsoft.com/office/drawing/2014/main" id="{45DB5899-2C0C-70DF-7906-55F86FAEDC53}"/>
              </a:ext>
            </a:extLst>
          </p:cNvPr>
          <p:cNvSpPr/>
          <p:nvPr/>
        </p:nvSpPr>
        <p:spPr>
          <a:xfrm>
            <a:off x="4919472" y="4180332"/>
            <a:ext cx="4023360" cy="502920"/>
          </a:xfrm>
          <a:prstGeom prst="rect">
            <a:avLst/>
          </a:prstGeom>
          <a:solidFill>
            <a:srgbClr val="0F7A6B"/>
          </a:solidFill>
          <a:ln/>
        </p:spPr>
        <p:txBody>
          <a:bodyPr/>
          <a:lstStyle/>
          <a:p>
            <a:endParaRPr lang="en-VN"/>
          </a:p>
        </p:txBody>
      </p:sp>
      <p:sp>
        <p:nvSpPr>
          <p:cNvPr id="1863056577" name="Text 30">
            <a:extLst>
              <a:ext uri="{FF2B5EF4-FFF2-40B4-BE49-F238E27FC236}">
                <a16:creationId xmlns:a16="http://schemas.microsoft.com/office/drawing/2014/main" id="{FF8CAEF2-5AD1-1C07-EE86-17702EAD0C80}"/>
              </a:ext>
            </a:extLst>
          </p:cNvPr>
          <p:cNvSpPr/>
          <p:nvPr/>
        </p:nvSpPr>
        <p:spPr>
          <a:xfrm>
            <a:off x="5010912" y="4180332"/>
            <a:ext cx="3840480" cy="502920"/>
          </a:xfrm>
          <a:prstGeom prst="rect">
            <a:avLst/>
          </a:prstGeom>
          <a:noFill/>
          <a:ln/>
        </p:spPr>
        <p:txBody>
          <a:bodyPr wrap="square" lIns="0" tIns="0" rIns="0" bIns="0"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KHỐI CHIẾN LƯỢC MỚI</a:t>
            </a:r>
            <a:endParaRPr lang="en-US" dirty="0">
              <a:latin typeface="Arial" panose="020B0604020202020204" pitchFamily="34" charset="0"/>
              <a:cs typeface="Arial" panose="020B0604020202020204" pitchFamily="34" charset="0"/>
            </a:endParaRPr>
          </a:p>
        </p:txBody>
      </p:sp>
      <p:sp>
        <p:nvSpPr>
          <p:cNvPr id="1863056579" name="Shape 31">
            <a:extLst>
              <a:ext uri="{FF2B5EF4-FFF2-40B4-BE49-F238E27FC236}">
                <a16:creationId xmlns:a16="http://schemas.microsoft.com/office/drawing/2014/main" id="{E408965F-C660-7B47-9EE0-BF4F30E9C95B}"/>
              </a:ext>
            </a:extLst>
          </p:cNvPr>
          <p:cNvSpPr/>
          <p:nvPr/>
        </p:nvSpPr>
        <p:spPr>
          <a:xfrm>
            <a:off x="4919472" y="4802124"/>
            <a:ext cx="4023360" cy="658368"/>
          </a:xfrm>
          <a:prstGeom prst="roundRect">
            <a:avLst>
              <a:gd name="adj" fmla="val 8333"/>
            </a:avLst>
          </a:prstGeom>
          <a:solidFill>
            <a:srgbClr val="E4F1EF"/>
          </a:solidFill>
          <a:ln w="12700">
            <a:solidFill>
              <a:srgbClr val="FFFFFF"/>
            </a:solidFill>
            <a:prstDash val="solid"/>
          </a:ln>
        </p:spPr>
        <p:txBody>
          <a:bodyPr/>
          <a:lstStyle/>
          <a:p>
            <a:endParaRPr lang="en-VN"/>
          </a:p>
        </p:txBody>
      </p:sp>
      <p:sp>
        <p:nvSpPr>
          <p:cNvPr id="1863056581" name="Shape 32">
            <a:extLst>
              <a:ext uri="{FF2B5EF4-FFF2-40B4-BE49-F238E27FC236}">
                <a16:creationId xmlns:a16="http://schemas.microsoft.com/office/drawing/2014/main" id="{D210ADD1-A422-32A1-4D45-9F978A24A9A8}"/>
              </a:ext>
            </a:extLst>
          </p:cNvPr>
          <p:cNvSpPr/>
          <p:nvPr/>
        </p:nvSpPr>
        <p:spPr>
          <a:xfrm>
            <a:off x="4919472" y="4802124"/>
            <a:ext cx="100584" cy="658368"/>
          </a:xfrm>
          <a:prstGeom prst="rect">
            <a:avLst/>
          </a:prstGeom>
          <a:solidFill>
            <a:srgbClr val="0F7A6B"/>
          </a:solidFill>
          <a:ln/>
        </p:spPr>
        <p:txBody>
          <a:bodyPr/>
          <a:lstStyle/>
          <a:p>
            <a:endParaRPr lang="en-VN"/>
          </a:p>
        </p:txBody>
      </p:sp>
      <p:sp>
        <p:nvSpPr>
          <p:cNvPr id="1863056583" name="Text 33">
            <a:extLst>
              <a:ext uri="{FF2B5EF4-FFF2-40B4-BE49-F238E27FC236}">
                <a16:creationId xmlns:a16="http://schemas.microsoft.com/office/drawing/2014/main" id="{FAFB2757-9B5E-364B-4D45-906E07F552B9}"/>
              </a:ext>
            </a:extLst>
          </p:cNvPr>
          <p:cNvSpPr/>
          <p:nvPr/>
        </p:nvSpPr>
        <p:spPr>
          <a:xfrm>
            <a:off x="5148072" y="4802124"/>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Ban Blockchain &amp; Tài sản số</a:t>
            </a:r>
            <a:endParaRPr lang="en-US" sz="1600" dirty="0">
              <a:latin typeface="Arial" panose="020B0604020202020204" pitchFamily="34" charset="0"/>
              <a:cs typeface="Arial" panose="020B0604020202020204" pitchFamily="34" charset="0"/>
            </a:endParaRPr>
          </a:p>
        </p:txBody>
      </p:sp>
      <p:sp>
        <p:nvSpPr>
          <p:cNvPr id="1863056585" name="Shape 34">
            <a:extLst>
              <a:ext uri="{FF2B5EF4-FFF2-40B4-BE49-F238E27FC236}">
                <a16:creationId xmlns:a16="http://schemas.microsoft.com/office/drawing/2014/main" id="{1D9E0953-5FE4-C8B8-EB89-9720C8D23C52}"/>
              </a:ext>
            </a:extLst>
          </p:cNvPr>
          <p:cNvSpPr/>
          <p:nvPr/>
        </p:nvSpPr>
        <p:spPr>
          <a:xfrm>
            <a:off x="4919472" y="5551932"/>
            <a:ext cx="4023360" cy="658368"/>
          </a:xfrm>
          <a:prstGeom prst="roundRect">
            <a:avLst>
              <a:gd name="adj" fmla="val 8333"/>
            </a:avLst>
          </a:prstGeom>
          <a:solidFill>
            <a:srgbClr val="E4F1EF"/>
          </a:solidFill>
          <a:ln w="12700">
            <a:solidFill>
              <a:srgbClr val="FFFFFF"/>
            </a:solidFill>
            <a:prstDash val="solid"/>
          </a:ln>
        </p:spPr>
        <p:txBody>
          <a:bodyPr/>
          <a:lstStyle/>
          <a:p>
            <a:endParaRPr lang="en-VN"/>
          </a:p>
        </p:txBody>
      </p:sp>
      <p:sp>
        <p:nvSpPr>
          <p:cNvPr id="1863056587" name="Shape 35">
            <a:extLst>
              <a:ext uri="{FF2B5EF4-FFF2-40B4-BE49-F238E27FC236}">
                <a16:creationId xmlns:a16="http://schemas.microsoft.com/office/drawing/2014/main" id="{775F2D62-202C-D06D-650F-F065597C37A3}"/>
              </a:ext>
            </a:extLst>
          </p:cNvPr>
          <p:cNvSpPr/>
          <p:nvPr/>
        </p:nvSpPr>
        <p:spPr>
          <a:xfrm>
            <a:off x="4919472" y="5551932"/>
            <a:ext cx="100584" cy="658368"/>
          </a:xfrm>
          <a:prstGeom prst="rect">
            <a:avLst/>
          </a:prstGeom>
          <a:solidFill>
            <a:srgbClr val="0F7A6B"/>
          </a:solidFill>
          <a:ln/>
        </p:spPr>
        <p:txBody>
          <a:bodyPr/>
          <a:lstStyle/>
          <a:p>
            <a:endParaRPr lang="en-VN"/>
          </a:p>
        </p:txBody>
      </p:sp>
      <p:sp>
        <p:nvSpPr>
          <p:cNvPr id="1863056589" name="Text 36">
            <a:extLst>
              <a:ext uri="{FF2B5EF4-FFF2-40B4-BE49-F238E27FC236}">
                <a16:creationId xmlns:a16="http://schemas.microsoft.com/office/drawing/2014/main" id="{D5BFFB5C-7CBD-C019-8A03-C93BF490E1A5}"/>
              </a:ext>
            </a:extLst>
          </p:cNvPr>
          <p:cNvSpPr/>
          <p:nvPr/>
        </p:nvSpPr>
        <p:spPr>
          <a:xfrm>
            <a:off x="5148072" y="5551932"/>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TT Dịch vụ mới</a:t>
            </a:r>
            <a:endParaRPr lang="en-US" sz="1600" dirty="0">
              <a:latin typeface="Arial" panose="020B0604020202020204" pitchFamily="34" charset="0"/>
              <a:cs typeface="Arial" panose="020B0604020202020204" pitchFamily="34" charset="0"/>
            </a:endParaRPr>
          </a:p>
        </p:txBody>
      </p:sp>
      <p:sp>
        <p:nvSpPr>
          <p:cNvPr id="1863056591" name="Shape 37">
            <a:extLst>
              <a:ext uri="{FF2B5EF4-FFF2-40B4-BE49-F238E27FC236}">
                <a16:creationId xmlns:a16="http://schemas.microsoft.com/office/drawing/2014/main" id="{B5AC6718-0869-CC1E-E3E9-6B979F9DFD14}"/>
              </a:ext>
            </a:extLst>
          </p:cNvPr>
          <p:cNvSpPr/>
          <p:nvPr/>
        </p:nvSpPr>
        <p:spPr>
          <a:xfrm>
            <a:off x="11164824" y="3970020"/>
            <a:ext cx="0" cy="210312"/>
          </a:xfrm>
          <a:prstGeom prst="line">
            <a:avLst/>
          </a:prstGeom>
          <a:noFill/>
          <a:ln w="19050">
            <a:solidFill>
              <a:srgbClr val="6B7280"/>
            </a:solidFill>
            <a:prstDash val="solid"/>
          </a:ln>
        </p:spPr>
        <p:txBody>
          <a:bodyPr/>
          <a:lstStyle/>
          <a:p>
            <a:endParaRPr lang="en-VN"/>
          </a:p>
        </p:txBody>
      </p:sp>
      <p:sp>
        <p:nvSpPr>
          <p:cNvPr id="1863056593" name="Shape 38">
            <a:extLst>
              <a:ext uri="{FF2B5EF4-FFF2-40B4-BE49-F238E27FC236}">
                <a16:creationId xmlns:a16="http://schemas.microsoft.com/office/drawing/2014/main" id="{0858C021-0879-D843-715C-20C6A1ABC405}"/>
              </a:ext>
            </a:extLst>
          </p:cNvPr>
          <p:cNvSpPr/>
          <p:nvPr/>
        </p:nvSpPr>
        <p:spPr>
          <a:xfrm>
            <a:off x="9153144" y="4180332"/>
            <a:ext cx="4023360" cy="502920"/>
          </a:xfrm>
          <a:prstGeom prst="rect">
            <a:avLst/>
          </a:prstGeom>
          <a:solidFill>
            <a:srgbClr val="0F7A6B"/>
          </a:solidFill>
          <a:ln/>
        </p:spPr>
        <p:txBody>
          <a:bodyPr/>
          <a:lstStyle/>
          <a:p>
            <a:endParaRPr lang="en-VN"/>
          </a:p>
        </p:txBody>
      </p:sp>
      <p:sp>
        <p:nvSpPr>
          <p:cNvPr id="1863056595" name="Text 39">
            <a:extLst>
              <a:ext uri="{FF2B5EF4-FFF2-40B4-BE49-F238E27FC236}">
                <a16:creationId xmlns:a16="http://schemas.microsoft.com/office/drawing/2014/main" id="{364F5566-A730-256C-62E1-5D0F9874217E}"/>
              </a:ext>
            </a:extLst>
          </p:cNvPr>
          <p:cNvSpPr/>
          <p:nvPr/>
        </p:nvSpPr>
        <p:spPr>
          <a:xfrm>
            <a:off x="9244584" y="4180332"/>
            <a:ext cx="3840480" cy="502920"/>
          </a:xfrm>
          <a:prstGeom prst="rect">
            <a:avLst/>
          </a:prstGeom>
          <a:noFill/>
          <a:ln/>
        </p:spPr>
        <p:txBody>
          <a:bodyPr wrap="square" lIns="0" tIns="0" rIns="0" bIns="0"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KHỐI NỀN TẢNG DÙNG CHUNG</a:t>
            </a:r>
            <a:endParaRPr lang="en-US" dirty="0">
              <a:latin typeface="Arial" panose="020B0604020202020204" pitchFamily="34" charset="0"/>
              <a:cs typeface="Arial" panose="020B0604020202020204" pitchFamily="34" charset="0"/>
            </a:endParaRPr>
          </a:p>
        </p:txBody>
      </p:sp>
      <p:sp>
        <p:nvSpPr>
          <p:cNvPr id="1863056597" name="Shape 40">
            <a:extLst>
              <a:ext uri="{FF2B5EF4-FFF2-40B4-BE49-F238E27FC236}">
                <a16:creationId xmlns:a16="http://schemas.microsoft.com/office/drawing/2014/main" id="{451FBC79-9C8A-D34A-0078-3C751CF14AB4}"/>
              </a:ext>
            </a:extLst>
          </p:cNvPr>
          <p:cNvSpPr/>
          <p:nvPr/>
        </p:nvSpPr>
        <p:spPr>
          <a:xfrm>
            <a:off x="9153144" y="4802124"/>
            <a:ext cx="4023360" cy="658368"/>
          </a:xfrm>
          <a:prstGeom prst="roundRect">
            <a:avLst>
              <a:gd name="adj" fmla="val 8333"/>
            </a:avLst>
          </a:prstGeom>
          <a:solidFill>
            <a:srgbClr val="0F7A6B"/>
          </a:solidFill>
          <a:ln/>
        </p:spPr>
        <p:txBody>
          <a:bodyPr/>
          <a:lstStyle/>
          <a:p>
            <a:endParaRPr lang="en-VN"/>
          </a:p>
        </p:txBody>
      </p:sp>
      <p:sp>
        <p:nvSpPr>
          <p:cNvPr id="1863056599" name="Shape 41">
            <a:extLst>
              <a:ext uri="{FF2B5EF4-FFF2-40B4-BE49-F238E27FC236}">
                <a16:creationId xmlns:a16="http://schemas.microsoft.com/office/drawing/2014/main" id="{C0F8741B-8520-E1C8-D3C3-5552C49EE262}"/>
              </a:ext>
            </a:extLst>
          </p:cNvPr>
          <p:cNvSpPr/>
          <p:nvPr/>
        </p:nvSpPr>
        <p:spPr>
          <a:xfrm>
            <a:off x="9153144" y="4802124"/>
            <a:ext cx="100584" cy="658368"/>
          </a:xfrm>
          <a:prstGeom prst="rect">
            <a:avLst/>
          </a:prstGeom>
          <a:solidFill>
            <a:srgbClr val="0F7A6B"/>
          </a:solidFill>
          <a:ln/>
        </p:spPr>
        <p:txBody>
          <a:bodyPr/>
          <a:lstStyle/>
          <a:p>
            <a:endParaRPr lang="en-VN"/>
          </a:p>
        </p:txBody>
      </p:sp>
      <p:sp>
        <p:nvSpPr>
          <p:cNvPr id="1863056601" name="Text 42">
            <a:extLst>
              <a:ext uri="{FF2B5EF4-FFF2-40B4-BE49-F238E27FC236}">
                <a16:creationId xmlns:a16="http://schemas.microsoft.com/office/drawing/2014/main" id="{7CDBAD65-0339-8903-68C9-0719932A7B93}"/>
              </a:ext>
            </a:extLst>
          </p:cNvPr>
          <p:cNvSpPr/>
          <p:nvPr/>
        </p:nvSpPr>
        <p:spPr>
          <a:xfrm>
            <a:off x="9381744" y="4802124"/>
            <a:ext cx="3703320" cy="658368"/>
          </a:xfrm>
          <a:prstGeom prst="rect">
            <a:avLst/>
          </a:prstGeom>
          <a:noFill/>
          <a:ln/>
        </p:spPr>
        <p:txBody>
          <a:bodyPr wrap="square" lIns="0" tIns="0" rIns="0" bIns="0" rtlCol="0" anchor="ctr"/>
          <a:lstStyle/>
          <a:p>
            <a:pPr marL="0" indent="0" algn="l">
              <a:buNone/>
            </a:pPr>
            <a:r>
              <a:rPr lang="en-US" sz="1600" b="1" dirty="0">
                <a:solidFill>
                  <a:srgbClr val="FFFFFF"/>
                </a:solidFill>
                <a:latin typeface="Arial" panose="020B0604020202020204" pitchFamily="34" charset="0"/>
                <a:ea typeface="Calibri" pitchFamily="34" charset="-122"/>
                <a:cs typeface="Arial" panose="020B0604020202020204" pitchFamily="34" charset="0"/>
              </a:rPr>
              <a:t>TT Vận hành Khai thác  </a:t>
            </a:r>
            <a:r>
              <a:rPr lang="en-US" sz="1400" i="1" dirty="0">
                <a:solidFill>
                  <a:srgbClr val="D3EEE7"/>
                </a:solidFill>
                <a:latin typeface="Arial" panose="020B0604020202020204" pitchFamily="34" charset="0"/>
                <a:ea typeface="Calibri" pitchFamily="34" charset="-122"/>
                <a:cs typeface="Arial" panose="020B0604020202020204" pitchFamily="34" charset="0"/>
              </a:rPr>
              <a:t>(chủ trì · thí điểm)</a:t>
            </a:r>
            <a:endParaRPr lang="en-US" sz="1600" dirty="0">
              <a:latin typeface="Arial" panose="020B0604020202020204" pitchFamily="34" charset="0"/>
              <a:cs typeface="Arial" panose="020B0604020202020204" pitchFamily="34" charset="0"/>
            </a:endParaRPr>
          </a:p>
        </p:txBody>
      </p:sp>
      <p:sp>
        <p:nvSpPr>
          <p:cNvPr id="1863056603" name="Shape 43">
            <a:extLst>
              <a:ext uri="{FF2B5EF4-FFF2-40B4-BE49-F238E27FC236}">
                <a16:creationId xmlns:a16="http://schemas.microsoft.com/office/drawing/2014/main" id="{89A31C33-55D8-D69B-2924-1AD0A29AA859}"/>
              </a:ext>
            </a:extLst>
          </p:cNvPr>
          <p:cNvSpPr/>
          <p:nvPr/>
        </p:nvSpPr>
        <p:spPr>
          <a:xfrm>
            <a:off x="9153144" y="5551932"/>
            <a:ext cx="4023360" cy="658368"/>
          </a:xfrm>
          <a:prstGeom prst="roundRect">
            <a:avLst>
              <a:gd name="adj" fmla="val 8333"/>
            </a:avLst>
          </a:prstGeom>
          <a:solidFill>
            <a:srgbClr val="E4F1EF"/>
          </a:solidFill>
          <a:ln w="12700">
            <a:solidFill>
              <a:srgbClr val="FFFFFF"/>
            </a:solidFill>
            <a:prstDash val="solid"/>
          </a:ln>
        </p:spPr>
        <p:txBody>
          <a:bodyPr/>
          <a:lstStyle/>
          <a:p>
            <a:endParaRPr lang="en-VN"/>
          </a:p>
        </p:txBody>
      </p:sp>
      <p:sp>
        <p:nvSpPr>
          <p:cNvPr id="1863056605" name="Shape 44">
            <a:extLst>
              <a:ext uri="{FF2B5EF4-FFF2-40B4-BE49-F238E27FC236}">
                <a16:creationId xmlns:a16="http://schemas.microsoft.com/office/drawing/2014/main" id="{A0331472-A2A9-9B6B-2466-CBBFA4399DE9}"/>
              </a:ext>
            </a:extLst>
          </p:cNvPr>
          <p:cNvSpPr/>
          <p:nvPr/>
        </p:nvSpPr>
        <p:spPr>
          <a:xfrm>
            <a:off x="9153144" y="5551932"/>
            <a:ext cx="100584" cy="658368"/>
          </a:xfrm>
          <a:prstGeom prst="rect">
            <a:avLst/>
          </a:prstGeom>
          <a:solidFill>
            <a:srgbClr val="0F7A6B"/>
          </a:solidFill>
          <a:ln/>
        </p:spPr>
        <p:txBody>
          <a:bodyPr/>
          <a:lstStyle/>
          <a:p>
            <a:endParaRPr lang="en-VN"/>
          </a:p>
        </p:txBody>
      </p:sp>
      <p:sp>
        <p:nvSpPr>
          <p:cNvPr id="1863056607" name="Text 45">
            <a:extLst>
              <a:ext uri="{FF2B5EF4-FFF2-40B4-BE49-F238E27FC236}">
                <a16:creationId xmlns:a16="http://schemas.microsoft.com/office/drawing/2014/main" id="{E2823E24-480A-B9A8-A857-4AF3A7E06D74}"/>
              </a:ext>
            </a:extLst>
          </p:cNvPr>
          <p:cNvSpPr/>
          <p:nvPr/>
        </p:nvSpPr>
        <p:spPr>
          <a:xfrm>
            <a:off x="9381744" y="5551932"/>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TT Marketing &amp; Khách hàng</a:t>
            </a:r>
            <a:endParaRPr lang="en-US" sz="1600" dirty="0">
              <a:latin typeface="Arial" panose="020B0604020202020204" pitchFamily="34" charset="0"/>
              <a:cs typeface="Arial" panose="020B0604020202020204" pitchFamily="34" charset="0"/>
            </a:endParaRPr>
          </a:p>
        </p:txBody>
      </p:sp>
      <p:sp>
        <p:nvSpPr>
          <p:cNvPr id="1863056610" name="Shape 46">
            <a:extLst>
              <a:ext uri="{FF2B5EF4-FFF2-40B4-BE49-F238E27FC236}">
                <a16:creationId xmlns:a16="http://schemas.microsoft.com/office/drawing/2014/main" id="{04BD3CF7-2E21-E474-C3EA-D95BD43F0351}"/>
              </a:ext>
            </a:extLst>
          </p:cNvPr>
          <p:cNvSpPr/>
          <p:nvPr/>
        </p:nvSpPr>
        <p:spPr>
          <a:xfrm>
            <a:off x="9153144" y="6301740"/>
            <a:ext cx="4023360" cy="658368"/>
          </a:xfrm>
          <a:prstGeom prst="roundRect">
            <a:avLst>
              <a:gd name="adj" fmla="val 8333"/>
            </a:avLst>
          </a:prstGeom>
          <a:solidFill>
            <a:srgbClr val="EAEEF6"/>
          </a:solidFill>
          <a:ln w="12700">
            <a:solidFill>
              <a:srgbClr val="FFFFFF"/>
            </a:solidFill>
            <a:prstDash val="solid"/>
          </a:ln>
        </p:spPr>
        <p:txBody>
          <a:bodyPr/>
          <a:lstStyle/>
          <a:p>
            <a:endParaRPr lang="en-VN"/>
          </a:p>
        </p:txBody>
      </p:sp>
      <p:sp>
        <p:nvSpPr>
          <p:cNvPr id="1863056612" name="Shape 47">
            <a:extLst>
              <a:ext uri="{FF2B5EF4-FFF2-40B4-BE49-F238E27FC236}">
                <a16:creationId xmlns:a16="http://schemas.microsoft.com/office/drawing/2014/main" id="{BDC7784B-EE65-00C2-5E93-3459D007A7E4}"/>
              </a:ext>
            </a:extLst>
          </p:cNvPr>
          <p:cNvSpPr/>
          <p:nvPr/>
        </p:nvSpPr>
        <p:spPr>
          <a:xfrm>
            <a:off x="9153144" y="6301740"/>
            <a:ext cx="100584" cy="658368"/>
          </a:xfrm>
          <a:prstGeom prst="rect">
            <a:avLst/>
          </a:prstGeom>
          <a:solidFill>
            <a:srgbClr val="2E4B8B"/>
          </a:solidFill>
          <a:ln/>
        </p:spPr>
        <p:txBody>
          <a:bodyPr/>
          <a:lstStyle/>
          <a:p>
            <a:endParaRPr lang="en-VN"/>
          </a:p>
        </p:txBody>
      </p:sp>
      <p:sp>
        <p:nvSpPr>
          <p:cNvPr id="1863056614" name="Text 48">
            <a:extLst>
              <a:ext uri="{FF2B5EF4-FFF2-40B4-BE49-F238E27FC236}">
                <a16:creationId xmlns:a16="http://schemas.microsoft.com/office/drawing/2014/main" id="{ADB4E385-C464-E891-CB9B-027201C6984C}"/>
              </a:ext>
            </a:extLst>
          </p:cNvPr>
          <p:cNvSpPr/>
          <p:nvPr/>
        </p:nvSpPr>
        <p:spPr>
          <a:xfrm>
            <a:off x="9381744" y="6301740"/>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TT Công nghệ</a:t>
            </a:r>
            <a:endParaRPr lang="en-US" sz="1600" dirty="0">
              <a:latin typeface="Arial" panose="020B0604020202020204" pitchFamily="34" charset="0"/>
              <a:cs typeface="Arial" panose="020B0604020202020204" pitchFamily="34" charset="0"/>
            </a:endParaRPr>
          </a:p>
        </p:txBody>
      </p:sp>
      <p:sp>
        <p:nvSpPr>
          <p:cNvPr id="1863056616" name="Shape 49">
            <a:extLst>
              <a:ext uri="{FF2B5EF4-FFF2-40B4-BE49-F238E27FC236}">
                <a16:creationId xmlns:a16="http://schemas.microsoft.com/office/drawing/2014/main" id="{CEEAE6F8-6147-9977-4C88-72D63C02B87D}"/>
              </a:ext>
            </a:extLst>
          </p:cNvPr>
          <p:cNvSpPr/>
          <p:nvPr/>
        </p:nvSpPr>
        <p:spPr>
          <a:xfrm>
            <a:off x="9153144" y="7051548"/>
            <a:ext cx="4023360" cy="658368"/>
          </a:xfrm>
          <a:prstGeom prst="roundRect">
            <a:avLst>
              <a:gd name="adj" fmla="val 8333"/>
            </a:avLst>
          </a:prstGeom>
          <a:solidFill>
            <a:srgbClr val="EAEEF6"/>
          </a:solidFill>
          <a:ln w="12700">
            <a:solidFill>
              <a:srgbClr val="FFFFFF"/>
            </a:solidFill>
            <a:prstDash val="solid"/>
          </a:ln>
        </p:spPr>
        <p:txBody>
          <a:bodyPr/>
          <a:lstStyle/>
          <a:p>
            <a:endParaRPr lang="en-VN"/>
          </a:p>
        </p:txBody>
      </p:sp>
      <p:sp>
        <p:nvSpPr>
          <p:cNvPr id="1863056618" name="Shape 50">
            <a:extLst>
              <a:ext uri="{FF2B5EF4-FFF2-40B4-BE49-F238E27FC236}">
                <a16:creationId xmlns:a16="http://schemas.microsoft.com/office/drawing/2014/main" id="{B2CC23B1-7839-A3AE-AF79-FFF4F1CF2085}"/>
              </a:ext>
            </a:extLst>
          </p:cNvPr>
          <p:cNvSpPr/>
          <p:nvPr/>
        </p:nvSpPr>
        <p:spPr>
          <a:xfrm>
            <a:off x="9153144" y="7051548"/>
            <a:ext cx="100584" cy="658368"/>
          </a:xfrm>
          <a:prstGeom prst="rect">
            <a:avLst/>
          </a:prstGeom>
          <a:solidFill>
            <a:srgbClr val="2E4B8B"/>
          </a:solidFill>
          <a:ln/>
        </p:spPr>
        <p:txBody>
          <a:bodyPr/>
          <a:lstStyle/>
          <a:p>
            <a:endParaRPr lang="en-VN"/>
          </a:p>
        </p:txBody>
      </p:sp>
      <p:sp>
        <p:nvSpPr>
          <p:cNvPr id="1863056620" name="Text 51">
            <a:extLst>
              <a:ext uri="{FF2B5EF4-FFF2-40B4-BE49-F238E27FC236}">
                <a16:creationId xmlns:a16="http://schemas.microsoft.com/office/drawing/2014/main" id="{91B93C80-F747-BC38-7325-BFFAB2D7D280}"/>
              </a:ext>
            </a:extLst>
          </p:cNvPr>
          <p:cNvSpPr/>
          <p:nvPr/>
        </p:nvSpPr>
        <p:spPr>
          <a:xfrm>
            <a:off x="9381744" y="7051548"/>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TT Dữ liệu</a:t>
            </a:r>
            <a:endParaRPr lang="en-US" sz="1600" dirty="0">
              <a:latin typeface="Arial" panose="020B0604020202020204" pitchFamily="34" charset="0"/>
              <a:cs typeface="Arial" panose="020B0604020202020204" pitchFamily="34" charset="0"/>
            </a:endParaRPr>
          </a:p>
        </p:txBody>
      </p:sp>
      <p:sp>
        <p:nvSpPr>
          <p:cNvPr id="1863056622" name="Shape 52">
            <a:extLst>
              <a:ext uri="{FF2B5EF4-FFF2-40B4-BE49-F238E27FC236}">
                <a16:creationId xmlns:a16="http://schemas.microsoft.com/office/drawing/2014/main" id="{8C5CEB9C-632A-4083-185D-3F90DCBEDB7B}"/>
              </a:ext>
            </a:extLst>
          </p:cNvPr>
          <p:cNvSpPr/>
          <p:nvPr/>
        </p:nvSpPr>
        <p:spPr>
          <a:xfrm>
            <a:off x="15398496" y="3970020"/>
            <a:ext cx="0" cy="210312"/>
          </a:xfrm>
          <a:prstGeom prst="line">
            <a:avLst/>
          </a:prstGeom>
          <a:noFill/>
          <a:ln w="19050">
            <a:solidFill>
              <a:srgbClr val="6B7280"/>
            </a:solidFill>
            <a:prstDash val="solid"/>
          </a:ln>
        </p:spPr>
        <p:txBody>
          <a:bodyPr/>
          <a:lstStyle/>
          <a:p>
            <a:endParaRPr lang="en-VN"/>
          </a:p>
        </p:txBody>
      </p:sp>
      <p:sp>
        <p:nvSpPr>
          <p:cNvPr id="1863056624" name="Shape 53">
            <a:extLst>
              <a:ext uri="{FF2B5EF4-FFF2-40B4-BE49-F238E27FC236}">
                <a16:creationId xmlns:a16="http://schemas.microsoft.com/office/drawing/2014/main" id="{6BCF32B9-0CF7-9CEC-1EC1-FB5F270E2005}"/>
              </a:ext>
            </a:extLst>
          </p:cNvPr>
          <p:cNvSpPr/>
          <p:nvPr/>
        </p:nvSpPr>
        <p:spPr>
          <a:xfrm>
            <a:off x="13386816" y="4180332"/>
            <a:ext cx="4023360" cy="502920"/>
          </a:xfrm>
          <a:prstGeom prst="rect">
            <a:avLst/>
          </a:prstGeom>
          <a:solidFill>
            <a:srgbClr val="0F7A6B"/>
          </a:solidFill>
          <a:ln/>
        </p:spPr>
        <p:txBody>
          <a:bodyPr/>
          <a:lstStyle/>
          <a:p>
            <a:endParaRPr lang="en-VN"/>
          </a:p>
        </p:txBody>
      </p:sp>
      <p:sp>
        <p:nvSpPr>
          <p:cNvPr id="1863056626" name="Text 54">
            <a:extLst>
              <a:ext uri="{FF2B5EF4-FFF2-40B4-BE49-F238E27FC236}">
                <a16:creationId xmlns:a16="http://schemas.microsoft.com/office/drawing/2014/main" id="{BC369458-FF33-83B8-EF1D-1F2830015753}"/>
              </a:ext>
            </a:extLst>
          </p:cNvPr>
          <p:cNvSpPr/>
          <p:nvPr/>
        </p:nvSpPr>
        <p:spPr>
          <a:xfrm>
            <a:off x="13478256" y="4180332"/>
            <a:ext cx="3840480" cy="502920"/>
          </a:xfrm>
          <a:prstGeom prst="rect">
            <a:avLst/>
          </a:prstGeom>
          <a:noFill/>
          <a:ln/>
        </p:spPr>
        <p:txBody>
          <a:bodyPr wrap="square" lIns="0" tIns="0" rIns="0" bIns="0" rtlCol="0" anchor="ctr"/>
          <a:lstStyle/>
          <a:p>
            <a:pPr marL="0" indent="0" algn="ctr">
              <a:buNone/>
            </a:pPr>
            <a:r>
              <a:rPr lang="en-US" b="1" dirty="0">
                <a:solidFill>
                  <a:srgbClr val="FFFFFF"/>
                </a:solidFill>
                <a:latin typeface="Arial" panose="020B0604020202020204" pitchFamily="34" charset="0"/>
                <a:ea typeface="Calibri" pitchFamily="34" charset="-122"/>
                <a:cs typeface="Arial" panose="020B0604020202020204" pitchFamily="34" charset="0"/>
              </a:rPr>
              <a:t>KHỐI QUẢN TRỊ, HỖ TRỢ</a:t>
            </a:r>
            <a:endParaRPr lang="en-US" dirty="0">
              <a:latin typeface="Arial" panose="020B0604020202020204" pitchFamily="34" charset="0"/>
              <a:cs typeface="Arial" panose="020B0604020202020204" pitchFamily="34" charset="0"/>
            </a:endParaRPr>
          </a:p>
        </p:txBody>
      </p:sp>
      <p:sp>
        <p:nvSpPr>
          <p:cNvPr id="1863056628" name="Shape 55">
            <a:extLst>
              <a:ext uri="{FF2B5EF4-FFF2-40B4-BE49-F238E27FC236}">
                <a16:creationId xmlns:a16="http://schemas.microsoft.com/office/drawing/2014/main" id="{61D8840B-A439-62DA-41D7-88D2CE824230}"/>
              </a:ext>
            </a:extLst>
          </p:cNvPr>
          <p:cNvSpPr/>
          <p:nvPr/>
        </p:nvSpPr>
        <p:spPr>
          <a:xfrm>
            <a:off x="13386816" y="4802124"/>
            <a:ext cx="4023360" cy="658368"/>
          </a:xfrm>
          <a:prstGeom prst="roundRect">
            <a:avLst>
              <a:gd name="adj" fmla="val 8333"/>
            </a:avLst>
          </a:prstGeom>
          <a:solidFill>
            <a:srgbClr val="EAEDF1"/>
          </a:solidFill>
          <a:ln w="12700">
            <a:solidFill>
              <a:srgbClr val="FFFFFF"/>
            </a:solidFill>
            <a:prstDash val="solid"/>
          </a:ln>
        </p:spPr>
        <p:txBody>
          <a:bodyPr/>
          <a:lstStyle/>
          <a:p>
            <a:endParaRPr lang="en-VN"/>
          </a:p>
        </p:txBody>
      </p:sp>
      <p:sp>
        <p:nvSpPr>
          <p:cNvPr id="1863056630" name="Shape 56">
            <a:extLst>
              <a:ext uri="{FF2B5EF4-FFF2-40B4-BE49-F238E27FC236}">
                <a16:creationId xmlns:a16="http://schemas.microsoft.com/office/drawing/2014/main" id="{6AAC5022-3EF0-68D0-F0A3-3A5B826E6201}"/>
              </a:ext>
            </a:extLst>
          </p:cNvPr>
          <p:cNvSpPr/>
          <p:nvPr/>
        </p:nvSpPr>
        <p:spPr>
          <a:xfrm>
            <a:off x="13386816" y="4802124"/>
            <a:ext cx="100584" cy="658368"/>
          </a:xfrm>
          <a:prstGeom prst="rect">
            <a:avLst/>
          </a:prstGeom>
          <a:solidFill>
            <a:srgbClr val="0F7A6B"/>
          </a:solidFill>
          <a:ln/>
        </p:spPr>
        <p:txBody>
          <a:bodyPr/>
          <a:lstStyle/>
          <a:p>
            <a:endParaRPr lang="en-VN"/>
          </a:p>
        </p:txBody>
      </p:sp>
      <p:sp>
        <p:nvSpPr>
          <p:cNvPr id="1863056632" name="Text 57">
            <a:extLst>
              <a:ext uri="{FF2B5EF4-FFF2-40B4-BE49-F238E27FC236}">
                <a16:creationId xmlns:a16="http://schemas.microsoft.com/office/drawing/2014/main" id="{06D0EF27-EEE1-FDD2-9889-2B53E51E5614}"/>
              </a:ext>
            </a:extLst>
          </p:cNvPr>
          <p:cNvSpPr/>
          <p:nvPr/>
        </p:nvSpPr>
        <p:spPr>
          <a:xfrm>
            <a:off x="13615416" y="4802124"/>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P.Chiến lược</a:t>
            </a:r>
            <a:endParaRPr lang="en-US" sz="1600" dirty="0">
              <a:latin typeface="Arial" panose="020B0604020202020204" pitchFamily="34" charset="0"/>
              <a:cs typeface="Arial" panose="020B0604020202020204" pitchFamily="34" charset="0"/>
            </a:endParaRPr>
          </a:p>
        </p:txBody>
      </p:sp>
      <p:sp>
        <p:nvSpPr>
          <p:cNvPr id="1863056634" name="Shape 58">
            <a:extLst>
              <a:ext uri="{FF2B5EF4-FFF2-40B4-BE49-F238E27FC236}">
                <a16:creationId xmlns:a16="http://schemas.microsoft.com/office/drawing/2014/main" id="{9698788B-6812-B2BA-8A55-718151A41CAA}"/>
              </a:ext>
            </a:extLst>
          </p:cNvPr>
          <p:cNvSpPr/>
          <p:nvPr/>
        </p:nvSpPr>
        <p:spPr>
          <a:xfrm>
            <a:off x="13386816" y="5551932"/>
            <a:ext cx="4023360" cy="658368"/>
          </a:xfrm>
          <a:prstGeom prst="roundRect">
            <a:avLst>
              <a:gd name="adj" fmla="val 8333"/>
            </a:avLst>
          </a:prstGeom>
          <a:solidFill>
            <a:srgbClr val="EAEDF1"/>
          </a:solidFill>
          <a:ln w="12700">
            <a:solidFill>
              <a:srgbClr val="FFFFFF"/>
            </a:solidFill>
            <a:prstDash val="solid"/>
          </a:ln>
        </p:spPr>
        <p:txBody>
          <a:bodyPr/>
          <a:lstStyle/>
          <a:p>
            <a:endParaRPr lang="en-VN"/>
          </a:p>
        </p:txBody>
      </p:sp>
      <p:sp>
        <p:nvSpPr>
          <p:cNvPr id="1863056636" name="Shape 59">
            <a:extLst>
              <a:ext uri="{FF2B5EF4-FFF2-40B4-BE49-F238E27FC236}">
                <a16:creationId xmlns:a16="http://schemas.microsoft.com/office/drawing/2014/main" id="{3B3D2685-C9D4-9750-B8B9-8902AD430F85}"/>
              </a:ext>
            </a:extLst>
          </p:cNvPr>
          <p:cNvSpPr/>
          <p:nvPr/>
        </p:nvSpPr>
        <p:spPr>
          <a:xfrm>
            <a:off x="13386816" y="5551932"/>
            <a:ext cx="100584" cy="658368"/>
          </a:xfrm>
          <a:prstGeom prst="rect">
            <a:avLst/>
          </a:prstGeom>
          <a:solidFill>
            <a:srgbClr val="0F7A6B"/>
          </a:solidFill>
          <a:ln/>
        </p:spPr>
        <p:txBody>
          <a:bodyPr/>
          <a:lstStyle/>
          <a:p>
            <a:endParaRPr lang="en-VN"/>
          </a:p>
        </p:txBody>
      </p:sp>
      <p:sp>
        <p:nvSpPr>
          <p:cNvPr id="1863056638" name="Text 60">
            <a:extLst>
              <a:ext uri="{FF2B5EF4-FFF2-40B4-BE49-F238E27FC236}">
                <a16:creationId xmlns:a16="http://schemas.microsoft.com/office/drawing/2014/main" id="{F6A8D099-4905-C891-F924-C980309C878D}"/>
              </a:ext>
            </a:extLst>
          </p:cNvPr>
          <p:cNvSpPr/>
          <p:nvPr/>
        </p:nvSpPr>
        <p:spPr>
          <a:xfrm>
            <a:off x="13615416" y="5551932"/>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P.Pháp chế &amp; KSNB</a:t>
            </a:r>
            <a:endParaRPr lang="en-US" sz="1600" dirty="0">
              <a:latin typeface="Arial" panose="020B0604020202020204" pitchFamily="34" charset="0"/>
              <a:cs typeface="Arial" panose="020B0604020202020204" pitchFamily="34" charset="0"/>
            </a:endParaRPr>
          </a:p>
        </p:txBody>
      </p:sp>
      <p:sp>
        <p:nvSpPr>
          <p:cNvPr id="335986304" name="Shape 61">
            <a:extLst>
              <a:ext uri="{FF2B5EF4-FFF2-40B4-BE49-F238E27FC236}">
                <a16:creationId xmlns:a16="http://schemas.microsoft.com/office/drawing/2014/main" id="{281D4FAC-B6AF-9FAC-0407-A6D9EBCF7C93}"/>
              </a:ext>
            </a:extLst>
          </p:cNvPr>
          <p:cNvSpPr/>
          <p:nvPr/>
        </p:nvSpPr>
        <p:spPr>
          <a:xfrm>
            <a:off x="13386816" y="6301740"/>
            <a:ext cx="4023360" cy="658368"/>
          </a:xfrm>
          <a:prstGeom prst="roundRect">
            <a:avLst>
              <a:gd name="adj" fmla="val 8333"/>
            </a:avLst>
          </a:prstGeom>
          <a:solidFill>
            <a:srgbClr val="EAEDF1"/>
          </a:solidFill>
          <a:ln w="12700">
            <a:solidFill>
              <a:srgbClr val="FFFFFF"/>
            </a:solidFill>
            <a:prstDash val="solid"/>
          </a:ln>
        </p:spPr>
        <p:txBody>
          <a:bodyPr/>
          <a:lstStyle/>
          <a:p>
            <a:endParaRPr lang="en-VN"/>
          </a:p>
        </p:txBody>
      </p:sp>
      <p:sp>
        <p:nvSpPr>
          <p:cNvPr id="335986306" name="Shape 62">
            <a:extLst>
              <a:ext uri="{FF2B5EF4-FFF2-40B4-BE49-F238E27FC236}">
                <a16:creationId xmlns:a16="http://schemas.microsoft.com/office/drawing/2014/main" id="{E444DD82-1162-DA5F-05DD-53C228B923A7}"/>
              </a:ext>
            </a:extLst>
          </p:cNvPr>
          <p:cNvSpPr/>
          <p:nvPr/>
        </p:nvSpPr>
        <p:spPr>
          <a:xfrm>
            <a:off x="13386816" y="6301740"/>
            <a:ext cx="100584" cy="658368"/>
          </a:xfrm>
          <a:prstGeom prst="rect">
            <a:avLst/>
          </a:prstGeom>
          <a:solidFill>
            <a:srgbClr val="0F7A6B"/>
          </a:solidFill>
          <a:ln/>
        </p:spPr>
        <p:txBody>
          <a:bodyPr/>
          <a:lstStyle/>
          <a:p>
            <a:endParaRPr lang="en-VN"/>
          </a:p>
        </p:txBody>
      </p:sp>
      <p:sp>
        <p:nvSpPr>
          <p:cNvPr id="335986308" name="Text 63">
            <a:extLst>
              <a:ext uri="{FF2B5EF4-FFF2-40B4-BE49-F238E27FC236}">
                <a16:creationId xmlns:a16="http://schemas.microsoft.com/office/drawing/2014/main" id="{E4A16337-B2F4-37E5-AB5C-7426E3518FB3}"/>
              </a:ext>
            </a:extLst>
          </p:cNvPr>
          <p:cNvSpPr/>
          <p:nvPr/>
        </p:nvSpPr>
        <p:spPr>
          <a:xfrm>
            <a:off x="13615416" y="6301740"/>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P.Nhân sự</a:t>
            </a:r>
            <a:endParaRPr lang="en-US" sz="1600" dirty="0">
              <a:latin typeface="Arial" panose="020B0604020202020204" pitchFamily="34" charset="0"/>
              <a:cs typeface="Arial" panose="020B0604020202020204" pitchFamily="34" charset="0"/>
            </a:endParaRPr>
          </a:p>
        </p:txBody>
      </p:sp>
      <p:sp>
        <p:nvSpPr>
          <p:cNvPr id="335986310" name="Shape 64">
            <a:extLst>
              <a:ext uri="{FF2B5EF4-FFF2-40B4-BE49-F238E27FC236}">
                <a16:creationId xmlns:a16="http://schemas.microsoft.com/office/drawing/2014/main" id="{E8D17111-C642-551E-084B-5143CF17D9D1}"/>
              </a:ext>
            </a:extLst>
          </p:cNvPr>
          <p:cNvSpPr/>
          <p:nvPr/>
        </p:nvSpPr>
        <p:spPr>
          <a:xfrm>
            <a:off x="13386816" y="7051548"/>
            <a:ext cx="4023360" cy="658368"/>
          </a:xfrm>
          <a:prstGeom prst="roundRect">
            <a:avLst>
              <a:gd name="adj" fmla="val 8333"/>
            </a:avLst>
          </a:prstGeom>
          <a:solidFill>
            <a:srgbClr val="EAEDF1"/>
          </a:solidFill>
          <a:ln w="12700">
            <a:solidFill>
              <a:srgbClr val="FFFFFF"/>
            </a:solidFill>
            <a:prstDash val="solid"/>
          </a:ln>
        </p:spPr>
        <p:txBody>
          <a:bodyPr/>
          <a:lstStyle/>
          <a:p>
            <a:endParaRPr lang="en-VN"/>
          </a:p>
        </p:txBody>
      </p:sp>
      <p:sp>
        <p:nvSpPr>
          <p:cNvPr id="335986312" name="Shape 65">
            <a:extLst>
              <a:ext uri="{FF2B5EF4-FFF2-40B4-BE49-F238E27FC236}">
                <a16:creationId xmlns:a16="http://schemas.microsoft.com/office/drawing/2014/main" id="{ED580257-2B07-0AD2-AB34-5CC07B4A6C34}"/>
              </a:ext>
            </a:extLst>
          </p:cNvPr>
          <p:cNvSpPr/>
          <p:nvPr/>
        </p:nvSpPr>
        <p:spPr>
          <a:xfrm>
            <a:off x="13386816" y="7051548"/>
            <a:ext cx="100584" cy="658368"/>
          </a:xfrm>
          <a:prstGeom prst="rect">
            <a:avLst/>
          </a:prstGeom>
          <a:solidFill>
            <a:srgbClr val="0F7A6B"/>
          </a:solidFill>
          <a:ln/>
        </p:spPr>
        <p:txBody>
          <a:bodyPr/>
          <a:lstStyle/>
          <a:p>
            <a:endParaRPr lang="en-VN"/>
          </a:p>
        </p:txBody>
      </p:sp>
      <p:sp>
        <p:nvSpPr>
          <p:cNvPr id="335986314" name="Text 66">
            <a:extLst>
              <a:ext uri="{FF2B5EF4-FFF2-40B4-BE49-F238E27FC236}">
                <a16:creationId xmlns:a16="http://schemas.microsoft.com/office/drawing/2014/main" id="{CEFDAF79-6FBD-6CD6-69EF-B715D34F4512}"/>
              </a:ext>
            </a:extLst>
          </p:cNvPr>
          <p:cNvSpPr/>
          <p:nvPr/>
        </p:nvSpPr>
        <p:spPr>
          <a:xfrm>
            <a:off x="13615416" y="7051548"/>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P.Tài chính Kế toán</a:t>
            </a:r>
            <a:endParaRPr lang="en-US" sz="1600" dirty="0">
              <a:latin typeface="Arial" panose="020B0604020202020204" pitchFamily="34" charset="0"/>
              <a:cs typeface="Arial" panose="020B0604020202020204" pitchFamily="34" charset="0"/>
            </a:endParaRPr>
          </a:p>
        </p:txBody>
      </p:sp>
      <p:sp>
        <p:nvSpPr>
          <p:cNvPr id="335986316" name="Shape 67">
            <a:extLst>
              <a:ext uri="{FF2B5EF4-FFF2-40B4-BE49-F238E27FC236}">
                <a16:creationId xmlns:a16="http://schemas.microsoft.com/office/drawing/2014/main" id="{C99FB630-1817-487A-60BA-E45EF5039D61}"/>
              </a:ext>
            </a:extLst>
          </p:cNvPr>
          <p:cNvSpPr/>
          <p:nvPr/>
        </p:nvSpPr>
        <p:spPr>
          <a:xfrm>
            <a:off x="685800" y="8496300"/>
            <a:ext cx="292608" cy="292608"/>
          </a:xfrm>
          <a:prstGeom prst="rect">
            <a:avLst/>
          </a:prstGeom>
          <a:solidFill>
            <a:srgbClr val="0F7A6B"/>
          </a:solidFill>
          <a:ln/>
        </p:spPr>
        <p:txBody>
          <a:bodyPr/>
          <a:lstStyle/>
          <a:p>
            <a:endParaRPr lang="en-VN"/>
          </a:p>
        </p:txBody>
      </p:sp>
      <p:sp>
        <p:nvSpPr>
          <p:cNvPr id="335986318" name="Text 68">
            <a:extLst>
              <a:ext uri="{FF2B5EF4-FFF2-40B4-BE49-F238E27FC236}">
                <a16:creationId xmlns:a16="http://schemas.microsoft.com/office/drawing/2014/main" id="{56DE4556-832C-765B-30C6-2402D210E0B1}"/>
              </a:ext>
            </a:extLst>
          </p:cNvPr>
          <p:cNvSpPr/>
          <p:nvPr/>
        </p:nvSpPr>
        <p:spPr>
          <a:xfrm>
            <a:off x="1069848" y="8459724"/>
            <a:ext cx="4206240" cy="365760"/>
          </a:xfrm>
          <a:prstGeom prst="rect">
            <a:avLst/>
          </a:prstGeom>
          <a:noFill/>
          <a:ln/>
        </p:spPr>
        <p:txBody>
          <a:bodyPr wrap="square" lIns="0" tIns="0" rIns="0" bIns="0" rtlCol="0" anchor="ctr"/>
          <a:lstStyle/>
          <a:p>
            <a:pPr marL="0" indent="0" algn="l">
              <a:buNone/>
            </a:pPr>
            <a:r>
              <a:rPr lang="en-US" b="1" dirty="0">
                <a:solidFill>
                  <a:srgbClr val="222B45"/>
                </a:solidFill>
                <a:latin typeface="Arial" panose="020B0604020202020204" pitchFamily="34" charset="0"/>
                <a:ea typeface="Calibri" pitchFamily="34" charset="-122"/>
                <a:cs typeface="Arial" panose="020B0604020202020204" pitchFamily="34" charset="0"/>
              </a:rPr>
              <a:t>Tuyến 1 / Risk Owner</a:t>
            </a:r>
            <a:endParaRPr lang="en-US" b="1" dirty="0">
              <a:latin typeface="Arial" panose="020B0604020202020204" pitchFamily="34" charset="0"/>
              <a:cs typeface="Arial" panose="020B0604020202020204" pitchFamily="34" charset="0"/>
            </a:endParaRPr>
          </a:p>
        </p:txBody>
      </p:sp>
      <p:sp>
        <p:nvSpPr>
          <p:cNvPr id="335986320" name="Shape 69">
            <a:extLst>
              <a:ext uri="{FF2B5EF4-FFF2-40B4-BE49-F238E27FC236}">
                <a16:creationId xmlns:a16="http://schemas.microsoft.com/office/drawing/2014/main" id="{20B3D80B-0A8A-E918-125B-CCC0A146C17C}"/>
              </a:ext>
            </a:extLst>
          </p:cNvPr>
          <p:cNvSpPr/>
          <p:nvPr/>
        </p:nvSpPr>
        <p:spPr>
          <a:xfrm>
            <a:off x="3886200" y="8496300"/>
            <a:ext cx="292608" cy="292608"/>
          </a:xfrm>
          <a:prstGeom prst="rect">
            <a:avLst/>
          </a:prstGeom>
          <a:solidFill>
            <a:srgbClr val="2E4B8B"/>
          </a:solidFill>
          <a:ln/>
        </p:spPr>
        <p:txBody>
          <a:bodyPr/>
          <a:lstStyle/>
          <a:p>
            <a:endParaRPr lang="en-VN"/>
          </a:p>
        </p:txBody>
      </p:sp>
      <p:sp>
        <p:nvSpPr>
          <p:cNvPr id="335986322" name="Text 70">
            <a:extLst>
              <a:ext uri="{FF2B5EF4-FFF2-40B4-BE49-F238E27FC236}">
                <a16:creationId xmlns:a16="http://schemas.microsoft.com/office/drawing/2014/main" id="{A8162E74-B577-7CD9-270B-DFD8BE038C00}"/>
              </a:ext>
            </a:extLst>
          </p:cNvPr>
          <p:cNvSpPr/>
          <p:nvPr/>
        </p:nvSpPr>
        <p:spPr>
          <a:xfrm>
            <a:off x="4270248" y="8459724"/>
            <a:ext cx="4206240" cy="365760"/>
          </a:xfrm>
          <a:prstGeom prst="rect">
            <a:avLst/>
          </a:prstGeom>
          <a:noFill/>
          <a:ln/>
        </p:spPr>
        <p:txBody>
          <a:bodyPr wrap="square" lIns="0" tIns="0" rIns="0" bIns="0" rtlCol="0" anchor="ctr"/>
          <a:lstStyle/>
          <a:p>
            <a:pPr marL="0" indent="0" algn="l">
              <a:buNone/>
            </a:pPr>
            <a:r>
              <a:rPr lang="en-US" b="1" dirty="0">
                <a:solidFill>
                  <a:srgbClr val="222B45"/>
                </a:solidFill>
                <a:latin typeface="Arial" panose="020B0604020202020204" pitchFamily="34" charset="0"/>
                <a:ea typeface="Calibri" pitchFamily="34" charset="-122"/>
                <a:cs typeface="Arial" panose="020B0604020202020204" pitchFamily="34" charset="0"/>
              </a:rPr>
              <a:t>Đối tác công nghệ (dữ liệu, hệ thống)</a:t>
            </a:r>
            <a:endParaRPr lang="en-US" b="1" dirty="0">
              <a:latin typeface="Arial" panose="020B0604020202020204" pitchFamily="34" charset="0"/>
              <a:cs typeface="Arial" panose="020B0604020202020204" pitchFamily="34" charset="0"/>
            </a:endParaRPr>
          </a:p>
        </p:txBody>
      </p:sp>
      <p:sp>
        <p:nvSpPr>
          <p:cNvPr id="335986328" name="Text 73">
            <a:extLst>
              <a:ext uri="{FF2B5EF4-FFF2-40B4-BE49-F238E27FC236}">
                <a16:creationId xmlns:a16="http://schemas.microsoft.com/office/drawing/2014/main" id="{D061D3DC-36CB-BB3C-9B35-2285518F0508}"/>
              </a:ext>
            </a:extLst>
          </p:cNvPr>
          <p:cNvSpPr/>
          <p:nvPr/>
        </p:nvSpPr>
        <p:spPr>
          <a:xfrm>
            <a:off x="685800" y="8907780"/>
            <a:ext cx="16824960" cy="365760"/>
          </a:xfrm>
          <a:prstGeom prst="rect">
            <a:avLst/>
          </a:prstGeom>
          <a:noFill/>
          <a:ln/>
        </p:spPr>
        <p:txBody>
          <a:bodyPr wrap="square" lIns="0" tIns="0" rIns="0" bIns="0" rtlCol="0" anchor="ctr"/>
          <a:lstStyle/>
          <a:p>
            <a:pPr marL="0" indent="0" algn="l">
              <a:buNone/>
            </a:pPr>
            <a:r>
              <a:rPr lang="en-US" sz="1600" i="1" dirty="0">
                <a:solidFill>
                  <a:srgbClr val="6B7280"/>
                </a:solidFill>
                <a:latin typeface="Arial" panose="020B0604020202020204" pitchFamily="34" charset="0"/>
                <a:ea typeface="Calibri" pitchFamily="34" charset="-122"/>
                <a:cs typeface="Arial" panose="020B0604020202020204" pitchFamily="34" charset="0"/>
              </a:rPr>
              <a:t>Mỗi đơn vị Tuyến 1 cử 01 đầu mối chính + 01 dự phòng, tham gia xuyên suốt. TT VHKT là đơn vị chủ trì &amp; thí điểm.</a:t>
            </a:r>
            <a:endParaRPr lang="en-US" sz="1600" dirty="0">
              <a:latin typeface="Arial" panose="020B0604020202020204" pitchFamily="34" charset="0"/>
              <a:cs typeface="Arial" panose="020B0604020202020204" pitchFamily="34" charset="0"/>
            </a:endParaRPr>
          </a:p>
        </p:txBody>
      </p:sp>
      <p:sp>
        <p:nvSpPr>
          <p:cNvPr id="335986332" name="Text 75">
            <a:extLst>
              <a:ext uri="{FF2B5EF4-FFF2-40B4-BE49-F238E27FC236}">
                <a16:creationId xmlns:a16="http://schemas.microsoft.com/office/drawing/2014/main" id="{CEBB88E5-4DD7-7D68-979D-036A113010F6}"/>
              </a:ext>
            </a:extLst>
          </p:cNvPr>
          <p:cNvSpPr/>
          <p:nvPr/>
        </p:nvSpPr>
        <p:spPr>
          <a:xfrm>
            <a:off x="17099280" y="9410700"/>
            <a:ext cx="502920" cy="292608"/>
          </a:xfrm>
          <a:prstGeom prst="rect">
            <a:avLst/>
          </a:prstGeom>
          <a:noFill/>
          <a:ln/>
        </p:spPr>
        <p:txBody>
          <a:bodyPr wrap="square" lIns="0" tIns="0" rIns="0" bIns="0" rtlCol="0" anchor="ctr"/>
          <a:lstStyle/>
          <a:p>
            <a:pPr marL="0" indent="0" algn="r">
              <a:buNone/>
            </a:pPr>
            <a:r>
              <a:rPr lang="en-US" sz="1200" dirty="0">
                <a:solidFill>
                  <a:srgbClr val="6B7280"/>
                </a:solidFill>
                <a:latin typeface="Arial" panose="020B0604020202020204" pitchFamily="34" charset="0"/>
                <a:ea typeface="Calibri" pitchFamily="34" charset="-122"/>
                <a:cs typeface="Arial" panose="020B0604020202020204" pitchFamily="34" charset="0"/>
              </a:rPr>
              <a:t>8</a:t>
            </a:r>
            <a:endParaRPr lang="en-US" sz="1200" dirty="0">
              <a:latin typeface="Arial" panose="020B0604020202020204" pitchFamily="34" charset="0"/>
              <a:cs typeface="Arial" panose="020B0604020202020204" pitchFamily="34" charset="0"/>
            </a:endParaRPr>
          </a:p>
        </p:txBody>
      </p:sp>
      <p:sp>
        <p:nvSpPr>
          <p:cNvPr id="335986334" name="Shape 64">
            <a:extLst>
              <a:ext uri="{FF2B5EF4-FFF2-40B4-BE49-F238E27FC236}">
                <a16:creationId xmlns:a16="http://schemas.microsoft.com/office/drawing/2014/main" id="{3DFBE7BF-9E28-D55A-8E99-C11F5ED2F275}"/>
              </a:ext>
            </a:extLst>
          </p:cNvPr>
          <p:cNvSpPr/>
          <p:nvPr/>
        </p:nvSpPr>
        <p:spPr bwMode="auto">
          <a:xfrm>
            <a:off x="13386816" y="7816088"/>
            <a:ext cx="4023360" cy="658368"/>
          </a:xfrm>
          <a:prstGeom prst="roundRect">
            <a:avLst>
              <a:gd name="adj" fmla="val 8333"/>
            </a:avLst>
          </a:prstGeom>
          <a:solidFill>
            <a:srgbClr val="EAEDF1"/>
          </a:solidFill>
          <a:ln w="12700">
            <a:solidFill>
              <a:srgbClr val="FFFFFF"/>
            </a:solidFill>
            <a:prstDash val="solid"/>
          </a:ln>
        </p:spPr>
        <p:txBody>
          <a:bodyPr/>
          <a:lstStyle/>
          <a:p>
            <a:endParaRPr lang="en-VN"/>
          </a:p>
        </p:txBody>
      </p:sp>
      <p:sp>
        <p:nvSpPr>
          <p:cNvPr id="335986336" name="Shape 65">
            <a:extLst>
              <a:ext uri="{FF2B5EF4-FFF2-40B4-BE49-F238E27FC236}">
                <a16:creationId xmlns:a16="http://schemas.microsoft.com/office/drawing/2014/main" id="{D3F34FCE-4970-1D8A-C565-ECD02590ADBF}"/>
              </a:ext>
            </a:extLst>
          </p:cNvPr>
          <p:cNvSpPr/>
          <p:nvPr/>
        </p:nvSpPr>
        <p:spPr bwMode="auto">
          <a:xfrm>
            <a:off x="13386816" y="7816088"/>
            <a:ext cx="100584" cy="658368"/>
          </a:xfrm>
          <a:prstGeom prst="rect">
            <a:avLst/>
          </a:prstGeom>
          <a:solidFill>
            <a:srgbClr val="0F7A6B"/>
          </a:solidFill>
          <a:ln/>
        </p:spPr>
        <p:txBody>
          <a:bodyPr/>
          <a:lstStyle/>
          <a:p>
            <a:endParaRPr lang="en-VN"/>
          </a:p>
        </p:txBody>
      </p:sp>
      <p:sp>
        <p:nvSpPr>
          <p:cNvPr id="335986338" name="Text 66">
            <a:extLst>
              <a:ext uri="{FF2B5EF4-FFF2-40B4-BE49-F238E27FC236}">
                <a16:creationId xmlns:a16="http://schemas.microsoft.com/office/drawing/2014/main" id="{B2524D8D-B117-5BCC-F771-E2DFBD039647}"/>
              </a:ext>
            </a:extLst>
          </p:cNvPr>
          <p:cNvSpPr/>
          <p:nvPr/>
        </p:nvSpPr>
        <p:spPr bwMode="auto">
          <a:xfrm>
            <a:off x="13615416" y="7816088"/>
            <a:ext cx="3703320" cy="658368"/>
          </a:xfrm>
          <a:prstGeom prst="rect">
            <a:avLst/>
          </a:prstGeom>
          <a:noFill/>
          <a:ln/>
        </p:spPr>
        <p:txBody>
          <a:bodyPr wrap="square" lIns="0" tIns="0" rIns="0" bIns="0" rtlCol="0" anchor="ctr"/>
          <a:lstStyle/>
          <a:p>
            <a:pPr marL="0" indent="0" algn="l">
              <a:buNone/>
            </a:pPr>
            <a:r>
              <a:rPr lang="en-US" sz="1600" b="1" dirty="0">
                <a:solidFill>
                  <a:srgbClr val="222B45"/>
                </a:solidFill>
                <a:latin typeface="Arial" panose="020B0604020202020204" pitchFamily="34" charset="0"/>
                <a:ea typeface="Calibri" pitchFamily="34" charset="-122"/>
                <a:cs typeface="Arial" panose="020B0604020202020204" pitchFamily="34" charset="0"/>
              </a:rPr>
              <a:t>P.CNTT</a:t>
            </a:r>
            <a:endParaRPr lang="en-US" sz="1600" dirty="0">
              <a:latin typeface="Arial" panose="020B0604020202020204" pitchFamily="34" charset="0"/>
              <a:cs typeface="Arial" panose="020B0604020202020204" pitchFamily="34" charset="0"/>
            </a:endParaRPr>
          </a:p>
        </p:txBody>
      </p:sp>
      <p:sp>
        <p:nvSpPr>
          <p:cNvPr id="335986340" name="Shape 64">
            <a:extLst>
              <a:ext uri="{FF2B5EF4-FFF2-40B4-BE49-F238E27FC236}">
                <a16:creationId xmlns:a16="http://schemas.microsoft.com/office/drawing/2014/main" id="{E2406341-416A-8FEB-C98A-26DDC816BE80}"/>
              </a:ext>
            </a:extLst>
          </p:cNvPr>
          <p:cNvSpPr/>
          <p:nvPr/>
        </p:nvSpPr>
        <p:spPr bwMode="auto">
          <a:xfrm>
            <a:off x="13386816" y="8578596"/>
            <a:ext cx="4023360" cy="658368"/>
          </a:xfrm>
          <a:prstGeom prst="roundRect">
            <a:avLst>
              <a:gd name="adj" fmla="val 8333"/>
            </a:avLst>
          </a:prstGeom>
          <a:solidFill>
            <a:srgbClr val="EAEDF1"/>
          </a:solidFill>
          <a:ln w="12700">
            <a:solidFill>
              <a:srgbClr val="FFFFFF"/>
            </a:solidFill>
            <a:prstDash val="solid"/>
          </a:ln>
        </p:spPr>
        <p:txBody>
          <a:bodyPr/>
          <a:lstStyle/>
          <a:p>
            <a:endParaRPr lang="en-VN"/>
          </a:p>
        </p:txBody>
      </p:sp>
      <p:sp>
        <p:nvSpPr>
          <p:cNvPr id="335986342" name="Shape 65">
            <a:extLst>
              <a:ext uri="{FF2B5EF4-FFF2-40B4-BE49-F238E27FC236}">
                <a16:creationId xmlns:a16="http://schemas.microsoft.com/office/drawing/2014/main" id="{5DB14BB0-09F3-5E1D-1F14-0B8D00BE5D69}"/>
              </a:ext>
            </a:extLst>
          </p:cNvPr>
          <p:cNvSpPr/>
          <p:nvPr/>
        </p:nvSpPr>
        <p:spPr bwMode="auto">
          <a:xfrm>
            <a:off x="13386816" y="8578596"/>
            <a:ext cx="100584" cy="658368"/>
          </a:xfrm>
          <a:prstGeom prst="rect">
            <a:avLst/>
          </a:prstGeom>
          <a:solidFill>
            <a:srgbClr val="0F7A6B"/>
          </a:solidFill>
          <a:ln/>
        </p:spPr>
        <p:txBody>
          <a:bodyPr/>
          <a:lstStyle/>
          <a:p>
            <a:endParaRPr lang="en-VN"/>
          </a:p>
        </p:txBody>
      </p:sp>
      <p:sp>
        <p:nvSpPr>
          <p:cNvPr id="335986344" name="Text 66">
            <a:extLst>
              <a:ext uri="{FF2B5EF4-FFF2-40B4-BE49-F238E27FC236}">
                <a16:creationId xmlns:a16="http://schemas.microsoft.com/office/drawing/2014/main" id="{3608EAA5-6FF4-8AE7-0B45-20A4F9BC7771}"/>
              </a:ext>
            </a:extLst>
          </p:cNvPr>
          <p:cNvSpPr/>
          <p:nvPr/>
        </p:nvSpPr>
        <p:spPr bwMode="auto">
          <a:xfrm>
            <a:off x="13615416" y="8578596"/>
            <a:ext cx="3703320" cy="658368"/>
          </a:xfrm>
          <a:prstGeom prst="rect">
            <a:avLst/>
          </a:prstGeom>
          <a:noFill/>
          <a:ln/>
        </p:spPr>
        <p:txBody>
          <a:bodyPr wrap="square" lIns="0" tIns="0" rIns="0" bIns="0" rtlCol="0" anchor="ctr"/>
          <a:lstStyle/>
          <a:p>
            <a:pPr marL="0" indent="0" algn="l">
              <a:buNone/>
            </a:pPr>
            <a:r>
              <a:rPr lang="en-US" sz="1600" b="1" dirty="0" err="1">
                <a:solidFill>
                  <a:srgbClr val="222B45"/>
                </a:solidFill>
                <a:latin typeface="Arial" panose="020B0604020202020204" pitchFamily="34" charset="0"/>
                <a:ea typeface="Calibri" pitchFamily="34" charset="-122"/>
                <a:cs typeface="Arial" panose="020B0604020202020204" pitchFamily="34" charset="0"/>
              </a:rPr>
              <a:t>P.Chính</a:t>
            </a:r>
            <a:r>
              <a:rPr lang="en-US" sz="1600" b="1" dirty="0">
                <a:solidFill>
                  <a:srgbClr val="222B45"/>
                </a:solidFill>
                <a:latin typeface="Arial" panose="020B0604020202020204" pitchFamily="34" charset="0"/>
                <a:ea typeface="Calibri" pitchFamily="34" charset="-122"/>
                <a:cs typeface="Arial" panose="020B0604020202020204" pitchFamily="34" charset="0"/>
              </a:rPr>
              <a:t> </a:t>
            </a:r>
            <a:r>
              <a:rPr lang="en-US" sz="1600" b="1" dirty="0" err="1">
                <a:solidFill>
                  <a:srgbClr val="222B45"/>
                </a:solidFill>
                <a:latin typeface="Arial" panose="020B0604020202020204" pitchFamily="34" charset="0"/>
                <a:ea typeface="Calibri" pitchFamily="34" charset="-122"/>
                <a:cs typeface="Arial" panose="020B0604020202020204" pitchFamily="34" charset="0"/>
              </a:rPr>
              <a:t>trị</a:t>
            </a:r>
            <a:endParaRPr lang="en-US" sz="1600" dirty="0">
              <a:latin typeface="Arial" panose="020B0604020202020204" pitchFamily="34" charset="0"/>
              <a:cs typeface="Arial" panose="020B0604020202020204" pitchFamily="34" charset="0"/>
            </a:endParaRPr>
          </a:p>
        </p:txBody>
      </p:sp>
      <p:sp>
        <p:nvSpPr>
          <p:cNvPr id="335986346" name="Shape 64">
            <a:extLst>
              <a:ext uri="{FF2B5EF4-FFF2-40B4-BE49-F238E27FC236}">
                <a16:creationId xmlns:a16="http://schemas.microsoft.com/office/drawing/2014/main" id="{53D6305D-FAEB-F074-9BEC-96729FEBFFA2}"/>
              </a:ext>
            </a:extLst>
          </p:cNvPr>
          <p:cNvSpPr/>
          <p:nvPr/>
        </p:nvSpPr>
        <p:spPr bwMode="auto">
          <a:xfrm>
            <a:off x="13386816" y="9374124"/>
            <a:ext cx="4023360" cy="658368"/>
          </a:xfrm>
          <a:prstGeom prst="roundRect">
            <a:avLst>
              <a:gd name="adj" fmla="val 8333"/>
            </a:avLst>
          </a:prstGeom>
          <a:solidFill>
            <a:srgbClr val="EAEDF1"/>
          </a:solidFill>
          <a:ln w="12700">
            <a:solidFill>
              <a:srgbClr val="FFFFFF"/>
            </a:solidFill>
            <a:prstDash val="solid"/>
          </a:ln>
        </p:spPr>
        <p:txBody>
          <a:bodyPr/>
          <a:lstStyle/>
          <a:p>
            <a:endParaRPr lang="en-VN"/>
          </a:p>
        </p:txBody>
      </p:sp>
      <p:sp>
        <p:nvSpPr>
          <p:cNvPr id="335986348" name="Shape 65">
            <a:extLst>
              <a:ext uri="{FF2B5EF4-FFF2-40B4-BE49-F238E27FC236}">
                <a16:creationId xmlns:a16="http://schemas.microsoft.com/office/drawing/2014/main" id="{1F6F9B9B-4A13-18F9-1BAC-1B49784943C4}"/>
              </a:ext>
            </a:extLst>
          </p:cNvPr>
          <p:cNvSpPr/>
          <p:nvPr/>
        </p:nvSpPr>
        <p:spPr bwMode="auto">
          <a:xfrm>
            <a:off x="13386816" y="9374124"/>
            <a:ext cx="100584" cy="658368"/>
          </a:xfrm>
          <a:prstGeom prst="rect">
            <a:avLst/>
          </a:prstGeom>
          <a:solidFill>
            <a:srgbClr val="0F7A6B"/>
          </a:solidFill>
          <a:ln/>
        </p:spPr>
        <p:txBody>
          <a:bodyPr/>
          <a:lstStyle/>
          <a:p>
            <a:endParaRPr lang="en-VN"/>
          </a:p>
        </p:txBody>
      </p:sp>
      <p:sp>
        <p:nvSpPr>
          <p:cNvPr id="335986350" name="Text 66">
            <a:extLst>
              <a:ext uri="{FF2B5EF4-FFF2-40B4-BE49-F238E27FC236}">
                <a16:creationId xmlns:a16="http://schemas.microsoft.com/office/drawing/2014/main" id="{3A35A91E-DD83-FA13-BEEB-AE8389F3F973}"/>
              </a:ext>
            </a:extLst>
          </p:cNvPr>
          <p:cNvSpPr/>
          <p:nvPr/>
        </p:nvSpPr>
        <p:spPr bwMode="auto">
          <a:xfrm>
            <a:off x="13615416" y="9374124"/>
            <a:ext cx="3703320" cy="658368"/>
          </a:xfrm>
          <a:prstGeom prst="rect">
            <a:avLst/>
          </a:prstGeom>
          <a:noFill/>
          <a:ln/>
        </p:spPr>
        <p:txBody>
          <a:bodyPr wrap="square" lIns="0" tIns="0" rIns="0" bIns="0" rtlCol="0" anchor="ctr"/>
          <a:lstStyle/>
          <a:p>
            <a:pPr marL="0" indent="0" algn="l">
              <a:buNone/>
            </a:pPr>
            <a:r>
              <a:rPr lang="en-US" sz="1600" b="1" dirty="0" err="1">
                <a:solidFill>
                  <a:srgbClr val="222B45"/>
                </a:solidFill>
                <a:latin typeface="Arial" panose="020B0604020202020204" pitchFamily="34" charset="0"/>
                <a:ea typeface="Calibri" pitchFamily="34" charset="-122"/>
                <a:cs typeface="Arial" panose="020B0604020202020204" pitchFamily="34" charset="0"/>
              </a:rPr>
              <a:t>P.Đầu</a:t>
            </a:r>
            <a:r>
              <a:rPr lang="en-US" sz="1600" b="1" dirty="0">
                <a:solidFill>
                  <a:srgbClr val="222B45"/>
                </a:solidFill>
                <a:latin typeface="Arial" panose="020B0604020202020204" pitchFamily="34" charset="0"/>
                <a:ea typeface="Calibri" pitchFamily="34" charset="-122"/>
                <a:cs typeface="Arial" panose="020B0604020202020204" pitchFamily="34" charset="0"/>
              </a:rPr>
              <a:t> </a:t>
            </a:r>
            <a:r>
              <a:rPr lang="en-US" sz="1600" b="1" dirty="0" err="1">
                <a:solidFill>
                  <a:srgbClr val="222B45"/>
                </a:solidFill>
                <a:latin typeface="Arial" panose="020B0604020202020204" pitchFamily="34" charset="0"/>
                <a:ea typeface="Calibri" pitchFamily="34" charset="-122"/>
                <a:cs typeface="Arial" panose="020B0604020202020204" pitchFamily="34" charset="0"/>
              </a:rPr>
              <a:t>tư</a:t>
            </a:r>
            <a:r>
              <a:rPr lang="en-US" sz="1600" b="1" dirty="0">
                <a:solidFill>
                  <a:srgbClr val="222B45"/>
                </a:solidFill>
                <a:latin typeface="Arial" panose="020B0604020202020204" pitchFamily="34" charset="0"/>
                <a:ea typeface="Calibri" pitchFamily="34" charset="-122"/>
                <a:cs typeface="Arial" panose="020B0604020202020204" pitchFamily="34" charset="0"/>
              </a:rPr>
              <a:t> </a:t>
            </a:r>
            <a:r>
              <a:rPr lang="en-US" sz="1600" b="1" dirty="0" err="1">
                <a:solidFill>
                  <a:srgbClr val="222B45"/>
                </a:solidFill>
                <a:latin typeface="Arial" panose="020B0604020202020204" pitchFamily="34" charset="0"/>
                <a:ea typeface="Calibri" pitchFamily="34" charset="-122"/>
                <a:cs typeface="Arial" panose="020B0604020202020204" pitchFamily="34" charset="0"/>
              </a:rPr>
              <a:t>hành</a:t>
            </a:r>
            <a:r>
              <a:rPr lang="en-US" sz="1600" b="1" dirty="0">
                <a:solidFill>
                  <a:srgbClr val="222B45"/>
                </a:solidFill>
                <a:latin typeface="Arial" panose="020B0604020202020204" pitchFamily="34" charset="0"/>
                <a:ea typeface="Calibri" pitchFamily="34" charset="-122"/>
                <a:cs typeface="Arial" panose="020B0604020202020204" pitchFamily="34" charset="0"/>
              </a:rPr>
              <a:t> </a:t>
            </a:r>
            <a:r>
              <a:rPr lang="en-US" sz="1600" b="1" dirty="0" err="1">
                <a:solidFill>
                  <a:srgbClr val="222B45"/>
                </a:solidFill>
                <a:latin typeface="Arial" panose="020B0604020202020204" pitchFamily="34" charset="0"/>
                <a:ea typeface="Calibri" pitchFamily="34" charset="-122"/>
                <a:cs typeface="Arial" panose="020B0604020202020204" pitchFamily="34" charset="0"/>
              </a:rPr>
              <a:t>chính</a:t>
            </a:r>
            <a:endParaRPr lang="en-US" sz="1600" dirty="0">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B57A182-CBA9-31C0-3D11-02406FBC607A}"/>
            </a:ext>
          </a:extLst>
        </p:cNvPr>
        <p:cNvGrpSpPr/>
        <p:nvPr/>
      </p:nvGrpSpPr>
      <p:grpSpPr bwMode="auto">
        <a:xfrm>
          <a:off x="0" y="0"/>
          <a:ext cx="0" cy="0"/>
          <a:chOff x="0" y="0"/>
          <a:chExt cx="0" cy="0"/>
        </a:xfrm>
      </p:grpSpPr>
      <p:pic>
        <p:nvPicPr>
          <p:cNvPr id="2070868824" name="Picture 124">
            <a:extLst>
              <a:ext uri="{FF2B5EF4-FFF2-40B4-BE49-F238E27FC236}">
                <a16:creationId xmlns:a16="http://schemas.microsoft.com/office/drawing/2014/main" id="{BDD75D36-D856-B660-AE77-D54C85416A92}"/>
              </a:ext>
            </a:extLst>
          </p:cNvPr>
          <p:cNvPicPr>
            <a:picLocks noChangeAspect="1"/>
          </p:cNvPicPr>
          <p:nvPr/>
        </p:nvPicPr>
        <p:blipFill rotWithShape="1">
          <a:blip r:embed="rId3"/>
          <a:stretch/>
        </p:blipFill>
        <p:spPr bwMode="auto">
          <a:xfrm>
            <a:off x="15972881" y="459367"/>
            <a:ext cx="1745229" cy="688259"/>
          </a:xfrm>
          <a:prstGeom prst="rect">
            <a:avLst/>
          </a:prstGeom>
        </p:spPr>
      </p:pic>
      <p:grpSp>
        <p:nvGrpSpPr>
          <p:cNvPr id="6" name="Group 2">
            <a:extLst>
              <a:ext uri="{FF2B5EF4-FFF2-40B4-BE49-F238E27FC236}">
                <a16:creationId xmlns:a16="http://schemas.microsoft.com/office/drawing/2014/main" id="{1003F3B2-FED1-22E7-689B-696D9483BD14}"/>
              </a:ext>
            </a:extLst>
          </p:cNvPr>
          <p:cNvGrpSpPr/>
          <p:nvPr/>
        </p:nvGrpSpPr>
        <p:grpSpPr>
          <a:xfrm>
            <a:off x="0" y="114299"/>
            <a:ext cx="13868400" cy="1097280"/>
            <a:chOff x="0" y="-2"/>
            <a:chExt cx="26241753" cy="1664815"/>
          </a:xfrm>
          <a:solidFill>
            <a:schemeClr val="bg1">
              <a:lumMod val="95000"/>
            </a:schemeClr>
          </a:solidFill>
        </p:grpSpPr>
        <p:sp>
          <p:nvSpPr>
            <p:cNvPr id="7" name="Freeform 3">
              <a:extLst>
                <a:ext uri="{FF2B5EF4-FFF2-40B4-BE49-F238E27FC236}">
                  <a16:creationId xmlns:a16="http://schemas.microsoft.com/office/drawing/2014/main" id="{6BBE8F4E-F9BB-9AE2-28E9-99C5BB909289}"/>
                </a:ext>
              </a:extLst>
            </p:cNvPr>
            <p:cNvSpPr/>
            <p:nvPr/>
          </p:nvSpPr>
          <p:spPr>
            <a:xfrm>
              <a:off x="0" y="-2"/>
              <a:ext cx="26241753"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4. </a:t>
              </a:r>
              <a:r>
                <a:rPr lang="vi-VN" sz="3600" b="1" dirty="0">
                  <a:solidFill>
                    <a:srgbClr val="000000"/>
                  </a:solidFill>
                  <a:latin typeface="Arial" panose="020B0604020202020204" pitchFamily="34" charset="0"/>
                  <a:ea typeface="Futura Ultra-Bold"/>
                  <a:cs typeface="Arial" panose="020B0604020202020204" pitchFamily="34" charset="0"/>
                  <a:sym typeface="Futura Ultra-Bold"/>
                </a:rPr>
                <a:t>Cơ cấu tổ chức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và</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luồng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phối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hợp</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thực</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án</a:t>
              </a:r>
              <a:endParaRPr lang="vi-VN" sz="3600" b="1" dirty="0">
                <a:solidFill>
                  <a:srgbClr val="000000"/>
                </a:solidFill>
                <a:latin typeface="Arial" panose="020B0604020202020204" pitchFamily="34" charset="0"/>
                <a:ea typeface="Futura Ultra-Bold"/>
                <a:cs typeface="Arial" panose="020B0604020202020204" pitchFamily="34" charset="0"/>
                <a:sym typeface="Futura Ultra-Bold"/>
              </a:endParaRP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Luồng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phối</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hợp</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thực</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dự</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án</a:t>
              </a:r>
              <a:endParaRPr lang="en-US" sz="2400" b="1" i="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8" name="Group 4">
            <a:extLst>
              <a:ext uri="{FF2B5EF4-FFF2-40B4-BE49-F238E27FC236}">
                <a16:creationId xmlns:a16="http://schemas.microsoft.com/office/drawing/2014/main" id="{C0BF9ABB-9290-DDDF-447D-21C52E6DAD28}"/>
              </a:ext>
            </a:extLst>
          </p:cNvPr>
          <p:cNvGrpSpPr/>
          <p:nvPr/>
        </p:nvGrpSpPr>
        <p:grpSpPr>
          <a:xfrm>
            <a:off x="0" y="114299"/>
            <a:ext cx="936307" cy="1097280"/>
            <a:chOff x="0" y="0"/>
            <a:chExt cx="1248410" cy="1554290"/>
          </a:xfrm>
        </p:grpSpPr>
        <p:sp>
          <p:nvSpPr>
            <p:cNvPr id="9" name="Freeform 5">
              <a:extLst>
                <a:ext uri="{FF2B5EF4-FFF2-40B4-BE49-F238E27FC236}">
                  <a16:creationId xmlns:a16="http://schemas.microsoft.com/office/drawing/2014/main" id="{85076406-ADAB-A9D3-D3E9-6248BC03E96E}"/>
                </a:ext>
              </a:extLst>
            </p:cNvPr>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latin typeface="Arial" panose="020B0604020202020204" pitchFamily="34" charset="0"/>
                <a:cs typeface="Arial" panose="020B0604020202020204" pitchFamily="34" charset="0"/>
              </a:endParaRPr>
            </a:p>
          </p:txBody>
        </p:sp>
      </p:grpSp>
      <p:sp>
        <p:nvSpPr>
          <p:cNvPr id="59" name="Shape 3">
            <a:extLst>
              <a:ext uri="{FF2B5EF4-FFF2-40B4-BE49-F238E27FC236}">
                <a16:creationId xmlns:a16="http://schemas.microsoft.com/office/drawing/2014/main" id="{14414BBB-C42B-8E7A-D0F5-D8BCAE236294}"/>
              </a:ext>
            </a:extLst>
          </p:cNvPr>
          <p:cNvSpPr/>
          <p:nvPr/>
        </p:nvSpPr>
        <p:spPr>
          <a:xfrm>
            <a:off x="868680" y="2181406"/>
            <a:ext cx="8138160" cy="1935480"/>
          </a:xfrm>
          <a:prstGeom prst="roundRect">
            <a:avLst>
              <a:gd name="adj" fmla="val 5128"/>
            </a:avLst>
          </a:prstGeom>
          <a:solidFill>
            <a:srgbClr val="F7F9FC"/>
          </a:solidFill>
          <a:ln w="28575">
            <a:solidFill>
              <a:schemeClr val="accent2">
                <a:lumMod val="60000"/>
                <a:lumOff val="40000"/>
              </a:schemeClr>
            </a:solidFill>
            <a:prstDash val="sysDash"/>
          </a:ln>
        </p:spPr>
        <p:txBody>
          <a:bodyPr/>
          <a:lstStyle/>
          <a:p>
            <a:endParaRPr lang="en-VN"/>
          </a:p>
        </p:txBody>
      </p:sp>
      <p:sp>
        <p:nvSpPr>
          <p:cNvPr id="61" name="Shape 4">
            <a:extLst>
              <a:ext uri="{FF2B5EF4-FFF2-40B4-BE49-F238E27FC236}">
                <a16:creationId xmlns:a16="http://schemas.microsoft.com/office/drawing/2014/main" id="{0595E7A5-E511-A596-490D-4A476FACB565}"/>
              </a:ext>
            </a:extLst>
          </p:cNvPr>
          <p:cNvSpPr/>
          <p:nvPr/>
        </p:nvSpPr>
        <p:spPr>
          <a:xfrm>
            <a:off x="868680" y="2181406"/>
            <a:ext cx="91440" cy="1935480"/>
          </a:xfrm>
          <a:prstGeom prst="rect">
            <a:avLst/>
          </a:prstGeom>
          <a:solidFill>
            <a:srgbClr val="C00000"/>
          </a:solidFill>
          <a:ln/>
        </p:spPr>
        <p:txBody>
          <a:bodyPr/>
          <a:lstStyle/>
          <a:p>
            <a:endParaRPr lang="en-VN"/>
          </a:p>
        </p:txBody>
      </p:sp>
      <p:sp>
        <p:nvSpPr>
          <p:cNvPr id="63" name="Text 5">
            <a:extLst>
              <a:ext uri="{FF2B5EF4-FFF2-40B4-BE49-F238E27FC236}">
                <a16:creationId xmlns:a16="http://schemas.microsoft.com/office/drawing/2014/main" id="{2CF96171-760D-89D1-B7B9-F937BD23DAC6}"/>
              </a:ext>
            </a:extLst>
          </p:cNvPr>
          <p:cNvSpPr/>
          <p:nvPr/>
        </p:nvSpPr>
        <p:spPr>
          <a:xfrm>
            <a:off x="1234440" y="2345998"/>
            <a:ext cx="7498080" cy="457200"/>
          </a:xfrm>
          <a:prstGeom prst="rect">
            <a:avLst/>
          </a:prstGeom>
          <a:noFill/>
          <a:ln/>
        </p:spPr>
        <p:txBody>
          <a:bodyPr wrap="square" lIns="0" tIns="0" rIns="0" bIns="0" rtlCol="0" anchor="ctr"/>
          <a:lstStyle/>
          <a:p>
            <a:pPr marL="0" indent="0" algn="l">
              <a:buNone/>
            </a:pPr>
            <a:r>
              <a:rPr lang="en-US" sz="2800" b="1" dirty="0">
                <a:solidFill>
                  <a:srgbClr val="C00000"/>
                </a:solidFill>
                <a:latin typeface="Arial" panose="020B0604020202020204" pitchFamily="34" charset="0"/>
                <a:ea typeface="Calibri" pitchFamily="34" charset="-122"/>
                <a:cs typeface="Arial" panose="020B0604020202020204" pitchFamily="34" charset="0"/>
              </a:rPr>
              <a:t>ĐẦU MỐI PHỐI HỢP</a:t>
            </a:r>
            <a:endParaRPr lang="en-US" sz="2800" dirty="0">
              <a:solidFill>
                <a:srgbClr val="C00000"/>
              </a:solidFill>
              <a:latin typeface="Arial" panose="020B0604020202020204" pitchFamily="34" charset="0"/>
              <a:cs typeface="Arial" panose="020B0604020202020204" pitchFamily="34" charset="0"/>
            </a:endParaRPr>
          </a:p>
        </p:txBody>
      </p:sp>
      <p:sp>
        <p:nvSpPr>
          <p:cNvPr id="1863056577" name="Text 6">
            <a:extLst>
              <a:ext uri="{FF2B5EF4-FFF2-40B4-BE49-F238E27FC236}">
                <a16:creationId xmlns:a16="http://schemas.microsoft.com/office/drawing/2014/main" id="{2C44C694-89EB-A24E-ED65-9E65A23B80BD}"/>
              </a:ext>
            </a:extLst>
          </p:cNvPr>
          <p:cNvSpPr/>
          <p:nvPr/>
        </p:nvSpPr>
        <p:spPr>
          <a:xfrm>
            <a:off x="1234440" y="2978004"/>
            <a:ext cx="7498080" cy="1005840"/>
          </a:xfrm>
          <a:prstGeom prst="rect">
            <a:avLst/>
          </a:prstGeom>
          <a:noFill/>
          <a:ln/>
        </p:spPr>
        <p:txBody>
          <a:bodyPr wrap="square" lIns="0" tIns="0" rIns="0" bIns="0" rtlCol="0" anchor="t"/>
          <a:lstStyle/>
          <a:p>
            <a:pPr marL="0" indent="0" algn="l">
              <a:lnSpc>
                <a:spcPct val="108000"/>
              </a:lnSpc>
              <a:buNone/>
            </a:pPr>
            <a:r>
              <a:rPr lang="en-US" sz="2100" dirty="0">
                <a:solidFill>
                  <a:srgbClr val="222B45"/>
                </a:solidFill>
                <a:latin typeface="Arial" panose="020B0604020202020204" pitchFamily="34" charset="0"/>
                <a:ea typeface="Calibri" pitchFamily="34" charset="-122"/>
                <a:cs typeface="Arial" panose="020B0604020202020204" pitchFamily="34" charset="0"/>
              </a:rPr>
              <a:t>Các đơn vị Tuyến 1 cử 01 đầu mối chính + 01 dự phòng, tham gia xuyên suốt và là cầu nối với P.QTRR.</a:t>
            </a:r>
            <a:endParaRPr lang="en-US" sz="2100" dirty="0">
              <a:latin typeface="Arial" panose="020B0604020202020204" pitchFamily="34" charset="0"/>
              <a:cs typeface="Arial" panose="020B0604020202020204" pitchFamily="34" charset="0"/>
            </a:endParaRPr>
          </a:p>
        </p:txBody>
      </p:sp>
      <p:sp>
        <p:nvSpPr>
          <p:cNvPr id="1863056579" name="Shape 7">
            <a:extLst>
              <a:ext uri="{FF2B5EF4-FFF2-40B4-BE49-F238E27FC236}">
                <a16:creationId xmlns:a16="http://schemas.microsoft.com/office/drawing/2014/main" id="{B5C2FBED-0CEE-FE5A-93F3-D98660166E49}"/>
              </a:ext>
            </a:extLst>
          </p:cNvPr>
          <p:cNvSpPr/>
          <p:nvPr/>
        </p:nvSpPr>
        <p:spPr>
          <a:xfrm>
            <a:off x="9281160" y="2181406"/>
            <a:ext cx="8138160" cy="1935480"/>
          </a:xfrm>
          <a:prstGeom prst="roundRect">
            <a:avLst>
              <a:gd name="adj" fmla="val 5128"/>
            </a:avLst>
          </a:prstGeom>
          <a:solidFill>
            <a:srgbClr val="F7F9FC"/>
          </a:solidFill>
          <a:ln w="28575">
            <a:solidFill>
              <a:schemeClr val="tx2">
                <a:lumMod val="40000"/>
                <a:lumOff val="60000"/>
              </a:schemeClr>
            </a:solidFill>
            <a:prstDash val="sysDash"/>
          </a:ln>
        </p:spPr>
        <p:txBody>
          <a:bodyPr/>
          <a:lstStyle/>
          <a:p>
            <a:endParaRPr lang="en-VN"/>
          </a:p>
        </p:txBody>
      </p:sp>
      <p:sp>
        <p:nvSpPr>
          <p:cNvPr id="1863056581" name="Shape 8">
            <a:extLst>
              <a:ext uri="{FF2B5EF4-FFF2-40B4-BE49-F238E27FC236}">
                <a16:creationId xmlns:a16="http://schemas.microsoft.com/office/drawing/2014/main" id="{FCF23BF7-9B6A-7DC0-1296-61EC56469FE9}"/>
              </a:ext>
            </a:extLst>
          </p:cNvPr>
          <p:cNvSpPr/>
          <p:nvPr/>
        </p:nvSpPr>
        <p:spPr>
          <a:xfrm>
            <a:off x="9281160" y="2181406"/>
            <a:ext cx="91440" cy="1935480"/>
          </a:xfrm>
          <a:prstGeom prst="rect">
            <a:avLst/>
          </a:prstGeom>
          <a:solidFill>
            <a:srgbClr val="2E4B8B"/>
          </a:solidFill>
          <a:ln/>
        </p:spPr>
        <p:txBody>
          <a:bodyPr/>
          <a:lstStyle/>
          <a:p>
            <a:endParaRPr lang="en-VN"/>
          </a:p>
        </p:txBody>
      </p:sp>
      <p:sp>
        <p:nvSpPr>
          <p:cNvPr id="1863056583" name="Text 9">
            <a:extLst>
              <a:ext uri="{FF2B5EF4-FFF2-40B4-BE49-F238E27FC236}">
                <a16:creationId xmlns:a16="http://schemas.microsoft.com/office/drawing/2014/main" id="{D37C702D-3B65-1C70-AFF1-312CBC8B791B}"/>
              </a:ext>
            </a:extLst>
          </p:cNvPr>
          <p:cNvSpPr/>
          <p:nvPr/>
        </p:nvSpPr>
        <p:spPr>
          <a:xfrm>
            <a:off x="9646920" y="2345998"/>
            <a:ext cx="7498080" cy="457200"/>
          </a:xfrm>
          <a:prstGeom prst="rect">
            <a:avLst/>
          </a:prstGeom>
          <a:noFill/>
          <a:ln/>
        </p:spPr>
        <p:txBody>
          <a:bodyPr wrap="square" lIns="0" tIns="0" rIns="0" bIns="0" rtlCol="0" anchor="ctr"/>
          <a:lstStyle/>
          <a:p>
            <a:pPr marL="0" indent="0" algn="l">
              <a:buNone/>
            </a:pPr>
            <a:r>
              <a:rPr lang="en-US" sz="2800" b="1" dirty="0">
                <a:solidFill>
                  <a:srgbClr val="2E4B8B"/>
                </a:solidFill>
                <a:latin typeface="Arial" panose="020B0604020202020204" pitchFamily="34" charset="0"/>
                <a:ea typeface="Calibri" pitchFamily="34" charset="-122"/>
                <a:cs typeface="Arial" panose="020B0604020202020204" pitchFamily="34" charset="0"/>
              </a:rPr>
              <a:t>PHỎNG VẤN &amp; WORKSHOP</a:t>
            </a:r>
            <a:endParaRPr lang="en-US" sz="2800" dirty="0">
              <a:latin typeface="Arial" panose="020B0604020202020204" pitchFamily="34" charset="0"/>
              <a:cs typeface="Arial" panose="020B0604020202020204" pitchFamily="34" charset="0"/>
            </a:endParaRPr>
          </a:p>
        </p:txBody>
      </p:sp>
      <p:sp>
        <p:nvSpPr>
          <p:cNvPr id="1863056585" name="Text 10">
            <a:extLst>
              <a:ext uri="{FF2B5EF4-FFF2-40B4-BE49-F238E27FC236}">
                <a16:creationId xmlns:a16="http://schemas.microsoft.com/office/drawing/2014/main" id="{5CCDCB23-8005-1507-0C4B-8C1DEE2E57CF}"/>
              </a:ext>
            </a:extLst>
          </p:cNvPr>
          <p:cNvSpPr/>
          <p:nvPr/>
        </p:nvSpPr>
        <p:spPr>
          <a:xfrm>
            <a:off x="9646920" y="2839774"/>
            <a:ext cx="7498080" cy="1005840"/>
          </a:xfrm>
          <a:prstGeom prst="rect">
            <a:avLst/>
          </a:prstGeom>
          <a:noFill/>
          <a:ln/>
        </p:spPr>
        <p:txBody>
          <a:bodyPr wrap="square" lIns="0" tIns="0" rIns="0" bIns="0" rtlCol="0" anchor="t"/>
          <a:lstStyle/>
          <a:p>
            <a:pPr marL="0" indent="0" algn="l">
              <a:lnSpc>
                <a:spcPct val="108000"/>
              </a:lnSpc>
              <a:buNone/>
            </a:pPr>
            <a:r>
              <a:rPr lang="en-US" sz="2100" dirty="0">
                <a:solidFill>
                  <a:srgbClr val="222B45"/>
                </a:solidFill>
                <a:latin typeface="Arial" panose="020B0604020202020204" pitchFamily="34" charset="0"/>
                <a:ea typeface="Calibri" pitchFamily="34" charset="-122"/>
                <a:cs typeface="Arial" panose="020B0604020202020204" pitchFamily="34" charset="0"/>
              </a:rPr>
              <a:t>Tuyến 1 </a:t>
            </a:r>
            <a:r>
              <a:rPr lang="en-US" sz="2100" dirty="0" err="1">
                <a:solidFill>
                  <a:srgbClr val="222B45"/>
                </a:solidFill>
                <a:latin typeface="Arial" panose="020B0604020202020204" pitchFamily="34" charset="0"/>
                <a:ea typeface="Calibri" pitchFamily="34" charset="-122"/>
                <a:cs typeface="Arial" panose="020B0604020202020204" pitchFamily="34" charset="0"/>
              </a:rPr>
              <a:t>tham</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gia</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các</a:t>
            </a:r>
            <a:r>
              <a:rPr lang="en-US" sz="2100" dirty="0">
                <a:solidFill>
                  <a:srgbClr val="222B45"/>
                </a:solidFill>
                <a:latin typeface="Arial" panose="020B0604020202020204" pitchFamily="34" charset="0"/>
                <a:ea typeface="Calibri" pitchFamily="34" charset="-122"/>
                <a:cs typeface="Arial" panose="020B0604020202020204" pitchFamily="34" charset="0"/>
              </a:rPr>
              <a:t> phiên phỏng vấn do P.QTRR tổ chức để thu thập thông tin; tham gia workshop nhận diện rủi ro theo mảng; cung cấp thông tin hỗ trợ xây khung QTRR cấp TCT.</a:t>
            </a:r>
            <a:endParaRPr lang="en-US" sz="2100" dirty="0">
              <a:latin typeface="Arial" panose="020B0604020202020204" pitchFamily="34" charset="0"/>
              <a:cs typeface="Arial" panose="020B0604020202020204" pitchFamily="34" charset="0"/>
            </a:endParaRPr>
          </a:p>
        </p:txBody>
      </p:sp>
      <p:sp>
        <p:nvSpPr>
          <p:cNvPr id="1863056587" name="Shape 11">
            <a:extLst>
              <a:ext uri="{FF2B5EF4-FFF2-40B4-BE49-F238E27FC236}">
                <a16:creationId xmlns:a16="http://schemas.microsoft.com/office/drawing/2014/main" id="{06C2A336-37B4-0E80-F007-52AFD422DDFA}"/>
              </a:ext>
            </a:extLst>
          </p:cNvPr>
          <p:cNvSpPr/>
          <p:nvPr/>
        </p:nvSpPr>
        <p:spPr>
          <a:xfrm>
            <a:off x="868680" y="4510813"/>
            <a:ext cx="8138160" cy="1935480"/>
          </a:xfrm>
          <a:prstGeom prst="roundRect">
            <a:avLst>
              <a:gd name="adj" fmla="val 5128"/>
            </a:avLst>
          </a:prstGeom>
          <a:solidFill>
            <a:srgbClr val="F7F9FC"/>
          </a:solidFill>
          <a:ln w="28575">
            <a:solidFill>
              <a:schemeClr val="accent1">
                <a:lumMod val="40000"/>
                <a:lumOff val="60000"/>
              </a:schemeClr>
            </a:solidFill>
            <a:prstDash val="sysDash"/>
          </a:ln>
        </p:spPr>
        <p:txBody>
          <a:bodyPr/>
          <a:lstStyle/>
          <a:p>
            <a:endParaRPr lang="en-VN"/>
          </a:p>
        </p:txBody>
      </p:sp>
      <p:sp>
        <p:nvSpPr>
          <p:cNvPr id="1863056589" name="Shape 12">
            <a:extLst>
              <a:ext uri="{FF2B5EF4-FFF2-40B4-BE49-F238E27FC236}">
                <a16:creationId xmlns:a16="http://schemas.microsoft.com/office/drawing/2014/main" id="{B92F6250-FCA7-5381-DECE-2F8775AC2125}"/>
              </a:ext>
            </a:extLst>
          </p:cNvPr>
          <p:cNvSpPr/>
          <p:nvPr/>
        </p:nvSpPr>
        <p:spPr>
          <a:xfrm>
            <a:off x="868680" y="4510813"/>
            <a:ext cx="91440" cy="1935480"/>
          </a:xfrm>
          <a:prstGeom prst="rect">
            <a:avLst/>
          </a:prstGeom>
          <a:solidFill>
            <a:schemeClr val="accent1"/>
          </a:solidFill>
          <a:ln/>
        </p:spPr>
        <p:txBody>
          <a:bodyPr/>
          <a:lstStyle/>
          <a:p>
            <a:endParaRPr lang="en-VN"/>
          </a:p>
        </p:txBody>
      </p:sp>
      <p:sp>
        <p:nvSpPr>
          <p:cNvPr id="1863056591" name="Text 13">
            <a:extLst>
              <a:ext uri="{FF2B5EF4-FFF2-40B4-BE49-F238E27FC236}">
                <a16:creationId xmlns:a16="http://schemas.microsoft.com/office/drawing/2014/main" id="{BAE47CC8-34C0-ADA3-16A2-A108F258043F}"/>
              </a:ext>
            </a:extLst>
          </p:cNvPr>
          <p:cNvSpPr/>
          <p:nvPr/>
        </p:nvSpPr>
        <p:spPr>
          <a:xfrm>
            <a:off x="1234440" y="4675405"/>
            <a:ext cx="7498080" cy="457200"/>
          </a:xfrm>
          <a:prstGeom prst="rect">
            <a:avLst/>
          </a:prstGeom>
          <a:noFill/>
          <a:ln/>
        </p:spPr>
        <p:txBody>
          <a:bodyPr wrap="square" lIns="0" tIns="0" rIns="0" bIns="0" rtlCol="0" anchor="ctr"/>
          <a:lstStyle/>
          <a:p>
            <a:pPr marL="0" indent="0" algn="l">
              <a:buNone/>
            </a:pPr>
            <a:r>
              <a:rPr lang="en-US" sz="2800" b="1" dirty="0">
                <a:solidFill>
                  <a:schemeClr val="accent1"/>
                </a:solidFill>
                <a:latin typeface="Arial" panose="020B0604020202020204" pitchFamily="34" charset="0"/>
                <a:ea typeface="Calibri" pitchFamily="34" charset="-122"/>
                <a:cs typeface="Arial" panose="020B0604020202020204" pitchFamily="34" charset="0"/>
              </a:rPr>
              <a:t>LUỒNG THÔNG TIN</a:t>
            </a:r>
            <a:endParaRPr lang="en-US" sz="2800" dirty="0">
              <a:solidFill>
                <a:schemeClr val="accent1"/>
              </a:solidFill>
              <a:latin typeface="Arial" panose="020B0604020202020204" pitchFamily="34" charset="0"/>
              <a:cs typeface="Arial" panose="020B0604020202020204" pitchFamily="34" charset="0"/>
            </a:endParaRPr>
          </a:p>
        </p:txBody>
      </p:sp>
      <p:sp>
        <p:nvSpPr>
          <p:cNvPr id="1863056593" name="Text 14">
            <a:extLst>
              <a:ext uri="{FF2B5EF4-FFF2-40B4-BE49-F238E27FC236}">
                <a16:creationId xmlns:a16="http://schemas.microsoft.com/office/drawing/2014/main" id="{D3900B40-0478-E3B8-7B88-A34602925CB8}"/>
              </a:ext>
            </a:extLst>
          </p:cNvPr>
          <p:cNvSpPr/>
          <p:nvPr/>
        </p:nvSpPr>
        <p:spPr>
          <a:xfrm>
            <a:off x="1234440" y="5169181"/>
            <a:ext cx="7498080" cy="1005840"/>
          </a:xfrm>
          <a:prstGeom prst="rect">
            <a:avLst/>
          </a:prstGeom>
          <a:noFill/>
          <a:ln/>
        </p:spPr>
        <p:txBody>
          <a:bodyPr wrap="square" lIns="0" tIns="0" rIns="0" bIns="0" rtlCol="0" anchor="t"/>
          <a:lstStyle/>
          <a:p>
            <a:pPr marL="0" indent="0" algn="l">
              <a:lnSpc>
                <a:spcPct val="108000"/>
              </a:lnSpc>
              <a:buNone/>
            </a:pPr>
            <a:r>
              <a:rPr lang="en-US" sz="2100" dirty="0">
                <a:solidFill>
                  <a:srgbClr val="222B45"/>
                </a:solidFill>
                <a:latin typeface="Arial" panose="020B0604020202020204" pitchFamily="34" charset="0"/>
                <a:ea typeface="Calibri" pitchFamily="34" charset="-122"/>
                <a:cs typeface="Arial" panose="020B0604020202020204" pitchFamily="34" charset="0"/>
              </a:rPr>
              <a:t>Các đơn vị → điều phối viên → P.QTRR tổng hợp → Ban chỉ đạo. Báo cáo hai chiều, </a:t>
            </a:r>
            <a:r>
              <a:rPr lang="en-US" sz="2100" dirty="0" err="1">
                <a:solidFill>
                  <a:srgbClr val="222B45"/>
                </a:solidFill>
                <a:latin typeface="Arial" panose="020B0604020202020204" pitchFamily="34" charset="0"/>
                <a:ea typeface="Calibri" pitchFamily="34" charset="-122"/>
                <a:cs typeface="Arial" panose="020B0604020202020204" pitchFamily="34" charset="0"/>
              </a:rPr>
              <a:t>mọi</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thông</a:t>
            </a:r>
            <a:r>
              <a:rPr lang="en-US" sz="2100" dirty="0">
                <a:solidFill>
                  <a:srgbClr val="222B45"/>
                </a:solidFill>
                <a:latin typeface="Arial" panose="020B0604020202020204" pitchFamily="34" charset="0"/>
                <a:ea typeface="Calibri" pitchFamily="34" charset="-122"/>
                <a:cs typeface="Arial" panose="020B0604020202020204" pitchFamily="34" charset="0"/>
              </a:rPr>
              <a:t> tin </a:t>
            </a:r>
            <a:r>
              <a:rPr lang="en-US" sz="2100" dirty="0" err="1">
                <a:solidFill>
                  <a:srgbClr val="222B45"/>
                </a:solidFill>
                <a:latin typeface="Arial" panose="020B0604020202020204" pitchFamily="34" charset="0"/>
                <a:ea typeface="Calibri" pitchFamily="34" charset="-122"/>
                <a:cs typeface="Arial" panose="020B0604020202020204" pitchFamily="34" charset="0"/>
              </a:rPr>
              <a:t>được</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xác</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nhận</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với</a:t>
            </a:r>
            <a:r>
              <a:rPr lang="en-US" sz="2100" dirty="0">
                <a:solidFill>
                  <a:srgbClr val="222B45"/>
                </a:solidFill>
                <a:latin typeface="Arial" panose="020B0604020202020204" pitchFamily="34" charset="0"/>
                <a:ea typeface="Calibri" pitchFamily="34" charset="-122"/>
                <a:cs typeface="Arial" panose="020B0604020202020204" pitchFamily="34" charset="0"/>
              </a:rPr>
              <a:t> Risk owner </a:t>
            </a:r>
            <a:r>
              <a:rPr lang="en-US" sz="2100" dirty="0" err="1">
                <a:solidFill>
                  <a:srgbClr val="222B45"/>
                </a:solidFill>
                <a:latin typeface="Arial" panose="020B0604020202020204" pitchFamily="34" charset="0"/>
                <a:ea typeface="Calibri" pitchFamily="34" charset="-122"/>
                <a:cs typeface="Arial" panose="020B0604020202020204" pitchFamily="34" charset="0"/>
              </a:rPr>
              <a:t>trước</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khi</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báo</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cáo</a:t>
            </a:r>
            <a:endParaRPr lang="en-US" sz="2100" dirty="0">
              <a:latin typeface="Arial" panose="020B0604020202020204" pitchFamily="34" charset="0"/>
              <a:cs typeface="Arial" panose="020B0604020202020204" pitchFamily="34" charset="0"/>
            </a:endParaRPr>
          </a:p>
        </p:txBody>
      </p:sp>
      <p:sp>
        <p:nvSpPr>
          <p:cNvPr id="1863056595" name="Shape 15">
            <a:extLst>
              <a:ext uri="{FF2B5EF4-FFF2-40B4-BE49-F238E27FC236}">
                <a16:creationId xmlns:a16="http://schemas.microsoft.com/office/drawing/2014/main" id="{C3916986-821F-14FC-230D-753FC1437705}"/>
              </a:ext>
            </a:extLst>
          </p:cNvPr>
          <p:cNvSpPr/>
          <p:nvPr/>
        </p:nvSpPr>
        <p:spPr>
          <a:xfrm>
            <a:off x="9281160" y="4510813"/>
            <a:ext cx="8138160" cy="1935480"/>
          </a:xfrm>
          <a:prstGeom prst="roundRect">
            <a:avLst>
              <a:gd name="adj" fmla="val 5128"/>
            </a:avLst>
          </a:prstGeom>
          <a:solidFill>
            <a:srgbClr val="F7F9FC"/>
          </a:solidFill>
          <a:ln w="28575">
            <a:solidFill>
              <a:schemeClr val="accent2">
                <a:lumMod val="40000"/>
                <a:lumOff val="60000"/>
              </a:schemeClr>
            </a:solidFill>
            <a:prstDash val="sysDash"/>
          </a:ln>
        </p:spPr>
        <p:txBody>
          <a:bodyPr/>
          <a:lstStyle/>
          <a:p>
            <a:endParaRPr lang="en-VN"/>
          </a:p>
        </p:txBody>
      </p:sp>
      <p:sp>
        <p:nvSpPr>
          <p:cNvPr id="1863056597" name="Shape 16">
            <a:extLst>
              <a:ext uri="{FF2B5EF4-FFF2-40B4-BE49-F238E27FC236}">
                <a16:creationId xmlns:a16="http://schemas.microsoft.com/office/drawing/2014/main" id="{28A90310-F7AA-C8F8-65D3-40A26D899A9F}"/>
              </a:ext>
            </a:extLst>
          </p:cNvPr>
          <p:cNvSpPr/>
          <p:nvPr/>
        </p:nvSpPr>
        <p:spPr>
          <a:xfrm>
            <a:off x="9281160" y="4510813"/>
            <a:ext cx="91440" cy="1935480"/>
          </a:xfrm>
          <a:prstGeom prst="rect">
            <a:avLst/>
          </a:prstGeom>
          <a:solidFill>
            <a:srgbClr val="FF0000"/>
          </a:solidFill>
          <a:ln/>
        </p:spPr>
        <p:txBody>
          <a:bodyPr/>
          <a:lstStyle/>
          <a:p>
            <a:endParaRPr lang="en-VN"/>
          </a:p>
        </p:txBody>
      </p:sp>
      <p:sp>
        <p:nvSpPr>
          <p:cNvPr id="1863056599" name="Text 17">
            <a:extLst>
              <a:ext uri="{FF2B5EF4-FFF2-40B4-BE49-F238E27FC236}">
                <a16:creationId xmlns:a16="http://schemas.microsoft.com/office/drawing/2014/main" id="{6632D246-E8B2-3CCC-A715-B2D8C70E9366}"/>
              </a:ext>
            </a:extLst>
          </p:cNvPr>
          <p:cNvSpPr/>
          <p:nvPr/>
        </p:nvSpPr>
        <p:spPr>
          <a:xfrm>
            <a:off x="9646920" y="4675405"/>
            <a:ext cx="7498080" cy="457200"/>
          </a:xfrm>
          <a:prstGeom prst="rect">
            <a:avLst/>
          </a:prstGeom>
          <a:noFill/>
          <a:ln/>
        </p:spPr>
        <p:txBody>
          <a:bodyPr wrap="square" lIns="0" tIns="0" rIns="0" bIns="0" rtlCol="0" anchor="ctr"/>
          <a:lstStyle/>
          <a:p>
            <a:pPr marL="0" indent="0" algn="l">
              <a:buNone/>
            </a:pPr>
            <a:r>
              <a:rPr lang="en-US" sz="2800" b="1" dirty="0">
                <a:solidFill>
                  <a:srgbClr val="FF0000"/>
                </a:solidFill>
                <a:latin typeface="Arial" panose="020B0604020202020204" pitchFamily="34" charset="0"/>
                <a:ea typeface="Calibri" pitchFamily="34" charset="-122"/>
                <a:cs typeface="Arial" panose="020B0604020202020204" pitchFamily="34" charset="0"/>
              </a:rPr>
              <a:t>XỬ LÝ VƯỚNG MẮC</a:t>
            </a:r>
            <a:endParaRPr lang="en-US" sz="2800" dirty="0">
              <a:solidFill>
                <a:srgbClr val="FF0000"/>
              </a:solidFill>
              <a:latin typeface="Arial" panose="020B0604020202020204" pitchFamily="34" charset="0"/>
              <a:cs typeface="Arial" panose="020B0604020202020204" pitchFamily="34" charset="0"/>
            </a:endParaRPr>
          </a:p>
        </p:txBody>
      </p:sp>
      <p:sp>
        <p:nvSpPr>
          <p:cNvPr id="1863056601" name="Text 18">
            <a:extLst>
              <a:ext uri="{FF2B5EF4-FFF2-40B4-BE49-F238E27FC236}">
                <a16:creationId xmlns:a16="http://schemas.microsoft.com/office/drawing/2014/main" id="{ECF193A1-FCB3-F74A-E326-FDEE87585095}"/>
              </a:ext>
            </a:extLst>
          </p:cNvPr>
          <p:cNvSpPr/>
          <p:nvPr/>
        </p:nvSpPr>
        <p:spPr>
          <a:xfrm>
            <a:off x="9646920" y="5286529"/>
            <a:ext cx="7498080" cy="1005840"/>
          </a:xfrm>
          <a:prstGeom prst="rect">
            <a:avLst/>
          </a:prstGeom>
          <a:noFill/>
          <a:ln/>
        </p:spPr>
        <p:txBody>
          <a:bodyPr wrap="square" lIns="0" tIns="0" rIns="0" bIns="0" rtlCol="0" anchor="t"/>
          <a:lstStyle/>
          <a:p>
            <a:pPr marL="0" indent="0" algn="l">
              <a:lnSpc>
                <a:spcPct val="108000"/>
              </a:lnSpc>
              <a:buNone/>
            </a:pPr>
            <a:r>
              <a:rPr lang="en-US" sz="2100" dirty="0">
                <a:solidFill>
                  <a:srgbClr val="222B45"/>
                </a:solidFill>
                <a:latin typeface="Arial" panose="020B0604020202020204" pitchFamily="34" charset="0"/>
                <a:ea typeface="Calibri" pitchFamily="34" charset="-122"/>
                <a:cs typeface="Arial" panose="020B0604020202020204" pitchFamily="34" charset="0"/>
              </a:rPr>
              <a:t>Vướng mắc/rủi ro triển khai được ghi nhận, P.QTRR điều phối; vượt thẩm quyền → báo Nhà bảo trợ / Ban chỉ đạo.</a:t>
            </a:r>
            <a:endParaRPr lang="en-US" sz="2100" dirty="0">
              <a:latin typeface="Arial" panose="020B0604020202020204" pitchFamily="34" charset="0"/>
              <a:cs typeface="Arial" panose="020B0604020202020204" pitchFamily="34" charset="0"/>
            </a:endParaRPr>
          </a:p>
        </p:txBody>
      </p:sp>
      <p:sp>
        <p:nvSpPr>
          <p:cNvPr id="1863056603" name="Shape 19">
            <a:extLst>
              <a:ext uri="{FF2B5EF4-FFF2-40B4-BE49-F238E27FC236}">
                <a16:creationId xmlns:a16="http://schemas.microsoft.com/office/drawing/2014/main" id="{0EABF614-6897-F94E-F365-0E94F68FDC44}"/>
              </a:ext>
            </a:extLst>
          </p:cNvPr>
          <p:cNvSpPr/>
          <p:nvPr/>
        </p:nvSpPr>
        <p:spPr>
          <a:xfrm>
            <a:off x="868680" y="6865620"/>
            <a:ext cx="8138160" cy="1935480"/>
          </a:xfrm>
          <a:prstGeom prst="roundRect">
            <a:avLst>
              <a:gd name="adj" fmla="val 5128"/>
            </a:avLst>
          </a:prstGeom>
          <a:solidFill>
            <a:srgbClr val="F7F9FC"/>
          </a:solidFill>
          <a:ln w="28575">
            <a:solidFill>
              <a:schemeClr val="accent6">
                <a:lumMod val="40000"/>
                <a:lumOff val="60000"/>
              </a:schemeClr>
            </a:solidFill>
            <a:prstDash val="sysDash"/>
          </a:ln>
        </p:spPr>
        <p:txBody>
          <a:bodyPr/>
          <a:lstStyle/>
          <a:p>
            <a:endParaRPr lang="en-VN"/>
          </a:p>
        </p:txBody>
      </p:sp>
      <p:sp>
        <p:nvSpPr>
          <p:cNvPr id="1863056605" name="Shape 20">
            <a:extLst>
              <a:ext uri="{FF2B5EF4-FFF2-40B4-BE49-F238E27FC236}">
                <a16:creationId xmlns:a16="http://schemas.microsoft.com/office/drawing/2014/main" id="{F0A58115-1840-A3A1-D319-B7AC50B2A5A6}"/>
              </a:ext>
            </a:extLst>
          </p:cNvPr>
          <p:cNvSpPr/>
          <p:nvPr/>
        </p:nvSpPr>
        <p:spPr>
          <a:xfrm>
            <a:off x="868680" y="6865620"/>
            <a:ext cx="91440" cy="1935480"/>
          </a:xfrm>
          <a:prstGeom prst="rect">
            <a:avLst/>
          </a:prstGeom>
          <a:solidFill>
            <a:schemeClr val="accent6">
              <a:lumMod val="75000"/>
            </a:schemeClr>
          </a:solidFill>
          <a:ln/>
        </p:spPr>
        <p:txBody>
          <a:bodyPr/>
          <a:lstStyle/>
          <a:p>
            <a:endParaRPr lang="en-VN"/>
          </a:p>
        </p:txBody>
      </p:sp>
      <p:sp>
        <p:nvSpPr>
          <p:cNvPr id="1863056607" name="Text 21">
            <a:extLst>
              <a:ext uri="{FF2B5EF4-FFF2-40B4-BE49-F238E27FC236}">
                <a16:creationId xmlns:a16="http://schemas.microsoft.com/office/drawing/2014/main" id="{F3DF3486-B117-F375-EAB9-74E2AE0F6ACF}"/>
              </a:ext>
            </a:extLst>
          </p:cNvPr>
          <p:cNvSpPr/>
          <p:nvPr/>
        </p:nvSpPr>
        <p:spPr>
          <a:xfrm>
            <a:off x="1234440" y="7030212"/>
            <a:ext cx="7498080" cy="457200"/>
          </a:xfrm>
          <a:prstGeom prst="rect">
            <a:avLst/>
          </a:prstGeom>
          <a:noFill/>
          <a:ln/>
        </p:spPr>
        <p:txBody>
          <a:bodyPr wrap="square" lIns="0" tIns="0" rIns="0" bIns="0" rtlCol="0" anchor="ctr"/>
          <a:lstStyle/>
          <a:p>
            <a:pPr marL="0" indent="0" algn="l">
              <a:buNone/>
            </a:pPr>
            <a:r>
              <a:rPr lang="en-US" sz="2800" b="1" dirty="0">
                <a:solidFill>
                  <a:schemeClr val="accent6">
                    <a:lumMod val="75000"/>
                  </a:schemeClr>
                </a:solidFill>
                <a:latin typeface="Arial" panose="020B0604020202020204" pitchFamily="34" charset="0"/>
                <a:ea typeface="Calibri" pitchFamily="34" charset="-122"/>
                <a:cs typeface="Arial" panose="020B0604020202020204" pitchFamily="34" charset="0"/>
              </a:rPr>
              <a:t>NHỊP LÀM VIỆC &amp; KÊNH TƯƠNG TÁC</a:t>
            </a:r>
            <a:endParaRPr lang="en-US" sz="2800" dirty="0">
              <a:solidFill>
                <a:schemeClr val="accent6">
                  <a:lumMod val="75000"/>
                </a:schemeClr>
              </a:solidFill>
              <a:latin typeface="Arial" panose="020B0604020202020204" pitchFamily="34" charset="0"/>
              <a:cs typeface="Arial" panose="020B0604020202020204" pitchFamily="34" charset="0"/>
            </a:endParaRPr>
          </a:p>
        </p:txBody>
      </p:sp>
      <p:sp>
        <p:nvSpPr>
          <p:cNvPr id="1863056610" name="Text 22">
            <a:extLst>
              <a:ext uri="{FF2B5EF4-FFF2-40B4-BE49-F238E27FC236}">
                <a16:creationId xmlns:a16="http://schemas.microsoft.com/office/drawing/2014/main" id="{B7282901-FF0D-B8A1-3AF1-67AAB415F989}"/>
              </a:ext>
            </a:extLst>
          </p:cNvPr>
          <p:cNvSpPr/>
          <p:nvPr/>
        </p:nvSpPr>
        <p:spPr>
          <a:xfrm>
            <a:off x="1234440" y="7523988"/>
            <a:ext cx="7498080" cy="1005840"/>
          </a:xfrm>
          <a:prstGeom prst="rect">
            <a:avLst/>
          </a:prstGeom>
          <a:noFill/>
          <a:ln/>
        </p:spPr>
        <p:txBody>
          <a:bodyPr wrap="square" lIns="0" tIns="0" rIns="0" bIns="0" rtlCol="0" anchor="t"/>
          <a:lstStyle/>
          <a:p>
            <a:pPr marL="0" indent="0" algn="l">
              <a:lnSpc>
                <a:spcPct val="108000"/>
              </a:lnSpc>
              <a:buNone/>
            </a:pPr>
            <a:r>
              <a:rPr lang="en-US" sz="2100" dirty="0">
                <a:solidFill>
                  <a:srgbClr val="222B45"/>
                </a:solidFill>
                <a:latin typeface="Arial" panose="020B0604020202020204" pitchFamily="34" charset="0"/>
                <a:ea typeface="Calibri" pitchFamily="34" charset="-122"/>
                <a:cs typeface="Arial" panose="020B0604020202020204" pitchFamily="34" charset="0"/>
              </a:rPr>
              <a:t>Họp giao ban dự án định kỳ; kênh trao đổi &amp; thư mục tài liệu dùng chung; biểu mẫu thu thập </a:t>
            </a:r>
            <a:r>
              <a:rPr lang="en-US" sz="2100" dirty="0" err="1">
                <a:solidFill>
                  <a:srgbClr val="222B45"/>
                </a:solidFill>
                <a:latin typeface="Arial" panose="020B0604020202020204" pitchFamily="34" charset="0"/>
                <a:ea typeface="Calibri" pitchFamily="34" charset="-122"/>
                <a:cs typeface="Arial" panose="020B0604020202020204" pitchFamily="34" charset="0"/>
              </a:rPr>
              <a:t>chuẩn</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hóa</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và</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truyền</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thông</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tới</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các</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đơn</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vị</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phối</a:t>
            </a:r>
            <a:r>
              <a:rPr lang="en-US" sz="2100" dirty="0">
                <a:solidFill>
                  <a:srgbClr val="222B45"/>
                </a:solidFill>
                <a:latin typeface="Arial" panose="020B0604020202020204" pitchFamily="34" charset="0"/>
                <a:ea typeface="Calibri" pitchFamily="34" charset="-122"/>
                <a:cs typeface="Arial" panose="020B0604020202020204" pitchFamily="34" charset="0"/>
              </a:rPr>
              <a:t> </a:t>
            </a:r>
            <a:r>
              <a:rPr lang="en-US" sz="2100" dirty="0" err="1">
                <a:solidFill>
                  <a:srgbClr val="222B45"/>
                </a:solidFill>
                <a:latin typeface="Arial" panose="020B0604020202020204" pitchFamily="34" charset="0"/>
                <a:ea typeface="Calibri" pitchFamily="34" charset="-122"/>
                <a:cs typeface="Arial" panose="020B0604020202020204" pitchFamily="34" charset="0"/>
              </a:rPr>
              <a:t>hợp</a:t>
            </a:r>
            <a:r>
              <a:rPr lang="en-US" sz="2100" dirty="0">
                <a:solidFill>
                  <a:srgbClr val="222B45"/>
                </a:solidFill>
                <a:latin typeface="Arial" panose="020B0604020202020204" pitchFamily="34" charset="0"/>
                <a:ea typeface="Calibri" pitchFamily="34" charset="-122"/>
                <a:cs typeface="Arial" panose="020B0604020202020204" pitchFamily="34" charset="0"/>
              </a:rPr>
              <a:t>.</a:t>
            </a:r>
            <a:endParaRPr lang="en-US" sz="2100" dirty="0">
              <a:latin typeface="Arial" panose="020B0604020202020204" pitchFamily="34" charset="0"/>
              <a:cs typeface="Arial" panose="020B0604020202020204" pitchFamily="34" charset="0"/>
            </a:endParaRPr>
          </a:p>
        </p:txBody>
      </p:sp>
      <p:sp>
        <p:nvSpPr>
          <p:cNvPr id="1863056612" name="Shape 23">
            <a:extLst>
              <a:ext uri="{FF2B5EF4-FFF2-40B4-BE49-F238E27FC236}">
                <a16:creationId xmlns:a16="http://schemas.microsoft.com/office/drawing/2014/main" id="{5E665C7C-E653-7967-8E3E-5294EC7B0A91}"/>
              </a:ext>
            </a:extLst>
          </p:cNvPr>
          <p:cNvSpPr/>
          <p:nvPr/>
        </p:nvSpPr>
        <p:spPr>
          <a:xfrm>
            <a:off x="9281160" y="6865620"/>
            <a:ext cx="8138160" cy="1935480"/>
          </a:xfrm>
          <a:prstGeom prst="roundRect">
            <a:avLst>
              <a:gd name="adj" fmla="val 5128"/>
            </a:avLst>
          </a:prstGeom>
          <a:solidFill>
            <a:srgbClr val="F7F9FC"/>
          </a:solidFill>
          <a:ln w="28575">
            <a:solidFill>
              <a:schemeClr val="accent3">
                <a:lumMod val="40000"/>
                <a:lumOff val="60000"/>
              </a:schemeClr>
            </a:solidFill>
            <a:prstDash val="sysDash"/>
          </a:ln>
        </p:spPr>
        <p:txBody>
          <a:bodyPr/>
          <a:lstStyle/>
          <a:p>
            <a:endParaRPr lang="en-VN"/>
          </a:p>
        </p:txBody>
      </p:sp>
      <p:sp>
        <p:nvSpPr>
          <p:cNvPr id="1863056614" name="Shape 24">
            <a:extLst>
              <a:ext uri="{FF2B5EF4-FFF2-40B4-BE49-F238E27FC236}">
                <a16:creationId xmlns:a16="http://schemas.microsoft.com/office/drawing/2014/main" id="{568B46EE-3527-A51C-D706-C6BDE170E749}"/>
              </a:ext>
            </a:extLst>
          </p:cNvPr>
          <p:cNvSpPr/>
          <p:nvPr/>
        </p:nvSpPr>
        <p:spPr>
          <a:xfrm>
            <a:off x="9281160" y="6865620"/>
            <a:ext cx="91440" cy="1935480"/>
          </a:xfrm>
          <a:prstGeom prst="rect">
            <a:avLst/>
          </a:prstGeom>
          <a:solidFill>
            <a:srgbClr val="0F7A6B"/>
          </a:solidFill>
          <a:ln/>
        </p:spPr>
        <p:txBody>
          <a:bodyPr/>
          <a:lstStyle/>
          <a:p>
            <a:endParaRPr lang="en-VN"/>
          </a:p>
        </p:txBody>
      </p:sp>
      <p:sp>
        <p:nvSpPr>
          <p:cNvPr id="1863056616" name="Text 25">
            <a:extLst>
              <a:ext uri="{FF2B5EF4-FFF2-40B4-BE49-F238E27FC236}">
                <a16:creationId xmlns:a16="http://schemas.microsoft.com/office/drawing/2014/main" id="{D8524358-1062-58AA-160D-C44FA8A97D89}"/>
              </a:ext>
            </a:extLst>
          </p:cNvPr>
          <p:cNvSpPr/>
          <p:nvPr/>
        </p:nvSpPr>
        <p:spPr>
          <a:xfrm>
            <a:off x="9646920" y="7030212"/>
            <a:ext cx="7498080" cy="457200"/>
          </a:xfrm>
          <a:prstGeom prst="rect">
            <a:avLst/>
          </a:prstGeom>
          <a:noFill/>
          <a:ln/>
        </p:spPr>
        <p:txBody>
          <a:bodyPr wrap="square" lIns="0" tIns="0" rIns="0" bIns="0" rtlCol="0" anchor="ctr"/>
          <a:lstStyle/>
          <a:p>
            <a:pPr marL="0" indent="0" algn="l">
              <a:buNone/>
            </a:pPr>
            <a:r>
              <a:rPr lang="en-US" sz="2800" b="1" dirty="0">
                <a:solidFill>
                  <a:srgbClr val="0F7A6B"/>
                </a:solidFill>
                <a:latin typeface="Arial" panose="020B0604020202020204" pitchFamily="34" charset="0"/>
                <a:ea typeface="Calibri" pitchFamily="34" charset="-122"/>
                <a:cs typeface="Arial" panose="020B0604020202020204" pitchFamily="34" charset="0"/>
              </a:rPr>
              <a:t>XÁC NHẬN &amp; NGHIỆM THU</a:t>
            </a:r>
            <a:endParaRPr lang="en-US" sz="2800" dirty="0">
              <a:latin typeface="Arial" panose="020B0604020202020204" pitchFamily="34" charset="0"/>
              <a:cs typeface="Arial" panose="020B0604020202020204" pitchFamily="34" charset="0"/>
            </a:endParaRPr>
          </a:p>
        </p:txBody>
      </p:sp>
      <p:sp>
        <p:nvSpPr>
          <p:cNvPr id="1863056618" name="Text 26">
            <a:extLst>
              <a:ext uri="{FF2B5EF4-FFF2-40B4-BE49-F238E27FC236}">
                <a16:creationId xmlns:a16="http://schemas.microsoft.com/office/drawing/2014/main" id="{F791AFDF-8207-093F-8D0E-92464CCA4A87}"/>
              </a:ext>
            </a:extLst>
          </p:cNvPr>
          <p:cNvSpPr/>
          <p:nvPr/>
        </p:nvSpPr>
        <p:spPr>
          <a:xfrm>
            <a:off x="9646920" y="7641336"/>
            <a:ext cx="7498080" cy="1005840"/>
          </a:xfrm>
          <a:prstGeom prst="rect">
            <a:avLst/>
          </a:prstGeom>
          <a:noFill/>
          <a:ln/>
        </p:spPr>
        <p:txBody>
          <a:bodyPr wrap="square" lIns="0" tIns="0" rIns="0" bIns="0" rtlCol="0" anchor="t"/>
          <a:lstStyle/>
          <a:p>
            <a:pPr marL="0" indent="0" algn="l">
              <a:lnSpc>
                <a:spcPct val="108000"/>
              </a:lnSpc>
              <a:buNone/>
            </a:pPr>
            <a:r>
              <a:rPr lang="en-US" sz="2100" dirty="0">
                <a:solidFill>
                  <a:srgbClr val="222B45"/>
                </a:solidFill>
                <a:latin typeface="Arial" panose="020B0604020202020204" pitchFamily="34" charset="0"/>
                <a:ea typeface="Calibri" pitchFamily="34" charset="-122"/>
                <a:cs typeface="Arial" panose="020B0604020202020204" pitchFamily="34" charset="0"/>
              </a:rPr>
              <a:t>Sản phẩm (thư viện rủi ro, KVRR, KRI…) được Risk Owner/đơn vị xác nhận trước khi ban hành.</a:t>
            </a:r>
            <a:endParaRPr lang="en-US" sz="21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813077"/>
      </p:ext>
    </p:extLst>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871368" y="4500205"/>
            <a:ext cx="7387932" cy="2769989"/>
          </a:xfrm>
          <a:prstGeom prst="rect">
            <a:avLst/>
          </a:prstGeom>
        </p:spPr>
        <p:txBody>
          <a:bodyPr lIns="0" tIns="0" rIns="0" bIns="0" rtlCol="0" anchor="t">
            <a:spAutoFit/>
          </a:bodyPr>
          <a:lstStyle/>
          <a:p>
            <a:pPr algn="r">
              <a:lnSpc>
                <a:spcPts val="10800"/>
              </a:lnSpc>
            </a:pPr>
            <a:r>
              <a:rPr lang="en-US" sz="9000" b="1">
                <a:solidFill>
                  <a:srgbClr val="EF233C"/>
                </a:solidFill>
                <a:latin typeface="Arial" panose="020B0604020202020204" pitchFamily="34" charset="0"/>
                <a:ea typeface="Futura Ultra-Bold"/>
                <a:cs typeface="Arial" panose="020B0604020202020204" pitchFamily="34" charset="0"/>
                <a:sym typeface="Futura Ultra-Bold"/>
              </a:rPr>
              <a:t>Thank</a:t>
            </a:r>
          </a:p>
          <a:p>
            <a:pPr algn="r">
              <a:lnSpc>
                <a:spcPts val="10800"/>
              </a:lnSpc>
            </a:pPr>
            <a:r>
              <a:rPr lang="en-US" sz="9000" b="1">
                <a:solidFill>
                  <a:srgbClr val="EF233C"/>
                </a:solidFill>
                <a:latin typeface="Arial" panose="020B0604020202020204" pitchFamily="34" charset="0"/>
                <a:ea typeface="Futura Ultra-Bold"/>
                <a:cs typeface="Arial" panose="020B0604020202020204" pitchFamily="34" charset="0"/>
                <a:sym typeface="Futura Ultra-Bold"/>
              </a:rPr>
              <a:t>You</a:t>
            </a:r>
          </a:p>
        </p:txBody>
      </p:sp>
      <p:grpSp>
        <p:nvGrpSpPr>
          <p:cNvPr id="3" name="Group 3"/>
          <p:cNvGrpSpPr/>
          <p:nvPr/>
        </p:nvGrpSpPr>
        <p:grpSpPr>
          <a:xfrm>
            <a:off x="3664214" y="0"/>
            <a:ext cx="5658816" cy="2538160"/>
            <a:chOff x="0" y="0"/>
            <a:chExt cx="7545088" cy="3384214"/>
          </a:xfrm>
        </p:grpSpPr>
        <p:sp>
          <p:nvSpPr>
            <p:cNvPr id="4" name="Freeform 4"/>
            <p:cNvSpPr/>
            <p:nvPr/>
          </p:nvSpPr>
          <p:spPr>
            <a:xfrm>
              <a:off x="0" y="0"/>
              <a:ext cx="7545129" cy="3384228"/>
            </a:xfrm>
            <a:custGeom>
              <a:avLst/>
              <a:gdLst/>
              <a:ahLst/>
              <a:cxnLst/>
              <a:rect l="l" t="t" r="r" b="b"/>
              <a:pathLst>
                <a:path w="7545129" h="3384228">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EF233C"/>
            </a:solidFill>
          </p:spPr>
          <p:txBody>
            <a:bodyPr/>
            <a:lstStyle/>
            <a:p>
              <a:endParaRPr lang="en-US"/>
            </a:p>
          </p:txBody>
        </p:sp>
      </p:grpSp>
      <p:grpSp>
        <p:nvGrpSpPr>
          <p:cNvPr id="7" name="Group 7"/>
          <p:cNvGrpSpPr/>
          <p:nvPr/>
        </p:nvGrpSpPr>
        <p:grpSpPr>
          <a:xfrm rot="1800000">
            <a:off x="5011489" y="1324627"/>
            <a:ext cx="2536481" cy="411363"/>
            <a:chOff x="0" y="0"/>
            <a:chExt cx="3381974" cy="548484"/>
          </a:xfrm>
        </p:grpSpPr>
        <p:sp>
          <p:nvSpPr>
            <p:cNvPr id="8" name="Freeform 8"/>
            <p:cNvSpPr/>
            <p:nvPr/>
          </p:nvSpPr>
          <p:spPr>
            <a:xfrm>
              <a:off x="0" y="0"/>
              <a:ext cx="3381883" cy="548386"/>
            </a:xfrm>
            <a:custGeom>
              <a:avLst/>
              <a:gdLst/>
              <a:ahLst/>
              <a:cxnLst/>
              <a:rect l="l" t="t" r="r" b="b"/>
              <a:pathLst>
                <a:path w="3381883" h="548386">
                  <a:moveTo>
                    <a:pt x="0" y="274193"/>
                  </a:moveTo>
                  <a:cubicBezTo>
                    <a:pt x="0" y="122809"/>
                    <a:pt x="122809" y="0"/>
                    <a:pt x="274193" y="0"/>
                  </a:cubicBezTo>
                  <a:lnTo>
                    <a:pt x="3107690" y="0"/>
                  </a:lnTo>
                  <a:cubicBezTo>
                    <a:pt x="3259201" y="0"/>
                    <a:pt x="3381883" y="122809"/>
                    <a:pt x="3381883" y="274193"/>
                  </a:cubicBezTo>
                  <a:cubicBezTo>
                    <a:pt x="3381883" y="425577"/>
                    <a:pt x="3259074" y="548386"/>
                    <a:pt x="3107690" y="548386"/>
                  </a:cubicBezTo>
                  <a:lnTo>
                    <a:pt x="274193" y="548386"/>
                  </a:lnTo>
                  <a:cubicBezTo>
                    <a:pt x="122809" y="548513"/>
                    <a:pt x="0" y="425704"/>
                    <a:pt x="0" y="274193"/>
                  </a:cubicBezTo>
                  <a:close/>
                </a:path>
              </a:pathLst>
            </a:custGeom>
            <a:solidFill>
              <a:srgbClr val="F2F2F2"/>
            </a:solidFill>
          </p:spPr>
          <p:txBody>
            <a:bodyPr/>
            <a:lstStyle/>
            <a:p>
              <a:endParaRPr lang="en-US"/>
            </a:p>
          </p:txBody>
        </p:sp>
      </p:grpSp>
      <p:grpSp>
        <p:nvGrpSpPr>
          <p:cNvPr id="11" name="Group 5"/>
          <p:cNvGrpSpPr/>
          <p:nvPr/>
        </p:nvGrpSpPr>
        <p:grpSpPr>
          <a:xfrm>
            <a:off x="0" y="803518"/>
            <a:ext cx="7480841" cy="9483482"/>
            <a:chOff x="0" y="0"/>
            <a:chExt cx="11715570" cy="12644642"/>
          </a:xfrm>
        </p:grpSpPr>
        <p:sp>
          <p:nvSpPr>
            <p:cNvPr id="12" name="Freeform 6"/>
            <p:cNvSpPr/>
            <p:nvPr/>
          </p:nvSpPr>
          <p:spPr>
            <a:xfrm>
              <a:off x="0" y="-31"/>
              <a:ext cx="11715574" cy="12644660"/>
            </a:xfrm>
            <a:custGeom>
              <a:avLst/>
              <a:gdLst/>
              <a:ahLst/>
              <a:cxnLst/>
              <a:rect l="l" t="t" r="r" b="b"/>
              <a:pathLst>
                <a:path w="11715574" h="12644660">
                  <a:moveTo>
                    <a:pt x="2338324" y="1809"/>
                  </a:moveTo>
                  <a:cubicBezTo>
                    <a:pt x="3612515" y="-26766"/>
                    <a:pt x="4910328" y="282606"/>
                    <a:pt x="6094730" y="966374"/>
                  </a:cubicBezTo>
                  <a:lnTo>
                    <a:pt x="8112506" y="2131345"/>
                  </a:lnTo>
                  <a:cubicBezTo>
                    <a:pt x="11558016" y="4120546"/>
                    <a:pt x="12738481" y="8526303"/>
                    <a:pt x="10749280" y="11971813"/>
                  </a:cubicBezTo>
                  <a:cubicBezTo>
                    <a:pt x="10624947" y="12187206"/>
                    <a:pt x="10491216" y="12393707"/>
                    <a:pt x="10348849" y="12591066"/>
                  </a:cubicBezTo>
                  <a:lnTo>
                    <a:pt x="10305923" y="12644659"/>
                  </a:lnTo>
                  <a:lnTo>
                    <a:pt x="0" y="12644659"/>
                  </a:lnTo>
                  <a:lnTo>
                    <a:pt x="0" y="446817"/>
                  </a:lnTo>
                  <a:lnTo>
                    <a:pt x="296799" y="344074"/>
                  </a:lnTo>
                  <a:cubicBezTo>
                    <a:pt x="955421" y="133508"/>
                    <a:pt x="1643380" y="17430"/>
                    <a:pt x="2338324" y="1809"/>
                  </a:cubicBezTo>
                  <a:close/>
                </a:path>
              </a:pathLst>
            </a:custGeom>
            <a:blipFill>
              <a:blip r:embed="rId2"/>
              <a:stretch>
                <a:fillRect l="-61895"/>
              </a:stretch>
            </a:blipFill>
          </p:spPr>
          <p:txBody>
            <a:bodyPr/>
            <a:lstStyle/>
            <a:p>
              <a:endParaRPr lang="en-US"/>
            </a:p>
          </p:txBody>
        </p:sp>
      </p:grpSp>
      <p:grpSp>
        <p:nvGrpSpPr>
          <p:cNvPr id="9" name="Group 9"/>
          <p:cNvGrpSpPr/>
          <p:nvPr/>
        </p:nvGrpSpPr>
        <p:grpSpPr>
          <a:xfrm>
            <a:off x="5392881" y="8654158"/>
            <a:ext cx="3956217" cy="1632842"/>
            <a:chOff x="0" y="0"/>
            <a:chExt cx="5274956" cy="2177122"/>
          </a:xfrm>
        </p:grpSpPr>
        <p:sp>
          <p:nvSpPr>
            <p:cNvPr id="10" name="Freeform 10"/>
            <p:cNvSpPr/>
            <p:nvPr/>
          </p:nvSpPr>
          <p:spPr>
            <a:xfrm>
              <a:off x="3" y="27"/>
              <a:ext cx="5274942" cy="2177134"/>
            </a:xfrm>
            <a:custGeom>
              <a:avLst/>
              <a:gdLst/>
              <a:ahLst/>
              <a:cxnLst/>
              <a:rect l="l" t="t" r="r" b="b"/>
              <a:pathLst>
                <a:path w="5274942" h="2177134">
                  <a:moveTo>
                    <a:pt x="1268727" y="3402"/>
                  </a:moveTo>
                  <a:cubicBezTo>
                    <a:pt x="1530728" y="-15140"/>
                    <a:pt x="1800730" y="41756"/>
                    <a:pt x="2045332" y="182853"/>
                  </a:cubicBezTo>
                  <a:lnTo>
                    <a:pt x="4863335" y="1809850"/>
                  </a:lnTo>
                  <a:cubicBezTo>
                    <a:pt x="5026403" y="1903957"/>
                    <a:pt x="5162547" y="2026639"/>
                    <a:pt x="5269354" y="2167990"/>
                  </a:cubicBezTo>
                  <a:lnTo>
                    <a:pt x="5274942" y="2177134"/>
                  </a:lnTo>
                  <a:lnTo>
                    <a:pt x="270253" y="2177134"/>
                  </a:lnTo>
                  <a:lnTo>
                    <a:pt x="138173" y="1961615"/>
                  </a:lnTo>
                  <a:cubicBezTo>
                    <a:pt x="-53343" y="1568042"/>
                    <a:pt x="-52454" y="1089506"/>
                    <a:pt x="182877" y="681963"/>
                  </a:cubicBezTo>
                  <a:cubicBezTo>
                    <a:pt x="418208" y="274420"/>
                    <a:pt x="832101" y="34263"/>
                    <a:pt x="1268727" y="3402"/>
                  </a:cubicBezTo>
                  <a:close/>
                </a:path>
              </a:pathLst>
            </a:custGeom>
            <a:solidFill>
              <a:srgbClr val="EF233C"/>
            </a:solidFill>
          </p:spPr>
          <p:txBody>
            <a:bodyPr/>
            <a:lstStyle/>
            <a:p>
              <a:endParaRPr lang="en-US"/>
            </a:p>
          </p:txBody>
        </p:sp>
      </p:grpSp>
    </p:spTree>
    <p:extLst>
      <p:ext uri="{BB962C8B-B14F-4D97-AF65-F5344CB8AC3E}">
        <p14:creationId xmlns:p14="http://schemas.microsoft.com/office/powerpoint/2010/main" val="13637741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3664214" y="0"/>
            <a:ext cx="5658816" cy="2538160"/>
            <a:chOff x="0" y="0"/>
            <a:chExt cx="7545088" cy="3384214"/>
          </a:xfrm>
        </p:grpSpPr>
        <p:sp>
          <p:nvSpPr>
            <p:cNvPr id="4" name="Freeform 4"/>
            <p:cNvSpPr/>
            <p:nvPr/>
          </p:nvSpPr>
          <p:spPr>
            <a:xfrm>
              <a:off x="0" y="0"/>
              <a:ext cx="7545129" cy="3384228"/>
            </a:xfrm>
            <a:custGeom>
              <a:avLst/>
              <a:gdLst/>
              <a:ahLst/>
              <a:cxnLst/>
              <a:rect l="l" t="t" r="r" b="b"/>
              <a:pathLst>
                <a:path w="7545129" h="3384228">
                  <a:moveTo>
                    <a:pt x="0" y="0"/>
                  </a:moveTo>
                  <a:lnTo>
                    <a:pt x="5311267" y="0"/>
                  </a:lnTo>
                  <a:lnTo>
                    <a:pt x="6880987" y="906272"/>
                  </a:lnTo>
                  <a:cubicBezTo>
                    <a:pt x="7516114" y="1272921"/>
                    <a:pt x="7733665" y="2085086"/>
                    <a:pt x="7367016" y="2720086"/>
                  </a:cubicBezTo>
                  <a:cubicBezTo>
                    <a:pt x="7000367" y="3355213"/>
                    <a:pt x="6188202" y="3572764"/>
                    <a:pt x="5553202" y="3206115"/>
                  </a:cubicBezTo>
                  <a:close/>
                </a:path>
              </a:pathLst>
            </a:custGeom>
            <a:solidFill>
              <a:srgbClr val="EF233C"/>
            </a:solidFill>
          </p:spPr>
          <p:txBody>
            <a:bodyPr/>
            <a:lstStyle/>
            <a:p>
              <a:endParaRPr lang="en-US"/>
            </a:p>
          </p:txBody>
        </p:sp>
      </p:grpSp>
      <p:grpSp>
        <p:nvGrpSpPr>
          <p:cNvPr id="5" name="Group 5"/>
          <p:cNvGrpSpPr/>
          <p:nvPr/>
        </p:nvGrpSpPr>
        <p:grpSpPr>
          <a:xfrm>
            <a:off x="0" y="803518"/>
            <a:ext cx="8786678" cy="9483482"/>
            <a:chOff x="0" y="0"/>
            <a:chExt cx="11715570" cy="12644642"/>
          </a:xfrm>
        </p:grpSpPr>
        <p:sp>
          <p:nvSpPr>
            <p:cNvPr id="6" name="Freeform 6"/>
            <p:cNvSpPr/>
            <p:nvPr/>
          </p:nvSpPr>
          <p:spPr>
            <a:xfrm>
              <a:off x="0" y="-31"/>
              <a:ext cx="11715574" cy="12644660"/>
            </a:xfrm>
            <a:custGeom>
              <a:avLst/>
              <a:gdLst/>
              <a:ahLst/>
              <a:cxnLst/>
              <a:rect l="l" t="t" r="r" b="b"/>
              <a:pathLst>
                <a:path w="11715574" h="12644660">
                  <a:moveTo>
                    <a:pt x="2338324" y="1809"/>
                  </a:moveTo>
                  <a:cubicBezTo>
                    <a:pt x="3612515" y="-26766"/>
                    <a:pt x="4910328" y="282606"/>
                    <a:pt x="6094730" y="966374"/>
                  </a:cubicBezTo>
                  <a:lnTo>
                    <a:pt x="8112506" y="2131345"/>
                  </a:lnTo>
                  <a:cubicBezTo>
                    <a:pt x="11558016" y="4120546"/>
                    <a:pt x="12738481" y="8526303"/>
                    <a:pt x="10749280" y="11971813"/>
                  </a:cubicBezTo>
                  <a:cubicBezTo>
                    <a:pt x="10624947" y="12187206"/>
                    <a:pt x="10491216" y="12393707"/>
                    <a:pt x="10348849" y="12591066"/>
                  </a:cubicBezTo>
                  <a:lnTo>
                    <a:pt x="10305923" y="12644659"/>
                  </a:lnTo>
                  <a:lnTo>
                    <a:pt x="0" y="12644659"/>
                  </a:lnTo>
                  <a:lnTo>
                    <a:pt x="0" y="446817"/>
                  </a:lnTo>
                  <a:lnTo>
                    <a:pt x="296799" y="344074"/>
                  </a:lnTo>
                  <a:cubicBezTo>
                    <a:pt x="955421" y="133508"/>
                    <a:pt x="1643380" y="17430"/>
                    <a:pt x="2338324" y="1809"/>
                  </a:cubicBezTo>
                  <a:close/>
                </a:path>
              </a:pathLst>
            </a:custGeom>
            <a:blipFill>
              <a:blip r:embed="rId2"/>
              <a:stretch>
                <a:fillRect l="-25591" r="-36303"/>
              </a:stretch>
            </a:blipFill>
          </p:spPr>
          <p:txBody>
            <a:bodyPr/>
            <a:lstStyle/>
            <a:p>
              <a:endParaRPr lang="en-US"/>
            </a:p>
          </p:txBody>
        </p:sp>
      </p:grpSp>
      <p:grpSp>
        <p:nvGrpSpPr>
          <p:cNvPr id="7" name="Group 7"/>
          <p:cNvGrpSpPr/>
          <p:nvPr/>
        </p:nvGrpSpPr>
        <p:grpSpPr>
          <a:xfrm rot="1800000">
            <a:off x="5011489" y="1324627"/>
            <a:ext cx="2536481" cy="411363"/>
            <a:chOff x="0" y="0"/>
            <a:chExt cx="3381974" cy="548484"/>
          </a:xfrm>
        </p:grpSpPr>
        <p:sp>
          <p:nvSpPr>
            <p:cNvPr id="8" name="Freeform 8"/>
            <p:cNvSpPr/>
            <p:nvPr/>
          </p:nvSpPr>
          <p:spPr>
            <a:xfrm>
              <a:off x="0" y="0"/>
              <a:ext cx="3381883" cy="548386"/>
            </a:xfrm>
            <a:custGeom>
              <a:avLst/>
              <a:gdLst/>
              <a:ahLst/>
              <a:cxnLst/>
              <a:rect l="l" t="t" r="r" b="b"/>
              <a:pathLst>
                <a:path w="3381883" h="548386">
                  <a:moveTo>
                    <a:pt x="0" y="274193"/>
                  </a:moveTo>
                  <a:cubicBezTo>
                    <a:pt x="0" y="122809"/>
                    <a:pt x="122809" y="0"/>
                    <a:pt x="274193" y="0"/>
                  </a:cubicBezTo>
                  <a:lnTo>
                    <a:pt x="3107690" y="0"/>
                  </a:lnTo>
                  <a:cubicBezTo>
                    <a:pt x="3259201" y="0"/>
                    <a:pt x="3381883" y="122809"/>
                    <a:pt x="3381883" y="274193"/>
                  </a:cubicBezTo>
                  <a:cubicBezTo>
                    <a:pt x="3381883" y="425577"/>
                    <a:pt x="3259074" y="548386"/>
                    <a:pt x="3107690" y="548386"/>
                  </a:cubicBezTo>
                  <a:lnTo>
                    <a:pt x="274193" y="548386"/>
                  </a:lnTo>
                  <a:cubicBezTo>
                    <a:pt x="122809" y="548513"/>
                    <a:pt x="0" y="425704"/>
                    <a:pt x="0" y="274193"/>
                  </a:cubicBezTo>
                  <a:close/>
                </a:path>
              </a:pathLst>
            </a:custGeom>
            <a:solidFill>
              <a:srgbClr val="F2F2F2"/>
            </a:solidFill>
          </p:spPr>
          <p:txBody>
            <a:bodyPr/>
            <a:lstStyle/>
            <a:p>
              <a:endParaRPr lang="en-US"/>
            </a:p>
          </p:txBody>
        </p:sp>
      </p:grpSp>
      <p:grpSp>
        <p:nvGrpSpPr>
          <p:cNvPr id="9" name="Group 9"/>
          <p:cNvGrpSpPr/>
          <p:nvPr/>
        </p:nvGrpSpPr>
        <p:grpSpPr>
          <a:xfrm>
            <a:off x="5392881" y="8654158"/>
            <a:ext cx="3956217" cy="1632842"/>
            <a:chOff x="0" y="0"/>
            <a:chExt cx="5274956" cy="2177122"/>
          </a:xfrm>
        </p:grpSpPr>
        <p:sp>
          <p:nvSpPr>
            <p:cNvPr id="10" name="Freeform 10"/>
            <p:cNvSpPr/>
            <p:nvPr/>
          </p:nvSpPr>
          <p:spPr>
            <a:xfrm>
              <a:off x="3" y="27"/>
              <a:ext cx="5274942" cy="2177134"/>
            </a:xfrm>
            <a:custGeom>
              <a:avLst/>
              <a:gdLst/>
              <a:ahLst/>
              <a:cxnLst/>
              <a:rect l="l" t="t" r="r" b="b"/>
              <a:pathLst>
                <a:path w="5274942" h="2177134">
                  <a:moveTo>
                    <a:pt x="1268727" y="3402"/>
                  </a:moveTo>
                  <a:cubicBezTo>
                    <a:pt x="1530728" y="-15140"/>
                    <a:pt x="1800730" y="41756"/>
                    <a:pt x="2045332" y="182853"/>
                  </a:cubicBezTo>
                  <a:lnTo>
                    <a:pt x="4863335" y="1809850"/>
                  </a:lnTo>
                  <a:cubicBezTo>
                    <a:pt x="5026403" y="1903957"/>
                    <a:pt x="5162547" y="2026639"/>
                    <a:pt x="5269354" y="2167990"/>
                  </a:cubicBezTo>
                  <a:lnTo>
                    <a:pt x="5274942" y="2177134"/>
                  </a:lnTo>
                  <a:lnTo>
                    <a:pt x="270253" y="2177134"/>
                  </a:lnTo>
                  <a:lnTo>
                    <a:pt x="138173" y="1961615"/>
                  </a:lnTo>
                  <a:cubicBezTo>
                    <a:pt x="-53343" y="1568042"/>
                    <a:pt x="-52454" y="1089506"/>
                    <a:pt x="182877" y="681963"/>
                  </a:cubicBezTo>
                  <a:cubicBezTo>
                    <a:pt x="418208" y="274420"/>
                    <a:pt x="832101" y="34263"/>
                    <a:pt x="1268727" y="3402"/>
                  </a:cubicBezTo>
                  <a:close/>
                </a:path>
              </a:pathLst>
            </a:custGeom>
            <a:solidFill>
              <a:srgbClr val="EF233C"/>
            </a:solidFill>
          </p:spPr>
          <p:txBody>
            <a:bodyPr/>
            <a:lstStyle/>
            <a:p>
              <a:endParaRPr lang="en-US"/>
            </a:p>
          </p:txBody>
        </p:sp>
      </p:grpSp>
      <p:sp>
        <p:nvSpPr>
          <p:cNvPr id="11" name="Rectangle 10"/>
          <p:cNvSpPr/>
          <p:nvPr/>
        </p:nvSpPr>
        <p:spPr>
          <a:xfrm>
            <a:off x="7467703" y="5083578"/>
            <a:ext cx="9564709" cy="923330"/>
          </a:xfrm>
          <a:prstGeom prst="rect">
            <a:avLst/>
          </a:prstGeom>
        </p:spPr>
        <p:txBody>
          <a:bodyPr wrap="square">
            <a:spAutoFit/>
          </a:bodyPr>
          <a:lstStyle/>
          <a:p>
            <a:pPr algn="r"/>
            <a:r>
              <a:rPr lang="en-US" sz="5400" b="1" dirty="0">
                <a:solidFill>
                  <a:srgbClr val="EF233C"/>
                </a:solidFill>
                <a:latin typeface="Arial" panose="020B0604020202020204" pitchFamily="34" charset="0"/>
                <a:ea typeface="Segoe UI Black" panose="020B0A02040204020203" pitchFamily="34" charset="0"/>
                <a:cs typeface="Arial" panose="020B0604020202020204" pitchFamily="34" charset="0"/>
              </a:rPr>
              <a:t>PHỤ LỤC</a:t>
            </a:r>
          </a:p>
        </p:txBody>
      </p:sp>
      <p:pic>
        <p:nvPicPr>
          <p:cNvPr id="13" name="Picture 30">
            <a:extLst>
              <a:ext uri="{FF2B5EF4-FFF2-40B4-BE49-F238E27FC236}">
                <a16:creationId xmlns:a16="http://schemas.microsoft.com/office/drawing/2014/main" id="{2D7FB2D5-E8B9-462F-A151-A61F197B4A37}"/>
              </a:ext>
            </a:extLst>
          </p:cNvPr>
          <p:cNvPicPr>
            <a:picLocks noChangeAspect="1"/>
          </p:cNvPicPr>
          <p:nvPr/>
        </p:nvPicPr>
        <p:blipFill>
          <a:blip r:embed="rId3">
            <a:alphaModFix amt="16000"/>
          </a:blip>
          <a:stretch>
            <a:fillRect/>
          </a:stretch>
        </p:blipFill>
        <p:spPr>
          <a:xfrm>
            <a:off x="0" y="-3079557"/>
            <a:ext cx="12268725" cy="12268725"/>
          </a:xfrm>
          <a:prstGeom prst="rect">
            <a:avLst/>
          </a:prstGeom>
        </p:spPr>
      </p:pic>
    </p:spTree>
    <p:extLst>
      <p:ext uri="{BB962C8B-B14F-4D97-AF65-F5344CB8AC3E}">
        <p14:creationId xmlns:p14="http://schemas.microsoft.com/office/powerpoint/2010/main" val="1440475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6C032-DE1F-B590-6505-40814DEEA7D7}"/>
            </a:ext>
          </a:extLst>
        </p:cNvPr>
        <p:cNvGrpSpPr/>
        <p:nvPr/>
      </p:nvGrpSpPr>
      <p:grpSpPr>
        <a:xfrm>
          <a:off x="0" y="0"/>
          <a:ext cx="0" cy="0"/>
          <a:chOff x="0" y="0"/>
          <a:chExt cx="0" cy="0"/>
        </a:xfrm>
      </p:grpSpPr>
      <p:grpSp>
        <p:nvGrpSpPr>
          <p:cNvPr id="36" name="Group 2">
            <a:extLst>
              <a:ext uri="{FF2B5EF4-FFF2-40B4-BE49-F238E27FC236}">
                <a16:creationId xmlns:a16="http://schemas.microsoft.com/office/drawing/2014/main" id="{567257A1-B6A3-0D4E-6C55-74F6031810D9}"/>
              </a:ext>
            </a:extLst>
          </p:cNvPr>
          <p:cNvGrpSpPr/>
          <p:nvPr/>
        </p:nvGrpSpPr>
        <p:grpSpPr>
          <a:xfrm>
            <a:off x="0" y="114299"/>
            <a:ext cx="10287000" cy="1097280"/>
            <a:chOff x="0" y="-2"/>
            <a:chExt cx="19479172" cy="1664815"/>
          </a:xfrm>
          <a:solidFill>
            <a:schemeClr val="bg1">
              <a:lumMod val="95000"/>
            </a:schemeClr>
          </a:solidFill>
        </p:grpSpPr>
        <p:sp>
          <p:nvSpPr>
            <p:cNvPr id="37" name="Freeform 3">
              <a:extLst>
                <a:ext uri="{FF2B5EF4-FFF2-40B4-BE49-F238E27FC236}">
                  <a16:creationId xmlns:a16="http://schemas.microsoft.com/office/drawing/2014/main" id="{20A29466-D2B0-FBBE-891F-D0CE35476719}"/>
                </a:ext>
              </a:extLst>
            </p:cNvPr>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Đánh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marL="914400"/>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Đánh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dựa</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trên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COSO ERM 2017</a:t>
              </a:r>
            </a:p>
          </p:txBody>
        </p:sp>
      </p:grpSp>
      <p:grpSp>
        <p:nvGrpSpPr>
          <p:cNvPr id="38" name="Group 4">
            <a:extLst>
              <a:ext uri="{FF2B5EF4-FFF2-40B4-BE49-F238E27FC236}">
                <a16:creationId xmlns:a16="http://schemas.microsoft.com/office/drawing/2014/main" id="{10ED110A-2063-39F2-62B7-65D3A6A3C9F5}"/>
              </a:ext>
            </a:extLst>
          </p:cNvPr>
          <p:cNvGrpSpPr/>
          <p:nvPr/>
        </p:nvGrpSpPr>
        <p:grpSpPr>
          <a:xfrm>
            <a:off x="0" y="114299"/>
            <a:ext cx="936307" cy="1097280"/>
            <a:chOff x="0" y="0"/>
            <a:chExt cx="1248410" cy="1554290"/>
          </a:xfrm>
        </p:grpSpPr>
        <p:sp>
          <p:nvSpPr>
            <p:cNvPr id="43" name="Freeform 5">
              <a:extLst>
                <a:ext uri="{FF2B5EF4-FFF2-40B4-BE49-F238E27FC236}">
                  <a16:creationId xmlns:a16="http://schemas.microsoft.com/office/drawing/2014/main" id="{87F55CB8-9A71-8EFC-81D5-E357A51412FB}"/>
                </a:ext>
              </a:extLst>
            </p:cNvPr>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grpSp>
        <p:nvGrpSpPr>
          <p:cNvPr id="6" name="Group 5">
            <a:extLst>
              <a:ext uri="{FF2B5EF4-FFF2-40B4-BE49-F238E27FC236}">
                <a16:creationId xmlns:a16="http://schemas.microsoft.com/office/drawing/2014/main" id="{0739F630-8D5A-481B-CF1B-557F3D8D1FC1}"/>
              </a:ext>
            </a:extLst>
          </p:cNvPr>
          <p:cNvGrpSpPr/>
          <p:nvPr/>
        </p:nvGrpSpPr>
        <p:grpSpPr>
          <a:xfrm>
            <a:off x="457200" y="1211579"/>
            <a:ext cx="17830800" cy="6531480"/>
            <a:chOff x="0" y="1427453"/>
            <a:chExt cx="17830800" cy="6655677"/>
          </a:xfrm>
        </p:grpSpPr>
        <p:pic>
          <p:nvPicPr>
            <p:cNvPr id="3" name="Picture 2">
              <a:extLst>
                <a:ext uri="{FF2B5EF4-FFF2-40B4-BE49-F238E27FC236}">
                  <a16:creationId xmlns:a16="http://schemas.microsoft.com/office/drawing/2014/main" id="{0A10FB8C-0AF2-E3D8-B467-A54082AA247A}"/>
                </a:ext>
              </a:extLst>
            </p:cNvPr>
            <p:cNvPicPr>
              <a:picLocks noChangeAspect="1"/>
            </p:cNvPicPr>
            <p:nvPr/>
          </p:nvPicPr>
          <p:blipFill rotWithShape="1">
            <a:blip r:embed="rId3"/>
            <a:srcRect l="3594" r="4113"/>
            <a:stretch/>
          </p:blipFill>
          <p:spPr>
            <a:xfrm>
              <a:off x="0" y="1427453"/>
              <a:ext cx="17830800" cy="6655677"/>
            </a:xfrm>
            <a:prstGeom prst="rect">
              <a:avLst/>
            </a:prstGeom>
            <a:solidFill>
              <a:srgbClr val="50A94D"/>
            </a:solidFill>
          </p:spPr>
        </p:pic>
        <p:sp>
          <p:nvSpPr>
            <p:cNvPr id="5" name="Rectangle 4">
              <a:extLst>
                <a:ext uri="{FF2B5EF4-FFF2-40B4-BE49-F238E27FC236}">
                  <a16:creationId xmlns:a16="http://schemas.microsoft.com/office/drawing/2014/main" id="{62C71096-B481-3317-28DA-E9BFB32C8142}"/>
                </a:ext>
              </a:extLst>
            </p:cNvPr>
            <p:cNvSpPr/>
            <p:nvPr/>
          </p:nvSpPr>
          <p:spPr>
            <a:xfrm>
              <a:off x="685800" y="3903053"/>
              <a:ext cx="1676400" cy="838200"/>
            </a:xfrm>
            <a:prstGeom prst="rect">
              <a:avLst/>
            </a:prstGeom>
            <a:solidFill>
              <a:srgbClr val="8B90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chemeClr val="bg1"/>
                  </a:solidFill>
                  <a:latin typeface="Arial" panose="020B0604020202020204" pitchFamily="34" charset="0"/>
                  <a:cs typeface="Arial" panose="020B0604020202020204" pitchFamily="34" charset="0"/>
                </a:rPr>
                <a:t>TẦM NHÌN, SỨ MỆNH VÀ GIÁ TRỊ CỐT LÕI</a:t>
              </a:r>
            </a:p>
          </p:txBody>
        </p:sp>
        <p:sp>
          <p:nvSpPr>
            <p:cNvPr id="47" name="Rectangle 46">
              <a:extLst>
                <a:ext uri="{FF2B5EF4-FFF2-40B4-BE49-F238E27FC236}">
                  <a16:creationId xmlns:a16="http://schemas.microsoft.com/office/drawing/2014/main" id="{DAE5B8CA-DDDE-D7F7-3EF5-240B5E87C710}"/>
                </a:ext>
              </a:extLst>
            </p:cNvPr>
            <p:cNvSpPr/>
            <p:nvPr/>
          </p:nvSpPr>
          <p:spPr>
            <a:xfrm>
              <a:off x="4267200" y="4021747"/>
              <a:ext cx="1536192" cy="757606"/>
            </a:xfrm>
            <a:prstGeom prst="rect">
              <a:avLst/>
            </a:prstGeom>
            <a:solidFill>
              <a:srgbClr val="50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bg1"/>
                  </a:solidFill>
                  <a:latin typeface="Arial" panose="020B0604020202020204" pitchFamily="34" charset="0"/>
                  <a:cs typeface="Arial" panose="020B0604020202020204" pitchFamily="34" charset="0"/>
                </a:rPr>
                <a:t>PHÁT TRIỂN CHIẾN LƯỢC</a:t>
              </a:r>
            </a:p>
          </p:txBody>
        </p:sp>
        <p:sp>
          <p:nvSpPr>
            <p:cNvPr id="48" name="Rectangle 47">
              <a:extLst>
                <a:ext uri="{FF2B5EF4-FFF2-40B4-BE49-F238E27FC236}">
                  <a16:creationId xmlns:a16="http://schemas.microsoft.com/office/drawing/2014/main" id="{E35F0445-DF2F-B3F1-5A35-D6B2BF2678EE}"/>
                </a:ext>
              </a:extLst>
            </p:cNvPr>
            <p:cNvSpPr/>
            <p:nvPr/>
          </p:nvSpPr>
          <p:spPr>
            <a:xfrm>
              <a:off x="7822802" y="3848100"/>
              <a:ext cx="1397398" cy="931253"/>
            </a:xfrm>
            <a:prstGeom prst="rect">
              <a:avLst/>
            </a:prstGeom>
            <a:solidFill>
              <a:srgbClr val="50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bg1"/>
                  </a:solidFill>
                  <a:latin typeface="Arial" panose="020B0604020202020204" pitchFamily="34" charset="0"/>
                  <a:cs typeface="Arial" panose="020B0604020202020204" pitchFamily="34" charset="0"/>
                </a:rPr>
                <a:t>XÂY DỰNG MỤC TIÊU KINH DOANH</a:t>
              </a:r>
            </a:p>
          </p:txBody>
        </p:sp>
        <p:sp>
          <p:nvSpPr>
            <p:cNvPr id="64" name="Rectangle 63">
              <a:extLst>
                <a:ext uri="{FF2B5EF4-FFF2-40B4-BE49-F238E27FC236}">
                  <a16:creationId xmlns:a16="http://schemas.microsoft.com/office/drawing/2014/main" id="{3247AE51-4CD6-BEEC-F6C3-926B0FACA278}"/>
                </a:ext>
              </a:extLst>
            </p:cNvPr>
            <p:cNvSpPr/>
            <p:nvPr/>
          </p:nvSpPr>
          <p:spPr>
            <a:xfrm>
              <a:off x="11125200" y="4021747"/>
              <a:ext cx="1695396" cy="742367"/>
            </a:xfrm>
            <a:prstGeom prst="rect">
              <a:avLst/>
            </a:prstGeom>
            <a:solidFill>
              <a:srgbClr val="50597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bg1"/>
                  </a:solidFill>
                  <a:latin typeface="Arial" panose="020B0604020202020204" pitchFamily="34" charset="0"/>
                  <a:cs typeface="Arial" panose="020B0604020202020204" pitchFamily="34" charset="0"/>
                </a:rPr>
                <a:t>THỰC HIỆN VÀ HIỆU SUẤT</a:t>
              </a:r>
            </a:p>
          </p:txBody>
        </p:sp>
        <p:sp>
          <p:nvSpPr>
            <p:cNvPr id="65" name="Rectangle 64">
              <a:extLst>
                <a:ext uri="{FF2B5EF4-FFF2-40B4-BE49-F238E27FC236}">
                  <a16:creationId xmlns:a16="http://schemas.microsoft.com/office/drawing/2014/main" id="{A8F112E1-16F3-979C-581C-60A878D54D98}"/>
                </a:ext>
              </a:extLst>
            </p:cNvPr>
            <p:cNvSpPr/>
            <p:nvPr/>
          </p:nvSpPr>
          <p:spPr>
            <a:xfrm>
              <a:off x="15240000" y="3996603"/>
              <a:ext cx="1524000" cy="651099"/>
            </a:xfrm>
            <a:prstGeom prst="rect">
              <a:avLst/>
            </a:prstGeom>
            <a:solidFill>
              <a:srgbClr val="182D4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500" b="1" dirty="0">
                  <a:solidFill>
                    <a:schemeClr val="bg1"/>
                  </a:solidFill>
                  <a:latin typeface="Arial" panose="020B0604020202020204" pitchFamily="34" charset="0"/>
                  <a:cs typeface="Arial" panose="020B0604020202020204" pitchFamily="34" charset="0"/>
                </a:rPr>
                <a:t>GIÁ TRỊ NÂNG CAO</a:t>
              </a:r>
            </a:p>
          </p:txBody>
        </p:sp>
        <p:sp>
          <p:nvSpPr>
            <p:cNvPr id="66" name="Rectangle 65">
              <a:extLst>
                <a:ext uri="{FF2B5EF4-FFF2-40B4-BE49-F238E27FC236}">
                  <a16:creationId xmlns:a16="http://schemas.microsoft.com/office/drawing/2014/main" id="{95510222-B308-2359-01C3-CD4316915AAD}"/>
                </a:ext>
              </a:extLst>
            </p:cNvPr>
            <p:cNvSpPr/>
            <p:nvPr/>
          </p:nvSpPr>
          <p:spPr>
            <a:xfrm>
              <a:off x="1447800" y="6362700"/>
              <a:ext cx="2314624"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Quản trị &amp; Văn hóa</a:t>
              </a:r>
              <a:endParaRPr lang="en-US" b="1" dirty="0">
                <a:solidFill>
                  <a:srgbClr val="33455C"/>
                </a:solidFill>
                <a:latin typeface="Arial" panose="020B0604020202020204" pitchFamily="34" charset="0"/>
                <a:cs typeface="Arial" panose="020B0604020202020204" pitchFamily="34" charset="0"/>
              </a:endParaRPr>
            </a:p>
          </p:txBody>
        </p:sp>
        <p:sp>
          <p:nvSpPr>
            <p:cNvPr id="67" name="Rectangle 66">
              <a:extLst>
                <a:ext uri="{FF2B5EF4-FFF2-40B4-BE49-F238E27FC236}">
                  <a16:creationId xmlns:a16="http://schemas.microsoft.com/office/drawing/2014/main" id="{0D84DB65-C4C4-D048-9DB9-649A840A0404}"/>
                </a:ext>
              </a:extLst>
            </p:cNvPr>
            <p:cNvSpPr/>
            <p:nvPr/>
          </p:nvSpPr>
          <p:spPr>
            <a:xfrm>
              <a:off x="4848226" y="6420526"/>
              <a:ext cx="2222740"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Chiến lược &amp; Thiết lập mục tiêu</a:t>
              </a:r>
              <a:endParaRPr lang="en-US" b="1" dirty="0">
                <a:solidFill>
                  <a:srgbClr val="33455C"/>
                </a:solidFill>
                <a:latin typeface="Arial" panose="020B0604020202020204" pitchFamily="34" charset="0"/>
                <a:cs typeface="Arial" panose="020B0604020202020204" pitchFamily="34" charset="0"/>
              </a:endParaRPr>
            </a:p>
          </p:txBody>
        </p:sp>
        <p:sp>
          <p:nvSpPr>
            <p:cNvPr id="68" name="Rectangle 67">
              <a:extLst>
                <a:ext uri="{FF2B5EF4-FFF2-40B4-BE49-F238E27FC236}">
                  <a16:creationId xmlns:a16="http://schemas.microsoft.com/office/drawing/2014/main" id="{34ED714C-9190-EF0D-C36A-B9F03738D30A}"/>
                </a:ext>
              </a:extLst>
            </p:cNvPr>
            <p:cNvSpPr/>
            <p:nvPr/>
          </p:nvSpPr>
          <p:spPr>
            <a:xfrm>
              <a:off x="8305800" y="6362700"/>
              <a:ext cx="1998101"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Thực thi</a:t>
              </a:r>
              <a:endParaRPr lang="en-US" b="1" dirty="0">
                <a:solidFill>
                  <a:srgbClr val="33455C"/>
                </a:solidFill>
                <a:latin typeface="Arial" panose="020B0604020202020204" pitchFamily="34" charset="0"/>
                <a:cs typeface="Arial" panose="020B0604020202020204" pitchFamily="34" charset="0"/>
              </a:endParaRPr>
            </a:p>
          </p:txBody>
        </p:sp>
        <p:sp>
          <p:nvSpPr>
            <p:cNvPr id="69" name="Rectangle 68">
              <a:extLst>
                <a:ext uri="{FF2B5EF4-FFF2-40B4-BE49-F238E27FC236}">
                  <a16:creationId xmlns:a16="http://schemas.microsoft.com/office/drawing/2014/main" id="{A28F75A3-5111-C90F-5676-D146BA14A121}"/>
                </a:ext>
              </a:extLst>
            </p:cNvPr>
            <p:cNvSpPr/>
            <p:nvPr/>
          </p:nvSpPr>
          <p:spPr>
            <a:xfrm>
              <a:off x="11315842" y="6393691"/>
              <a:ext cx="1920762" cy="8382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Rà soát &amp; Điều chỉnh</a:t>
              </a:r>
              <a:endParaRPr lang="en-US" b="1" dirty="0">
                <a:solidFill>
                  <a:srgbClr val="33455C"/>
                </a:solidFill>
                <a:latin typeface="Arial" panose="020B0604020202020204" pitchFamily="34" charset="0"/>
                <a:cs typeface="Arial" panose="020B0604020202020204" pitchFamily="34" charset="0"/>
              </a:endParaRPr>
            </a:p>
          </p:txBody>
        </p:sp>
        <p:sp>
          <p:nvSpPr>
            <p:cNvPr id="73" name="Rectangle 72">
              <a:extLst>
                <a:ext uri="{FF2B5EF4-FFF2-40B4-BE49-F238E27FC236}">
                  <a16:creationId xmlns:a16="http://schemas.microsoft.com/office/drawing/2014/main" id="{3EE2A312-F1F1-10BB-73A7-B71967C1DE05}"/>
                </a:ext>
              </a:extLst>
            </p:cNvPr>
            <p:cNvSpPr/>
            <p:nvPr/>
          </p:nvSpPr>
          <p:spPr>
            <a:xfrm>
              <a:off x="14630400" y="6241291"/>
              <a:ext cx="2133600" cy="1143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a:solidFill>
                    <a:srgbClr val="33455C"/>
                  </a:solidFill>
                  <a:latin typeface="Arial" panose="020B0604020202020204" pitchFamily="34" charset="0"/>
                  <a:cs typeface="Arial" panose="020B0604020202020204" pitchFamily="34" charset="0"/>
                </a:rPr>
                <a:t>Thông tin, Truyền thông &amp; Báo cáo</a:t>
              </a:r>
              <a:endParaRPr lang="en-US" b="1" dirty="0">
                <a:solidFill>
                  <a:srgbClr val="33455C"/>
                </a:solidFill>
                <a:latin typeface="Arial" panose="020B0604020202020204" pitchFamily="34" charset="0"/>
                <a:cs typeface="Arial" panose="020B0604020202020204" pitchFamily="34" charset="0"/>
              </a:endParaRPr>
            </a:p>
          </p:txBody>
        </p:sp>
      </p:grpSp>
      <p:sp>
        <p:nvSpPr>
          <p:cNvPr id="10" name="Rectangle 9">
            <a:extLst>
              <a:ext uri="{FF2B5EF4-FFF2-40B4-BE49-F238E27FC236}">
                <a16:creationId xmlns:a16="http://schemas.microsoft.com/office/drawing/2014/main" id="{CF9623DF-75CE-CFDE-4210-52142034CD51}"/>
              </a:ext>
            </a:extLst>
          </p:cNvPr>
          <p:cNvSpPr/>
          <p:nvPr/>
        </p:nvSpPr>
        <p:spPr>
          <a:xfrm>
            <a:off x="450341" y="7316878"/>
            <a:ext cx="3352800" cy="2362201"/>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spcBef>
                <a:spcPts val="600"/>
              </a:spcBef>
              <a:buAutoNum type="arabicPeriod"/>
            </a:pPr>
            <a:endParaRPr lang="en-US" sz="1600" dirty="0">
              <a:solidFill>
                <a:schemeClr val="tx1"/>
              </a:solidFill>
              <a:latin typeface="Arial" panose="020B0604020202020204" pitchFamily="34" charset="0"/>
              <a:cs typeface="Arial" panose="020B0604020202020204" pitchFamily="34" charset="0"/>
            </a:endParaRPr>
          </a:p>
        </p:txBody>
      </p:sp>
      <p:sp>
        <p:nvSpPr>
          <p:cNvPr id="4" name="Arc 3">
            <a:extLst>
              <a:ext uri="{FF2B5EF4-FFF2-40B4-BE49-F238E27FC236}">
                <a16:creationId xmlns:a16="http://schemas.microsoft.com/office/drawing/2014/main" id="{5D1A6015-BD0A-F30B-8430-4777EB453EA8}"/>
              </a:ext>
            </a:extLst>
          </p:cNvPr>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cxnSp>
        <p:nvCxnSpPr>
          <p:cNvPr id="11" name="Straight Connector 10">
            <a:extLst>
              <a:ext uri="{FF2B5EF4-FFF2-40B4-BE49-F238E27FC236}">
                <a16:creationId xmlns:a16="http://schemas.microsoft.com/office/drawing/2014/main" id="{532CBBF1-C4E7-1029-5E3D-A4819C53827B}"/>
              </a:ext>
            </a:extLst>
          </p:cNvPr>
          <p:cNvCxnSpPr/>
          <p:nvPr/>
        </p:nvCxnSpPr>
        <p:spPr>
          <a:xfrm>
            <a:off x="4317491" y="6240780"/>
            <a:ext cx="0" cy="3931920"/>
          </a:xfrm>
          <a:prstGeom prst="line">
            <a:avLst/>
          </a:prstGeom>
          <a:ln w="76200">
            <a:solidFill>
              <a:srgbClr val="E4E2E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97C94F5-DA40-D8FD-B4A4-AEEA079A9FFC}"/>
              </a:ext>
            </a:extLst>
          </p:cNvPr>
          <p:cNvCxnSpPr/>
          <p:nvPr/>
        </p:nvCxnSpPr>
        <p:spPr>
          <a:xfrm>
            <a:off x="7765541" y="6240780"/>
            <a:ext cx="0" cy="3931920"/>
          </a:xfrm>
          <a:prstGeom prst="line">
            <a:avLst/>
          </a:prstGeom>
          <a:ln w="76200">
            <a:solidFill>
              <a:srgbClr val="E4E2E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7672214-1FAF-FF02-B91B-BF3F4B8A4F1A}"/>
              </a:ext>
            </a:extLst>
          </p:cNvPr>
          <p:cNvCxnSpPr/>
          <p:nvPr/>
        </p:nvCxnSpPr>
        <p:spPr>
          <a:xfrm>
            <a:off x="10775308" y="6240780"/>
            <a:ext cx="0" cy="3931920"/>
          </a:xfrm>
          <a:prstGeom prst="line">
            <a:avLst/>
          </a:prstGeom>
          <a:ln w="76200">
            <a:solidFill>
              <a:srgbClr val="E4E2E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4A7B455F-31D6-E2CC-6B00-EB903CC0F401}"/>
              </a:ext>
            </a:extLst>
          </p:cNvPr>
          <p:cNvCxnSpPr/>
          <p:nvPr/>
        </p:nvCxnSpPr>
        <p:spPr>
          <a:xfrm>
            <a:off x="14013941" y="6240780"/>
            <a:ext cx="0" cy="3931920"/>
          </a:xfrm>
          <a:prstGeom prst="line">
            <a:avLst/>
          </a:prstGeom>
          <a:ln w="76200">
            <a:solidFill>
              <a:srgbClr val="E4E2E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E393EB6-C299-DEC5-BAB5-708655726569}"/>
              </a:ext>
            </a:extLst>
          </p:cNvPr>
          <p:cNvCxnSpPr/>
          <p:nvPr/>
        </p:nvCxnSpPr>
        <p:spPr>
          <a:xfrm>
            <a:off x="17747741" y="6240780"/>
            <a:ext cx="0" cy="3931920"/>
          </a:xfrm>
          <a:prstGeom prst="line">
            <a:avLst/>
          </a:prstGeom>
          <a:ln w="76200">
            <a:solidFill>
              <a:srgbClr val="E4E2E2"/>
            </a:solidFill>
          </a:ln>
        </p:spPr>
        <p:style>
          <a:lnRef idx="1">
            <a:schemeClr val="accent1"/>
          </a:lnRef>
          <a:fillRef idx="0">
            <a:schemeClr val="accent1"/>
          </a:fillRef>
          <a:effectRef idx="0">
            <a:schemeClr val="accent1"/>
          </a:effectRef>
          <a:fontRef idx="minor">
            <a:schemeClr val="tx1"/>
          </a:fontRef>
        </p:style>
      </p:cxnSp>
      <p:graphicFrame>
        <p:nvGraphicFramePr>
          <p:cNvPr id="19" name="Table 18">
            <a:extLst>
              <a:ext uri="{FF2B5EF4-FFF2-40B4-BE49-F238E27FC236}">
                <a16:creationId xmlns:a16="http://schemas.microsoft.com/office/drawing/2014/main" id="{B37427A0-8D94-9404-3D15-F88EF6F2B73E}"/>
              </a:ext>
            </a:extLst>
          </p:cNvPr>
          <p:cNvGraphicFramePr>
            <a:graphicFrameLocks noGrp="1"/>
          </p:cNvGraphicFramePr>
          <p:nvPr/>
        </p:nvGraphicFramePr>
        <p:xfrm>
          <a:off x="410507" y="7138885"/>
          <a:ext cx="3778741" cy="2895600"/>
        </p:xfrm>
        <a:graphic>
          <a:graphicData uri="http://schemas.openxmlformats.org/drawingml/2006/table">
            <a:tbl>
              <a:tblPr firstRow="1" bandRow="1">
                <a:tableStyleId>{5C22544A-7EE6-4342-B048-85BDC9FD1C3A}</a:tableStyleId>
              </a:tblPr>
              <a:tblGrid>
                <a:gridCol w="880139">
                  <a:extLst>
                    <a:ext uri="{9D8B030D-6E8A-4147-A177-3AD203B41FA5}">
                      <a16:colId xmlns:a16="http://schemas.microsoft.com/office/drawing/2014/main" val="1583561030"/>
                    </a:ext>
                  </a:extLst>
                </a:gridCol>
                <a:gridCol w="2898602">
                  <a:extLst>
                    <a:ext uri="{9D8B030D-6E8A-4147-A177-3AD203B41FA5}">
                      <a16:colId xmlns:a16="http://schemas.microsoft.com/office/drawing/2014/main" val="3367433481"/>
                    </a:ext>
                  </a:extLst>
                </a:gridCol>
              </a:tblGrid>
              <a:tr h="554947">
                <a:tc>
                  <a:txBody>
                    <a:bodyPr/>
                    <a:lstStyle/>
                    <a:p>
                      <a:pPr marL="0" indent="0">
                        <a:spcBef>
                          <a:spcPts val="600"/>
                        </a:spcBef>
                        <a:buNone/>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indent="0" algn="just">
                        <a:spcBef>
                          <a:spcPts val="600"/>
                        </a:spcBef>
                        <a:buNone/>
                      </a:pPr>
                      <a:r>
                        <a:rPr lang="en-US" sz="1600" b="0" dirty="0">
                          <a:solidFill>
                            <a:schemeClr val="tx1"/>
                          </a:solidFill>
                          <a:latin typeface="Arial" panose="020B0604020202020204" pitchFamily="34" charset="0"/>
                          <a:cs typeface="Arial" panose="020B0604020202020204" pitchFamily="34" charset="0"/>
                        </a:rPr>
                        <a:t>1.</a:t>
                      </a:r>
                      <a:r>
                        <a:rPr lang="en-US" sz="1600" b="0" baseline="0" dirty="0">
                          <a:solidFill>
                            <a:schemeClr val="tx1"/>
                          </a:solidFill>
                          <a:latin typeface="Arial" panose="020B0604020202020204" pitchFamily="34" charset="0"/>
                          <a:cs typeface="Arial" panose="020B0604020202020204" pitchFamily="34" charset="0"/>
                        </a:rPr>
                        <a:t> </a:t>
                      </a:r>
                      <a:r>
                        <a:rPr lang="en-US" sz="1600" b="0" dirty="0">
                          <a:solidFill>
                            <a:schemeClr val="tx1"/>
                          </a:solidFill>
                          <a:latin typeface="Arial" panose="020B0604020202020204" pitchFamily="34" charset="0"/>
                          <a:cs typeface="Arial" panose="020B0604020202020204" pitchFamily="34" charset="0"/>
                        </a:rPr>
                        <a:t>QTRR </a:t>
                      </a:r>
                      <a:r>
                        <a:rPr lang="en-US" sz="1600" b="0" dirty="0" err="1">
                          <a:solidFill>
                            <a:schemeClr val="tx1"/>
                          </a:solidFill>
                          <a:latin typeface="Arial" panose="020B0604020202020204" pitchFamily="34" charset="0"/>
                          <a:cs typeface="Arial" panose="020B0604020202020204" pitchFamily="34" charset="0"/>
                        </a:rPr>
                        <a:t>được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lãnh</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đạo</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giám</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sát</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049825443"/>
                  </a:ext>
                </a:extLst>
              </a:tr>
              <a:tr h="554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2. Cơ </a:t>
                      </a:r>
                      <a:r>
                        <a:rPr lang="en-US" sz="1600" b="0" dirty="0" err="1">
                          <a:solidFill>
                            <a:schemeClr val="tx1"/>
                          </a:solidFill>
                          <a:latin typeface="Arial" panose="020B0604020202020204" pitchFamily="34" charset="0"/>
                          <a:cs typeface="Arial" panose="020B0604020202020204" pitchFamily="34" charset="0"/>
                        </a:rPr>
                        <a:t>cấu</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tổ</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chức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bộ</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máy</a:t>
                      </a:r>
                      <a:r>
                        <a:rPr lang="en-US" sz="1600" b="0" dirty="0">
                          <a:solidFill>
                            <a:schemeClr val="tx1"/>
                          </a:solidFill>
                          <a:latin typeface="Arial" panose="020B0604020202020204" pitchFamily="34" charset="0"/>
                          <a:cs typeface="Arial" panose="020B0604020202020204" pitchFamily="34" charset="0"/>
                        </a:rPr>
                        <a:t> QTRR </a:t>
                      </a:r>
                      <a:r>
                        <a:rPr lang="en-US" sz="1600" b="0" dirty="0" err="1">
                          <a:solidFill>
                            <a:schemeClr val="tx1"/>
                          </a:solidFill>
                          <a:latin typeface="Arial" panose="020B0604020202020204" pitchFamily="34" charset="0"/>
                          <a:cs typeface="Arial" panose="020B0604020202020204" pitchFamily="34" charset="0"/>
                        </a:rPr>
                        <a:t>được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thiết</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lập</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716771237"/>
                  </a:ext>
                </a:extLst>
              </a:tr>
              <a:tr h="554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3. </a:t>
                      </a:r>
                      <a:r>
                        <a:rPr lang="en-US" sz="1600" b="0" dirty="0" err="1">
                          <a:solidFill>
                            <a:schemeClr val="tx1"/>
                          </a:solidFill>
                          <a:latin typeface="Arial" panose="020B0604020202020204" pitchFamily="34" charset="0"/>
                          <a:cs typeface="Arial" panose="020B0604020202020204" pitchFamily="34" charset="0"/>
                        </a:rPr>
                        <a:t>Văn</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hóa</a:t>
                      </a:r>
                      <a:r>
                        <a:rPr lang="en-US" sz="1600" b="0" dirty="0">
                          <a:solidFill>
                            <a:schemeClr val="tx1"/>
                          </a:solidFill>
                          <a:latin typeface="Arial" panose="020B0604020202020204" pitchFamily="34" charset="0"/>
                          <a:cs typeface="Arial" panose="020B0604020202020204" pitchFamily="34" charset="0"/>
                        </a:rPr>
                        <a:t> QTRR </a:t>
                      </a:r>
                      <a:r>
                        <a:rPr lang="en-US" sz="1600" b="0" dirty="0" err="1">
                          <a:solidFill>
                            <a:schemeClr val="tx1"/>
                          </a:solidFill>
                          <a:latin typeface="Arial" panose="020B0604020202020204" pitchFamily="34" charset="0"/>
                          <a:cs typeface="Arial" panose="020B0604020202020204" pitchFamily="34" charset="0"/>
                        </a:rPr>
                        <a:t>được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xác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định</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49983784"/>
                  </a:ext>
                </a:extLst>
              </a:tr>
              <a:tr h="554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4. </a:t>
                      </a:r>
                      <a:r>
                        <a:rPr lang="en-US" sz="1600" b="0" dirty="0" err="1">
                          <a:solidFill>
                            <a:schemeClr val="tx1"/>
                          </a:solidFill>
                          <a:latin typeface="Arial" panose="020B0604020202020204" pitchFamily="34" charset="0"/>
                          <a:cs typeface="Arial" panose="020B0604020202020204" pitchFamily="34" charset="0"/>
                        </a:rPr>
                        <a:t>Thể</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hiện</a:t>
                      </a:r>
                      <a:r>
                        <a:rPr lang="en-US" sz="1600" b="0" dirty="0">
                          <a:solidFill>
                            <a:schemeClr val="tx1"/>
                          </a:solidFill>
                          <a:latin typeface="Arial" panose="020B0604020202020204" pitchFamily="34" charset="0"/>
                          <a:cs typeface="Arial" panose="020B0604020202020204" pitchFamily="34" charset="0"/>
                        </a:rPr>
                        <a:t> cam </a:t>
                      </a:r>
                      <a:r>
                        <a:rPr lang="en-US" sz="1600" b="0" dirty="0" err="1">
                          <a:solidFill>
                            <a:schemeClr val="tx1"/>
                          </a:solidFill>
                          <a:latin typeface="Arial" panose="020B0604020202020204" pitchFamily="34" charset="0"/>
                          <a:cs typeface="Arial" panose="020B0604020202020204" pitchFamily="34" charset="0"/>
                        </a:rPr>
                        <a:t>kết</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với</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các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giá</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trị</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cốt</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lõi</a:t>
                      </a:r>
                      <a:r>
                        <a:rPr lang="en-US" sz="1600" b="0" dirty="0">
                          <a:solidFill>
                            <a:schemeClr val="tx1"/>
                          </a:solidFill>
                          <a:latin typeface="Arial" panose="020B0604020202020204" pitchFamily="34" charset="0"/>
                          <a:cs typeface="Arial" panose="020B0604020202020204" pitchFamily="34" charset="0"/>
                        </a:rPr>
                        <a:t> </a:t>
                      </a: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023660351"/>
                  </a:ext>
                </a:extLst>
              </a:tr>
              <a:tr h="554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5. Thu </a:t>
                      </a:r>
                      <a:r>
                        <a:rPr lang="en-US" sz="1600" b="0" dirty="0" err="1">
                          <a:solidFill>
                            <a:schemeClr val="tx1"/>
                          </a:solidFill>
                          <a:latin typeface="Arial" panose="020B0604020202020204" pitchFamily="34" charset="0"/>
                          <a:cs typeface="Arial" panose="020B0604020202020204" pitchFamily="34" charset="0"/>
                        </a:rPr>
                        <a:t>hút</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phát</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triển</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và</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giữ</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chân</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nhân</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sự</a:t>
                      </a: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423548086"/>
                  </a:ext>
                </a:extLst>
              </a:tr>
            </a:tbl>
          </a:graphicData>
        </a:graphic>
      </p:graphicFrame>
      <p:sp>
        <p:nvSpPr>
          <p:cNvPr id="14" name="Oval 13">
            <a:extLst>
              <a:ext uri="{FF2B5EF4-FFF2-40B4-BE49-F238E27FC236}">
                <a16:creationId xmlns:a16="http://schemas.microsoft.com/office/drawing/2014/main" id="{2ADE2D7C-E3B2-1389-198A-937A98DAFF83}"/>
              </a:ext>
            </a:extLst>
          </p:cNvPr>
          <p:cNvSpPr/>
          <p:nvPr/>
        </p:nvSpPr>
        <p:spPr>
          <a:xfrm>
            <a:off x="687681" y="7275096"/>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aphicFrame>
        <p:nvGraphicFramePr>
          <p:cNvPr id="50" name="Table 49">
            <a:extLst>
              <a:ext uri="{FF2B5EF4-FFF2-40B4-BE49-F238E27FC236}">
                <a16:creationId xmlns:a16="http://schemas.microsoft.com/office/drawing/2014/main" id="{78C75C69-EB38-F22F-F435-4A53F008B07A}"/>
              </a:ext>
            </a:extLst>
          </p:cNvPr>
          <p:cNvGraphicFramePr>
            <a:graphicFrameLocks noGrp="1"/>
          </p:cNvGraphicFramePr>
          <p:nvPr/>
        </p:nvGraphicFramePr>
        <p:xfrm>
          <a:off x="4441682" y="7138885"/>
          <a:ext cx="3206243" cy="2895601"/>
        </p:xfrm>
        <a:graphic>
          <a:graphicData uri="http://schemas.openxmlformats.org/drawingml/2006/table">
            <a:tbl>
              <a:tblPr firstRow="1" bandRow="1">
                <a:tableStyleId>{5C22544A-7EE6-4342-B048-85BDC9FD1C3A}</a:tableStyleId>
              </a:tblPr>
              <a:tblGrid>
                <a:gridCol w="746793">
                  <a:extLst>
                    <a:ext uri="{9D8B030D-6E8A-4147-A177-3AD203B41FA5}">
                      <a16:colId xmlns:a16="http://schemas.microsoft.com/office/drawing/2014/main" val="1583561030"/>
                    </a:ext>
                  </a:extLst>
                </a:gridCol>
                <a:gridCol w="2459450">
                  <a:extLst>
                    <a:ext uri="{9D8B030D-6E8A-4147-A177-3AD203B41FA5}">
                      <a16:colId xmlns:a16="http://schemas.microsoft.com/office/drawing/2014/main" val="3367433481"/>
                    </a:ext>
                  </a:extLst>
                </a:gridCol>
              </a:tblGrid>
              <a:tr h="731534">
                <a:tc>
                  <a:txBody>
                    <a:bodyPr/>
                    <a:lstStyle/>
                    <a:p>
                      <a:pPr marL="0" indent="0">
                        <a:spcBef>
                          <a:spcPts val="600"/>
                        </a:spcBef>
                        <a:buNone/>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indent="0" algn="just">
                        <a:spcBef>
                          <a:spcPts val="600"/>
                        </a:spcBef>
                        <a:buNone/>
                      </a:pPr>
                      <a:r>
                        <a:rPr lang="en-US" sz="1600" b="0" dirty="0">
                          <a:solidFill>
                            <a:schemeClr val="tx1"/>
                          </a:solidFill>
                          <a:latin typeface="Arial" panose="020B0604020202020204" pitchFamily="34" charset="0"/>
                          <a:cs typeface="Arial" panose="020B0604020202020204" pitchFamily="34" charset="0"/>
                        </a:rPr>
                        <a:t>6. </a:t>
                      </a:r>
                      <a:r>
                        <a:rPr lang="en-US" sz="1600" b="0" dirty="0" err="1">
                          <a:solidFill>
                            <a:schemeClr val="tx1"/>
                          </a:solidFill>
                          <a:latin typeface="Arial" panose="020B0604020202020204" pitchFamily="34" charset="0"/>
                          <a:cs typeface="Arial" panose="020B0604020202020204" pitchFamily="34" charset="0"/>
                        </a:rPr>
                        <a:t>Phân</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tích</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bối</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cảnh</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kinh</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doanh</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049825443"/>
                  </a:ext>
                </a:extLst>
              </a:tr>
              <a:tr h="7009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7. </a:t>
                      </a:r>
                      <a:r>
                        <a:rPr lang="en-US" sz="1600" b="0" dirty="0" err="1">
                          <a:solidFill>
                            <a:schemeClr val="tx1"/>
                          </a:solidFill>
                          <a:latin typeface="Arial" panose="020B0604020202020204" pitchFamily="34" charset="0"/>
                          <a:cs typeface="Arial" panose="020B0604020202020204" pitchFamily="34" charset="0"/>
                        </a:rPr>
                        <a:t>Xác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định</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khẩu</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vị</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rủi</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ro</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716771237"/>
                  </a:ext>
                </a:extLst>
              </a:tr>
              <a:tr h="7315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8.</a:t>
                      </a:r>
                      <a:r>
                        <a:rPr lang="en-US" sz="1600" b="0" baseline="0" dirty="0">
                          <a:solidFill>
                            <a:schemeClr val="tx1"/>
                          </a:solidFill>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Đánh </a:t>
                      </a:r>
                      <a:r>
                        <a:rPr lang="en-US" sz="1600" dirty="0" err="1">
                          <a:latin typeface="Arial" panose="020B0604020202020204" pitchFamily="34" charset="0"/>
                          <a:cs typeface="Arial" panose="020B0604020202020204" pitchFamily="34" charset="0"/>
                        </a:rPr>
                        <a:t>giá</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các</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phương</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án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chiến</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lược</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49983784"/>
                  </a:ext>
                </a:extLst>
              </a:tr>
              <a:tr h="731534">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9. Xây </a:t>
                      </a:r>
                      <a:r>
                        <a:rPr lang="en-US" sz="1600" b="0" dirty="0" err="1">
                          <a:solidFill>
                            <a:schemeClr val="tx1"/>
                          </a:solidFill>
                          <a:latin typeface="Arial" panose="020B0604020202020204" pitchFamily="34" charset="0"/>
                          <a:cs typeface="Arial" panose="020B0604020202020204" pitchFamily="34" charset="0"/>
                        </a:rPr>
                        <a:t>dựng</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mục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tiêu</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kinh</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doanh</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023660351"/>
                  </a:ext>
                </a:extLst>
              </a:tr>
            </a:tbl>
          </a:graphicData>
        </a:graphic>
      </p:graphicFrame>
      <p:sp>
        <p:nvSpPr>
          <p:cNvPr id="56" name="Oval 55">
            <a:extLst>
              <a:ext uri="{FF2B5EF4-FFF2-40B4-BE49-F238E27FC236}">
                <a16:creationId xmlns:a16="http://schemas.microsoft.com/office/drawing/2014/main" id="{76632D2F-A2C5-F408-FAF6-E3BE4DF864B5}"/>
              </a:ext>
            </a:extLst>
          </p:cNvPr>
          <p:cNvSpPr/>
          <p:nvPr/>
        </p:nvSpPr>
        <p:spPr>
          <a:xfrm>
            <a:off x="687681" y="7845262"/>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57" name="Group 56">
            <a:extLst>
              <a:ext uri="{FF2B5EF4-FFF2-40B4-BE49-F238E27FC236}">
                <a16:creationId xmlns:a16="http://schemas.microsoft.com/office/drawing/2014/main" id="{7D63D5A0-D8E8-A6F4-544A-BFFEE217A018}"/>
              </a:ext>
            </a:extLst>
          </p:cNvPr>
          <p:cNvGrpSpPr/>
          <p:nvPr/>
        </p:nvGrpSpPr>
        <p:grpSpPr>
          <a:xfrm>
            <a:off x="687681" y="8415428"/>
            <a:ext cx="365760" cy="367059"/>
            <a:chOff x="333181" y="7831207"/>
            <a:chExt cx="365760" cy="367059"/>
          </a:xfrm>
        </p:grpSpPr>
        <p:sp>
          <p:nvSpPr>
            <p:cNvPr id="58" name="Oval 57">
              <a:extLst>
                <a:ext uri="{FF2B5EF4-FFF2-40B4-BE49-F238E27FC236}">
                  <a16:creationId xmlns:a16="http://schemas.microsoft.com/office/drawing/2014/main" id="{A6743AA6-5AFA-FF16-2805-02C956AA9F17}"/>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59" name="Pie 58">
              <a:extLst>
                <a:ext uri="{FF2B5EF4-FFF2-40B4-BE49-F238E27FC236}">
                  <a16:creationId xmlns:a16="http://schemas.microsoft.com/office/drawing/2014/main" id="{8210CBCF-1EF1-BD9A-84BD-15448769EC1A}"/>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aphicFrame>
        <p:nvGraphicFramePr>
          <p:cNvPr id="61" name="Table 60">
            <a:extLst>
              <a:ext uri="{FF2B5EF4-FFF2-40B4-BE49-F238E27FC236}">
                <a16:creationId xmlns:a16="http://schemas.microsoft.com/office/drawing/2014/main" id="{43910D97-82E4-184F-60AC-AD1B3A6949E6}"/>
              </a:ext>
            </a:extLst>
          </p:cNvPr>
          <p:cNvGraphicFramePr>
            <a:graphicFrameLocks noGrp="1"/>
          </p:cNvGraphicFramePr>
          <p:nvPr/>
        </p:nvGraphicFramePr>
        <p:xfrm>
          <a:off x="7959010" y="6943171"/>
          <a:ext cx="2708276" cy="3287027"/>
        </p:xfrm>
        <a:graphic>
          <a:graphicData uri="http://schemas.openxmlformats.org/drawingml/2006/table">
            <a:tbl>
              <a:tblPr firstRow="1" bandRow="1">
                <a:tableStyleId>{5C22544A-7EE6-4342-B048-85BDC9FD1C3A}</a:tableStyleId>
              </a:tblPr>
              <a:tblGrid>
                <a:gridCol w="537927">
                  <a:extLst>
                    <a:ext uri="{9D8B030D-6E8A-4147-A177-3AD203B41FA5}">
                      <a16:colId xmlns:a16="http://schemas.microsoft.com/office/drawing/2014/main" val="1583561030"/>
                    </a:ext>
                  </a:extLst>
                </a:gridCol>
                <a:gridCol w="2170349">
                  <a:extLst>
                    <a:ext uri="{9D8B030D-6E8A-4147-A177-3AD203B41FA5}">
                      <a16:colId xmlns:a16="http://schemas.microsoft.com/office/drawing/2014/main" val="3367433481"/>
                    </a:ext>
                  </a:extLst>
                </a:gridCol>
              </a:tblGrid>
              <a:tr h="457200">
                <a:tc>
                  <a:txBody>
                    <a:bodyPr/>
                    <a:lstStyle/>
                    <a:p>
                      <a:pPr marL="0" indent="0">
                        <a:spcBef>
                          <a:spcPts val="600"/>
                        </a:spcBef>
                        <a:buNone/>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indent="0" algn="just">
                        <a:spcBef>
                          <a:spcPts val="600"/>
                        </a:spcBef>
                        <a:buNone/>
                      </a:pPr>
                      <a:r>
                        <a:rPr lang="en-US" sz="1600" b="0" dirty="0">
                          <a:solidFill>
                            <a:schemeClr val="tx1"/>
                          </a:solidFill>
                          <a:latin typeface="Arial" panose="020B0604020202020204" pitchFamily="34" charset="0"/>
                          <a:cs typeface="Arial" panose="020B0604020202020204" pitchFamily="34" charset="0"/>
                        </a:rPr>
                        <a:t>10. </a:t>
                      </a:r>
                      <a:r>
                        <a:rPr lang="en-US" sz="1600" b="0" dirty="0" err="1">
                          <a:solidFill>
                            <a:schemeClr val="tx1"/>
                          </a:solidFill>
                          <a:latin typeface="Arial" panose="020B0604020202020204" pitchFamily="34" charset="0"/>
                          <a:cs typeface="Arial" panose="020B0604020202020204" pitchFamily="34" charset="0"/>
                        </a:rPr>
                        <a:t>Nhận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diện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rủi</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ro</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049825443"/>
                  </a:ext>
                </a:extLst>
              </a:tr>
              <a:tr h="6400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11.</a:t>
                      </a:r>
                      <a:r>
                        <a:rPr lang="en-US" sz="1600" b="0" baseline="0" dirty="0">
                          <a:solidFill>
                            <a:schemeClr val="tx1"/>
                          </a:solidFill>
                          <a:latin typeface="Arial" panose="020B0604020202020204" pitchFamily="34" charset="0"/>
                          <a:cs typeface="Arial" panose="020B0604020202020204" pitchFamily="34" charset="0"/>
                        </a:rPr>
                        <a:t> Đánh </a:t>
                      </a:r>
                      <a:r>
                        <a:rPr lang="en-US" sz="1600" b="0" baseline="0" dirty="0" err="1">
                          <a:solidFill>
                            <a:schemeClr val="tx1"/>
                          </a:solidFill>
                          <a:latin typeface="Arial" panose="020B0604020202020204" pitchFamily="34" charset="0"/>
                          <a:cs typeface="Arial" panose="020B0604020202020204" pitchFamily="34" charset="0"/>
                        </a:rPr>
                        <a:t>giá</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mức</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độ</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trọng</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yếu</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của</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rủi</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ro</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716771237"/>
                  </a:ext>
                </a:extLst>
              </a:tr>
              <a:tr h="6400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12.</a:t>
                      </a:r>
                      <a:r>
                        <a:rPr lang="en-US" sz="1600" b="0" baseline="0" dirty="0">
                          <a:solidFill>
                            <a:schemeClr val="tx1"/>
                          </a:solidFill>
                          <a:latin typeface="Arial" panose="020B0604020202020204" pitchFamily="34" charset="0"/>
                          <a:cs typeface="Arial" panose="020B0604020202020204" pitchFamily="34" charset="0"/>
                        </a:rPr>
                        <a:t> Đánh </a:t>
                      </a:r>
                      <a:r>
                        <a:rPr lang="en-US" sz="1600" b="0" baseline="0" dirty="0" err="1">
                          <a:solidFill>
                            <a:schemeClr val="tx1"/>
                          </a:solidFill>
                          <a:latin typeface="Arial" panose="020B0604020202020204" pitchFamily="34" charset="0"/>
                          <a:cs typeface="Arial" panose="020B0604020202020204" pitchFamily="34" charset="0"/>
                        </a:rPr>
                        <a:t>giá</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mức</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độ</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ưu</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tiên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của</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rủi</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ro</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49983784"/>
                  </a:ext>
                </a:extLst>
              </a:tr>
              <a:tr h="90958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13. </a:t>
                      </a:r>
                      <a:r>
                        <a:rPr lang="en-US" sz="1600" b="0" dirty="0" err="1">
                          <a:solidFill>
                            <a:schemeClr val="tx1"/>
                          </a:solidFill>
                          <a:latin typeface="Arial" panose="020B0604020202020204" pitchFamily="34" charset="0"/>
                          <a:cs typeface="Arial" panose="020B0604020202020204" pitchFamily="34" charset="0"/>
                        </a:rPr>
                        <a:t>Triển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khai</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kế</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hoạch</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hành</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động</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xử</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lý</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rủi</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ro</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2023660351"/>
                  </a:ext>
                </a:extLst>
              </a:tr>
              <a:tr h="64008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i="1"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14. Xây</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dựng</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hồ</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sơ</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rủi</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ro</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toàn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tổ</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chức</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690762997"/>
                  </a:ext>
                </a:extLst>
              </a:tr>
            </a:tbl>
          </a:graphicData>
        </a:graphic>
      </p:graphicFrame>
      <p:pic>
        <p:nvPicPr>
          <p:cNvPr id="18" name="Picture 17">
            <a:extLst>
              <a:ext uri="{FF2B5EF4-FFF2-40B4-BE49-F238E27FC236}">
                <a16:creationId xmlns:a16="http://schemas.microsoft.com/office/drawing/2014/main" id="{EFFFA5D9-9B9F-5599-50E5-C035BF51BB93}"/>
              </a:ext>
            </a:extLst>
          </p:cNvPr>
          <p:cNvPicPr>
            <a:picLocks noChangeAspect="1"/>
          </p:cNvPicPr>
          <p:nvPr/>
        </p:nvPicPr>
        <p:blipFill>
          <a:blip r:embed="rId4"/>
          <a:stretch>
            <a:fillRect/>
          </a:stretch>
        </p:blipFill>
        <p:spPr>
          <a:xfrm>
            <a:off x="10858968" y="5996270"/>
            <a:ext cx="982757" cy="1000307"/>
          </a:xfrm>
          <a:prstGeom prst="rect">
            <a:avLst/>
          </a:prstGeom>
        </p:spPr>
      </p:pic>
      <p:sp>
        <p:nvSpPr>
          <p:cNvPr id="71" name="Oval 70">
            <a:extLst>
              <a:ext uri="{FF2B5EF4-FFF2-40B4-BE49-F238E27FC236}">
                <a16:creationId xmlns:a16="http://schemas.microsoft.com/office/drawing/2014/main" id="{E70FD332-8C84-E415-57DF-DABCCE0CD904}"/>
              </a:ext>
            </a:extLst>
          </p:cNvPr>
          <p:cNvSpPr/>
          <p:nvPr/>
        </p:nvSpPr>
        <p:spPr>
          <a:xfrm>
            <a:off x="4628577" y="7318177"/>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81" name="Oval 80">
            <a:extLst>
              <a:ext uri="{FF2B5EF4-FFF2-40B4-BE49-F238E27FC236}">
                <a16:creationId xmlns:a16="http://schemas.microsoft.com/office/drawing/2014/main" id="{0D022052-9E46-FBD9-468A-BE0E258A90C7}"/>
              </a:ext>
            </a:extLst>
          </p:cNvPr>
          <p:cNvSpPr/>
          <p:nvPr/>
        </p:nvSpPr>
        <p:spPr>
          <a:xfrm>
            <a:off x="4603196" y="8781188"/>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83" name="Group 82">
            <a:extLst>
              <a:ext uri="{FF2B5EF4-FFF2-40B4-BE49-F238E27FC236}">
                <a16:creationId xmlns:a16="http://schemas.microsoft.com/office/drawing/2014/main" id="{B6DC6B6A-041B-0772-E4BF-E1C1D9D33C8F}"/>
              </a:ext>
            </a:extLst>
          </p:cNvPr>
          <p:cNvGrpSpPr/>
          <p:nvPr/>
        </p:nvGrpSpPr>
        <p:grpSpPr>
          <a:xfrm>
            <a:off x="686562" y="9568728"/>
            <a:ext cx="365760" cy="367059"/>
            <a:chOff x="333181" y="7831207"/>
            <a:chExt cx="365760" cy="367059"/>
          </a:xfrm>
        </p:grpSpPr>
        <p:sp>
          <p:nvSpPr>
            <p:cNvPr id="84" name="Oval 83">
              <a:extLst>
                <a:ext uri="{FF2B5EF4-FFF2-40B4-BE49-F238E27FC236}">
                  <a16:creationId xmlns:a16="http://schemas.microsoft.com/office/drawing/2014/main" id="{4D9AF53C-9A0F-7BFD-7692-48AD51933D0C}"/>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85" name="Pie 84">
              <a:extLst>
                <a:ext uri="{FF2B5EF4-FFF2-40B4-BE49-F238E27FC236}">
                  <a16:creationId xmlns:a16="http://schemas.microsoft.com/office/drawing/2014/main" id="{96810384-00F0-82CB-451B-AC65FCB293D1}"/>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
        <p:nvSpPr>
          <p:cNvPr id="86" name="Oval 85">
            <a:extLst>
              <a:ext uri="{FF2B5EF4-FFF2-40B4-BE49-F238E27FC236}">
                <a16:creationId xmlns:a16="http://schemas.microsoft.com/office/drawing/2014/main" id="{233DE29E-FB28-29CD-D170-EF3735B9BE8C}"/>
              </a:ext>
            </a:extLst>
          </p:cNvPr>
          <p:cNvSpPr/>
          <p:nvPr/>
        </p:nvSpPr>
        <p:spPr>
          <a:xfrm>
            <a:off x="8049539" y="7530603"/>
            <a:ext cx="365760" cy="365760"/>
          </a:xfrm>
          <a:prstGeom prst="ellipse">
            <a:avLst/>
          </a:prstGeom>
          <a:solidFill>
            <a:srgbClr val="EF3535"/>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87" name="Group 86">
            <a:extLst>
              <a:ext uri="{FF2B5EF4-FFF2-40B4-BE49-F238E27FC236}">
                <a16:creationId xmlns:a16="http://schemas.microsoft.com/office/drawing/2014/main" id="{AA527E16-54F9-6BA2-2A86-F2E38E193F88}"/>
              </a:ext>
            </a:extLst>
          </p:cNvPr>
          <p:cNvGrpSpPr/>
          <p:nvPr/>
        </p:nvGrpSpPr>
        <p:grpSpPr>
          <a:xfrm>
            <a:off x="8044096" y="6986241"/>
            <a:ext cx="365760" cy="367059"/>
            <a:chOff x="333181" y="7831207"/>
            <a:chExt cx="365760" cy="367059"/>
          </a:xfrm>
        </p:grpSpPr>
        <p:sp>
          <p:nvSpPr>
            <p:cNvPr id="88" name="Oval 87">
              <a:extLst>
                <a:ext uri="{FF2B5EF4-FFF2-40B4-BE49-F238E27FC236}">
                  <a16:creationId xmlns:a16="http://schemas.microsoft.com/office/drawing/2014/main" id="{5FCE51BB-041C-92C6-DE50-8136DE0B5584}"/>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89" name="Pie 88">
              <a:extLst>
                <a:ext uri="{FF2B5EF4-FFF2-40B4-BE49-F238E27FC236}">
                  <a16:creationId xmlns:a16="http://schemas.microsoft.com/office/drawing/2014/main" id="{1E7864C0-1671-CD31-B6BA-02A3057B1952}"/>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
        <p:nvSpPr>
          <p:cNvPr id="90" name="Oval 89">
            <a:extLst>
              <a:ext uri="{FF2B5EF4-FFF2-40B4-BE49-F238E27FC236}">
                <a16:creationId xmlns:a16="http://schemas.microsoft.com/office/drawing/2014/main" id="{A920BAAD-B135-A9EF-22DF-A3A93339DADF}"/>
              </a:ext>
            </a:extLst>
          </p:cNvPr>
          <p:cNvSpPr/>
          <p:nvPr/>
        </p:nvSpPr>
        <p:spPr>
          <a:xfrm>
            <a:off x="8044095" y="8206740"/>
            <a:ext cx="365760" cy="365760"/>
          </a:xfrm>
          <a:prstGeom prst="ellipse">
            <a:avLst/>
          </a:prstGeom>
          <a:solidFill>
            <a:srgbClr val="EF3535"/>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aphicFrame>
        <p:nvGraphicFramePr>
          <p:cNvPr id="93" name="Table 92">
            <a:extLst>
              <a:ext uri="{FF2B5EF4-FFF2-40B4-BE49-F238E27FC236}">
                <a16:creationId xmlns:a16="http://schemas.microsoft.com/office/drawing/2014/main" id="{4DB5D04A-7F7F-17F9-568B-FB0F703C7ECE}"/>
              </a:ext>
            </a:extLst>
          </p:cNvPr>
          <p:cNvGraphicFramePr>
            <a:graphicFrameLocks noGrp="1"/>
          </p:cNvGraphicFramePr>
          <p:nvPr/>
        </p:nvGraphicFramePr>
        <p:xfrm>
          <a:off x="10938652" y="7129877"/>
          <a:ext cx="2918063" cy="2904608"/>
        </p:xfrm>
        <a:graphic>
          <a:graphicData uri="http://schemas.openxmlformats.org/drawingml/2006/table">
            <a:tbl>
              <a:tblPr firstRow="1" bandRow="1">
                <a:tableStyleId>{5C22544A-7EE6-4342-B048-85BDC9FD1C3A}</a:tableStyleId>
              </a:tblPr>
              <a:tblGrid>
                <a:gridCol w="579595">
                  <a:extLst>
                    <a:ext uri="{9D8B030D-6E8A-4147-A177-3AD203B41FA5}">
                      <a16:colId xmlns:a16="http://schemas.microsoft.com/office/drawing/2014/main" val="1583561030"/>
                    </a:ext>
                  </a:extLst>
                </a:gridCol>
                <a:gridCol w="2338468">
                  <a:extLst>
                    <a:ext uri="{9D8B030D-6E8A-4147-A177-3AD203B41FA5}">
                      <a16:colId xmlns:a16="http://schemas.microsoft.com/office/drawing/2014/main" val="3367433481"/>
                    </a:ext>
                  </a:extLst>
                </a:gridCol>
              </a:tblGrid>
              <a:tr h="904714">
                <a:tc>
                  <a:txBody>
                    <a:bodyPr/>
                    <a:lstStyle/>
                    <a:p>
                      <a:pPr marL="0" indent="0">
                        <a:spcBef>
                          <a:spcPts val="600"/>
                        </a:spcBef>
                        <a:buNone/>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indent="0" algn="just">
                        <a:spcBef>
                          <a:spcPts val="600"/>
                        </a:spcBef>
                        <a:buNone/>
                      </a:pPr>
                      <a:r>
                        <a:rPr lang="en-US" sz="1600" b="0" dirty="0">
                          <a:solidFill>
                            <a:schemeClr val="tx1"/>
                          </a:solidFill>
                          <a:latin typeface="Arial" panose="020B0604020202020204" pitchFamily="34" charset="0"/>
                          <a:cs typeface="Arial" panose="020B0604020202020204" pitchFamily="34" charset="0"/>
                        </a:rPr>
                        <a:t>15. Đánh </a:t>
                      </a:r>
                      <a:r>
                        <a:rPr lang="en-US" sz="1600" b="0" dirty="0" err="1">
                          <a:solidFill>
                            <a:schemeClr val="tx1"/>
                          </a:solidFill>
                          <a:latin typeface="Arial" panose="020B0604020202020204" pitchFamily="34" charset="0"/>
                          <a:cs typeface="Arial" panose="020B0604020202020204" pitchFamily="34" charset="0"/>
                        </a:rPr>
                        <a:t>giá</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thay</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đổi</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trọng</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yếu</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049825443"/>
                  </a:ext>
                </a:extLst>
              </a:tr>
              <a:tr h="999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16.</a:t>
                      </a:r>
                      <a:r>
                        <a:rPr lang="en-US" sz="1600" b="0" baseline="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soát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rủi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hiệu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quả</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triển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khai</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716771237"/>
                  </a:ext>
                </a:extLst>
              </a:tr>
              <a:tr h="999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600" b="0" dirty="0">
                          <a:solidFill>
                            <a:schemeClr val="tx1"/>
                          </a:solidFill>
                          <a:latin typeface="Arial" panose="020B0604020202020204" pitchFamily="34" charset="0"/>
                          <a:cs typeface="Arial" panose="020B0604020202020204" pitchFamily="34" charset="0"/>
                        </a:rPr>
                        <a:t>17.</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Cải</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tiến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liên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tục</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công</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tác</a:t>
                      </a:r>
                      <a:r>
                        <a:rPr lang="en-US" sz="1600" b="0" baseline="0" dirty="0">
                          <a:solidFill>
                            <a:schemeClr val="tx1"/>
                          </a:solidFill>
                          <a:latin typeface="Arial" panose="020B0604020202020204" pitchFamily="34" charset="0"/>
                          <a:cs typeface="Arial" panose="020B0604020202020204" pitchFamily="34" charset="0"/>
                        </a:rPr>
                        <a:t> QTRR</a:t>
                      </a: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49983784"/>
                  </a:ext>
                </a:extLst>
              </a:tr>
            </a:tbl>
          </a:graphicData>
        </a:graphic>
      </p:graphicFrame>
      <p:graphicFrame>
        <p:nvGraphicFramePr>
          <p:cNvPr id="96" name="Table 95">
            <a:extLst>
              <a:ext uri="{FF2B5EF4-FFF2-40B4-BE49-F238E27FC236}">
                <a16:creationId xmlns:a16="http://schemas.microsoft.com/office/drawing/2014/main" id="{179690B3-57B0-18FF-446E-410404F75FB1}"/>
              </a:ext>
            </a:extLst>
          </p:cNvPr>
          <p:cNvGraphicFramePr>
            <a:graphicFrameLocks noGrp="1"/>
          </p:cNvGraphicFramePr>
          <p:nvPr/>
        </p:nvGraphicFramePr>
        <p:xfrm>
          <a:off x="14238168" y="7129877"/>
          <a:ext cx="3329873" cy="2904608"/>
        </p:xfrm>
        <a:graphic>
          <a:graphicData uri="http://schemas.openxmlformats.org/drawingml/2006/table">
            <a:tbl>
              <a:tblPr firstRow="1" bandRow="1">
                <a:tableStyleId>{5C22544A-7EE6-4342-B048-85BDC9FD1C3A}</a:tableStyleId>
              </a:tblPr>
              <a:tblGrid>
                <a:gridCol w="661390">
                  <a:extLst>
                    <a:ext uri="{9D8B030D-6E8A-4147-A177-3AD203B41FA5}">
                      <a16:colId xmlns:a16="http://schemas.microsoft.com/office/drawing/2014/main" val="1583561030"/>
                    </a:ext>
                  </a:extLst>
                </a:gridCol>
                <a:gridCol w="2668483">
                  <a:extLst>
                    <a:ext uri="{9D8B030D-6E8A-4147-A177-3AD203B41FA5}">
                      <a16:colId xmlns:a16="http://schemas.microsoft.com/office/drawing/2014/main" val="3367433481"/>
                    </a:ext>
                  </a:extLst>
                </a:gridCol>
              </a:tblGrid>
              <a:tr h="904714">
                <a:tc>
                  <a:txBody>
                    <a:bodyPr/>
                    <a:lstStyle/>
                    <a:p>
                      <a:pPr marL="0" indent="0">
                        <a:spcBef>
                          <a:spcPts val="600"/>
                        </a:spcBef>
                        <a:buNone/>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marL="0" indent="0" algn="just">
                        <a:spcBef>
                          <a:spcPts val="600"/>
                        </a:spcBef>
                        <a:buNone/>
                      </a:pPr>
                      <a:r>
                        <a:rPr lang="en-US" sz="1600" b="0" dirty="0">
                          <a:solidFill>
                            <a:schemeClr val="tx1"/>
                          </a:solidFill>
                          <a:latin typeface="Arial" panose="020B0604020202020204" pitchFamily="34" charset="0"/>
                          <a:cs typeface="Arial" panose="020B0604020202020204" pitchFamily="34" charset="0"/>
                        </a:rPr>
                        <a:t>18. </a:t>
                      </a:r>
                      <a:r>
                        <a:rPr lang="en-US" sz="1600" b="0" dirty="0" err="1">
                          <a:solidFill>
                            <a:schemeClr val="tx1"/>
                          </a:solidFill>
                          <a:latin typeface="Arial" panose="020B0604020202020204" pitchFamily="34" charset="0"/>
                          <a:cs typeface="Arial" panose="020B0604020202020204" pitchFamily="34" charset="0"/>
                        </a:rPr>
                        <a:t>Khai</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thác</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thông</a:t>
                      </a:r>
                      <a:r>
                        <a:rPr lang="en-US" sz="1600" b="0" dirty="0">
                          <a:solidFill>
                            <a:schemeClr val="tx1"/>
                          </a:solidFill>
                          <a:latin typeface="Arial" panose="020B0604020202020204" pitchFamily="34" charset="0"/>
                          <a:cs typeface="Arial" panose="020B0604020202020204" pitchFamily="34" charset="0"/>
                        </a:rPr>
                        <a:t> tin </a:t>
                      </a:r>
                      <a:r>
                        <a:rPr lang="en-US" sz="1600" b="0" dirty="0" err="1">
                          <a:solidFill>
                            <a:schemeClr val="tx1"/>
                          </a:solidFill>
                          <a:latin typeface="Arial" panose="020B0604020202020204" pitchFamily="34" charset="0"/>
                          <a:cs typeface="Arial" panose="020B0604020202020204" pitchFamily="34" charset="0"/>
                        </a:rPr>
                        <a:t>và</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công</a:t>
                      </a:r>
                      <a:r>
                        <a:rPr lang="en-US" sz="1600" b="0" dirty="0">
                          <a:solidFill>
                            <a:schemeClr val="tx1"/>
                          </a:solidFill>
                          <a:latin typeface="Arial" panose="020B0604020202020204" pitchFamily="34" charset="0"/>
                          <a:cs typeface="Arial" panose="020B0604020202020204" pitchFamily="34" charset="0"/>
                        </a:rPr>
                        <a:t> </a:t>
                      </a:r>
                      <a:r>
                        <a:rPr lang="en-US" sz="1600" b="0" dirty="0" err="1">
                          <a:solidFill>
                            <a:schemeClr val="tx1"/>
                          </a:solidFill>
                          <a:latin typeface="Arial" panose="020B0604020202020204" pitchFamily="34" charset="0"/>
                          <a:cs typeface="Arial" panose="020B0604020202020204" pitchFamily="34" charset="0"/>
                        </a:rPr>
                        <a:t>nghệ</a:t>
                      </a:r>
                      <a:endParaRPr lang="en-US" sz="16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3049825443"/>
                  </a:ext>
                </a:extLst>
              </a:tr>
              <a:tr h="999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just">
                        <a:spcBef>
                          <a:spcPts val="600"/>
                        </a:spcBef>
                      </a:pPr>
                      <a:r>
                        <a:rPr lang="en-US" sz="1600" b="0" dirty="0">
                          <a:solidFill>
                            <a:schemeClr val="tx1"/>
                          </a:solidFill>
                          <a:latin typeface="Arial" panose="020B0604020202020204" pitchFamily="34" charset="0"/>
                          <a:cs typeface="Arial" panose="020B0604020202020204" pitchFamily="34" charset="0"/>
                        </a:rPr>
                        <a:t>19.</a:t>
                      </a:r>
                      <a:r>
                        <a:rPr lang="en-US" sz="1600" b="0" baseline="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Truyền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thông</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thông</a:t>
                      </a:r>
                      <a:r>
                        <a:rPr lang="en-US" sz="1600" dirty="0">
                          <a:solidFill>
                            <a:schemeClr val="tx1"/>
                          </a:solidFill>
                          <a:latin typeface="Arial" panose="020B0604020202020204" pitchFamily="34" charset="0"/>
                          <a:cs typeface="Arial" panose="020B0604020202020204" pitchFamily="34" charset="0"/>
                        </a:rPr>
                        <a:t> tin </a:t>
                      </a:r>
                      <a:r>
                        <a:rPr lang="en-US" sz="1600" dirty="0" err="1">
                          <a:solidFill>
                            <a:schemeClr val="tx1"/>
                          </a:solidFill>
                          <a:latin typeface="Arial" panose="020B0604020202020204" pitchFamily="34" charset="0"/>
                          <a:cs typeface="Arial" panose="020B0604020202020204" pitchFamily="34" charset="0"/>
                        </a:rPr>
                        <a:t>rủi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ro</a:t>
                      </a:r>
                      <a:endParaRPr lang="en-US" sz="16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716771237"/>
                  </a:ext>
                </a:extLst>
              </a:tr>
              <a:tr h="99994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600"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tc>
                  <a:txBody>
                    <a:bodyPr/>
                    <a:lstStyle/>
                    <a:p>
                      <a:pPr algn="just">
                        <a:spcBef>
                          <a:spcPts val="600"/>
                        </a:spcBef>
                      </a:pPr>
                      <a:r>
                        <a:rPr lang="en-US" sz="1600" b="0" dirty="0">
                          <a:solidFill>
                            <a:schemeClr val="tx1"/>
                          </a:solidFill>
                          <a:latin typeface="Arial" panose="020B0604020202020204" pitchFamily="34" charset="0"/>
                          <a:cs typeface="Arial" panose="020B0604020202020204" pitchFamily="34" charset="0"/>
                        </a:rPr>
                        <a:t>20.</a:t>
                      </a:r>
                      <a:r>
                        <a:rPr lang="en-US" sz="1600" b="0" baseline="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Báo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cáo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về</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rủi</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ro</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văn</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hóa</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và</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hiệu</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quả</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hoạt</a:t>
                      </a:r>
                      <a:r>
                        <a:rPr lang="en-US" sz="1600" dirty="0">
                          <a:solidFill>
                            <a:schemeClr val="tx1"/>
                          </a:solidFill>
                          <a:latin typeface="Arial" panose="020B0604020202020204" pitchFamily="34" charset="0"/>
                          <a:cs typeface="Arial" panose="020B0604020202020204" pitchFamily="34" charset="0"/>
                        </a:rPr>
                        <a:t> </a:t>
                      </a:r>
                      <a:r>
                        <a:rPr lang="en-US" sz="1600" dirty="0" err="1">
                          <a:solidFill>
                            <a:schemeClr val="tx1"/>
                          </a:solidFill>
                          <a:latin typeface="Arial" panose="020B0604020202020204" pitchFamily="34" charset="0"/>
                          <a:cs typeface="Arial" panose="020B0604020202020204" pitchFamily="34" charset="0"/>
                        </a:rPr>
                        <a:t>động</a:t>
                      </a:r>
                      <a:endParaRPr lang="en-US" sz="16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solidFill>
                        <a:schemeClr val="tx1"/>
                      </a:solidFill>
                      <a:prstDash val="sysDash"/>
                      <a:round/>
                      <a:headEnd type="none" w="med" len="med"/>
                      <a:tailEnd type="none" w="med" len="med"/>
                    </a:lnB>
                    <a:noFill/>
                  </a:tcPr>
                </a:tc>
                <a:extLst>
                  <a:ext uri="{0D108BD9-81ED-4DB2-BD59-A6C34878D82A}">
                    <a16:rowId xmlns:a16="http://schemas.microsoft.com/office/drawing/2014/main" val="1049983784"/>
                  </a:ext>
                </a:extLst>
              </a:tr>
            </a:tbl>
          </a:graphicData>
        </a:graphic>
      </p:graphicFrame>
      <p:grpSp>
        <p:nvGrpSpPr>
          <p:cNvPr id="97" name="Group 96">
            <a:extLst>
              <a:ext uri="{FF2B5EF4-FFF2-40B4-BE49-F238E27FC236}">
                <a16:creationId xmlns:a16="http://schemas.microsoft.com/office/drawing/2014/main" id="{E6616821-35C2-798B-3BF8-D2AA5EE6593E}"/>
              </a:ext>
            </a:extLst>
          </p:cNvPr>
          <p:cNvGrpSpPr/>
          <p:nvPr/>
        </p:nvGrpSpPr>
        <p:grpSpPr>
          <a:xfrm>
            <a:off x="14383256" y="7424311"/>
            <a:ext cx="365760" cy="367059"/>
            <a:chOff x="333181" y="7831207"/>
            <a:chExt cx="365760" cy="367059"/>
          </a:xfrm>
        </p:grpSpPr>
        <p:sp>
          <p:nvSpPr>
            <p:cNvPr id="98" name="Oval 97">
              <a:extLst>
                <a:ext uri="{FF2B5EF4-FFF2-40B4-BE49-F238E27FC236}">
                  <a16:creationId xmlns:a16="http://schemas.microsoft.com/office/drawing/2014/main" id="{30FA33B4-78AE-CB32-51CC-88D5AA615C26}"/>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99" name="Pie 98">
              <a:extLst>
                <a:ext uri="{FF2B5EF4-FFF2-40B4-BE49-F238E27FC236}">
                  <a16:creationId xmlns:a16="http://schemas.microsoft.com/office/drawing/2014/main" id="{BF4AA20C-A5CE-936D-7D0F-82F7C7B71613}"/>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100" name="Group 99">
            <a:extLst>
              <a:ext uri="{FF2B5EF4-FFF2-40B4-BE49-F238E27FC236}">
                <a16:creationId xmlns:a16="http://schemas.microsoft.com/office/drawing/2014/main" id="{4E60F2F2-F2A9-C5FB-8216-D76F4AA107CD}"/>
              </a:ext>
            </a:extLst>
          </p:cNvPr>
          <p:cNvGrpSpPr/>
          <p:nvPr/>
        </p:nvGrpSpPr>
        <p:grpSpPr>
          <a:xfrm>
            <a:off x="14383256" y="8314448"/>
            <a:ext cx="365760" cy="367059"/>
            <a:chOff x="333181" y="7831207"/>
            <a:chExt cx="365760" cy="367059"/>
          </a:xfrm>
        </p:grpSpPr>
        <p:sp>
          <p:nvSpPr>
            <p:cNvPr id="101" name="Oval 100">
              <a:extLst>
                <a:ext uri="{FF2B5EF4-FFF2-40B4-BE49-F238E27FC236}">
                  <a16:creationId xmlns:a16="http://schemas.microsoft.com/office/drawing/2014/main" id="{F04D7380-F0E8-0E6F-786E-237C88DBF533}"/>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02" name="Pie 101">
              <a:extLst>
                <a:ext uri="{FF2B5EF4-FFF2-40B4-BE49-F238E27FC236}">
                  <a16:creationId xmlns:a16="http://schemas.microsoft.com/office/drawing/2014/main" id="{F5281DAB-0B98-C7F9-C9E6-D3071E9AF48C}"/>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103" name="Group 102">
            <a:extLst>
              <a:ext uri="{FF2B5EF4-FFF2-40B4-BE49-F238E27FC236}">
                <a16:creationId xmlns:a16="http://schemas.microsoft.com/office/drawing/2014/main" id="{6635E7BC-E54E-FB3E-6CF5-C71F71F1BB08}"/>
              </a:ext>
            </a:extLst>
          </p:cNvPr>
          <p:cNvGrpSpPr/>
          <p:nvPr/>
        </p:nvGrpSpPr>
        <p:grpSpPr>
          <a:xfrm>
            <a:off x="14367891" y="9425137"/>
            <a:ext cx="365760" cy="367059"/>
            <a:chOff x="333181" y="7831207"/>
            <a:chExt cx="365760" cy="367059"/>
          </a:xfrm>
        </p:grpSpPr>
        <p:sp>
          <p:nvSpPr>
            <p:cNvPr id="104" name="Oval 103">
              <a:extLst>
                <a:ext uri="{FF2B5EF4-FFF2-40B4-BE49-F238E27FC236}">
                  <a16:creationId xmlns:a16="http://schemas.microsoft.com/office/drawing/2014/main" id="{04AE6C5E-F033-A2B3-2B19-0490B95A914A}"/>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05" name="Pie 104">
              <a:extLst>
                <a:ext uri="{FF2B5EF4-FFF2-40B4-BE49-F238E27FC236}">
                  <a16:creationId xmlns:a16="http://schemas.microsoft.com/office/drawing/2014/main" id="{BDCB5DA5-07B3-CE17-6E08-B65252A37923}"/>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106" name="Group 105">
            <a:extLst>
              <a:ext uri="{FF2B5EF4-FFF2-40B4-BE49-F238E27FC236}">
                <a16:creationId xmlns:a16="http://schemas.microsoft.com/office/drawing/2014/main" id="{1E43FC7C-1BA1-1068-538F-430A291CFA83}"/>
              </a:ext>
            </a:extLst>
          </p:cNvPr>
          <p:cNvGrpSpPr/>
          <p:nvPr/>
        </p:nvGrpSpPr>
        <p:grpSpPr>
          <a:xfrm>
            <a:off x="11041300" y="7399506"/>
            <a:ext cx="365760" cy="367059"/>
            <a:chOff x="333181" y="7831207"/>
            <a:chExt cx="365760" cy="367059"/>
          </a:xfrm>
        </p:grpSpPr>
        <p:sp>
          <p:nvSpPr>
            <p:cNvPr id="107" name="Oval 106">
              <a:extLst>
                <a:ext uri="{FF2B5EF4-FFF2-40B4-BE49-F238E27FC236}">
                  <a16:creationId xmlns:a16="http://schemas.microsoft.com/office/drawing/2014/main" id="{99DE40B0-CFEE-ABC6-8F65-7B9D82A73FD3}"/>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08" name="Pie 107">
              <a:extLst>
                <a:ext uri="{FF2B5EF4-FFF2-40B4-BE49-F238E27FC236}">
                  <a16:creationId xmlns:a16="http://schemas.microsoft.com/office/drawing/2014/main" id="{047787A7-F365-CF35-FD2E-A0D5EB2F0281}"/>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
        <p:nvSpPr>
          <p:cNvPr id="74" name="Oval 73">
            <a:extLst>
              <a:ext uri="{FF2B5EF4-FFF2-40B4-BE49-F238E27FC236}">
                <a16:creationId xmlns:a16="http://schemas.microsoft.com/office/drawing/2014/main" id="{9E9A867E-DBF5-A7AB-C1E0-0CA16E0A2A7E}"/>
              </a:ext>
            </a:extLst>
          </p:cNvPr>
          <p:cNvSpPr/>
          <p:nvPr/>
        </p:nvSpPr>
        <p:spPr>
          <a:xfrm>
            <a:off x="695675" y="8964068"/>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75" name="Oval 74">
            <a:extLst>
              <a:ext uri="{FF2B5EF4-FFF2-40B4-BE49-F238E27FC236}">
                <a16:creationId xmlns:a16="http://schemas.microsoft.com/office/drawing/2014/main" id="{CB96B76C-9320-1F66-D97C-EB98E2F6B5E8}"/>
              </a:ext>
            </a:extLst>
          </p:cNvPr>
          <p:cNvSpPr/>
          <p:nvPr/>
        </p:nvSpPr>
        <p:spPr>
          <a:xfrm>
            <a:off x="4618579" y="8043561"/>
            <a:ext cx="365760" cy="365760"/>
          </a:xfrm>
          <a:prstGeom prst="ellipse">
            <a:avLst/>
          </a:prstGeom>
          <a:solidFill>
            <a:srgbClr val="EF3535"/>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76" name="Group 75">
            <a:extLst>
              <a:ext uri="{FF2B5EF4-FFF2-40B4-BE49-F238E27FC236}">
                <a16:creationId xmlns:a16="http://schemas.microsoft.com/office/drawing/2014/main" id="{79F81D8B-B162-23A9-4472-FF9E80E9B7BA}"/>
              </a:ext>
            </a:extLst>
          </p:cNvPr>
          <p:cNvGrpSpPr/>
          <p:nvPr/>
        </p:nvGrpSpPr>
        <p:grpSpPr>
          <a:xfrm>
            <a:off x="4618579" y="9523335"/>
            <a:ext cx="365760" cy="367059"/>
            <a:chOff x="333181" y="7831207"/>
            <a:chExt cx="365760" cy="367059"/>
          </a:xfrm>
        </p:grpSpPr>
        <p:sp>
          <p:nvSpPr>
            <p:cNvPr id="78" name="Oval 77">
              <a:extLst>
                <a:ext uri="{FF2B5EF4-FFF2-40B4-BE49-F238E27FC236}">
                  <a16:creationId xmlns:a16="http://schemas.microsoft.com/office/drawing/2014/main" id="{0B031DAA-496C-D232-F6C0-4435DFF29AE6}"/>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09" name="Pie 108">
              <a:extLst>
                <a:ext uri="{FF2B5EF4-FFF2-40B4-BE49-F238E27FC236}">
                  <a16:creationId xmlns:a16="http://schemas.microsoft.com/office/drawing/2014/main" id="{6A767345-4EE2-BE8E-0DC3-F67790B5C5A8}"/>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110" name="Group 109">
            <a:extLst>
              <a:ext uri="{FF2B5EF4-FFF2-40B4-BE49-F238E27FC236}">
                <a16:creationId xmlns:a16="http://schemas.microsoft.com/office/drawing/2014/main" id="{1BCFD766-C846-94C5-F0D6-346208C23396}"/>
              </a:ext>
            </a:extLst>
          </p:cNvPr>
          <p:cNvGrpSpPr/>
          <p:nvPr/>
        </p:nvGrpSpPr>
        <p:grpSpPr>
          <a:xfrm>
            <a:off x="11041300" y="8369907"/>
            <a:ext cx="365760" cy="367059"/>
            <a:chOff x="333181" y="7831207"/>
            <a:chExt cx="365760" cy="367059"/>
          </a:xfrm>
        </p:grpSpPr>
        <p:sp>
          <p:nvSpPr>
            <p:cNvPr id="111" name="Oval 110">
              <a:extLst>
                <a:ext uri="{FF2B5EF4-FFF2-40B4-BE49-F238E27FC236}">
                  <a16:creationId xmlns:a16="http://schemas.microsoft.com/office/drawing/2014/main" id="{840E3426-570F-4EE7-3761-0DCBA813E845}"/>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12" name="Pie 111">
              <a:extLst>
                <a:ext uri="{FF2B5EF4-FFF2-40B4-BE49-F238E27FC236}">
                  <a16:creationId xmlns:a16="http://schemas.microsoft.com/office/drawing/2014/main" id="{3B042D6F-CBA1-8AC5-85BA-9173A42A16B2}"/>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113" name="Group 112">
            <a:extLst>
              <a:ext uri="{FF2B5EF4-FFF2-40B4-BE49-F238E27FC236}">
                <a16:creationId xmlns:a16="http://schemas.microsoft.com/office/drawing/2014/main" id="{92578039-9EC8-DDD5-2244-42A8204D21E1}"/>
              </a:ext>
            </a:extLst>
          </p:cNvPr>
          <p:cNvGrpSpPr/>
          <p:nvPr/>
        </p:nvGrpSpPr>
        <p:grpSpPr>
          <a:xfrm>
            <a:off x="11041300" y="9384549"/>
            <a:ext cx="365760" cy="367059"/>
            <a:chOff x="333181" y="7831207"/>
            <a:chExt cx="365760" cy="367059"/>
          </a:xfrm>
        </p:grpSpPr>
        <p:sp>
          <p:nvSpPr>
            <p:cNvPr id="114" name="Oval 113">
              <a:extLst>
                <a:ext uri="{FF2B5EF4-FFF2-40B4-BE49-F238E27FC236}">
                  <a16:creationId xmlns:a16="http://schemas.microsoft.com/office/drawing/2014/main" id="{7104D5ED-34D5-DAE0-08C3-D232E62CCA05}"/>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15" name="Pie 114">
              <a:extLst>
                <a:ext uri="{FF2B5EF4-FFF2-40B4-BE49-F238E27FC236}">
                  <a16:creationId xmlns:a16="http://schemas.microsoft.com/office/drawing/2014/main" id="{FA369552-173A-F0D3-553D-0B32A79F8745}"/>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aphicFrame>
        <p:nvGraphicFramePr>
          <p:cNvPr id="15" name="Table 14">
            <a:extLst>
              <a:ext uri="{FF2B5EF4-FFF2-40B4-BE49-F238E27FC236}">
                <a16:creationId xmlns:a16="http://schemas.microsoft.com/office/drawing/2014/main" id="{4E5AAA59-F9AF-6ED3-0D3A-E492589BEC94}"/>
              </a:ext>
            </a:extLst>
          </p:cNvPr>
          <p:cNvGraphicFramePr>
            <a:graphicFrameLocks noGrp="1"/>
          </p:cNvGraphicFramePr>
          <p:nvPr/>
        </p:nvGraphicFramePr>
        <p:xfrm>
          <a:off x="14435709" y="151952"/>
          <a:ext cx="3554349" cy="1791148"/>
        </p:xfrm>
        <a:graphic>
          <a:graphicData uri="http://schemas.openxmlformats.org/drawingml/2006/table">
            <a:tbl>
              <a:tblPr firstRow="1" bandRow="1">
                <a:tableStyleId>{5C22544A-7EE6-4342-B048-85BDC9FD1C3A}</a:tableStyleId>
              </a:tblPr>
              <a:tblGrid>
                <a:gridCol w="3554349">
                  <a:extLst>
                    <a:ext uri="{9D8B030D-6E8A-4147-A177-3AD203B41FA5}">
                      <a16:colId xmlns:a16="http://schemas.microsoft.com/office/drawing/2014/main" val="3578299921"/>
                    </a:ext>
                  </a:extLst>
                </a:gridCol>
              </a:tblGrid>
              <a:tr h="447787">
                <a:tc>
                  <a:txBody>
                    <a:bodyPr/>
                    <a:lstStyle/>
                    <a:p>
                      <a:pPr algn="ctr"/>
                      <a:r>
                        <a:rPr lang="en-US" sz="2000" dirty="0" err="1">
                          <a:solidFill>
                            <a:schemeClr val="tx1"/>
                          </a:solidFill>
                          <a:latin typeface="Arial" panose="020B0604020202020204" pitchFamily="34" charset="0"/>
                          <a:cs typeface="Arial" panose="020B0604020202020204" pitchFamily="34" charset="0"/>
                        </a:rPr>
                        <a:t>Chú</a:t>
                      </a:r>
                      <a:r>
                        <a:rPr lang="en-US" sz="2000" baseline="0" dirty="0">
                          <a:solidFill>
                            <a:schemeClr val="tx1"/>
                          </a:solidFill>
                          <a:latin typeface="Arial" panose="020B0604020202020204" pitchFamily="34" charset="0"/>
                          <a:cs typeface="Arial" panose="020B0604020202020204" pitchFamily="34" charset="0"/>
                        </a:rPr>
                        <a:t> </a:t>
                      </a:r>
                      <a:r>
                        <a:rPr lang="en-US" sz="2000" baseline="0" dirty="0" err="1">
                          <a:solidFill>
                            <a:schemeClr val="tx1"/>
                          </a:solidFill>
                          <a:latin typeface="Arial" panose="020B0604020202020204" pitchFamily="34" charset="0"/>
                          <a:cs typeface="Arial" panose="020B0604020202020204" pitchFamily="34" charset="0"/>
                        </a:rPr>
                        <a:t>giải</a:t>
                      </a:r>
                      <a:r>
                        <a:rPr lang="en-US" sz="2000" baseline="0" dirty="0">
                          <a:solidFill>
                            <a:schemeClr val="tx1"/>
                          </a:solidFill>
                          <a:latin typeface="Arial" panose="020B0604020202020204" pitchFamily="34" charset="0"/>
                          <a:cs typeface="Arial" panose="020B0604020202020204" pitchFamily="34" charset="0"/>
                        </a:rPr>
                        <a:t> </a:t>
                      </a:r>
                      <a:r>
                        <a:rPr lang="en-US" sz="2000" baseline="0" dirty="0" err="1">
                          <a:solidFill>
                            <a:schemeClr val="tx1"/>
                          </a:solidFill>
                          <a:latin typeface="Arial" panose="020B0604020202020204" pitchFamily="34" charset="0"/>
                          <a:cs typeface="Arial" panose="020B0604020202020204" pitchFamily="34" charset="0"/>
                        </a:rPr>
                        <a:t>ký</a:t>
                      </a:r>
                      <a:r>
                        <a:rPr lang="en-US" sz="2000" baseline="0" dirty="0">
                          <a:solidFill>
                            <a:schemeClr val="tx1"/>
                          </a:solidFill>
                          <a:latin typeface="Arial" panose="020B0604020202020204" pitchFamily="34" charset="0"/>
                          <a:cs typeface="Arial" panose="020B0604020202020204" pitchFamily="34" charset="0"/>
                        </a:rPr>
                        <a:t> </a:t>
                      </a:r>
                      <a:r>
                        <a:rPr lang="en-US" sz="2000" baseline="0" dirty="0" err="1">
                          <a:solidFill>
                            <a:schemeClr val="tx1"/>
                          </a:solidFill>
                          <a:latin typeface="Arial" panose="020B0604020202020204" pitchFamily="34" charset="0"/>
                          <a:cs typeface="Arial" panose="020B0604020202020204" pitchFamily="34" charset="0"/>
                        </a:rPr>
                        <a:t>hiệu</a:t>
                      </a:r>
                      <a:endParaRPr lang="en-US" sz="200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924383026"/>
                  </a:ext>
                </a:extLst>
              </a:tr>
              <a:tr h="447787">
                <a:tc>
                  <a:txBody>
                    <a:bodyPr/>
                    <a:lstStyle/>
                    <a:p>
                      <a:pPr marL="548640"/>
                      <a:r>
                        <a:rPr lang="en-US" sz="2000" b="1" dirty="0" err="1">
                          <a:solidFill>
                            <a:schemeClr val="tx1"/>
                          </a:solidFill>
                          <a:latin typeface="Arial" panose="020B0604020202020204" pitchFamily="34" charset="0"/>
                          <a:cs typeface="Arial" panose="020B0604020202020204" pitchFamily="34" charset="0"/>
                        </a:rPr>
                        <a:t>Đáp</a:t>
                      </a:r>
                      <a:r>
                        <a:rPr lang="en-US" sz="2000" b="1" baseline="0" dirty="0">
                          <a:solidFill>
                            <a:schemeClr val="tx1"/>
                          </a:solidFill>
                          <a:latin typeface="Arial" panose="020B0604020202020204" pitchFamily="34" charset="0"/>
                          <a:cs typeface="Arial" panose="020B0604020202020204" pitchFamily="34" charset="0"/>
                        </a:rPr>
                        <a:t> </a:t>
                      </a:r>
                      <a:r>
                        <a:rPr lang="en-US" sz="2000" b="1" baseline="0" dirty="0" err="1">
                          <a:solidFill>
                            <a:schemeClr val="tx1"/>
                          </a:solidFill>
                          <a:latin typeface="Arial" panose="020B0604020202020204" pitchFamily="34" charset="0"/>
                          <a:cs typeface="Arial" panose="020B0604020202020204" pitchFamily="34" charset="0"/>
                        </a:rPr>
                        <a:t>ứng</a:t>
                      </a:r>
                      <a:endParaRPr lang="en-US" sz="20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9024757"/>
                  </a:ext>
                </a:extLst>
              </a:tr>
              <a:tr h="447787">
                <a:tc>
                  <a:txBody>
                    <a:bodyPr/>
                    <a:lstStyle/>
                    <a:p>
                      <a:pPr marL="548640"/>
                      <a:r>
                        <a:rPr lang="en-US" sz="2000" b="1" dirty="0" err="1">
                          <a:solidFill>
                            <a:schemeClr val="tx1"/>
                          </a:solidFill>
                          <a:latin typeface="Arial" panose="020B0604020202020204" pitchFamily="34" charset="0"/>
                          <a:cs typeface="Arial" panose="020B0604020202020204" pitchFamily="34" charset="0"/>
                        </a:rPr>
                        <a:t>Đáp</a:t>
                      </a:r>
                      <a:r>
                        <a:rPr lang="en-US" sz="2000" b="1" baseline="0" dirty="0">
                          <a:solidFill>
                            <a:schemeClr val="tx1"/>
                          </a:solidFill>
                          <a:latin typeface="Arial" panose="020B0604020202020204" pitchFamily="34" charset="0"/>
                          <a:cs typeface="Arial" panose="020B0604020202020204" pitchFamily="34" charset="0"/>
                        </a:rPr>
                        <a:t> </a:t>
                      </a:r>
                      <a:r>
                        <a:rPr lang="en-US" sz="2000" b="1" baseline="0" dirty="0" err="1">
                          <a:solidFill>
                            <a:schemeClr val="tx1"/>
                          </a:solidFill>
                          <a:latin typeface="Arial" panose="020B0604020202020204" pitchFamily="34" charset="0"/>
                          <a:cs typeface="Arial" panose="020B0604020202020204" pitchFamily="34" charset="0"/>
                        </a:rPr>
                        <a:t>ứng</a:t>
                      </a:r>
                      <a:r>
                        <a:rPr lang="en-US" sz="2000" b="1" baseline="0" dirty="0">
                          <a:solidFill>
                            <a:schemeClr val="tx1"/>
                          </a:solidFill>
                          <a:latin typeface="Arial" panose="020B0604020202020204" pitchFamily="34" charset="0"/>
                          <a:cs typeface="Arial" panose="020B0604020202020204" pitchFamily="34" charset="0"/>
                        </a:rPr>
                        <a:t> </a:t>
                      </a:r>
                      <a:r>
                        <a:rPr lang="en-US" sz="2000" b="1" baseline="0" dirty="0" err="1">
                          <a:solidFill>
                            <a:schemeClr val="tx1"/>
                          </a:solidFill>
                          <a:latin typeface="Arial" panose="020B0604020202020204" pitchFamily="34" charset="0"/>
                          <a:cs typeface="Arial" panose="020B0604020202020204" pitchFamily="34" charset="0"/>
                        </a:rPr>
                        <a:t>một</a:t>
                      </a:r>
                      <a:r>
                        <a:rPr lang="en-US" sz="2000" b="1" baseline="0" dirty="0">
                          <a:solidFill>
                            <a:schemeClr val="tx1"/>
                          </a:solidFill>
                          <a:latin typeface="Arial" panose="020B0604020202020204" pitchFamily="34" charset="0"/>
                          <a:cs typeface="Arial" panose="020B0604020202020204" pitchFamily="34" charset="0"/>
                        </a:rPr>
                        <a:t> </a:t>
                      </a:r>
                      <a:r>
                        <a:rPr lang="en-US" sz="2000" b="1" baseline="0" dirty="0" err="1">
                          <a:solidFill>
                            <a:schemeClr val="tx1"/>
                          </a:solidFill>
                          <a:latin typeface="Arial" panose="020B0604020202020204" pitchFamily="34" charset="0"/>
                          <a:cs typeface="Arial" panose="020B0604020202020204" pitchFamily="34" charset="0"/>
                        </a:rPr>
                        <a:t>phần</a:t>
                      </a:r>
                      <a:endParaRPr lang="en-US" sz="20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5995057"/>
                  </a:ext>
                </a:extLst>
              </a:tr>
              <a:tr h="447787">
                <a:tc>
                  <a:txBody>
                    <a:bodyPr/>
                    <a:lstStyle/>
                    <a:p>
                      <a:pPr marL="548640"/>
                      <a:r>
                        <a:rPr lang="en-US" sz="2000" b="1" dirty="0" err="1">
                          <a:solidFill>
                            <a:schemeClr val="tx1"/>
                          </a:solidFill>
                          <a:latin typeface="Arial" panose="020B0604020202020204" pitchFamily="34" charset="0"/>
                          <a:cs typeface="Arial" panose="020B0604020202020204" pitchFamily="34" charset="0"/>
                        </a:rPr>
                        <a:t>Chưa</a:t>
                      </a:r>
                      <a:r>
                        <a:rPr lang="en-US" sz="2000" b="1" baseline="0" dirty="0">
                          <a:solidFill>
                            <a:schemeClr val="tx1"/>
                          </a:solidFill>
                          <a:latin typeface="Arial" panose="020B0604020202020204" pitchFamily="34" charset="0"/>
                          <a:cs typeface="Arial" panose="020B0604020202020204" pitchFamily="34" charset="0"/>
                        </a:rPr>
                        <a:t> </a:t>
                      </a:r>
                      <a:r>
                        <a:rPr lang="en-US" sz="2000" b="1" baseline="0" dirty="0" err="1">
                          <a:solidFill>
                            <a:schemeClr val="tx1"/>
                          </a:solidFill>
                          <a:latin typeface="Arial" panose="020B0604020202020204" pitchFamily="34" charset="0"/>
                          <a:cs typeface="Arial" panose="020B0604020202020204" pitchFamily="34" charset="0"/>
                        </a:rPr>
                        <a:t>đáp</a:t>
                      </a:r>
                      <a:r>
                        <a:rPr lang="en-US" sz="2000" b="1" baseline="0" dirty="0">
                          <a:solidFill>
                            <a:schemeClr val="tx1"/>
                          </a:solidFill>
                          <a:latin typeface="Arial" panose="020B0604020202020204" pitchFamily="34" charset="0"/>
                          <a:cs typeface="Arial" panose="020B0604020202020204" pitchFamily="34" charset="0"/>
                        </a:rPr>
                        <a:t> </a:t>
                      </a:r>
                      <a:r>
                        <a:rPr lang="en-US" sz="2000" b="1" baseline="0" dirty="0" err="1">
                          <a:solidFill>
                            <a:schemeClr val="tx1"/>
                          </a:solidFill>
                          <a:latin typeface="Arial" panose="020B0604020202020204" pitchFamily="34" charset="0"/>
                          <a:cs typeface="Arial" panose="020B0604020202020204" pitchFamily="34" charset="0"/>
                        </a:rPr>
                        <a:t>ứng</a:t>
                      </a:r>
                      <a:endParaRPr lang="en-US" sz="20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33880354"/>
                  </a:ext>
                </a:extLst>
              </a:tr>
            </a:tbl>
          </a:graphicData>
        </a:graphic>
      </p:graphicFrame>
      <p:sp>
        <p:nvSpPr>
          <p:cNvPr id="118" name="Oval 117">
            <a:extLst>
              <a:ext uri="{FF2B5EF4-FFF2-40B4-BE49-F238E27FC236}">
                <a16:creationId xmlns:a16="http://schemas.microsoft.com/office/drawing/2014/main" id="{800F4713-3E76-FED2-AD6C-44D8625C0F9F}"/>
              </a:ext>
            </a:extLst>
          </p:cNvPr>
          <p:cNvSpPr/>
          <p:nvPr/>
        </p:nvSpPr>
        <p:spPr>
          <a:xfrm>
            <a:off x="14569440" y="626665"/>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119" name="Group 118">
            <a:extLst>
              <a:ext uri="{FF2B5EF4-FFF2-40B4-BE49-F238E27FC236}">
                <a16:creationId xmlns:a16="http://schemas.microsoft.com/office/drawing/2014/main" id="{A3C4BB5D-0660-5809-E4E7-D035D8232439}"/>
              </a:ext>
            </a:extLst>
          </p:cNvPr>
          <p:cNvGrpSpPr/>
          <p:nvPr/>
        </p:nvGrpSpPr>
        <p:grpSpPr>
          <a:xfrm>
            <a:off x="14569440" y="1094678"/>
            <a:ext cx="365760" cy="367059"/>
            <a:chOff x="333181" y="7831207"/>
            <a:chExt cx="365760" cy="367059"/>
          </a:xfrm>
        </p:grpSpPr>
        <p:sp>
          <p:nvSpPr>
            <p:cNvPr id="120" name="Oval 119">
              <a:extLst>
                <a:ext uri="{FF2B5EF4-FFF2-40B4-BE49-F238E27FC236}">
                  <a16:creationId xmlns:a16="http://schemas.microsoft.com/office/drawing/2014/main" id="{A6A1F484-7C01-8347-A2A4-10B9DE61F795}"/>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21" name="Pie 120">
              <a:extLst>
                <a:ext uri="{FF2B5EF4-FFF2-40B4-BE49-F238E27FC236}">
                  <a16:creationId xmlns:a16="http://schemas.microsoft.com/office/drawing/2014/main" id="{7D573313-9DDB-C5E1-2F20-84D1129AA864}"/>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
        <p:nvSpPr>
          <p:cNvPr id="122" name="Oval 121">
            <a:extLst>
              <a:ext uri="{FF2B5EF4-FFF2-40B4-BE49-F238E27FC236}">
                <a16:creationId xmlns:a16="http://schemas.microsoft.com/office/drawing/2014/main" id="{81B8DD85-B610-5B04-0DAD-732A31BE2596}"/>
              </a:ext>
            </a:extLst>
          </p:cNvPr>
          <p:cNvSpPr/>
          <p:nvPr/>
        </p:nvSpPr>
        <p:spPr>
          <a:xfrm>
            <a:off x="14569440" y="1547769"/>
            <a:ext cx="365760" cy="365760"/>
          </a:xfrm>
          <a:prstGeom prst="ellipse">
            <a:avLst/>
          </a:prstGeom>
          <a:solidFill>
            <a:srgbClr val="EF3535"/>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79" name="Group 78">
            <a:extLst>
              <a:ext uri="{FF2B5EF4-FFF2-40B4-BE49-F238E27FC236}">
                <a16:creationId xmlns:a16="http://schemas.microsoft.com/office/drawing/2014/main" id="{8E151901-1BBD-D8D6-0A92-A223DBB4BA4C}"/>
              </a:ext>
            </a:extLst>
          </p:cNvPr>
          <p:cNvGrpSpPr/>
          <p:nvPr/>
        </p:nvGrpSpPr>
        <p:grpSpPr>
          <a:xfrm>
            <a:off x="8057682" y="8911512"/>
            <a:ext cx="365760" cy="367059"/>
            <a:chOff x="333181" y="7831207"/>
            <a:chExt cx="365760" cy="367059"/>
          </a:xfrm>
        </p:grpSpPr>
        <p:sp>
          <p:nvSpPr>
            <p:cNvPr id="80" name="Oval 79">
              <a:extLst>
                <a:ext uri="{FF2B5EF4-FFF2-40B4-BE49-F238E27FC236}">
                  <a16:creationId xmlns:a16="http://schemas.microsoft.com/office/drawing/2014/main" id="{3934ED73-2AF8-28E2-445E-1DA7DB7D812A}"/>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82" name="Pie 81">
              <a:extLst>
                <a:ext uri="{FF2B5EF4-FFF2-40B4-BE49-F238E27FC236}">
                  <a16:creationId xmlns:a16="http://schemas.microsoft.com/office/drawing/2014/main" id="{B5E8DAEE-D7B4-DB95-10CB-5D21CAF17335}"/>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94" name="Group 93">
            <a:extLst>
              <a:ext uri="{FF2B5EF4-FFF2-40B4-BE49-F238E27FC236}">
                <a16:creationId xmlns:a16="http://schemas.microsoft.com/office/drawing/2014/main" id="{C5BA973A-9CB0-02E8-5EA2-D0296532951C}"/>
              </a:ext>
            </a:extLst>
          </p:cNvPr>
          <p:cNvGrpSpPr/>
          <p:nvPr/>
        </p:nvGrpSpPr>
        <p:grpSpPr>
          <a:xfrm>
            <a:off x="8040091" y="9715500"/>
            <a:ext cx="365760" cy="367059"/>
            <a:chOff x="333181" y="7831207"/>
            <a:chExt cx="365760" cy="367059"/>
          </a:xfrm>
        </p:grpSpPr>
        <p:sp>
          <p:nvSpPr>
            <p:cNvPr id="95" name="Oval 94">
              <a:extLst>
                <a:ext uri="{FF2B5EF4-FFF2-40B4-BE49-F238E27FC236}">
                  <a16:creationId xmlns:a16="http://schemas.microsoft.com/office/drawing/2014/main" id="{8D9B9A20-2A81-79CD-CAAE-4C5E48C7BDA1}"/>
                </a:ext>
              </a:extLst>
            </p:cNvPr>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16" name="Pie 115">
              <a:extLst>
                <a:ext uri="{FF2B5EF4-FFF2-40B4-BE49-F238E27FC236}">
                  <a16:creationId xmlns:a16="http://schemas.microsoft.com/office/drawing/2014/main" id="{88E0F3AF-E8A9-E1DC-F57B-6C464B0A268B}"/>
                </a:ext>
              </a:extLst>
            </p:cNvPr>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Tree>
    <p:extLst>
      <p:ext uri="{BB962C8B-B14F-4D97-AF65-F5344CB8AC3E}">
        <p14:creationId xmlns:p14="http://schemas.microsoft.com/office/powerpoint/2010/main" val="37187352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365760" y="1485900"/>
            <a:ext cx="2743200" cy="548640"/>
          </a:xfrm>
          <a:prstGeom prst="roundRect">
            <a:avLst>
              <a:gd name="adj" fmla="val 13333"/>
            </a:avLst>
          </a:prstGeom>
          <a:noFill/>
          <a:ln w="12700">
            <a:noFill/>
            <a:prstDash val="solid"/>
          </a:ln>
        </p:spPr>
        <p:txBody>
          <a:bodyPr/>
          <a:lstStyle/>
          <a:p>
            <a:endParaRPr lang="en-US"/>
          </a:p>
        </p:txBody>
      </p:sp>
      <p:sp>
        <p:nvSpPr>
          <p:cNvPr id="5" name="Text 3"/>
          <p:cNvSpPr/>
          <p:nvPr/>
        </p:nvSpPr>
        <p:spPr>
          <a:xfrm>
            <a:off x="365760" y="1485900"/>
            <a:ext cx="2743200" cy="548640"/>
          </a:xfrm>
          <a:prstGeom prst="rect">
            <a:avLst/>
          </a:prstGeom>
          <a:noFill/>
          <a:ln>
            <a:noFill/>
          </a:ln>
        </p:spPr>
        <p:txBody>
          <a:bodyPr wrap="square" lIns="0" tIns="0" rIns="0" bIns="0" rtlCol="0" anchor="ctr"/>
          <a:lstStyle/>
          <a:p>
            <a:pPr algn="ctr"/>
            <a:r>
              <a:rPr lang="en-US" b="1" dirty="0">
                <a:solidFill>
                  <a:schemeClr val="tx2"/>
                </a:solidFill>
                <a:latin typeface="Arial" pitchFamily="34" charset="0"/>
                <a:ea typeface="Arial" pitchFamily="34" charset="-122"/>
                <a:cs typeface="Arial" pitchFamily="34" charset="-120"/>
              </a:rPr>
              <a:t>TRỤ CỘT COSO</a:t>
            </a:r>
            <a:endParaRPr lang="en-US" dirty="0">
              <a:solidFill>
                <a:schemeClr val="tx2"/>
              </a:solidFill>
              <a:latin typeface="Arial" panose="020B0604020202020204" pitchFamily="34" charset="0"/>
            </a:endParaRPr>
          </a:p>
        </p:txBody>
      </p:sp>
      <p:sp>
        <p:nvSpPr>
          <p:cNvPr id="6" name="Shape 4"/>
          <p:cNvSpPr/>
          <p:nvPr/>
        </p:nvSpPr>
        <p:spPr>
          <a:xfrm>
            <a:off x="3218688" y="1485900"/>
            <a:ext cx="6400800" cy="548640"/>
          </a:xfrm>
          <a:prstGeom prst="roundRect">
            <a:avLst>
              <a:gd name="adj" fmla="val 13333"/>
            </a:avLst>
          </a:prstGeom>
          <a:solidFill>
            <a:srgbClr val="DCFCE7"/>
          </a:solidFill>
          <a:ln w="6350">
            <a:solidFill>
              <a:srgbClr val="15803D"/>
            </a:solidFill>
            <a:prstDash val="solid"/>
          </a:ln>
        </p:spPr>
        <p:txBody>
          <a:bodyPr/>
          <a:lstStyle/>
          <a:p>
            <a:endParaRPr lang="en-US"/>
          </a:p>
        </p:txBody>
      </p:sp>
      <p:sp>
        <p:nvSpPr>
          <p:cNvPr id="7" name="Text 5"/>
          <p:cNvSpPr/>
          <p:nvPr/>
        </p:nvSpPr>
        <p:spPr>
          <a:xfrm>
            <a:off x="3218688" y="1485900"/>
            <a:ext cx="6400800" cy="548640"/>
          </a:xfrm>
          <a:prstGeom prst="rect">
            <a:avLst/>
          </a:prstGeom>
          <a:noFill/>
          <a:ln/>
        </p:spPr>
        <p:txBody>
          <a:bodyPr wrap="square" lIns="0" tIns="0" rIns="0" bIns="0" rtlCol="0" anchor="ctr"/>
          <a:lstStyle/>
          <a:p>
            <a:pPr algn="ctr"/>
            <a:r>
              <a:rPr lang="en-US" sz="1500" b="1" dirty="0">
                <a:solidFill>
                  <a:srgbClr val="15803D"/>
                </a:solidFill>
                <a:latin typeface="Arial" pitchFamily="34" charset="0"/>
                <a:ea typeface="Arial" pitchFamily="34" charset="-122"/>
                <a:cs typeface="Arial" pitchFamily="34" charset="-120"/>
              </a:rPr>
              <a:t>✓  NỀN TẢNG ĐÃ CÓ</a:t>
            </a:r>
            <a:endParaRPr lang="en-US" sz="1500" dirty="0">
              <a:latin typeface="Arial" panose="020B0604020202020204" pitchFamily="34" charset="0"/>
            </a:endParaRPr>
          </a:p>
        </p:txBody>
      </p:sp>
      <p:sp>
        <p:nvSpPr>
          <p:cNvPr id="8" name="Shape 6"/>
          <p:cNvSpPr/>
          <p:nvPr/>
        </p:nvSpPr>
        <p:spPr>
          <a:xfrm>
            <a:off x="9729216" y="1485900"/>
            <a:ext cx="8449056" cy="548640"/>
          </a:xfrm>
          <a:prstGeom prst="roundRect">
            <a:avLst>
              <a:gd name="adj" fmla="val 13333"/>
            </a:avLst>
          </a:prstGeom>
          <a:solidFill>
            <a:srgbClr val="FEE2E2"/>
          </a:solidFill>
          <a:ln w="6350">
            <a:solidFill>
              <a:srgbClr val="991B1B"/>
            </a:solidFill>
            <a:prstDash val="solid"/>
          </a:ln>
        </p:spPr>
        <p:txBody>
          <a:bodyPr/>
          <a:lstStyle/>
          <a:p>
            <a:endParaRPr lang="en-US"/>
          </a:p>
        </p:txBody>
      </p:sp>
      <p:sp>
        <p:nvSpPr>
          <p:cNvPr id="9" name="Text 7"/>
          <p:cNvSpPr/>
          <p:nvPr/>
        </p:nvSpPr>
        <p:spPr>
          <a:xfrm>
            <a:off x="9729216" y="1485900"/>
            <a:ext cx="8558784" cy="548640"/>
          </a:xfrm>
          <a:prstGeom prst="rect">
            <a:avLst/>
          </a:prstGeom>
          <a:noFill/>
          <a:ln/>
        </p:spPr>
        <p:txBody>
          <a:bodyPr wrap="square" lIns="0" tIns="0" rIns="0" bIns="0" rtlCol="0" anchor="ctr"/>
          <a:lstStyle/>
          <a:p>
            <a:pPr algn="ctr"/>
            <a:r>
              <a:rPr lang="en-US" sz="1500" b="1" dirty="0">
                <a:solidFill>
                  <a:srgbClr val="991B1B"/>
                </a:solidFill>
                <a:latin typeface="Arial" pitchFamily="34" charset="0"/>
                <a:ea typeface="Arial" pitchFamily="34" charset="-122"/>
                <a:cs typeface="Arial" pitchFamily="34" charset="-120"/>
              </a:rPr>
              <a:t>✕  VẤN ĐỀ CỐT LÕI CẦN GIẢI QUYẾT</a:t>
            </a:r>
            <a:endParaRPr lang="en-US" sz="1500" dirty="0">
              <a:latin typeface="Arial" panose="020B0604020202020204" pitchFamily="34" charset="0"/>
            </a:endParaRPr>
          </a:p>
        </p:txBody>
      </p:sp>
      <p:sp>
        <p:nvSpPr>
          <p:cNvPr id="10" name="Shape 8"/>
          <p:cNvSpPr/>
          <p:nvPr/>
        </p:nvSpPr>
        <p:spPr>
          <a:xfrm>
            <a:off x="3108960" y="2107692"/>
            <a:ext cx="15179040" cy="1426464"/>
          </a:xfrm>
          <a:prstGeom prst="rect">
            <a:avLst/>
          </a:prstGeom>
          <a:solidFill>
            <a:srgbClr val="F9FAFB"/>
          </a:solidFill>
          <a:ln w="12700">
            <a:solidFill>
              <a:srgbClr val="F9FAFB"/>
            </a:solidFill>
            <a:prstDash val="solid"/>
          </a:ln>
        </p:spPr>
        <p:txBody>
          <a:bodyPr/>
          <a:lstStyle/>
          <a:p>
            <a:endParaRPr lang="en-US"/>
          </a:p>
        </p:txBody>
      </p:sp>
      <p:sp>
        <p:nvSpPr>
          <p:cNvPr id="11" name="Shape 9"/>
          <p:cNvSpPr/>
          <p:nvPr/>
        </p:nvSpPr>
        <p:spPr>
          <a:xfrm>
            <a:off x="152400" y="2075688"/>
            <a:ext cx="2956560" cy="1371600"/>
          </a:xfrm>
          <a:prstGeom prst="roundRect">
            <a:avLst>
              <a:gd name="adj" fmla="val 8571"/>
            </a:avLst>
          </a:prstGeom>
          <a:solidFill>
            <a:srgbClr val="D68F37"/>
          </a:solidFill>
          <a:ln w="12700">
            <a:noFill/>
            <a:prstDash val="solid"/>
          </a:ln>
        </p:spPr>
        <p:txBody>
          <a:bodyPr/>
          <a:lstStyle/>
          <a:p>
            <a:endParaRPr lang="en-US"/>
          </a:p>
        </p:txBody>
      </p:sp>
      <p:sp>
        <p:nvSpPr>
          <p:cNvPr id="12" name="Text 10"/>
          <p:cNvSpPr/>
          <p:nvPr/>
        </p:nvSpPr>
        <p:spPr>
          <a:xfrm>
            <a:off x="361986" y="2075688"/>
            <a:ext cx="2523744" cy="428244"/>
          </a:xfrm>
          <a:prstGeom prst="rect">
            <a:avLst/>
          </a:prstGeom>
          <a:noFill/>
          <a:ln/>
        </p:spPr>
        <p:txBody>
          <a:bodyPr wrap="square" lIns="0" tIns="0" rIns="0" bIns="0" rtlCol="0" anchor="ctr"/>
          <a:lstStyle/>
          <a:p>
            <a:pPr algn="ctr"/>
            <a:r>
              <a:rPr lang="en-US" b="1" dirty="0" err="1">
                <a:solidFill>
                  <a:srgbClr val="FFFFFF"/>
                </a:solidFill>
                <a:latin typeface="Arial" pitchFamily="34" charset="0"/>
                <a:ea typeface="Arial" pitchFamily="34" charset="-122"/>
                <a:cs typeface="Arial" pitchFamily="34" charset="-120"/>
              </a:rPr>
              <a:t>Quản</a:t>
            </a:r>
            <a:r>
              <a:rPr lang="en-US" b="1" dirty="0">
                <a:solidFill>
                  <a:srgbClr val="FFFFFF"/>
                </a:solidFill>
                <a:latin typeface="Arial" pitchFamily="34" charset="0"/>
                <a:ea typeface="Arial" pitchFamily="34" charset="-122"/>
                <a:cs typeface="Arial" pitchFamily="34" charset="-120"/>
              </a:rPr>
              <a:t> </a:t>
            </a:r>
            <a:r>
              <a:rPr lang="en-US" b="1" dirty="0" err="1">
                <a:solidFill>
                  <a:srgbClr val="FFFFFF"/>
                </a:solidFill>
                <a:latin typeface="Arial" pitchFamily="34" charset="0"/>
                <a:ea typeface="Arial" pitchFamily="34" charset="-122"/>
                <a:cs typeface="Arial" pitchFamily="34" charset="-120"/>
              </a:rPr>
              <a:t>trị</a:t>
            </a:r>
            <a:r>
              <a:rPr lang="en-US" dirty="0">
                <a:latin typeface="Arial" panose="020B0604020202020204" pitchFamily="34" charset="0"/>
              </a:rPr>
              <a:t> </a:t>
            </a:r>
            <a:r>
              <a:rPr lang="en-US" b="1" dirty="0">
                <a:solidFill>
                  <a:srgbClr val="FFFFFF"/>
                </a:solidFill>
                <a:latin typeface="Arial" pitchFamily="34" charset="0"/>
                <a:ea typeface="Arial" pitchFamily="34" charset="-122"/>
                <a:cs typeface="Arial" pitchFamily="34" charset="-120"/>
              </a:rPr>
              <a:t>&amp; Văn hóa</a:t>
            </a:r>
            <a:endParaRPr lang="en-US" dirty="0">
              <a:latin typeface="Arial" panose="020B0604020202020204" pitchFamily="34" charset="0"/>
            </a:endParaRPr>
          </a:p>
        </p:txBody>
      </p:sp>
      <p:sp>
        <p:nvSpPr>
          <p:cNvPr id="13" name="Text 11"/>
          <p:cNvSpPr/>
          <p:nvPr/>
        </p:nvSpPr>
        <p:spPr>
          <a:xfrm>
            <a:off x="201168" y="2656332"/>
            <a:ext cx="2846832" cy="448056"/>
          </a:xfrm>
          <a:prstGeom prst="rect">
            <a:avLst/>
          </a:prstGeom>
          <a:noFill/>
          <a:ln/>
        </p:spPr>
        <p:txBody>
          <a:bodyPr wrap="square" lIns="0" tIns="0" rIns="0" bIns="0" rtlCol="0" anchor="ctr"/>
          <a:lstStyle/>
          <a:p>
            <a:pPr algn="ctr"/>
            <a:r>
              <a:rPr lang="en-US" sz="1400" i="1" dirty="0" err="1">
                <a:solidFill>
                  <a:schemeClr val="bg1"/>
                </a:solidFill>
                <a:latin typeface="Arial" pitchFamily="34" charset="0"/>
                <a:ea typeface="Arial" pitchFamily="34" charset="-122"/>
                <a:cs typeface="Arial" pitchFamily="34" charset="-120"/>
              </a:rPr>
              <a:t>Thiết</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lập</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bộ</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máy</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quản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trị</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văn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hóa</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rủi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ro</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và</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đội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ngũ</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nhân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sự</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làm</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nền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tảng</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cho</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toàn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bộ</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khung</a:t>
            </a:r>
            <a:r>
              <a:rPr lang="en-US" sz="1400" i="1" dirty="0">
                <a:solidFill>
                  <a:schemeClr val="bg1"/>
                </a:solidFill>
                <a:latin typeface="Arial" pitchFamily="34" charset="0"/>
                <a:ea typeface="Arial" pitchFamily="34" charset="-122"/>
                <a:cs typeface="Arial" pitchFamily="34" charset="-120"/>
              </a:rPr>
              <a:t> ERM</a:t>
            </a:r>
            <a:endParaRPr lang="en-US" sz="1400" dirty="0">
              <a:solidFill>
                <a:schemeClr val="bg1"/>
              </a:solidFill>
              <a:latin typeface="Arial" panose="020B0604020202020204" pitchFamily="34" charset="0"/>
            </a:endParaRPr>
          </a:p>
        </p:txBody>
      </p:sp>
      <p:sp>
        <p:nvSpPr>
          <p:cNvPr id="14" name="Text 12"/>
          <p:cNvSpPr/>
          <p:nvPr/>
        </p:nvSpPr>
        <p:spPr>
          <a:xfrm>
            <a:off x="3328416" y="2180844"/>
            <a:ext cx="6181344" cy="1280160"/>
          </a:xfrm>
          <a:prstGeom prst="rect">
            <a:avLst/>
          </a:prstGeom>
          <a:noFill/>
          <a:ln/>
        </p:spPr>
        <p:txBody>
          <a:bodyPr wrap="square" lIns="0" tIns="0" rIns="0" bIns="0" rtlCol="0" anchor="ctr"/>
          <a:lstStyle/>
          <a:p>
            <a:pPr>
              <a:lnSpc>
                <a:spcPct val="110000"/>
              </a:lnSpc>
            </a:pPr>
            <a:r>
              <a:rPr lang="en-US" sz="1700" dirty="0">
                <a:solidFill>
                  <a:srgbClr val="166534"/>
                </a:solidFill>
                <a:latin typeface="Arial" pitchFamily="34" charset="0"/>
                <a:ea typeface="Arial" pitchFamily="34" charset="-122"/>
                <a:cs typeface="Arial" pitchFamily="34" charset="-120"/>
              </a:rPr>
              <a:t>• Cơ cấu 3 tuyến theo IIA đã thiết lập; vai trò lãnh đạo trong QTRR được quy định rõ</a:t>
            </a:r>
            <a:endParaRPr lang="en-US" sz="1700" dirty="0">
              <a:latin typeface="Arial" panose="020B0604020202020204" pitchFamily="34" charset="0"/>
            </a:endParaRPr>
          </a:p>
          <a:p>
            <a:pPr>
              <a:lnSpc>
                <a:spcPct val="110000"/>
              </a:lnSpc>
            </a:pPr>
            <a:r>
              <a:rPr lang="en-US" sz="1700" dirty="0">
                <a:solidFill>
                  <a:srgbClr val="166534"/>
                </a:solidFill>
                <a:latin typeface="Arial" pitchFamily="34" charset="0"/>
                <a:ea typeface="Arial" pitchFamily="34" charset="-122"/>
                <a:cs typeface="Arial" pitchFamily="34" charset="-120"/>
              </a:rPr>
              <a:t>• Có luồng báo cáo rủi ro trực tiếp lên BGĐ; có </a:t>
            </a:r>
            <a:r>
              <a:rPr lang="en-US" sz="1700" dirty="0" err="1">
                <a:solidFill>
                  <a:srgbClr val="166534"/>
                </a:solidFill>
                <a:latin typeface="Arial" pitchFamily="34" charset="0"/>
                <a:ea typeface="Arial" pitchFamily="34" charset="-122"/>
                <a:cs typeface="Arial" pitchFamily="34" charset="-120"/>
              </a:rPr>
              <a:t>cơ</a:t>
            </a:r>
            <a:r>
              <a:rPr lang="en-US" sz="1700" dirty="0">
                <a:solidFill>
                  <a:srgbClr val="166534"/>
                </a:solidFill>
                <a:latin typeface="Arial" pitchFamily="34" charset="0"/>
                <a:ea typeface="Arial" pitchFamily="34" charset="-122"/>
                <a:cs typeface="Arial" pitchFamily="34" charset="-120"/>
              </a:rPr>
              <a:t> chế xử lý vi phạm QTRR</a:t>
            </a:r>
            <a:endParaRPr lang="en-US" sz="1700" dirty="0">
              <a:latin typeface="Arial" panose="020B0604020202020204" pitchFamily="34" charset="0"/>
            </a:endParaRPr>
          </a:p>
        </p:txBody>
      </p:sp>
      <p:sp>
        <p:nvSpPr>
          <p:cNvPr id="15" name="Text 13"/>
          <p:cNvSpPr/>
          <p:nvPr/>
        </p:nvSpPr>
        <p:spPr>
          <a:xfrm>
            <a:off x="9838944" y="2180844"/>
            <a:ext cx="8339328" cy="1280160"/>
          </a:xfrm>
          <a:prstGeom prst="rect">
            <a:avLst/>
          </a:prstGeom>
          <a:noFill/>
          <a:ln/>
        </p:spPr>
        <p:txBody>
          <a:bodyPr wrap="square" lIns="0" tIns="0" rIns="0" bIns="0" rtlCol="0" anchor="ctr"/>
          <a:lstStyle/>
          <a:p>
            <a:pPr>
              <a:lnSpc>
                <a:spcPct val="110000"/>
              </a:lnSpc>
            </a:pPr>
            <a:r>
              <a:rPr lang="en-US" sz="1700" dirty="0">
                <a:solidFill>
                  <a:srgbClr val="991B1B"/>
                </a:solidFill>
                <a:latin typeface="Arial" pitchFamily="34" charset="0"/>
                <a:ea typeface="Arial" pitchFamily="34" charset="-122"/>
                <a:cs typeface="Arial" pitchFamily="34" charset="-120"/>
              </a:rPr>
              <a:t>• Nhận thức QTRR chưa đồng đều giữa các </a:t>
            </a:r>
            <a:r>
              <a:rPr lang="en-US" sz="1700" dirty="0" err="1">
                <a:solidFill>
                  <a:srgbClr val="991B1B"/>
                </a:solidFill>
                <a:latin typeface="Arial" pitchFamily="34" charset="0"/>
                <a:ea typeface="Arial" pitchFamily="34" charset="-122"/>
                <a:cs typeface="Arial" pitchFamily="34" charset="-120"/>
              </a:rPr>
              <a:t>phòng</a:t>
            </a:r>
            <a:r>
              <a:rPr lang="en-US" sz="1700" dirty="0">
                <a:solidFill>
                  <a:srgbClr val="991B1B"/>
                </a:solidFill>
                <a:latin typeface="Arial" pitchFamily="34" charset="0"/>
                <a:ea typeface="Arial" pitchFamily="34" charset="-122"/>
                <a:cs typeface="Arial" pitchFamily="34" charset="-120"/>
              </a:rPr>
              <a:t> ban — văn hóa rủi ro mới dừng ở văn bản, chưa thấm vào vận hành</a:t>
            </a:r>
            <a:endParaRPr lang="en-US" sz="1700" dirty="0">
              <a:latin typeface="Arial" panose="020B0604020202020204" pitchFamily="34" charset="0"/>
            </a:endParaRPr>
          </a:p>
          <a:p>
            <a:pPr>
              <a:lnSpc>
                <a:spcPct val="110000"/>
              </a:lnSpc>
            </a:pPr>
            <a:r>
              <a:rPr lang="en-US" sz="1700" dirty="0">
                <a:solidFill>
                  <a:srgbClr val="991B1B"/>
                </a:solidFill>
                <a:latin typeface="Arial" pitchFamily="34" charset="0"/>
                <a:ea typeface="Arial" pitchFamily="34" charset="-122"/>
                <a:cs typeface="Arial" pitchFamily="34" charset="-120"/>
              </a:rPr>
              <a:t>• Chưa có hệ thống </a:t>
            </a:r>
            <a:r>
              <a:rPr lang="en-US" sz="1700" dirty="0" err="1">
                <a:solidFill>
                  <a:srgbClr val="991B1B"/>
                </a:solidFill>
                <a:latin typeface="Arial" pitchFamily="34" charset="0"/>
                <a:ea typeface="Arial" pitchFamily="34" charset="-122"/>
                <a:cs typeface="Arial" pitchFamily="34" charset="-120"/>
              </a:rPr>
              <a:t>kế</a:t>
            </a:r>
            <a:r>
              <a:rPr lang="en-US" sz="1700" dirty="0">
                <a:solidFill>
                  <a:srgbClr val="991B1B"/>
                </a:solidFill>
                <a:latin typeface="Arial" pitchFamily="34" charset="0"/>
                <a:ea typeface="Arial" pitchFamily="34" charset="-122"/>
                <a:cs typeface="Arial" pitchFamily="34" charset="-120"/>
              </a:rPr>
              <a:t> thừa tri thức QTRR — rủi ro mất kiến thức khi nhân sự nòng cốt biến động</a:t>
            </a:r>
            <a:endParaRPr lang="en-US" sz="1700" dirty="0">
              <a:latin typeface="Arial" panose="020B0604020202020204" pitchFamily="34" charset="0"/>
            </a:endParaRPr>
          </a:p>
        </p:txBody>
      </p:sp>
      <p:sp>
        <p:nvSpPr>
          <p:cNvPr id="16" name="Shape 14"/>
          <p:cNvSpPr/>
          <p:nvPr/>
        </p:nvSpPr>
        <p:spPr>
          <a:xfrm>
            <a:off x="9674352" y="2253996"/>
            <a:ext cx="0" cy="1133856"/>
          </a:xfrm>
          <a:prstGeom prst="line">
            <a:avLst/>
          </a:prstGeom>
          <a:noFill/>
          <a:ln w="3810">
            <a:solidFill>
              <a:srgbClr val="E5E7EB"/>
            </a:solidFill>
            <a:prstDash val="solid"/>
          </a:ln>
        </p:spPr>
        <p:txBody>
          <a:bodyPr/>
          <a:lstStyle/>
          <a:p>
            <a:endParaRPr lang="en-US"/>
          </a:p>
        </p:txBody>
      </p:sp>
      <p:sp>
        <p:nvSpPr>
          <p:cNvPr id="17" name="Shape 15"/>
          <p:cNvSpPr/>
          <p:nvPr/>
        </p:nvSpPr>
        <p:spPr>
          <a:xfrm>
            <a:off x="3108960" y="3589020"/>
            <a:ext cx="15179040" cy="1426464"/>
          </a:xfrm>
          <a:prstGeom prst="rect">
            <a:avLst/>
          </a:prstGeom>
          <a:solidFill>
            <a:srgbClr val="FFFFFF"/>
          </a:solidFill>
          <a:ln w="12700">
            <a:solidFill>
              <a:srgbClr val="FFFFFF"/>
            </a:solidFill>
            <a:prstDash val="solid"/>
          </a:ln>
        </p:spPr>
        <p:txBody>
          <a:bodyPr/>
          <a:lstStyle/>
          <a:p>
            <a:endParaRPr lang="en-US"/>
          </a:p>
        </p:txBody>
      </p:sp>
      <p:sp>
        <p:nvSpPr>
          <p:cNvPr id="18" name="Shape 16"/>
          <p:cNvSpPr/>
          <p:nvPr/>
        </p:nvSpPr>
        <p:spPr>
          <a:xfrm>
            <a:off x="152400" y="3557016"/>
            <a:ext cx="2956560" cy="1423416"/>
          </a:xfrm>
          <a:prstGeom prst="roundRect">
            <a:avLst>
              <a:gd name="adj" fmla="val 8571"/>
            </a:avLst>
          </a:prstGeom>
          <a:solidFill>
            <a:srgbClr val="2DB7DD"/>
          </a:solidFill>
          <a:ln w="12700">
            <a:noFill/>
            <a:prstDash val="solid"/>
          </a:ln>
        </p:spPr>
        <p:txBody>
          <a:bodyPr/>
          <a:lstStyle/>
          <a:p>
            <a:endParaRPr lang="en-US"/>
          </a:p>
        </p:txBody>
      </p:sp>
      <p:sp>
        <p:nvSpPr>
          <p:cNvPr id="19" name="Text 17"/>
          <p:cNvSpPr/>
          <p:nvPr/>
        </p:nvSpPr>
        <p:spPr>
          <a:xfrm>
            <a:off x="361986" y="3557016"/>
            <a:ext cx="2523744" cy="603504"/>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Chiến </a:t>
            </a:r>
            <a:r>
              <a:rPr lang="en-US" b="1" dirty="0" err="1">
                <a:solidFill>
                  <a:srgbClr val="FFFFFF"/>
                </a:solidFill>
                <a:latin typeface="Arial" pitchFamily="34" charset="0"/>
                <a:ea typeface="Arial" pitchFamily="34" charset="-122"/>
                <a:cs typeface="Arial" pitchFamily="34" charset="-120"/>
              </a:rPr>
              <a:t>lược</a:t>
            </a:r>
            <a:r>
              <a:rPr lang="en-US" b="1" dirty="0">
                <a:solidFill>
                  <a:srgbClr val="FFFFFF"/>
                </a:solidFill>
                <a:latin typeface="Arial" pitchFamily="34" charset="0"/>
                <a:ea typeface="Arial" pitchFamily="34" charset="-122"/>
                <a:cs typeface="Arial" pitchFamily="34" charset="-120"/>
              </a:rPr>
              <a:t> &amp;</a:t>
            </a:r>
            <a:r>
              <a:rPr lang="en-US" dirty="0">
                <a:latin typeface="Arial" panose="020B0604020202020204" pitchFamily="34" charset="0"/>
              </a:rPr>
              <a:t> </a:t>
            </a:r>
            <a:r>
              <a:rPr lang="en-US" b="1" dirty="0" err="1">
                <a:solidFill>
                  <a:srgbClr val="FFFFFF"/>
                </a:solidFill>
                <a:latin typeface="Arial" pitchFamily="34" charset="0"/>
                <a:ea typeface="Arial" pitchFamily="34" charset="-122"/>
                <a:cs typeface="Arial" pitchFamily="34" charset="-120"/>
              </a:rPr>
              <a:t>Thiết</a:t>
            </a:r>
            <a:r>
              <a:rPr lang="en-US" b="1" dirty="0">
                <a:solidFill>
                  <a:srgbClr val="FFFFFF"/>
                </a:solidFill>
                <a:latin typeface="Arial" pitchFamily="34" charset="0"/>
                <a:ea typeface="Arial" pitchFamily="34" charset="-122"/>
                <a:cs typeface="Arial" pitchFamily="34" charset="-120"/>
              </a:rPr>
              <a:t> </a:t>
            </a:r>
            <a:r>
              <a:rPr lang="en-US" b="1" dirty="0" err="1">
                <a:solidFill>
                  <a:srgbClr val="FFFFFF"/>
                </a:solidFill>
                <a:latin typeface="Arial" pitchFamily="34" charset="0"/>
                <a:ea typeface="Arial" pitchFamily="34" charset="-122"/>
                <a:cs typeface="Arial" pitchFamily="34" charset="-120"/>
              </a:rPr>
              <a:t>lập</a:t>
            </a:r>
            <a:r>
              <a:rPr lang="en-US" b="1" dirty="0">
                <a:solidFill>
                  <a:srgbClr val="FFFFFF"/>
                </a:solidFill>
                <a:latin typeface="Arial" pitchFamily="34" charset="0"/>
                <a:ea typeface="Arial" pitchFamily="34" charset="-122"/>
                <a:cs typeface="Arial" pitchFamily="34" charset="-120"/>
              </a:rPr>
              <a:t> </a:t>
            </a:r>
            <a:r>
              <a:rPr lang="en-US" b="1" dirty="0" err="1">
                <a:solidFill>
                  <a:srgbClr val="FFFFFF"/>
                </a:solidFill>
                <a:latin typeface="Arial" pitchFamily="34" charset="0"/>
                <a:ea typeface="Arial" pitchFamily="34" charset="-122"/>
                <a:cs typeface="Arial" pitchFamily="34" charset="-120"/>
              </a:rPr>
              <a:t>mục</a:t>
            </a:r>
            <a:r>
              <a:rPr lang="en-US" b="1" dirty="0">
                <a:solidFill>
                  <a:srgbClr val="FFFFFF"/>
                </a:solidFill>
                <a:latin typeface="Arial" pitchFamily="34" charset="0"/>
                <a:ea typeface="Arial" pitchFamily="34" charset="-122"/>
                <a:cs typeface="Arial" pitchFamily="34" charset="-120"/>
              </a:rPr>
              <a:t> </a:t>
            </a:r>
            <a:r>
              <a:rPr lang="en-US" b="1" dirty="0" err="1">
                <a:solidFill>
                  <a:srgbClr val="FFFFFF"/>
                </a:solidFill>
                <a:latin typeface="Arial" pitchFamily="34" charset="0"/>
                <a:ea typeface="Arial" pitchFamily="34" charset="-122"/>
                <a:cs typeface="Arial" pitchFamily="34" charset="-120"/>
              </a:rPr>
              <a:t>tiêu</a:t>
            </a:r>
            <a:endParaRPr lang="en-US" dirty="0">
              <a:latin typeface="Arial" panose="020B0604020202020204" pitchFamily="34" charset="0"/>
            </a:endParaRPr>
          </a:p>
        </p:txBody>
      </p:sp>
      <p:sp>
        <p:nvSpPr>
          <p:cNvPr id="20" name="Text 18"/>
          <p:cNvSpPr/>
          <p:nvPr/>
        </p:nvSpPr>
        <p:spPr>
          <a:xfrm>
            <a:off x="201168" y="4341876"/>
            <a:ext cx="2846832" cy="448056"/>
          </a:xfrm>
          <a:prstGeom prst="rect">
            <a:avLst/>
          </a:prstGeom>
          <a:noFill/>
          <a:ln/>
        </p:spPr>
        <p:txBody>
          <a:bodyPr wrap="square" lIns="0" tIns="0" rIns="0" bIns="0" rtlCol="0" anchor="ctr"/>
          <a:lstStyle/>
          <a:p>
            <a:pPr algn="ctr"/>
            <a:r>
              <a:rPr lang="vi-VN" sz="1400" i="1">
                <a:solidFill>
                  <a:schemeClr val="bg1"/>
                </a:solidFill>
                <a:ea typeface="Arial" pitchFamily="34" charset="-122"/>
                <a:cs typeface="Arial" pitchFamily="34" charset="-120"/>
              </a:rPr>
              <a:t>Gắn rủi ro vào quá trình hoạch định chiến lược, xác định </a:t>
            </a:r>
            <a:r>
              <a:rPr lang="en-US" sz="1400" i="1">
                <a:solidFill>
                  <a:schemeClr val="bg1"/>
                </a:solidFill>
                <a:latin typeface="Arial" panose="020B0604020202020204" pitchFamily="34" charset="0"/>
                <a:ea typeface="Arial" pitchFamily="34" charset="-122"/>
                <a:cs typeface="Arial" panose="020B0604020202020204" pitchFamily="34" charset="0"/>
              </a:rPr>
              <a:t>KVRR</a:t>
            </a:r>
            <a:r>
              <a:rPr lang="vi-VN" sz="1400" i="1">
                <a:solidFill>
                  <a:schemeClr val="bg1"/>
                </a:solidFill>
                <a:latin typeface="Arial" panose="020B0604020202020204" pitchFamily="34" charset="0"/>
                <a:ea typeface="Arial" pitchFamily="34" charset="-122"/>
                <a:cs typeface="Arial" panose="020B0604020202020204" pitchFamily="34" charset="0"/>
              </a:rPr>
              <a:t> và thiết lập mục tiêu kinh doanh</a:t>
            </a:r>
            <a:r>
              <a:rPr lang="en-US" sz="1400" i="1">
                <a:solidFill>
                  <a:schemeClr val="bg1"/>
                </a:solidFill>
                <a:latin typeface="Arial" panose="020B0604020202020204" pitchFamily="34" charset="0"/>
                <a:ea typeface="Arial" pitchFamily="34" charset="-122"/>
                <a:cs typeface="Arial" panose="020B0604020202020204" pitchFamily="34" charset="0"/>
              </a:rPr>
              <a:t> dựa trên KVRR</a:t>
            </a:r>
            <a:endParaRPr lang="en-US" sz="1400" dirty="0">
              <a:solidFill>
                <a:schemeClr val="bg1"/>
              </a:solidFill>
              <a:latin typeface="Arial" panose="020B0604020202020204" pitchFamily="34" charset="0"/>
              <a:cs typeface="Arial" panose="020B0604020202020204" pitchFamily="34" charset="0"/>
            </a:endParaRPr>
          </a:p>
        </p:txBody>
      </p:sp>
      <p:sp>
        <p:nvSpPr>
          <p:cNvPr id="21" name="Text 19"/>
          <p:cNvSpPr/>
          <p:nvPr/>
        </p:nvSpPr>
        <p:spPr>
          <a:xfrm>
            <a:off x="3328416" y="3662172"/>
            <a:ext cx="6181344" cy="1280160"/>
          </a:xfrm>
          <a:prstGeom prst="rect">
            <a:avLst/>
          </a:prstGeom>
          <a:noFill/>
          <a:ln/>
        </p:spPr>
        <p:txBody>
          <a:bodyPr wrap="square" lIns="0" tIns="0" rIns="0" bIns="0" rtlCol="0" anchor="ctr"/>
          <a:lstStyle/>
          <a:p>
            <a:pPr>
              <a:lnSpc>
                <a:spcPct val="110000"/>
              </a:lnSpc>
            </a:pPr>
            <a:r>
              <a:rPr lang="en-US" sz="1700" dirty="0">
                <a:solidFill>
                  <a:srgbClr val="166534"/>
                </a:solidFill>
                <a:latin typeface="Arial" pitchFamily="34" charset="0"/>
                <a:ea typeface="Arial" pitchFamily="34" charset="-122"/>
                <a:cs typeface="Arial" pitchFamily="34" charset="-120"/>
              </a:rPr>
              <a:t>• Phân tích bối cảnh kinh doanh và </a:t>
            </a:r>
            <a:r>
              <a:rPr lang="en-US" sz="1700" dirty="0" err="1">
                <a:solidFill>
                  <a:srgbClr val="166534"/>
                </a:solidFill>
                <a:latin typeface="Arial" pitchFamily="34" charset="0"/>
                <a:ea typeface="Arial" pitchFamily="34" charset="-122"/>
                <a:cs typeface="Arial" pitchFamily="34" charset="-120"/>
              </a:rPr>
              <a:t>đánh</a:t>
            </a:r>
            <a:r>
              <a:rPr lang="en-US" sz="1700" dirty="0">
                <a:solidFill>
                  <a:srgbClr val="166534"/>
                </a:solidFill>
                <a:latin typeface="Arial" pitchFamily="34" charset="0"/>
                <a:ea typeface="Arial" pitchFamily="34" charset="-122"/>
                <a:cs typeface="Arial" pitchFamily="34" charset="-120"/>
              </a:rPr>
              <a:t> giá rủi ro chiến lược đã được thực hiện bài bản</a:t>
            </a:r>
            <a:endParaRPr lang="en-US" sz="1700" dirty="0">
              <a:latin typeface="Arial" panose="020B0604020202020204" pitchFamily="34" charset="0"/>
            </a:endParaRPr>
          </a:p>
          <a:p>
            <a:pPr>
              <a:lnSpc>
                <a:spcPct val="110000"/>
              </a:lnSpc>
            </a:pPr>
            <a:r>
              <a:rPr lang="en-US" sz="1700" dirty="0">
                <a:solidFill>
                  <a:srgbClr val="166534"/>
                </a:solidFill>
                <a:latin typeface="Arial" pitchFamily="34" charset="0"/>
                <a:ea typeface="Arial" pitchFamily="34" charset="-122"/>
                <a:cs typeface="Arial" pitchFamily="34" charset="-120"/>
              </a:rPr>
              <a:t>• Các phương án chiến lược đã được </a:t>
            </a:r>
            <a:r>
              <a:rPr lang="en-US" sz="1700" dirty="0" err="1">
                <a:solidFill>
                  <a:srgbClr val="166534"/>
                </a:solidFill>
                <a:latin typeface="Arial" pitchFamily="34" charset="0"/>
                <a:ea typeface="Arial" pitchFamily="34" charset="-122"/>
                <a:cs typeface="Arial" pitchFamily="34" charset="-120"/>
              </a:rPr>
              <a:t>đánh</a:t>
            </a:r>
            <a:r>
              <a:rPr lang="en-US" sz="1700" dirty="0">
                <a:solidFill>
                  <a:srgbClr val="166534"/>
                </a:solidFill>
                <a:latin typeface="Arial" pitchFamily="34" charset="0"/>
                <a:ea typeface="Arial" pitchFamily="34" charset="-122"/>
                <a:cs typeface="Arial" pitchFamily="34" charset="-120"/>
              </a:rPr>
              <a:t> giá kịch bản rủi ro trước khi quyết định</a:t>
            </a:r>
            <a:endParaRPr lang="en-US" sz="1700" dirty="0">
              <a:latin typeface="Arial" panose="020B0604020202020204" pitchFamily="34" charset="0"/>
            </a:endParaRPr>
          </a:p>
        </p:txBody>
      </p:sp>
      <p:sp>
        <p:nvSpPr>
          <p:cNvPr id="22" name="Text 20"/>
          <p:cNvSpPr/>
          <p:nvPr/>
        </p:nvSpPr>
        <p:spPr>
          <a:xfrm>
            <a:off x="9838944" y="3662172"/>
            <a:ext cx="8339328" cy="1280160"/>
          </a:xfrm>
          <a:prstGeom prst="rect">
            <a:avLst/>
          </a:prstGeom>
          <a:noFill/>
          <a:ln/>
        </p:spPr>
        <p:txBody>
          <a:bodyPr wrap="square" lIns="0" tIns="0" rIns="0" bIns="0" rtlCol="0" anchor="ctr"/>
          <a:lstStyle/>
          <a:p>
            <a:pPr>
              <a:lnSpc>
                <a:spcPct val="110000"/>
              </a:lnSpc>
            </a:pPr>
            <a:r>
              <a:rPr lang="en-US" sz="1700" dirty="0">
                <a:solidFill>
                  <a:srgbClr val="991B1B"/>
                </a:solidFill>
                <a:latin typeface="Arial" pitchFamily="34" charset="0"/>
                <a:ea typeface="Arial" pitchFamily="34" charset="-122"/>
                <a:cs typeface="Arial" pitchFamily="34" charset="-120"/>
              </a:rPr>
              <a:t>• Chưa ban hành Khẩu vị rủi </a:t>
            </a:r>
            <a:r>
              <a:rPr lang="en-US" sz="1700" dirty="0" err="1">
                <a:solidFill>
                  <a:srgbClr val="991B1B"/>
                </a:solidFill>
                <a:latin typeface="Arial" pitchFamily="34" charset="0"/>
                <a:ea typeface="Arial" pitchFamily="34" charset="-122"/>
                <a:cs typeface="Arial" pitchFamily="34" charset="-120"/>
              </a:rPr>
              <a:t>ro</a:t>
            </a:r>
            <a:r>
              <a:rPr lang="en-US" sz="1700" dirty="0">
                <a:solidFill>
                  <a:srgbClr val="991B1B"/>
                </a:solidFill>
                <a:latin typeface="Arial" pitchFamily="34" charset="0"/>
                <a:ea typeface="Arial" pitchFamily="34" charset="-122"/>
                <a:cs typeface="Arial" pitchFamily="34" charset="-120"/>
              </a:rPr>
              <a:t> </a:t>
            </a:r>
            <a:r>
              <a:rPr lang="en-US" sz="1700" dirty="0" err="1">
                <a:solidFill>
                  <a:srgbClr val="991B1B"/>
                </a:solidFill>
                <a:latin typeface="Arial" pitchFamily="34" charset="0"/>
                <a:ea typeface="Arial" pitchFamily="34" charset="-122"/>
                <a:cs typeface="Arial" pitchFamily="34" charset="-120"/>
              </a:rPr>
              <a:t>cấp</a:t>
            </a:r>
            <a:r>
              <a:rPr lang="en-US" sz="1700" dirty="0">
                <a:solidFill>
                  <a:srgbClr val="991B1B"/>
                </a:solidFill>
                <a:latin typeface="Arial" pitchFamily="34" charset="0"/>
                <a:ea typeface="Arial" pitchFamily="34" charset="-122"/>
                <a:cs typeface="Arial" pitchFamily="34" charset="-120"/>
              </a:rPr>
              <a:t> TCT — đây là nền tảng của toàn bộ khung ERM: khi chưa </a:t>
            </a:r>
            <a:r>
              <a:rPr lang="en-US" sz="1700" dirty="0" err="1">
                <a:solidFill>
                  <a:srgbClr val="991B1B"/>
                </a:solidFill>
                <a:latin typeface="Arial" pitchFamily="34" charset="0"/>
                <a:ea typeface="Arial" pitchFamily="34" charset="-122"/>
                <a:cs typeface="Arial" pitchFamily="34" charset="-120"/>
              </a:rPr>
              <a:t>có</a:t>
            </a:r>
            <a:r>
              <a:rPr lang="en-US" sz="1700" dirty="0">
                <a:solidFill>
                  <a:srgbClr val="991B1B"/>
                </a:solidFill>
                <a:latin typeface="Arial" pitchFamily="34" charset="0"/>
                <a:ea typeface="Arial" pitchFamily="34" charset="-122"/>
                <a:cs typeface="Arial" pitchFamily="34" charset="-120"/>
              </a:rPr>
              <a:t> KVRR, mọi mục tiêu kinh doanh đều thiếu căn cứ gắn kết với rủi ro</a:t>
            </a:r>
            <a:endParaRPr lang="en-US" sz="1700" dirty="0">
              <a:latin typeface="Arial" panose="020B0604020202020204" pitchFamily="34" charset="0"/>
            </a:endParaRPr>
          </a:p>
          <a:p>
            <a:pPr>
              <a:lnSpc>
                <a:spcPct val="110000"/>
              </a:lnSpc>
            </a:pPr>
            <a:r>
              <a:rPr lang="en-US" sz="1700" dirty="0">
                <a:solidFill>
                  <a:srgbClr val="991B1B"/>
                </a:solidFill>
                <a:latin typeface="Arial" pitchFamily="34" charset="0"/>
                <a:ea typeface="Arial" pitchFamily="34" charset="-122"/>
                <a:cs typeface="Arial" pitchFamily="34" charset="-120"/>
              </a:rPr>
              <a:t>• Thước đo rủi ro mới ở cấp quy trình, chưa có cấp doanh nghiệp</a:t>
            </a:r>
            <a:endParaRPr lang="en-US" sz="1700" dirty="0">
              <a:latin typeface="Arial" panose="020B0604020202020204" pitchFamily="34" charset="0"/>
            </a:endParaRPr>
          </a:p>
        </p:txBody>
      </p:sp>
      <p:sp>
        <p:nvSpPr>
          <p:cNvPr id="23" name="Shape 21"/>
          <p:cNvSpPr/>
          <p:nvPr/>
        </p:nvSpPr>
        <p:spPr>
          <a:xfrm>
            <a:off x="9674352" y="3735324"/>
            <a:ext cx="0" cy="1133856"/>
          </a:xfrm>
          <a:prstGeom prst="line">
            <a:avLst/>
          </a:prstGeom>
          <a:noFill/>
          <a:ln w="3810">
            <a:solidFill>
              <a:srgbClr val="E5E7EB"/>
            </a:solidFill>
            <a:prstDash val="solid"/>
          </a:ln>
        </p:spPr>
        <p:txBody>
          <a:bodyPr/>
          <a:lstStyle/>
          <a:p>
            <a:endParaRPr lang="en-US"/>
          </a:p>
        </p:txBody>
      </p:sp>
      <p:sp>
        <p:nvSpPr>
          <p:cNvPr id="24" name="Shape 22"/>
          <p:cNvSpPr/>
          <p:nvPr/>
        </p:nvSpPr>
        <p:spPr>
          <a:xfrm>
            <a:off x="3108960" y="5070348"/>
            <a:ext cx="15179040" cy="1426464"/>
          </a:xfrm>
          <a:prstGeom prst="rect">
            <a:avLst/>
          </a:prstGeom>
          <a:solidFill>
            <a:srgbClr val="F9FAFB"/>
          </a:solidFill>
          <a:ln w="12700">
            <a:solidFill>
              <a:srgbClr val="F9FAFB"/>
            </a:solidFill>
            <a:prstDash val="solid"/>
          </a:ln>
        </p:spPr>
        <p:txBody>
          <a:bodyPr/>
          <a:lstStyle/>
          <a:p>
            <a:endParaRPr lang="en-US"/>
          </a:p>
        </p:txBody>
      </p:sp>
      <p:sp>
        <p:nvSpPr>
          <p:cNvPr id="25" name="Shape 23"/>
          <p:cNvSpPr/>
          <p:nvPr/>
        </p:nvSpPr>
        <p:spPr>
          <a:xfrm>
            <a:off x="152400" y="5109972"/>
            <a:ext cx="2956560" cy="1280160"/>
          </a:xfrm>
          <a:prstGeom prst="roundRect">
            <a:avLst>
              <a:gd name="adj" fmla="val 8571"/>
            </a:avLst>
          </a:prstGeom>
          <a:solidFill>
            <a:srgbClr val="50A94D"/>
          </a:solidFill>
          <a:ln w="12700">
            <a:noFill/>
            <a:prstDash val="solid"/>
          </a:ln>
        </p:spPr>
        <p:txBody>
          <a:bodyPr/>
          <a:lstStyle/>
          <a:p>
            <a:endParaRPr lang="en-US"/>
          </a:p>
        </p:txBody>
      </p:sp>
      <p:sp>
        <p:nvSpPr>
          <p:cNvPr id="26" name="Text 24"/>
          <p:cNvSpPr/>
          <p:nvPr/>
        </p:nvSpPr>
        <p:spPr>
          <a:xfrm>
            <a:off x="361986" y="5049012"/>
            <a:ext cx="2523744" cy="502920"/>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Thực thi</a:t>
            </a:r>
            <a:endParaRPr lang="en-US" dirty="0">
              <a:latin typeface="Arial" panose="020B0604020202020204" pitchFamily="34" charset="0"/>
            </a:endParaRPr>
          </a:p>
        </p:txBody>
      </p:sp>
      <p:sp>
        <p:nvSpPr>
          <p:cNvPr id="27" name="Text 25"/>
          <p:cNvSpPr/>
          <p:nvPr/>
        </p:nvSpPr>
        <p:spPr>
          <a:xfrm>
            <a:off x="201168" y="5628132"/>
            <a:ext cx="2846832" cy="448056"/>
          </a:xfrm>
          <a:prstGeom prst="rect">
            <a:avLst/>
          </a:prstGeom>
          <a:noFill/>
          <a:ln/>
        </p:spPr>
        <p:txBody>
          <a:bodyPr wrap="square" lIns="0" tIns="0" rIns="0" bIns="0" rtlCol="0" anchor="ctr"/>
          <a:lstStyle/>
          <a:p>
            <a:pPr algn="ctr"/>
            <a:r>
              <a:rPr lang="vi-VN" sz="1400" i="1" dirty="0">
                <a:solidFill>
                  <a:schemeClr val="bg1"/>
                </a:solidFill>
                <a:ea typeface="Arial" pitchFamily="34" charset="-122"/>
                <a:cs typeface="Arial" pitchFamily="34" charset="-120"/>
              </a:rPr>
              <a:t>Nhận diện, đánh giá, xếp hạng ưu tiên rủi ro, triển khai biện pháp xử lý và xây dựng hồ sơ rủi ro tổng thể</a:t>
            </a:r>
            <a:endParaRPr lang="en-US" sz="1400" dirty="0">
              <a:solidFill>
                <a:schemeClr val="bg1"/>
              </a:solidFill>
              <a:latin typeface="Arial" panose="020B0604020202020204" pitchFamily="34" charset="0"/>
            </a:endParaRPr>
          </a:p>
        </p:txBody>
      </p:sp>
      <p:sp>
        <p:nvSpPr>
          <p:cNvPr id="28" name="Text 26"/>
          <p:cNvSpPr/>
          <p:nvPr/>
        </p:nvSpPr>
        <p:spPr>
          <a:xfrm>
            <a:off x="3328416" y="5143500"/>
            <a:ext cx="6181344" cy="1280160"/>
          </a:xfrm>
          <a:prstGeom prst="rect">
            <a:avLst/>
          </a:prstGeom>
          <a:noFill/>
          <a:ln/>
        </p:spPr>
        <p:txBody>
          <a:bodyPr wrap="square" lIns="0" tIns="0" rIns="0" bIns="0" rtlCol="0" anchor="ctr"/>
          <a:lstStyle/>
          <a:p>
            <a:pPr>
              <a:lnSpc>
                <a:spcPct val="110000"/>
              </a:lnSpc>
            </a:pPr>
            <a:r>
              <a:rPr lang="en-US" sz="1700" dirty="0">
                <a:solidFill>
                  <a:srgbClr val="166534"/>
                </a:solidFill>
                <a:latin typeface="Arial" pitchFamily="34" charset="0"/>
                <a:ea typeface="Arial" pitchFamily="34" charset="-122"/>
                <a:cs typeface="Arial" pitchFamily="34" charset="-120"/>
              </a:rPr>
              <a:t>• Đã có quy trình yêu cầu Tuyến 1 tự </a:t>
            </a:r>
            <a:r>
              <a:rPr lang="en-US" sz="1700" dirty="0" err="1">
                <a:solidFill>
                  <a:srgbClr val="166534"/>
                </a:solidFill>
                <a:latin typeface="Arial" pitchFamily="34" charset="0"/>
                <a:ea typeface="Arial" pitchFamily="34" charset="-122"/>
                <a:cs typeface="Arial" pitchFamily="34" charset="-120"/>
              </a:rPr>
              <a:t>đánh</a:t>
            </a:r>
            <a:r>
              <a:rPr lang="en-US" sz="1700" dirty="0">
                <a:solidFill>
                  <a:srgbClr val="166534"/>
                </a:solidFill>
                <a:latin typeface="Arial" pitchFamily="34" charset="0"/>
                <a:ea typeface="Arial" pitchFamily="34" charset="-122"/>
                <a:cs typeface="Arial" pitchFamily="34" charset="-120"/>
              </a:rPr>
              <a:t> giá rủi ro; có quy định biện pháp ứng phó rủi ro</a:t>
            </a:r>
            <a:endParaRPr lang="en-US" sz="1700" dirty="0">
              <a:latin typeface="Arial" panose="020B0604020202020204" pitchFamily="34" charset="0"/>
            </a:endParaRPr>
          </a:p>
          <a:p>
            <a:pPr>
              <a:lnSpc>
                <a:spcPct val="110000"/>
              </a:lnSpc>
            </a:pPr>
            <a:r>
              <a:rPr lang="en-US" sz="1700" dirty="0">
                <a:solidFill>
                  <a:srgbClr val="166534"/>
                </a:solidFill>
                <a:latin typeface="Arial" pitchFamily="34" charset="0"/>
                <a:ea typeface="Arial" pitchFamily="34" charset="-122"/>
                <a:cs typeface="Arial" pitchFamily="34" charset="-120"/>
              </a:rPr>
              <a:t>• Danh </a:t>
            </a:r>
            <a:r>
              <a:rPr lang="en-US" sz="1700" dirty="0" err="1">
                <a:solidFill>
                  <a:srgbClr val="166534"/>
                </a:solidFill>
                <a:latin typeface="Arial" pitchFamily="34" charset="0"/>
                <a:ea typeface="Arial" pitchFamily="34" charset="-122"/>
                <a:cs typeface="Arial" pitchFamily="34" charset="-120"/>
              </a:rPr>
              <a:t>mục</a:t>
            </a:r>
            <a:r>
              <a:rPr lang="en-US" sz="1700" dirty="0">
                <a:solidFill>
                  <a:srgbClr val="166534"/>
                </a:solidFill>
                <a:latin typeface="Arial" pitchFamily="34" charset="0"/>
                <a:ea typeface="Arial" pitchFamily="34" charset="-122"/>
                <a:cs typeface="Arial" pitchFamily="34" charset="-120"/>
              </a:rPr>
              <a:t> SKRR </a:t>
            </a:r>
            <a:r>
              <a:rPr lang="en-US" sz="1700" dirty="0" err="1">
                <a:solidFill>
                  <a:srgbClr val="166534"/>
                </a:solidFill>
                <a:latin typeface="Arial" pitchFamily="34" charset="0"/>
                <a:ea typeface="Arial" pitchFamily="34" charset="-122"/>
                <a:cs typeface="Arial" pitchFamily="34" charset="-120"/>
              </a:rPr>
              <a:t>cấp</a:t>
            </a:r>
            <a:r>
              <a:rPr lang="en-US" sz="1700" dirty="0">
                <a:solidFill>
                  <a:srgbClr val="166534"/>
                </a:solidFill>
                <a:latin typeface="Arial" pitchFamily="34" charset="0"/>
                <a:ea typeface="Arial" pitchFamily="34" charset="-122"/>
                <a:cs typeface="Arial" pitchFamily="34" charset="-120"/>
              </a:rPr>
              <a:t> quy trình đã được </a:t>
            </a:r>
            <a:r>
              <a:rPr lang="en-US" sz="1700" dirty="0" err="1">
                <a:solidFill>
                  <a:srgbClr val="166534"/>
                </a:solidFill>
                <a:latin typeface="Arial" pitchFamily="34" charset="0"/>
                <a:ea typeface="Arial" pitchFamily="34" charset="-122"/>
                <a:cs typeface="Arial" pitchFamily="34" charset="-120"/>
              </a:rPr>
              <a:t>xây</a:t>
            </a:r>
            <a:r>
              <a:rPr lang="en-US" sz="1700" dirty="0">
                <a:solidFill>
                  <a:srgbClr val="166534"/>
                </a:solidFill>
                <a:latin typeface="Arial" pitchFamily="34" charset="0"/>
                <a:ea typeface="Arial" pitchFamily="34" charset="-122"/>
                <a:cs typeface="Arial" pitchFamily="34" charset="-120"/>
              </a:rPr>
              <a:t> dựng tại các đơn vị</a:t>
            </a:r>
            <a:endParaRPr lang="en-US" sz="1700" dirty="0">
              <a:latin typeface="Arial" panose="020B0604020202020204" pitchFamily="34" charset="0"/>
            </a:endParaRPr>
          </a:p>
        </p:txBody>
      </p:sp>
      <p:sp>
        <p:nvSpPr>
          <p:cNvPr id="29" name="Text 27"/>
          <p:cNvSpPr/>
          <p:nvPr/>
        </p:nvSpPr>
        <p:spPr>
          <a:xfrm>
            <a:off x="9838944" y="5143500"/>
            <a:ext cx="8339328" cy="1280160"/>
          </a:xfrm>
          <a:prstGeom prst="rect">
            <a:avLst/>
          </a:prstGeom>
          <a:noFill/>
          <a:ln/>
        </p:spPr>
        <p:txBody>
          <a:bodyPr wrap="square" lIns="0" tIns="0" rIns="0" bIns="0" rtlCol="0" anchor="ctr"/>
          <a:lstStyle/>
          <a:p>
            <a:pPr>
              <a:lnSpc>
                <a:spcPct val="110000"/>
              </a:lnSpc>
            </a:pPr>
            <a:r>
              <a:rPr lang="en-US" sz="1700" dirty="0">
                <a:solidFill>
                  <a:srgbClr val="991B1B"/>
                </a:solidFill>
                <a:latin typeface="Arial" pitchFamily="34" charset="0"/>
                <a:ea typeface="Arial" pitchFamily="34" charset="-122"/>
                <a:cs typeface="Arial" pitchFamily="34" charset="-120"/>
              </a:rPr>
              <a:t>• Chưa có thư viện rủi ro, danh mục rủi ro trọng yếu được TGĐ phê duyệt, phương pháp </a:t>
            </a:r>
            <a:r>
              <a:rPr lang="en-US" sz="1700" dirty="0" err="1">
                <a:solidFill>
                  <a:srgbClr val="991B1B"/>
                </a:solidFill>
                <a:latin typeface="Arial" pitchFamily="34" charset="0"/>
                <a:ea typeface="Arial" pitchFamily="34" charset="-122"/>
                <a:cs typeface="Arial" pitchFamily="34" charset="-120"/>
              </a:rPr>
              <a:t>đánh</a:t>
            </a:r>
            <a:r>
              <a:rPr lang="en-US" sz="1700" dirty="0">
                <a:solidFill>
                  <a:srgbClr val="991B1B"/>
                </a:solidFill>
                <a:latin typeface="Arial" pitchFamily="34" charset="0"/>
                <a:ea typeface="Arial" pitchFamily="34" charset="-122"/>
                <a:cs typeface="Arial" pitchFamily="34" charset="-120"/>
              </a:rPr>
              <a:t> giá rủi ro cấp DN</a:t>
            </a:r>
            <a:endParaRPr lang="en-US" sz="1700" dirty="0">
              <a:latin typeface="Arial" panose="020B0604020202020204" pitchFamily="34" charset="0"/>
            </a:endParaRPr>
          </a:p>
          <a:p>
            <a:pPr>
              <a:lnSpc>
                <a:spcPct val="110000"/>
              </a:lnSpc>
            </a:pPr>
            <a:r>
              <a:rPr lang="en-US" sz="1700" dirty="0">
                <a:solidFill>
                  <a:srgbClr val="991B1B"/>
                </a:solidFill>
                <a:latin typeface="Arial" pitchFamily="34" charset="0"/>
                <a:ea typeface="Arial" pitchFamily="34" charset="-122"/>
                <a:cs typeface="Arial" pitchFamily="34" charset="-120"/>
              </a:rPr>
              <a:t>• Chưa có KRI và </a:t>
            </a:r>
            <a:r>
              <a:rPr lang="en-US" sz="1700" dirty="0" err="1">
                <a:solidFill>
                  <a:srgbClr val="991B1B"/>
                </a:solidFill>
                <a:latin typeface="Arial" pitchFamily="34" charset="0"/>
                <a:ea typeface="Arial" pitchFamily="34" charset="-122"/>
                <a:cs typeface="Arial" pitchFamily="34" charset="-120"/>
              </a:rPr>
              <a:t>kế</a:t>
            </a:r>
            <a:r>
              <a:rPr lang="en-US" sz="1700" dirty="0">
                <a:solidFill>
                  <a:srgbClr val="991B1B"/>
                </a:solidFill>
                <a:latin typeface="Arial" pitchFamily="34" charset="0"/>
                <a:ea typeface="Arial" pitchFamily="34" charset="-122"/>
                <a:cs typeface="Arial" pitchFamily="34" charset="-120"/>
              </a:rPr>
              <a:t> hoạch hành động </a:t>
            </a:r>
            <a:r>
              <a:rPr lang="en-US" sz="1700" dirty="0" err="1">
                <a:solidFill>
                  <a:srgbClr val="991B1B"/>
                </a:solidFill>
                <a:latin typeface="Arial" pitchFamily="34" charset="0"/>
                <a:ea typeface="Arial" pitchFamily="34" charset="-122"/>
                <a:cs typeface="Arial" pitchFamily="34" charset="-120"/>
              </a:rPr>
              <a:t>cụ</a:t>
            </a:r>
            <a:r>
              <a:rPr lang="en-US" sz="1700" dirty="0">
                <a:solidFill>
                  <a:srgbClr val="991B1B"/>
                </a:solidFill>
                <a:latin typeface="Arial" pitchFamily="34" charset="0"/>
                <a:ea typeface="Arial" pitchFamily="34" charset="-122"/>
                <a:cs typeface="Arial" pitchFamily="34" charset="-120"/>
              </a:rPr>
              <a:t> </a:t>
            </a:r>
            <a:r>
              <a:rPr lang="en-US" sz="1700" dirty="0" err="1">
                <a:solidFill>
                  <a:srgbClr val="991B1B"/>
                </a:solidFill>
                <a:latin typeface="Arial" pitchFamily="34" charset="0"/>
                <a:ea typeface="Arial" pitchFamily="34" charset="-122"/>
                <a:cs typeface="Arial" pitchFamily="34" charset="-120"/>
              </a:rPr>
              <a:t>thể</a:t>
            </a:r>
            <a:endParaRPr lang="en-US" sz="1700" dirty="0">
              <a:latin typeface="Arial" panose="020B0604020202020204" pitchFamily="34" charset="0"/>
            </a:endParaRPr>
          </a:p>
        </p:txBody>
      </p:sp>
      <p:sp>
        <p:nvSpPr>
          <p:cNvPr id="30" name="Shape 28"/>
          <p:cNvSpPr/>
          <p:nvPr/>
        </p:nvSpPr>
        <p:spPr>
          <a:xfrm>
            <a:off x="9674352" y="5216652"/>
            <a:ext cx="0" cy="1133856"/>
          </a:xfrm>
          <a:prstGeom prst="line">
            <a:avLst/>
          </a:prstGeom>
          <a:noFill/>
          <a:ln w="3810">
            <a:solidFill>
              <a:srgbClr val="E5E7EB"/>
            </a:solidFill>
            <a:prstDash val="solid"/>
          </a:ln>
        </p:spPr>
        <p:txBody>
          <a:bodyPr/>
          <a:lstStyle/>
          <a:p>
            <a:endParaRPr lang="en-US"/>
          </a:p>
        </p:txBody>
      </p:sp>
      <p:sp>
        <p:nvSpPr>
          <p:cNvPr id="31" name="Shape 29"/>
          <p:cNvSpPr/>
          <p:nvPr/>
        </p:nvSpPr>
        <p:spPr>
          <a:xfrm>
            <a:off x="3108960" y="6551676"/>
            <a:ext cx="15179040" cy="1426464"/>
          </a:xfrm>
          <a:prstGeom prst="rect">
            <a:avLst/>
          </a:prstGeom>
          <a:solidFill>
            <a:srgbClr val="FFFFFF"/>
          </a:solidFill>
          <a:ln w="12700">
            <a:solidFill>
              <a:srgbClr val="FFFFFF"/>
            </a:solidFill>
            <a:prstDash val="solid"/>
          </a:ln>
        </p:spPr>
        <p:txBody>
          <a:bodyPr/>
          <a:lstStyle/>
          <a:p>
            <a:endParaRPr lang="en-US"/>
          </a:p>
        </p:txBody>
      </p:sp>
      <p:sp>
        <p:nvSpPr>
          <p:cNvPr id="32" name="Shape 30"/>
          <p:cNvSpPr/>
          <p:nvPr/>
        </p:nvSpPr>
        <p:spPr>
          <a:xfrm>
            <a:off x="152400" y="6519672"/>
            <a:ext cx="2956560" cy="1280160"/>
          </a:xfrm>
          <a:prstGeom prst="roundRect">
            <a:avLst>
              <a:gd name="adj" fmla="val 8571"/>
            </a:avLst>
          </a:prstGeom>
          <a:solidFill>
            <a:srgbClr val="7469AE"/>
          </a:solidFill>
          <a:ln w="12700">
            <a:noFill/>
            <a:prstDash val="solid"/>
          </a:ln>
        </p:spPr>
        <p:txBody>
          <a:bodyPr/>
          <a:lstStyle/>
          <a:p>
            <a:endParaRPr lang="en-US"/>
          </a:p>
        </p:txBody>
      </p:sp>
      <p:sp>
        <p:nvSpPr>
          <p:cNvPr id="33" name="Text 31"/>
          <p:cNvSpPr/>
          <p:nvPr/>
        </p:nvSpPr>
        <p:spPr>
          <a:xfrm>
            <a:off x="361986" y="6519672"/>
            <a:ext cx="2523744" cy="502920"/>
          </a:xfrm>
          <a:prstGeom prst="rect">
            <a:avLst/>
          </a:prstGeom>
          <a:noFill/>
          <a:ln/>
        </p:spPr>
        <p:txBody>
          <a:bodyPr wrap="square" lIns="0" tIns="0" rIns="0" bIns="0" rtlCol="0" anchor="ctr"/>
          <a:lstStyle/>
          <a:p>
            <a:pPr algn="ctr"/>
            <a:r>
              <a:rPr lang="en-US" b="1" dirty="0">
                <a:solidFill>
                  <a:srgbClr val="FFFFFF"/>
                </a:solidFill>
                <a:latin typeface="Arial" pitchFamily="34" charset="0"/>
                <a:ea typeface="Arial" pitchFamily="34" charset="-122"/>
                <a:cs typeface="Arial" pitchFamily="34" charset="-120"/>
              </a:rPr>
              <a:t>Rà </a:t>
            </a:r>
            <a:r>
              <a:rPr lang="en-US" b="1" dirty="0" err="1">
                <a:solidFill>
                  <a:srgbClr val="FFFFFF"/>
                </a:solidFill>
                <a:latin typeface="Arial" pitchFamily="34" charset="0"/>
                <a:ea typeface="Arial" pitchFamily="34" charset="-122"/>
                <a:cs typeface="Arial" pitchFamily="34" charset="-120"/>
              </a:rPr>
              <a:t>soát</a:t>
            </a:r>
            <a:r>
              <a:rPr lang="en-US" b="1" dirty="0">
                <a:solidFill>
                  <a:srgbClr val="FFFFFF"/>
                </a:solidFill>
                <a:latin typeface="Arial" pitchFamily="34" charset="0"/>
                <a:ea typeface="Arial" pitchFamily="34" charset="-122"/>
                <a:cs typeface="Arial" pitchFamily="34" charset="-120"/>
              </a:rPr>
              <a:t> &amp;</a:t>
            </a:r>
            <a:r>
              <a:rPr lang="en-US" dirty="0">
                <a:latin typeface="Arial" panose="020B0604020202020204" pitchFamily="34" charset="0"/>
              </a:rPr>
              <a:t> </a:t>
            </a:r>
            <a:r>
              <a:rPr lang="en-US" b="1" dirty="0" err="1">
                <a:solidFill>
                  <a:srgbClr val="FFFFFF"/>
                </a:solidFill>
                <a:latin typeface="Arial" pitchFamily="34" charset="0"/>
                <a:ea typeface="Arial" pitchFamily="34" charset="-122"/>
                <a:cs typeface="Arial" pitchFamily="34" charset="-120"/>
              </a:rPr>
              <a:t>Điều</a:t>
            </a:r>
            <a:r>
              <a:rPr lang="en-US" b="1" dirty="0">
                <a:solidFill>
                  <a:srgbClr val="FFFFFF"/>
                </a:solidFill>
                <a:latin typeface="Arial" pitchFamily="34" charset="0"/>
                <a:ea typeface="Arial" pitchFamily="34" charset="-122"/>
                <a:cs typeface="Arial" pitchFamily="34" charset="-120"/>
              </a:rPr>
              <a:t> chỉnh</a:t>
            </a:r>
            <a:endParaRPr lang="en-US" dirty="0">
              <a:latin typeface="Arial" panose="020B0604020202020204" pitchFamily="34" charset="0"/>
            </a:endParaRPr>
          </a:p>
        </p:txBody>
      </p:sp>
      <p:sp>
        <p:nvSpPr>
          <p:cNvPr id="34" name="Text 32"/>
          <p:cNvSpPr/>
          <p:nvPr/>
        </p:nvSpPr>
        <p:spPr>
          <a:xfrm>
            <a:off x="201168" y="7075932"/>
            <a:ext cx="2846832" cy="448056"/>
          </a:xfrm>
          <a:prstGeom prst="rect">
            <a:avLst/>
          </a:prstGeom>
          <a:noFill/>
          <a:ln/>
        </p:spPr>
        <p:txBody>
          <a:bodyPr wrap="square" lIns="0" tIns="0" rIns="0" bIns="0" rtlCol="0" anchor="ctr"/>
          <a:lstStyle/>
          <a:p>
            <a:pPr algn="ctr"/>
            <a:r>
              <a:rPr lang="en-US" sz="1400" i="1" dirty="0">
                <a:solidFill>
                  <a:schemeClr val="bg1"/>
                </a:solidFill>
                <a:latin typeface="Arial" pitchFamily="34" charset="0"/>
                <a:ea typeface="Arial" pitchFamily="34" charset="-122"/>
                <a:cs typeface="Arial" pitchFamily="34" charset="-120"/>
              </a:rPr>
              <a:t>Theo </a:t>
            </a:r>
            <a:r>
              <a:rPr lang="en-US" sz="1400" i="1" dirty="0" err="1">
                <a:solidFill>
                  <a:schemeClr val="bg1"/>
                </a:solidFill>
                <a:latin typeface="Arial" pitchFamily="34" charset="0"/>
                <a:ea typeface="Arial" pitchFamily="34" charset="-122"/>
                <a:cs typeface="Arial" pitchFamily="34" charset="-120"/>
              </a:rPr>
              <a:t>dõi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các</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thay</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đổi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trọng</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yếu</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đánh</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giá</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hiệu</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quả</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quản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lý</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rủi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ro</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và</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liên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tục</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cải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tiến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khung</a:t>
            </a:r>
            <a:r>
              <a:rPr lang="en-US" sz="1400" i="1" dirty="0">
                <a:solidFill>
                  <a:schemeClr val="bg1"/>
                </a:solidFill>
                <a:latin typeface="Arial" pitchFamily="34" charset="0"/>
                <a:ea typeface="Arial" pitchFamily="34" charset="-122"/>
                <a:cs typeface="Arial" pitchFamily="34" charset="-120"/>
              </a:rPr>
              <a:t> ERM</a:t>
            </a:r>
            <a:endParaRPr lang="en-US" sz="1400" dirty="0">
              <a:solidFill>
                <a:schemeClr val="bg1"/>
              </a:solidFill>
              <a:latin typeface="Arial" panose="020B0604020202020204" pitchFamily="34" charset="0"/>
            </a:endParaRPr>
          </a:p>
        </p:txBody>
      </p:sp>
      <p:sp>
        <p:nvSpPr>
          <p:cNvPr id="35" name="Text 33"/>
          <p:cNvSpPr/>
          <p:nvPr/>
        </p:nvSpPr>
        <p:spPr>
          <a:xfrm>
            <a:off x="3328416" y="6624828"/>
            <a:ext cx="6181344" cy="1280160"/>
          </a:xfrm>
          <a:prstGeom prst="rect">
            <a:avLst/>
          </a:prstGeom>
          <a:noFill/>
          <a:ln/>
        </p:spPr>
        <p:txBody>
          <a:bodyPr wrap="square" lIns="0" tIns="0" rIns="0" bIns="0" rtlCol="0" anchor="ctr"/>
          <a:lstStyle/>
          <a:p>
            <a:pPr>
              <a:lnSpc>
                <a:spcPct val="110000"/>
              </a:lnSpc>
            </a:pPr>
            <a:r>
              <a:rPr lang="en-US" sz="1700" dirty="0">
                <a:solidFill>
                  <a:srgbClr val="166534"/>
                </a:solidFill>
                <a:latin typeface="Arial" pitchFamily="34" charset="0"/>
                <a:ea typeface="Arial" pitchFamily="34" charset="-122"/>
                <a:cs typeface="Arial" pitchFamily="34" charset="-120"/>
              </a:rPr>
              <a:t>• BP Chiến lược theo dõi, </a:t>
            </a:r>
            <a:r>
              <a:rPr lang="en-US" sz="1700" dirty="0" err="1">
                <a:solidFill>
                  <a:srgbClr val="166534"/>
                </a:solidFill>
                <a:latin typeface="Arial" pitchFamily="34" charset="0"/>
                <a:ea typeface="Arial" pitchFamily="34" charset="-122"/>
                <a:cs typeface="Arial" pitchFamily="34" charset="-120"/>
              </a:rPr>
              <a:t>đánh</a:t>
            </a:r>
            <a:r>
              <a:rPr lang="en-US" sz="1700" dirty="0">
                <a:solidFill>
                  <a:srgbClr val="166534"/>
                </a:solidFill>
                <a:latin typeface="Arial" pitchFamily="34" charset="0"/>
                <a:ea typeface="Arial" pitchFamily="34" charset="-122"/>
                <a:cs typeface="Arial" pitchFamily="34" charset="-120"/>
              </a:rPr>
              <a:t> giá thay đổi trọng yếu định kỳ; có luồng báo cáo SKRR</a:t>
            </a:r>
            <a:endParaRPr lang="en-US" sz="1700" dirty="0">
              <a:latin typeface="Arial" panose="020B0604020202020204" pitchFamily="34" charset="0"/>
            </a:endParaRPr>
          </a:p>
        </p:txBody>
      </p:sp>
      <p:sp>
        <p:nvSpPr>
          <p:cNvPr id="36" name="Text 34"/>
          <p:cNvSpPr/>
          <p:nvPr/>
        </p:nvSpPr>
        <p:spPr>
          <a:xfrm>
            <a:off x="9838944" y="6624828"/>
            <a:ext cx="8339328" cy="1280160"/>
          </a:xfrm>
          <a:prstGeom prst="rect">
            <a:avLst/>
          </a:prstGeom>
          <a:noFill/>
          <a:ln/>
        </p:spPr>
        <p:txBody>
          <a:bodyPr wrap="square" lIns="0" tIns="0" rIns="0" bIns="0" rtlCol="0" anchor="ctr"/>
          <a:lstStyle/>
          <a:p>
            <a:pPr>
              <a:lnSpc>
                <a:spcPct val="110000"/>
              </a:lnSpc>
            </a:pPr>
            <a:r>
              <a:rPr lang="en-US" sz="1700" dirty="0">
                <a:solidFill>
                  <a:srgbClr val="991B1B"/>
                </a:solidFill>
                <a:latin typeface="Arial" pitchFamily="34" charset="0"/>
                <a:ea typeface="Arial" pitchFamily="34" charset="-122"/>
                <a:cs typeface="Arial" pitchFamily="34" charset="-120"/>
              </a:rPr>
              <a:t>• Thiếu KRI nên không có </a:t>
            </a:r>
            <a:r>
              <a:rPr lang="en-US" sz="1700" dirty="0" err="1">
                <a:solidFill>
                  <a:srgbClr val="991B1B"/>
                </a:solidFill>
                <a:latin typeface="Arial" pitchFamily="34" charset="0"/>
                <a:ea typeface="Arial" pitchFamily="34" charset="-122"/>
                <a:cs typeface="Arial" pitchFamily="34" charset="-120"/>
              </a:rPr>
              <a:t>cơ</a:t>
            </a:r>
            <a:r>
              <a:rPr lang="en-US" sz="1700" dirty="0">
                <a:solidFill>
                  <a:srgbClr val="991B1B"/>
                </a:solidFill>
                <a:latin typeface="Arial" pitchFamily="34" charset="0"/>
                <a:ea typeface="Arial" pitchFamily="34" charset="-122"/>
                <a:cs typeface="Arial" pitchFamily="34" charset="-120"/>
              </a:rPr>
              <a:t> chế cảnh báo sớm — chỉ phát hiện rủi ro sau khi đã xảy ra sự cố</a:t>
            </a:r>
            <a:endParaRPr lang="en-US" sz="1700" dirty="0">
              <a:latin typeface="Arial" panose="020B0604020202020204" pitchFamily="34" charset="0"/>
            </a:endParaRPr>
          </a:p>
          <a:p>
            <a:pPr>
              <a:lnSpc>
                <a:spcPct val="110000"/>
              </a:lnSpc>
            </a:pPr>
            <a:r>
              <a:rPr lang="en-US" sz="1700" dirty="0">
                <a:solidFill>
                  <a:srgbClr val="991B1B"/>
                </a:solidFill>
                <a:latin typeface="Arial" pitchFamily="34" charset="0"/>
                <a:ea typeface="Arial" pitchFamily="34" charset="-122"/>
                <a:cs typeface="Arial" pitchFamily="34" charset="-120"/>
              </a:rPr>
              <a:t>• Chưa </a:t>
            </a:r>
            <a:r>
              <a:rPr lang="en-US" sz="1700" dirty="0" err="1">
                <a:solidFill>
                  <a:srgbClr val="991B1B"/>
                </a:solidFill>
                <a:latin typeface="Arial" pitchFamily="34" charset="0"/>
                <a:ea typeface="Arial" pitchFamily="34" charset="-122"/>
                <a:cs typeface="Arial" pitchFamily="34" charset="-120"/>
              </a:rPr>
              <a:t>đánh</a:t>
            </a:r>
            <a:r>
              <a:rPr lang="en-US" sz="1700" dirty="0">
                <a:solidFill>
                  <a:srgbClr val="991B1B"/>
                </a:solidFill>
                <a:latin typeface="Arial" pitchFamily="34" charset="0"/>
                <a:ea typeface="Arial" pitchFamily="34" charset="-122"/>
                <a:cs typeface="Arial" pitchFamily="34" charset="-120"/>
              </a:rPr>
              <a:t> giá hiệu quả QTRR và mức độ trưởng thành — không biết hệ thống đang ở đâu và cải thiện thế nào</a:t>
            </a:r>
            <a:endParaRPr lang="en-US" sz="1700" dirty="0">
              <a:latin typeface="Arial" panose="020B0604020202020204" pitchFamily="34" charset="0"/>
            </a:endParaRPr>
          </a:p>
        </p:txBody>
      </p:sp>
      <p:sp>
        <p:nvSpPr>
          <p:cNvPr id="37" name="Shape 35"/>
          <p:cNvSpPr/>
          <p:nvPr/>
        </p:nvSpPr>
        <p:spPr>
          <a:xfrm>
            <a:off x="9674352" y="6697980"/>
            <a:ext cx="0" cy="1133856"/>
          </a:xfrm>
          <a:prstGeom prst="line">
            <a:avLst/>
          </a:prstGeom>
          <a:noFill/>
          <a:ln w="3810">
            <a:solidFill>
              <a:srgbClr val="E5E7EB"/>
            </a:solidFill>
            <a:prstDash val="solid"/>
          </a:ln>
        </p:spPr>
        <p:txBody>
          <a:bodyPr/>
          <a:lstStyle/>
          <a:p>
            <a:endParaRPr lang="en-US"/>
          </a:p>
        </p:txBody>
      </p:sp>
      <p:sp>
        <p:nvSpPr>
          <p:cNvPr id="38" name="Shape 36"/>
          <p:cNvSpPr/>
          <p:nvPr/>
        </p:nvSpPr>
        <p:spPr>
          <a:xfrm>
            <a:off x="3108960" y="8033004"/>
            <a:ext cx="15179040" cy="1426464"/>
          </a:xfrm>
          <a:prstGeom prst="rect">
            <a:avLst/>
          </a:prstGeom>
          <a:solidFill>
            <a:srgbClr val="F9FAFB"/>
          </a:solidFill>
          <a:ln w="12700">
            <a:solidFill>
              <a:srgbClr val="F9FAFB"/>
            </a:solidFill>
            <a:prstDash val="solid"/>
          </a:ln>
        </p:spPr>
        <p:txBody>
          <a:bodyPr/>
          <a:lstStyle/>
          <a:p>
            <a:endParaRPr lang="en-US"/>
          </a:p>
        </p:txBody>
      </p:sp>
      <p:sp>
        <p:nvSpPr>
          <p:cNvPr id="39" name="Shape 37"/>
          <p:cNvSpPr/>
          <p:nvPr/>
        </p:nvSpPr>
        <p:spPr>
          <a:xfrm>
            <a:off x="152400" y="7929372"/>
            <a:ext cx="2956560" cy="1351788"/>
          </a:xfrm>
          <a:prstGeom prst="roundRect">
            <a:avLst>
              <a:gd name="adj" fmla="val 8571"/>
            </a:avLst>
          </a:prstGeom>
          <a:solidFill>
            <a:srgbClr val="AB282B"/>
          </a:solidFill>
          <a:ln w="12700">
            <a:noFill/>
            <a:prstDash val="solid"/>
          </a:ln>
        </p:spPr>
        <p:txBody>
          <a:bodyPr/>
          <a:lstStyle/>
          <a:p>
            <a:endParaRPr lang="en-US"/>
          </a:p>
        </p:txBody>
      </p:sp>
      <p:sp>
        <p:nvSpPr>
          <p:cNvPr id="40" name="Text 38"/>
          <p:cNvSpPr/>
          <p:nvPr/>
        </p:nvSpPr>
        <p:spPr>
          <a:xfrm>
            <a:off x="361986" y="7943088"/>
            <a:ext cx="2523744" cy="502920"/>
          </a:xfrm>
          <a:prstGeom prst="rect">
            <a:avLst/>
          </a:prstGeom>
          <a:noFill/>
          <a:ln/>
        </p:spPr>
        <p:txBody>
          <a:bodyPr wrap="square" lIns="0" tIns="0" rIns="0" bIns="0" rtlCol="0" anchor="ctr"/>
          <a:lstStyle/>
          <a:p>
            <a:pPr algn="ctr"/>
            <a:r>
              <a:rPr lang="en-US" b="1" dirty="0" err="1">
                <a:solidFill>
                  <a:srgbClr val="FFFFFF"/>
                </a:solidFill>
                <a:latin typeface="Arial" pitchFamily="34" charset="0"/>
                <a:ea typeface="Arial" pitchFamily="34" charset="-122"/>
                <a:cs typeface="Arial" pitchFamily="34" charset="-120"/>
              </a:rPr>
              <a:t>Thông</a:t>
            </a:r>
            <a:r>
              <a:rPr lang="en-US" b="1" dirty="0">
                <a:solidFill>
                  <a:srgbClr val="FFFFFF"/>
                </a:solidFill>
                <a:latin typeface="Arial" pitchFamily="34" charset="0"/>
                <a:ea typeface="Arial" pitchFamily="34" charset="-122"/>
                <a:cs typeface="Arial" pitchFamily="34" charset="-120"/>
              </a:rPr>
              <a:t> tin,</a:t>
            </a:r>
            <a:r>
              <a:rPr lang="en-US" dirty="0">
                <a:latin typeface="Arial" panose="020B0604020202020204" pitchFamily="34" charset="0"/>
              </a:rPr>
              <a:t> </a:t>
            </a:r>
            <a:r>
              <a:rPr lang="en-US" b="1" dirty="0">
                <a:solidFill>
                  <a:srgbClr val="FFFFFF"/>
                </a:solidFill>
                <a:latin typeface="Arial" pitchFamily="34" charset="0"/>
                <a:ea typeface="Arial" pitchFamily="34" charset="-122"/>
                <a:cs typeface="Arial" pitchFamily="34" charset="-120"/>
              </a:rPr>
              <a:t>TT &amp; BC</a:t>
            </a:r>
            <a:endParaRPr lang="en-US" dirty="0">
              <a:latin typeface="Arial" panose="020B0604020202020204" pitchFamily="34" charset="0"/>
            </a:endParaRPr>
          </a:p>
        </p:txBody>
      </p:sp>
      <p:sp>
        <p:nvSpPr>
          <p:cNvPr id="41" name="Text 39"/>
          <p:cNvSpPr/>
          <p:nvPr/>
        </p:nvSpPr>
        <p:spPr>
          <a:xfrm>
            <a:off x="201168" y="8542020"/>
            <a:ext cx="2846832" cy="448056"/>
          </a:xfrm>
          <a:prstGeom prst="rect">
            <a:avLst/>
          </a:prstGeom>
          <a:noFill/>
          <a:ln/>
        </p:spPr>
        <p:txBody>
          <a:bodyPr wrap="square" lIns="0" tIns="0" rIns="0" bIns="0" rtlCol="0" anchor="ctr"/>
          <a:lstStyle/>
          <a:p>
            <a:pPr algn="ctr"/>
            <a:r>
              <a:rPr lang="en-US" sz="1400" i="1" dirty="0" err="1">
                <a:solidFill>
                  <a:schemeClr val="bg1"/>
                </a:solidFill>
                <a:latin typeface="Arial" pitchFamily="34" charset="0"/>
                <a:ea typeface="Arial" pitchFamily="34" charset="-122"/>
                <a:cs typeface="Arial" pitchFamily="34" charset="-120"/>
              </a:rPr>
              <a:t>Khai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thác</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công</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nghệ</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truyền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thông</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rủi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ro</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xuyên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suốt</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tổ</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chức</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và</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báo</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cáo</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về</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rủi</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ro</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văn</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hóa</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hiệu</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quả</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hoạt</a:t>
            </a:r>
            <a:r>
              <a:rPr lang="en-US" sz="1400" i="1" dirty="0">
                <a:solidFill>
                  <a:schemeClr val="bg1"/>
                </a:solidFill>
                <a:latin typeface="Arial" pitchFamily="34" charset="0"/>
                <a:ea typeface="Arial" pitchFamily="34" charset="-122"/>
                <a:cs typeface="Arial" pitchFamily="34" charset="-120"/>
              </a:rPr>
              <a:t> </a:t>
            </a:r>
            <a:r>
              <a:rPr lang="en-US" sz="1400" i="1" dirty="0" err="1">
                <a:solidFill>
                  <a:schemeClr val="bg1"/>
                </a:solidFill>
                <a:latin typeface="Arial" pitchFamily="34" charset="0"/>
                <a:ea typeface="Arial" pitchFamily="34" charset="-122"/>
                <a:cs typeface="Arial" pitchFamily="34" charset="-120"/>
              </a:rPr>
              <a:t>động</a:t>
            </a:r>
            <a:endParaRPr lang="en-US" sz="1400" dirty="0">
              <a:solidFill>
                <a:schemeClr val="bg1"/>
              </a:solidFill>
              <a:latin typeface="Arial" panose="020B0604020202020204" pitchFamily="34" charset="0"/>
            </a:endParaRPr>
          </a:p>
        </p:txBody>
      </p:sp>
      <p:sp>
        <p:nvSpPr>
          <p:cNvPr id="42" name="Text 40"/>
          <p:cNvSpPr/>
          <p:nvPr/>
        </p:nvSpPr>
        <p:spPr>
          <a:xfrm>
            <a:off x="3328416" y="8106156"/>
            <a:ext cx="6181344" cy="1280160"/>
          </a:xfrm>
          <a:prstGeom prst="rect">
            <a:avLst/>
          </a:prstGeom>
          <a:noFill/>
          <a:ln/>
        </p:spPr>
        <p:txBody>
          <a:bodyPr wrap="square" lIns="0" tIns="0" rIns="0" bIns="0" rtlCol="0" anchor="ctr"/>
          <a:lstStyle/>
          <a:p>
            <a:pPr>
              <a:lnSpc>
                <a:spcPct val="110000"/>
              </a:lnSpc>
            </a:pPr>
            <a:r>
              <a:rPr lang="en-US" sz="1700" dirty="0">
                <a:solidFill>
                  <a:srgbClr val="166534"/>
                </a:solidFill>
                <a:latin typeface="Arial" pitchFamily="34" charset="0"/>
                <a:ea typeface="Arial" pitchFamily="34" charset="-122"/>
                <a:cs typeface="Arial" pitchFamily="34" charset="-120"/>
              </a:rPr>
              <a:t>• Có </a:t>
            </a:r>
            <a:r>
              <a:rPr lang="en-US" sz="1700" dirty="0" err="1">
                <a:solidFill>
                  <a:srgbClr val="166534"/>
                </a:solidFill>
                <a:latin typeface="Arial" pitchFamily="34" charset="0"/>
                <a:ea typeface="Arial" pitchFamily="34" charset="-122"/>
                <a:cs typeface="Arial" pitchFamily="34" charset="-120"/>
              </a:rPr>
              <a:t>cơ</a:t>
            </a:r>
            <a:r>
              <a:rPr lang="en-US" sz="1700" dirty="0">
                <a:solidFill>
                  <a:srgbClr val="166534"/>
                </a:solidFill>
                <a:latin typeface="Arial" pitchFamily="34" charset="0"/>
                <a:ea typeface="Arial" pitchFamily="34" charset="-122"/>
                <a:cs typeface="Arial" pitchFamily="34" charset="-120"/>
              </a:rPr>
              <a:t> chế phối hợp thông tin rủi ro giữa các </a:t>
            </a:r>
            <a:r>
              <a:rPr lang="en-US" sz="1700" dirty="0" err="1">
                <a:solidFill>
                  <a:srgbClr val="166534"/>
                </a:solidFill>
                <a:latin typeface="Arial" pitchFamily="34" charset="0"/>
                <a:ea typeface="Arial" pitchFamily="34" charset="-122"/>
                <a:cs typeface="Arial" pitchFamily="34" charset="-120"/>
              </a:rPr>
              <a:t>phòng</a:t>
            </a:r>
            <a:r>
              <a:rPr lang="en-US" sz="1700" dirty="0">
                <a:solidFill>
                  <a:srgbClr val="166534"/>
                </a:solidFill>
                <a:latin typeface="Arial" pitchFamily="34" charset="0"/>
                <a:ea typeface="Arial" pitchFamily="34" charset="-122"/>
                <a:cs typeface="Arial" pitchFamily="34" charset="-120"/>
              </a:rPr>
              <a:t> ban; đào tạo QTRR định kỳ</a:t>
            </a:r>
            <a:endParaRPr lang="en-US" sz="1700" dirty="0">
              <a:latin typeface="Arial" panose="020B0604020202020204" pitchFamily="34" charset="0"/>
            </a:endParaRPr>
          </a:p>
          <a:p>
            <a:pPr>
              <a:lnSpc>
                <a:spcPct val="110000"/>
              </a:lnSpc>
            </a:pPr>
            <a:r>
              <a:rPr lang="en-US" sz="1700" dirty="0">
                <a:solidFill>
                  <a:srgbClr val="166534"/>
                </a:solidFill>
                <a:latin typeface="Arial" pitchFamily="34" charset="0"/>
                <a:ea typeface="Arial" pitchFamily="34" charset="-122"/>
                <a:cs typeface="Arial" pitchFamily="34" charset="-120"/>
              </a:rPr>
              <a:t>• Đã có BCP/DRP; BP QTRR cung cấp báo cáo định kỳ và chuyên đề cho BGĐ</a:t>
            </a:r>
            <a:endParaRPr lang="en-US" sz="1700" dirty="0">
              <a:latin typeface="Arial" panose="020B0604020202020204" pitchFamily="34" charset="0"/>
            </a:endParaRPr>
          </a:p>
        </p:txBody>
      </p:sp>
      <p:sp>
        <p:nvSpPr>
          <p:cNvPr id="43" name="Text 41"/>
          <p:cNvSpPr/>
          <p:nvPr/>
        </p:nvSpPr>
        <p:spPr>
          <a:xfrm>
            <a:off x="9838944" y="8106156"/>
            <a:ext cx="8339328" cy="1280160"/>
          </a:xfrm>
          <a:prstGeom prst="rect">
            <a:avLst/>
          </a:prstGeom>
          <a:noFill/>
          <a:ln/>
        </p:spPr>
        <p:txBody>
          <a:bodyPr wrap="square" lIns="0" tIns="0" rIns="0" bIns="0" rtlCol="0" anchor="ctr"/>
          <a:lstStyle/>
          <a:p>
            <a:pPr>
              <a:lnSpc>
                <a:spcPct val="110000"/>
              </a:lnSpc>
            </a:pPr>
            <a:r>
              <a:rPr lang="en-US" sz="1700" dirty="0">
                <a:solidFill>
                  <a:srgbClr val="991B1B"/>
                </a:solidFill>
                <a:latin typeface="Arial" pitchFamily="34" charset="0"/>
                <a:ea typeface="Arial" pitchFamily="34" charset="-122"/>
                <a:cs typeface="Arial" pitchFamily="34" charset="-120"/>
              </a:rPr>
              <a:t>• Dữ liệu rủi ro phân tán (CNTT, khiếu nại, gian lận) — chưa quản trị tập trung; công cụ báo cáo còn thủ công</a:t>
            </a:r>
            <a:endParaRPr lang="en-US" sz="1700" dirty="0">
              <a:latin typeface="Arial" panose="020B0604020202020204" pitchFamily="34" charset="0"/>
            </a:endParaRPr>
          </a:p>
          <a:p>
            <a:pPr>
              <a:lnSpc>
                <a:spcPct val="110000"/>
              </a:lnSpc>
            </a:pPr>
            <a:r>
              <a:rPr lang="en-US" sz="1700" dirty="0">
                <a:solidFill>
                  <a:srgbClr val="991B1B"/>
                </a:solidFill>
                <a:latin typeface="Arial" pitchFamily="34" charset="0"/>
                <a:ea typeface="Arial" pitchFamily="34" charset="-122"/>
                <a:cs typeface="Arial" pitchFamily="34" charset="-120"/>
              </a:rPr>
              <a:t>• Chưa có dashboard QTRR tổng hợp và chưa </a:t>
            </a:r>
            <a:r>
              <a:rPr lang="en-US" sz="1700" dirty="0" err="1">
                <a:solidFill>
                  <a:srgbClr val="991B1B"/>
                </a:solidFill>
                <a:latin typeface="Arial" pitchFamily="34" charset="0"/>
                <a:ea typeface="Arial" pitchFamily="34" charset="-122"/>
                <a:cs typeface="Arial" pitchFamily="34" charset="-120"/>
              </a:rPr>
              <a:t>đánh</a:t>
            </a:r>
            <a:r>
              <a:rPr lang="en-US" sz="1700" dirty="0">
                <a:solidFill>
                  <a:srgbClr val="991B1B"/>
                </a:solidFill>
                <a:latin typeface="Arial" pitchFamily="34" charset="0"/>
                <a:ea typeface="Arial" pitchFamily="34" charset="-122"/>
                <a:cs typeface="Arial" pitchFamily="34" charset="-120"/>
              </a:rPr>
              <a:t> giá hiệu quả hoạt động QTRR có hệ thống</a:t>
            </a:r>
            <a:endParaRPr lang="en-US" sz="1700" dirty="0">
              <a:latin typeface="Arial" panose="020B0604020202020204" pitchFamily="34" charset="0"/>
            </a:endParaRPr>
          </a:p>
        </p:txBody>
      </p:sp>
      <p:sp>
        <p:nvSpPr>
          <p:cNvPr id="44" name="Shape 42"/>
          <p:cNvSpPr/>
          <p:nvPr/>
        </p:nvSpPr>
        <p:spPr>
          <a:xfrm>
            <a:off x="9674352" y="8179308"/>
            <a:ext cx="0" cy="1133856"/>
          </a:xfrm>
          <a:prstGeom prst="line">
            <a:avLst/>
          </a:prstGeom>
          <a:noFill/>
          <a:ln w="3810">
            <a:solidFill>
              <a:srgbClr val="E5E7EB"/>
            </a:solidFill>
            <a:prstDash val="solid"/>
          </a:ln>
        </p:spPr>
        <p:txBody>
          <a:bodyPr/>
          <a:lstStyle/>
          <a:p>
            <a:endParaRPr lang="en-US"/>
          </a:p>
        </p:txBody>
      </p:sp>
      <p:sp>
        <p:nvSpPr>
          <p:cNvPr id="45" name="Shape 43"/>
          <p:cNvSpPr/>
          <p:nvPr/>
        </p:nvSpPr>
        <p:spPr>
          <a:xfrm>
            <a:off x="0" y="9633204"/>
            <a:ext cx="18288000" cy="768096"/>
          </a:xfrm>
          <a:prstGeom prst="roundRect">
            <a:avLst>
              <a:gd name="adj" fmla="val 14286"/>
            </a:avLst>
          </a:prstGeom>
          <a:solidFill>
            <a:srgbClr val="C00000"/>
          </a:solidFill>
          <a:ln w="12700">
            <a:noFill/>
            <a:prstDash val="solid"/>
          </a:ln>
        </p:spPr>
        <p:txBody>
          <a:bodyPr/>
          <a:lstStyle/>
          <a:p>
            <a:endParaRPr lang="en-US"/>
          </a:p>
        </p:txBody>
      </p:sp>
      <p:sp>
        <p:nvSpPr>
          <p:cNvPr id="46" name="Text 44"/>
          <p:cNvSpPr/>
          <p:nvPr/>
        </p:nvSpPr>
        <p:spPr>
          <a:xfrm>
            <a:off x="0" y="9633204"/>
            <a:ext cx="18288000" cy="768096"/>
          </a:xfrm>
          <a:prstGeom prst="rect">
            <a:avLst/>
          </a:prstGeom>
          <a:noFill/>
          <a:ln/>
        </p:spPr>
        <p:txBody>
          <a:bodyPr wrap="square" lIns="0" tIns="0" rIns="0" bIns="0" rtlCol="0" anchor="ctr"/>
          <a:lstStyle/>
          <a:p>
            <a:pPr algn="ctr"/>
            <a:r>
              <a:rPr lang="en-US" sz="1900" b="1" i="1" dirty="0" err="1">
                <a:solidFill>
                  <a:srgbClr val="FFFFFF"/>
                </a:solidFill>
                <a:latin typeface="Arial" pitchFamily="34" charset="0"/>
                <a:ea typeface="Arial" pitchFamily="34" charset="-122"/>
                <a:cs typeface="Arial" pitchFamily="34" charset="-120"/>
              </a:rPr>
              <a:t>Bộ</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máy</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quản</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trị</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đã</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có</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tuy</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nhiên</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thiếu</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công</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cụ</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vận</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hành</a:t>
            </a:r>
            <a:r>
              <a:rPr lang="en-US" sz="1900" b="1" i="1" dirty="0">
                <a:solidFill>
                  <a:srgbClr val="FFFFFF"/>
                </a:solidFill>
                <a:latin typeface="Arial" pitchFamily="34" charset="0"/>
                <a:ea typeface="Arial" pitchFamily="34" charset="-122"/>
                <a:cs typeface="Arial" pitchFamily="34" charset="-120"/>
              </a:rPr>
              <a:t> (RAS, KRI, LED, Dashboard) → </a:t>
            </a:r>
            <a:r>
              <a:rPr lang="en-US" sz="1900" b="1" i="1" dirty="0" err="1">
                <a:solidFill>
                  <a:srgbClr val="FFFFFF"/>
                </a:solidFill>
                <a:latin typeface="Arial" pitchFamily="34" charset="0"/>
                <a:ea typeface="Arial" pitchFamily="34" charset="-122"/>
                <a:cs typeface="Arial" pitchFamily="34" charset="-120"/>
              </a:rPr>
              <a:t>Thông</a:t>
            </a:r>
            <a:r>
              <a:rPr lang="en-US" sz="1900" b="1" i="1" dirty="0">
                <a:solidFill>
                  <a:srgbClr val="FFFFFF"/>
                </a:solidFill>
                <a:latin typeface="Arial" pitchFamily="34" charset="0"/>
                <a:ea typeface="Arial" pitchFamily="34" charset="-122"/>
                <a:cs typeface="Arial" pitchFamily="34" charset="-120"/>
              </a:rPr>
              <a:t> tin </a:t>
            </a:r>
            <a:r>
              <a:rPr lang="en-US" sz="1900" b="1" i="1" dirty="0" err="1">
                <a:solidFill>
                  <a:srgbClr val="FFFFFF"/>
                </a:solidFill>
                <a:latin typeface="Arial" pitchFamily="34" charset="0"/>
                <a:ea typeface="Arial" pitchFamily="34" charset="-122"/>
                <a:cs typeface="Arial" pitchFamily="34" charset="-120"/>
              </a:rPr>
              <a:t>rủi</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ro</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chưa</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đến</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được</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lãnh</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đạo</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đúng</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lúc</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và</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đủ</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chiều</a:t>
            </a:r>
            <a:r>
              <a:rPr lang="en-US" sz="1900" b="1" i="1" dirty="0">
                <a:solidFill>
                  <a:srgbClr val="FFFFFF"/>
                </a:solidFill>
                <a:latin typeface="Arial" pitchFamily="34" charset="0"/>
                <a:ea typeface="Arial" pitchFamily="34" charset="-122"/>
                <a:cs typeface="Arial" pitchFamily="34" charset="-120"/>
              </a:rPr>
              <a:t> </a:t>
            </a:r>
            <a:r>
              <a:rPr lang="en-US" sz="1900" b="1" i="1" dirty="0" err="1">
                <a:solidFill>
                  <a:srgbClr val="FFFFFF"/>
                </a:solidFill>
                <a:latin typeface="Arial" pitchFamily="34" charset="0"/>
                <a:ea typeface="Arial" pitchFamily="34" charset="-122"/>
                <a:cs typeface="Arial" pitchFamily="34" charset="-120"/>
              </a:rPr>
              <a:t>sâu</a:t>
            </a:r>
            <a:endParaRPr lang="en-US" sz="1900" b="1" dirty="0">
              <a:latin typeface="Arial" panose="020B0604020202020204" pitchFamily="34" charset="0"/>
            </a:endParaRPr>
          </a:p>
        </p:txBody>
      </p:sp>
      <p:grpSp>
        <p:nvGrpSpPr>
          <p:cNvPr id="47" name="Group 2"/>
          <p:cNvGrpSpPr/>
          <p:nvPr/>
        </p:nvGrpSpPr>
        <p:grpSpPr>
          <a:xfrm>
            <a:off x="0" y="114299"/>
            <a:ext cx="10287000" cy="1097280"/>
            <a:chOff x="0" y="-2"/>
            <a:chExt cx="19479172" cy="1664815"/>
          </a:xfrm>
          <a:solidFill>
            <a:schemeClr val="bg1">
              <a:lumMod val="95000"/>
            </a:schemeClr>
          </a:solidFill>
        </p:grpSpPr>
        <p:sp>
          <p:nvSpPr>
            <p:cNvPr id="48" name="Freeform 3"/>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Đánh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marL="914400"/>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Tổng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quan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dựa</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i="1" dirty="0" err="1">
                  <a:solidFill>
                    <a:srgbClr val="000000"/>
                  </a:solidFill>
                  <a:latin typeface="Arial" panose="020B0604020202020204" pitchFamily="34" charset="0"/>
                  <a:ea typeface="Futura Ultra-Bold"/>
                  <a:cs typeface="Arial" panose="020B0604020202020204" pitchFamily="34" charset="0"/>
                  <a:sym typeface="Futura Ultra-Bold"/>
                </a:rPr>
                <a:t>trên</a:t>
              </a:r>
              <a:r>
                <a:rPr lang="en-US" sz="2400" b="1" i="1" dirty="0">
                  <a:solidFill>
                    <a:srgbClr val="000000"/>
                  </a:solidFill>
                  <a:latin typeface="Arial" panose="020B0604020202020204" pitchFamily="34" charset="0"/>
                  <a:ea typeface="Futura Ultra-Bold"/>
                  <a:cs typeface="Arial" panose="020B0604020202020204" pitchFamily="34" charset="0"/>
                  <a:sym typeface="Futura Ultra-Bold"/>
                </a:rPr>
                <a:t> COSO ERM 2017</a:t>
              </a:r>
            </a:p>
          </p:txBody>
        </p:sp>
      </p:grpSp>
      <p:grpSp>
        <p:nvGrpSpPr>
          <p:cNvPr id="49" name="Group 4"/>
          <p:cNvGrpSpPr/>
          <p:nvPr/>
        </p:nvGrpSpPr>
        <p:grpSpPr>
          <a:xfrm>
            <a:off x="0" y="114299"/>
            <a:ext cx="936307" cy="1097280"/>
            <a:chOff x="0" y="0"/>
            <a:chExt cx="1248410" cy="1554290"/>
          </a:xfrm>
        </p:grpSpPr>
        <p:sp>
          <p:nvSpPr>
            <p:cNvPr id="50"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Tree>
    <p:extLst>
      <p:ext uri="{BB962C8B-B14F-4D97-AF65-F5344CB8AC3E}">
        <p14:creationId xmlns:p14="http://schemas.microsoft.com/office/powerpoint/2010/main" val="3175581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ounded Rectangle 36"/>
          <p:cNvSpPr/>
          <p:nvPr/>
        </p:nvSpPr>
        <p:spPr>
          <a:xfrm>
            <a:off x="0" y="9727978"/>
            <a:ext cx="18302514" cy="679812"/>
          </a:xfrm>
          <a:prstGeom prst="round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2" name="Shape 8"/>
          <p:cNvSpPr/>
          <p:nvPr/>
        </p:nvSpPr>
        <p:spPr>
          <a:xfrm>
            <a:off x="270546" y="2016361"/>
            <a:ext cx="17775936" cy="676656"/>
          </a:xfrm>
          <a:prstGeom prst="rect">
            <a:avLst/>
          </a:prstGeom>
          <a:solidFill>
            <a:srgbClr val="F9FAFB"/>
          </a:solidFill>
          <a:ln w="12700">
            <a:solidFill>
              <a:srgbClr val="F9FAFB"/>
            </a:solidFill>
            <a:prstDash val="solid"/>
          </a:ln>
        </p:spPr>
        <p:txBody>
          <a:bodyPr/>
          <a:lstStyle/>
          <a:p>
            <a:endParaRPr lang="en-US"/>
          </a:p>
        </p:txBody>
      </p:sp>
      <p:sp>
        <p:nvSpPr>
          <p:cNvPr id="33" name="Shape 19"/>
          <p:cNvSpPr/>
          <p:nvPr/>
        </p:nvSpPr>
        <p:spPr>
          <a:xfrm>
            <a:off x="270546" y="3546131"/>
            <a:ext cx="17775936" cy="676656"/>
          </a:xfrm>
          <a:prstGeom prst="rect">
            <a:avLst/>
          </a:prstGeom>
          <a:solidFill>
            <a:srgbClr val="F9FAFB"/>
          </a:solidFill>
          <a:ln w="12700">
            <a:solidFill>
              <a:srgbClr val="F9FAFB"/>
            </a:solidFill>
            <a:prstDash val="solid"/>
          </a:ln>
        </p:spPr>
        <p:txBody>
          <a:bodyPr/>
          <a:lstStyle/>
          <a:p>
            <a:endParaRPr lang="en-US"/>
          </a:p>
        </p:txBody>
      </p:sp>
      <p:sp>
        <p:nvSpPr>
          <p:cNvPr id="34" name="Shape 30"/>
          <p:cNvSpPr/>
          <p:nvPr/>
        </p:nvSpPr>
        <p:spPr>
          <a:xfrm>
            <a:off x="402336" y="5146548"/>
            <a:ext cx="17775936" cy="676656"/>
          </a:xfrm>
          <a:prstGeom prst="rect">
            <a:avLst/>
          </a:prstGeom>
          <a:solidFill>
            <a:srgbClr val="F9FAFB"/>
          </a:solidFill>
          <a:ln w="12700">
            <a:solidFill>
              <a:srgbClr val="F9FAFB"/>
            </a:solidFill>
            <a:prstDash val="solid"/>
          </a:ln>
        </p:spPr>
        <p:txBody>
          <a:bodyPr/>
          <a:lstStyle/>
          <a:p>
            <a:endParaRPr lang="en-US"/>
          </a:p>
        </p:txBody>
      </p:sp>
      <p:sp>
        <p:nvSpPr>
          <p:cNvPr id="35" name="Shape 41"/>
          <p:cNvSpPr/>
          <p:nvPr/>
        </p:nvSpPr>
        <p:spPr>
          <a:xfrm>
            <a:off x="402336" y="6717466"/>
            <a:ext cx="17775936" cy="676656"/>
          </a:xfrm>
          <a:prstGeom prst="rect">
            <a:avLst/>
          </a:prstGeom>
          <a:solidFill>
            <a:srgbClr val="F9FAFB"/>
          </a:solidFill>
          <a:ln w="12700">
            <a:solidFill>
              <a:srgbClr val="F9FAFB"/>
            </a:solidFill>
            <a:prstDash val="solid"/>
          </a:ln>
        </p:spPr>
        <p:txBody>
          <a:bodyPr/>
          <a:lstStyle/>
          <a:p>
            <a:endParaRPr lang="en-US"/>
          </a:p>
        </p:txBody>
      </p:sp>
      <p:sp>
        <p:nvSpPr>
          <p:cNvPr id="36" name="Shape 52"/>
          <p:cNvSpPr/>
          <p:nvPr/>
        </p:nvSpPr>
        <p:spPr>
          <a:xfrm>
            <a:off x="402336" y="8258556"/>
            <a:ext cx="17775936" cy="676656"/>
          </a:xfrm>
          <a:prstGeom prst="rect">
            <a:avLst/>
          </a:prstGeom>
          <a:solidFill>
            <a:srgbClr val="F9FAFB"/>
          </a:solidFill>
          <a:ln w="12700">
            <a:solidFill>
              <a:srgbClr val="F9FAFB"/>
            </a:solidFill>
            <a:prstDash val="solid"/>
          </a:ln>
        </p:spPr>
        <p:txBody>
          <a:bodyPr/>
          <a:lstStyle/>
          <a:p>
            <a:endParaRPr lang="en-US"/>
          </a:p>
        </p:txBody>
      </p:sp>
      <p:grpSp>
        <p:nvGrpSpPr>
          <p:cNvPr id="60" name="Group 2"/>
          <p:cNvGrpSpPr/>
          <p:nvPr/>
        </p:nvGrpSpPr>
        <p:grpSpPr>
          <a:xfrm>
            <a:off x="0" y="114299"/>
            <a:ext cx="13106400" cy="1097280"/>
            <a:chOff x="0" y="-2"/>
            <a:chExt cx="24799898" cy="1664815"/>
          </a:xfrm>
          <a:solidFill>
            <a:schemeClr val="bg1">
              <a:lumMod val="95000"/>
            </a:schemeClr>
          </a:solidFill>
        </p:grpSpPr>
        <p:sp>
          <p:nvSpPr>
            <p:cNvPr id="61" name="Freeform 3"/>
            <p:cNvSpPr/>
            <p:nvPr/>
          </p:nvSpPr>
          <p:spPr>
            <a:xfrm>
              <a:off x="0" y="-2"/>
              <a:ext cx="24799898"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So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sánh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giữa</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cách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làm</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truyền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thống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và</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a:latin typeface="Arial" panose="020B0604020202020204" pitchFamily="34" charset="0"/>
                  <a:ea typeface="Futura Ultra-Bold"/>
                  <a:cs typeface="Arial" panose="020B0604020202020204" pitchFamily="34" charset="0"/>
                  <a:sym typeface="Futura Ultra-Bold"/>
                </a:rPr>
                <a:t>ERM</a:t>
              </a:r>
            </a:p>
          </p:txBody>
        </p:sp>
      </p:grpSp>
      <p:grpSp>
        <p:nvGrpSpPr>
          <p:cNvPr id="62" name="Group 4"/>
          <p:cNvGrpSpPr/>
          <p:nvPr/>
        </p:nvGrpSpPr>
        <p:grpSpPr>
          <a:xfrm>
            <a:off x="0" y="114299"/>
            <a:ext cx="936307" cy="1097280"/>
            <a:chOff x="0" y="0"/>
            <a:chExt cx="1248410" cy="1554290"/>
          </a:xfrm>
        </p:grpSpPr>
        <p:sp>
          <p:nvSpPr>
            <p:cNvPr id="6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6" name="Shape 2"/>
          <p:cNvSpPr/>
          <p:nvPr/>
        </p:nvSpPr>
        <p:spPr>
          <a:xfrm>
            <a:off x="256032" y="1252728"/>
            <a:ext cx="3364992" cy="658368"/>
          </a:xfrm>
          <a:prstGeom prst="roundRect">
            <a:avLst>
              <a:gd name="adj" fmla="val 11111"/>
            </a:avLst>
          </a:prstGeom>
          <a:solidFill>
            <a:srgbClr val="376092"/>
          </a:solidFill>
          <a:ln w="12700">
            <a:solidFill>
              <a:srgbClr val="1B3A6B"/>
            </a:solidFill>
            <a:prstDash val="solid"/>
          </a:ln>
        </p:spPr>
        <p:txBody>
          <a:bodyPr/>
          <a:lstStyle/>
          <a:p>
            <a:endParaRPr lang="en-US"/>
          </a:p>
        </p:txBody>
      </p:sp>
      <p:sp>
        <p:nvSpPr>
          <p:cNvPr id="7" name="Text 3"/>
          <p:cNvSpPr/>
          <p:nvPr/>
        </p:nvSpPr>
        <p:spPr>
          <a:xfrm>
            <a:off x="256032" y="1252728"/>
            <a:ext cx="3364992" cy="658368"/>
          </a:xfrm>
          <a:prstGeom prst="rect">
            <a:avLst/>
          </a:prstGeom>
          <a:noFill/>
          <a:ln/>
        </p:spPr>
        <p:txBody>
          <a:bodyPr wrap="square" lIns="0" tIns="0" rIns="0" bIns="0" rtlCol="0" anchor="ctr"/>
          <a:lstStyle/>
          <a:p>
            <a:pPr algn="ctr"/>
            <a:r>
              <a:rPr lang="en-US" sz="2000" b="1" dirty="0">
                <a:solidFill>
                  <a:srgbClr val="FFFFFF"/>
                </a:solidFill>
                <a:latin typeface="Arial" pitchFamily="34" charset="0"/>
                <a:ea typeface="Arial" pitchFamily="34" charset="-122"/>
                <a:cs typeface="Arial" pitchFamily="34" charset="-120"/>
              </a:rPr>
              <a:t>KHÍA CẠNH</a:t>
            </a:r>
            <a:endParaRPr lang="en-US" sz="2000" dirty="0">
              <a:latin typeface="Arial" panose="020B0604020202020204" pitchFamily="34" charset="0"/>
            </a:endParaRPr>
          </a:p>
        </p:txBody>
      </p:sp>
      <p:sp>
        <p:nvSpPr>
          <p:cNvPr id="8" name="Shape 4"/>
          <p:cNvSpPr/>
          <p:nvPr/>
        </p:nvSpPr>
        <p:spPr>
          <a:xfrm>
            <a:off x="3803904" y="1252728"/>
            <a:ext cx="6986016" cy="658368"/>
          </a:xfrm>
          <a:prstGeom prst="roundRect">
            <a:avLst>
              <a:gd name="adj" fmla="val 11111"/>
            </a:avLst>
          </a:prstGeom>
          <a:solidFill>
            <a:srgbClr val="FEE2E2"/>
          </a:solidFill>
          <a:ln w="6350">
            <a:solidFill>
              <a:srgbClr val="B91C1C"/>
            </a:solidFill>
            <a:prstDash val="solid"/>
          </a:ln>
        </p:spPr>
        <p:txBody>
          <a:bodyPr/>
          <a:lstStyle/>
          <a:p>
            <a:endParaRPr lang="en-US"/>
          </a:p>
        </p:txBody>
      </p:sp>
      <p:sp>
        <p:nvSpPr>
          <p:cNvPr id="9" name="Shape 6"/>
          <p:cNvSpPr/>
          <p:nvPr/>
        </p:nvSpPr>
        <p:spPr>
          <a:xfrm>
            <a:off x="11045952" y="1252728"/>
            <a:ext cx="6986016" cy="658368"/>
          </a:xfrm>
          <a:prstGeom prst="roundRect">
            <a:avLst>
              <a:gd name="adj" fmla="val 11111"/>
            </a:avLst>
          </a:prstGeom>
          <a:solidFill>
            <a:srgbClr val="DCFCE7"/>
          </a:solidFill>
          <a:ln w="6350">
            <a:solidFill>
              <a:srgbClr val="15803D"/>
            </a:solidFill>
            <a:prstDash val="solid"/>
          </a:ln>
        </p:spPr>
        <p:txBody>
          <a:bodyPr/>
          <a:lstStyle/>
          <a:p>
            <a:endParaRPr lang="en-US"/>
          </a:p>
        </p:txBody>
      </p:sp>
      <p:sp>
        <p:nvSpPr>
          <p:cNvPr id="10" name="Text 5"/>
          <p:cNvSpPr/>
          <p:nvPr/>
        </p:nvSpPr>
        <p:spPr>
          <a:xfrm>
            <a:off x="3956304" y="1235964"/>
            <a:ext cx="6986016" cy="658368"/>
          </a:xfrm>
          <a:prstGeom prst="rect">
            <a:avLst/>
          </a:prstGeom>
          <a:noFill/>
          <a:ln/>
        </p:spPr>
        <p:txBody>
          <a:bodyPr wrap="square" lIns="0" tIns="0" rIns="0" bIns="0" rtlCol="0" anchor="ctr"/>
          <a:lstStyle/>
          <a:p>
            <a:pPr algn="ctr"/>
            <a:r>
              <a:rPr lang="en-US" sz="2000" b="1" dirty="0">
                <a:solidFill>
                  <a:srgbClr val="B91C1C"/>
                </a:solidFill>
                <a:latin typeface="Arial" pitchFamily="34" charset="0"/>
                <a:ea typeface="Arial" pitchFamily="34" charset="-122"/>
                <a:cs typeface="Arial" pitchFamily="34" charset="-120"/>
              </a:rPr>
              <a:t>✕  QTRR TRUYỀN THỐNG </a:t>
            </a:r>
            <a:endParaRPr lang="en-US" sz="2000" dirty="0">
              <a:latin typeface="Arial" panose="020B0604020202020204" pitchFamily="34" charset="0"/>
            </a:endParaRPr>
          </a:p>
        </p:txBody>
      </p:sp>
      <p:sp>
        <p:nvSpPr>
          <p:cNvPr id="11" name="Text 7"/>
          <p:cNvSpPr/>
          <p:nvPr/>
        </p:nvSpPr>
        <p:spPr>
          <a:xfrm>
            <a:off x="11198352" y="1235964"/>
            <a:ext cx="6986016" cy="658368"/>
          </a:xfrm>
          <a:prstGeom prst="rect">
            <a:avLst/>
          </a:prstGeom>
          <a:noFill/>
          <a:ln/>
        </p:spPr>
        <p:txBody>
          <a:bodyPr wrap="square" lIns="0" tIns="0" rIns="0" bIns="0" rtlCol="0" anchor="ctr"/>
          <a:lstStyle/>
          <a:p>
            <a:pPr algn="ctr"/>
            <a:r>
              <a:rPr lang="en-US" sz="2000" b="1" dirty="0">
                <a:solidFill>
                  <a:srgbClr val="15803D"/>
                </a:solidFill>
                <a:latin typeface="Arial" pitchFamily="34" charset="0"/>
                <a:ea typeface="Arial" pitchFamily="34" charset="-122"/>
                <a:cs typeface="Arial" pitchFamily="34" charset="-120"/>
              </a:rPr>
              <a:t>✓  QTRRDN - ERM (COSO 2017)</a:t>
            </a:r>
            <a:endParaRPr lang="en-US" sz="2000" dirty="0">
              <a:latin typeface="Arial" panose="020B0604020202020204" pitchFamily="34" charset="0"/>
            </a:endParaRPr>
          </a:p>
        </p:txBody>
      </p:sp>
      <p:pic>
        <p:nvPicPr>
          <p:cNvPr id="12" name="Image 0" descr="preencoded.png"/>
          <p:cNvPicPr>
            <a:picLocks noChangeAspect="1"/>
          </p:cNvPicPr>
          <p:nvPr/>
        </p:nvPicPr>
        <p:blipFill>
          <a:blip r:embed="rId3"/>
          <a:stretch>
            <a:fillRect/>
          </a:stretch>
        </p:blipFill>
        <p:spPr>
          <a:xfrm>
            <a:off x="402336" y="2130552"/>
            <a:ext cx="384048" cy="384048"/>
          </a:xfrm>
          <a:prstGeom prst="rect">
            <a:avLst/>
          </a:prstGeom>
        </p:spPr>
      </p:pic>
      <p:sp>
        <p:nvSpPr>
          <p:cNvPr id="13" name="Text 9"/>
          <p:cNvSpPr/>
          <p:nvPr/>
        </p:nvSpPr>
        <p:spPr>
          <a:xfrm>
            <a:off x="950976" y="1984248"/>
            <a:ext cx="2651760" cy="676656"/>
          </a:xfrm>
          <a:prstGeom prst="rect">
            <a:avLst/>
          </a:prstGeom>
          <a:noFill/>
          <a:ln/>
        </p:spPr>
        <p:txBody>
          <a:bodyPr wrap="square" lIns="0" tIns="0" rIns="0" bIns="0" rtlCol="0" anchor="ctr"/>
          <a:lstStyle/>
          <a:p>
            <a:r>
              <a:rPr lang="en-US" sz="2000" b="1" dirty="0">
                <a:solidFill>
                  <a:schemeClr val="tx2">
                    <a:lumMod val="75000"/>
                  </a:schemeClr>
                </a:solidFill>
                <a:latin typeface="Arial" pitchFamily="34" charset="0"/>
                <a:ea typeface="Arial" pitchFamily="34" charset="-122"/>
                <a:cs typeface="Arial" pitchFamily="34" charset="-120"/>
              </a:rPr>
              <a:t>Phạm vi</a:t>
            </a:r>
            <a:endParaRPr lang="en-US" sz="2000" dirty="0">
              <a:solidFill>
                <a:schemeClr val="tx2">
                  <a:lumMod val="75000"/>
                </a:schemeClr>
              </a:solidFill>
              <a:latin typeface="Arial" panose="020B0604020202020204" pitchFamily="34" charset="0"/>
            </a:endParaRPr>
          </a:p>
        </p:txBody>
      </p:sp>
      <p:pic>
        <p:nvPicPr>
          <p:cNvPr id="14" name="Image 1" descr="preencoded.png"/>
          <p:cNvPicPr>
            <a:picLocks noChangeAspect="1"/>
          </p:cNvPicPr>
          <p:nvPr/>
        </p:nvPicPr>
        <p:blipFill>
          <a:blip r:embed="rId4"/>
          <a:stretch>
            <a:fillRect/>
          </a:stretch>
        </p:blipFill>
        <p:spPr>
          <a:xfrm>
            <a:off x="402336" y="2924556"/>
            <a:ext cx="384048" cy="384048"/>
          </a:xfrm>
          <a:prstGeom prst="rect">
            <a:avLst/>
          </a:prstGeom>
        </p:spPr>
      </p:pic>
      <p:sp>
        <p:nvSpPr>
          <p:cNvPr id="15" name="Text 14"/>
          <p:cNvSpPr/>
          <p:nvPr/>
        </p:nvSpPr>
        <p:spPr>
          <a:xfrm>
            <a:off x="950976" y="2778252"/>
            <a:ext cx="2670048" cy="676656"/>
          </a:xfrm>
          <a:prstGeom prst="rect">
            <a:avLst/>
          </a:prstGeom>
          <a:noFill/>
          <a:ln/>
        </p:spPr>
        <p:txBody>
          <a:bodyPr wrap="square" lIns="0" tIns="0" rIns="0" bIns="0" rtlCol="0" anchor="ctr"/>
          <a:lstStyle/>
          <a:p>
            <a:r>
              <a:rPr lang="en-US" sz="2000" b="1" dirty="0" err="1">
                <a:solidFill>
                  <a:schemeClr val="tx2">
                    <a:lumMod val="75000"/>
                  </a:schemeClr>
                </a:solidFill>
                <a:latin typeface="Arial" pitchFamily="34" charset="0"/>
                <a:ea typeface="Arial" pitchFamily="34" charset="-122"/>
                <a:cs typeface="Arial" pitchFamily="34" charset="-120"/>
              </a:rPr>
              <a:t>Gắn</a:t>
            </a:r>
            <a:r>
              <a:rPr lang="en-US" sz="2000" b="1" dirty="0">
                <a:solidFill>
                  <a:schemeClr val="tx2">
                    <a:lumMod val="75000"/>
                  </a:schemeClr>
                </a:solidFill>
                <a:latin typeface="Arial" pitchFamily="34" charset="0"/>
                <a:ea typeface="Arial" pitchFamily="34" charset="-122"/>
                <a:cs typeface="Arial" pitchFamily="34" charset="-120"/>
              </a:rPr>
              <a:t> </a:t>
            </a:r>
            <a:r>
              <a:rPr lang="en-US" sz="2000" b="1" dirty="0" err="1">
                <a:solidFill>
                  <a:schemeClr val="tx2">
                    <a:lumMod val="75000"/>
                  </a:schemeClr>
                </a:solidFill>
                <a:latin typeface="Arial" pitchFamily="34" charset="0"/>
                <a:ea typeface="Arial" pitchFamily="34" charset="-122"/>
                <a:cs typeface="Arial" pitchFamily="34" charset="-120"/>
              </a:rPr>
              <a:t>kết</a:t>
            </a:r>
            <a:r>
              <a:rPr lang="en-US" sz="2000" dirty="0">
                <a:solidFill>
                  <a:schemeClr val="tx2">
                    <a:lumMod val="75000"/>
                  </a:schemeClr>
                </a:solidFill>
                <a:latin typeface="Arial" panose="020B0604020202020204" pitchFamily="34" charset="0"/>
              </a:rPr>
              <a:t> </a:t>
            </a:r>
            <a:r>
              <a:rPr lang="en-US" sz="2000" b="1" dirty="0" err="1">
                <a:solidFill>
                  <a:schemeClr val="tx2">
                    <a:lumMod val="75000"/>
                  </a:schemeClr>
                </a:solidFill>
                <a:latin typeface="Arial" pitchFamily="34" charset="0"/>
                <a:ea typeface="Arial" pitchFamily="34" charset="-122"/>
                <a:cs typeface="Arial" pitchFamily="34" charset="-120"/>
              </a:rPr>
              <a:t>chiến</a:t>
            </a:r>
            <a:r>
              <a:rPr lang="en-US" sz="2000" b="1" dirty="0">
                <a:solidFill>
                  <a:schemeClr val="tx2">
                    <a:lumMod val="75000"/>
                  </a:schemeClr>
                </a:solidFill>
                <a:latin typeface="Arial" pitchFamily="34" charset="0"/>
                <a:ea typeface="Arial" pitchFamily="34" charset="-122"/>
                <a:cs typeface="Arial" pitchFamily="34" charset="-120"/>
              </a:rPr>
              <a:t> lược</a:t>
            </a:r>
            <a:endParaRPr lang="en-US" sz="2000" dirty="0">
              <a:solidFill>
                <a:schemeClr val="tx2">
                  <a:lumMod val="75000"/>
                </a:schemeClr>
              </a:solidFill>
              <a:latin typeface="Arial" panose="020B0604020202020204" pitchFamily="34" charset="0"/>
            </a:endParaRPr>
          </a:p>
        </p:txBody>
      </p:sp>
      <p:pic>
        <p:nvPicPr>
          <p:cNvPr id="16" name="Image 2" descr="preencoded.png"/>
          <p:cNvPicPr>
            <a:picLocks noChangeAspect="1"/>
          </p:cNvPicPr>
          <p:nvPr/>
        </p:nvPicPr>
        <p:blipFill>
          <a:blip r:embed="rId5"/>
          <a:stretch>
            <a:fillRect/>
          </a:stretch>
        </p:blipFill>
        <p:spPr>
          <a:xfrm>
            <a:off x="402336" y="3713988"/>
            <a:ext cx="384048" cy="384048"/>
          </a:xfrm>
          <a:prstGeom prst="rect">
            <a:avLst/>
          </a:prstGeom>
        </p:spPr>
      </p:pic>
      <p:sp>
        <p:nvSpPr>
          <p:cNvPr id="17" name="Text 20"/>
          <p:cNvSpPr/>
          <p:nvPr/>
        </p:nvSpPr>
        <p:spPr>
          <a:xfrm>
            <a:off x="950976" y="3567684"/>
            <a:ext cx="2651760" cy="676656"/>
          </a:xfrm>
          <a:prstGeom prst="rect">
            <a:avLst/>
          </a:prstGeom>
          <a:noFill/>
          <a:ln/>
        </p:spPr>
        <p:txBody>
          <a:bodyPr wrap="square" lIns="0" tIns="0" rIns="0" bIns="0" rtlCol="0" anchor="ctr"/>
          <a:lstStyle/>
          <a:p>
            <a:r>
              <a:rPr lang="en-US" sz="2000" b="1" dirty="0" err="1">
                <a:solidFill>
                  <a:schemeClr val="tx2">
                    <a:lumMod val="75000"/>
                  </a:schemeClr>
                </a:solidFill>
                <a:latin typeface="Arial" pitchFamily="34" charset="0"/>
                <a:ea typeface="Arial" pitchFamily="34" charset="-122"/>
                <a:cs typeface="Arial" pitchFamily="34" charset="-120"/>
              </a:rPr>
              <a:t>Khẩu</a:t>
            </a:r>
            <a:r>
              <a:rPr lang="en-US" sz="2000" b="1" dirty="0">
                <a:solidFill>
                  <a:schemeClr val="tx2">
                    <a:lumMod val="75000"/>
                  </a:schemeClr>
                </a:solidFill>
                <a:latin typeface="Arial" pitchFamily="34" charset="0"/>
                <a:ea typeface="Arial" pitchFamily="34" charset="-122"/>
                <a:cs typeface="Arial" pitchFamily="34" charset="-120"/>
              </a:rPr>
              <a:t> </a:t>
            </a:r>
            <a:r>
              <a:rPr lang="en-US" sz="2000" b="1" dirty="0" err="1">
                <a:solidFill>
                  <a:schemeClr val="tx2">
                    <a:lumMod val="75000"/>
                  </a:schemeClr>
                </a:solidFill>
                <a:latin typeface="Arial" pitchFamily="34" charset="0"/>
                <a:ea typeface="Arial" pitchFamily="34" charset="-122"/>
                <a:cs typeface="Arial" pitchFamily="34" charset="-120"/>
              </a:rPr>
              <a:t>vị</a:t>
            </a:r>
            <a:r>
              <a:rPr lang="en-US" sz="2000" dirty="0">
                <a:solidFill>
                  <a:schemeClr val="tx2">
                    <a:lumMod val="75000"/>
                  </a:schemeClr>
                </a:solidFill>
                <a:latin typeface="Arial" panose="020B0604020202020204" pitchFamily="34" charset="0"/>
              </a:rPr>
              <a:t> </a:t>
            </a:r>
            <a:r>
              <a:rPr lang="en-US" sz="2000" b="1" dirty="0" err="1">
                <a:solidFill>
                  <a:schemeClr val="tx2">
                    <a:lumMod val="75000"/>
                  </a:schemeClr>
                </a:solidFill>
                <a:latin typeface="Arial" pitchFamily="34" charset="0"/>
                <a:ea typeface="Arial" pitchFamily="34" charset="-122"/>
                <a:cs typeface="Arial" pitchFamily="34" charset="-120"/>
              </a:rPr>
              <a:t>rủi</a:t>
            </a:r>
            <a:r>
              <a:rPr lang="en-US" sz="2000" b="1" dirty="0">
                <a:solidFill>
                  <a:schemeClr val="tx2">
                    <a:lumMod val="75000"/>
                  </a:schemeClr>
                </a:solidFill>
                <a:latin typeface="Arial" pitchFamily="34" charset="0"/>
                <a:ea typeface="Arial" pitchFamily="34" charset="-122"/>
                <a:cs typeface="Arial" pitchFamily="34" charset="-120"/>
              </a:rPr>
              <a:t> ro</a:t>
            </a:r>
            <a:endParaRPr lang="en-US" sz="2000" dirty="0">
              <a:solidFill>
                <a:schemeClr val="tx2">
                  <a:lumMod val="75000"/>
                </a:schemeClr>
              </a:solidFill>
              <a:latin typeface="Arial" panose="020B0604020202020204" pitchFamily="34" charset="0"/>
            </a:endParaRPr>
          </a:p>
        </p:txBody>
      </p:sp>
      <p:pic>
        <p:nvPicPr>
          <p:cNvPr id="18" name="Image 3" descr="preencoded.png"/>
          <p:cNvPicPr>
            <a:picLocks noChangeAspect="1"/>
          </p:cNvPicPr>
          <p:nvPr/>
        </p:nvPicPr>
        <p:blipFill>
          <a:blip r:embed="rId6"/>
          <a:stretch>
            <a:fillRect/>
          </a:stretch>
        </p:blipFill>
        <p:spPr>
          <a:xfrm>
            <a:off x="402336" y="4503420"/>
            <a:ext cx="384048" cy="384048"/>
          </a:xfrm>
          <a:prstGeom prst="rect">
            <a:avLst/>
          </a:prstGeom>
        </p:spPr>
      </p:pic>
      <p:sp>
        <p:nvSpPr>
          <p:cNvPr id="19" name="Text 25"/>
          <p:cNvSpPr/>
          <p:nvPr/>
        </p:nvSpPr>
        <p:spPr>
          <a:xfrm>
            <a:off x="950976" y="4357116"/>
            <a:ext cx="2651760" cy="676656"/>
          </a:xfrm>
          <a:prstGeom prst="rect">
            <a:avLst/>
          </a:prstGeom>
          <a:noFill/>
          <a:ln/>
        </p:spPr>
        <p:txBody>
          <a:bodyPr wrap="square" lIns="0" tIns="0" rIns="0" bIns="0" rtlCol="0" anchor="ctr"/>
          <a:lstStyle/>
          <a:p>
            <a:r>
              <a:rPr lang="en-US" sz="2000" b="1" dirty="0" err="1">
                <a:solidFill>
                  <a:schemeClr val="tx2">
                    <a:lumMod val="75000"/>
                  </a:schemeClr>
                </a:solidFill>
                <a:latin typeface="Arial" pitchFamily="34" charset="0"/>
                <a:ea typeface="Arial" pitchFamily="34" charset="-122"/>
                <a:cs typeface="Arial" pitchFamily="34" charset="-120"/>
              </a:rPr>
              <a:t>Nhận</a:t>
            </a:r>
            <a:r>
              <a:rPr lang="en-US" sz="2000" b="1" dirty="0">
                <a:solidFill>
                  <a:schemeClr val="tx2">
                    <a:lumMod val="75000"/>
                  </a:schemeClr>
                </a:solidFill>
                <a:latin typeface="Arial" pitchFamily="34" charset="0"/>
                <a:ea typeface="Arial" pitchFamily="34" charset="-122"/>
                <a:cs typeface="Arial" pitchFamily="34" charset="-120"/>
              </a:rPr>
              <a:t> </a:t>
            </a:r>
            <a:r>
              <a:rPr lang="en-US" sz="2000" b="1" dirty="0" err="1">
                <a:solidFill>
                  <a:schemeClr val="tx2">
                    <a:lumMod val="75000"/>
                  </a:schemeClr>
                </a:solidFill>
                <a:latin typeface="Arial" pitchFamily="34" charset="0"/>
                <a:ea typeface="Arial" pitchFamily="34" charset="-122"/>
                <a:cs typeface="Arial" pitchFamily="34" charset="-120"/>
              </a:rPr>
              <a:t>diện</a:t>
            </a:r>
            <a:r>
              <a:rPr lang="en-US" sz="2000" dirty="0">
                <a:solidFill>
                  <a:schemeClr val="tx2">
                    <a:lumMod val="75000"/>
                  </a:schemeClr>
                </a:solidFill>
                <a:latin typeface="Arial" panose="020B0604020202020204" pitchFamily="34" charset="0"/>
              </a:rPr>
              <a:t> </a:t>
            </a:r>
            <a:r>
              <a:rPr lang="en-US" sz="2000" b="1" dirty="0" err="1">
                <a:solidFill>
                  <a:schemeClr val="tx2">
                    <a:lumMod val="75000"/>
                  </a:schemeClr>
                </a:solidFill>
                <a:latin typeface="Arial" pitchFamily="34" charset="0"/>
                <a:ea typeface="Arial" pitchFamily="34" charset="-122"/>
                <a:cs typeface="Arial" pitchFamily="34" charset="-120"/>
              </a:rPr>
              <a:t>rủi</a:t>
            </a:r>
            <a:r>
              <a:rPr lang="en-US" sz="2000" b="1" dirty="0">
                <a:solidFill>
                  <a:schemeClr val="tx2">
                    <a:lumMod val="75000"/>
                  </a:schemeClr>
                </a:solidFill>
                <a:latin typeface="Arial" pitchFamily="34" charset="0"/>
                <a:ea typeface="Arial" pitchFamily="34" charset="-122"/>
                <a:cs typeface="Arial" pitchFamily="34" charset="-120"/>
              </a:rPr>
              <a:t> ro</a:t>
            </a:r>
            <a:endParaRPr lang="en-US" sz="2000" dirty="0">
              <a:solidFill>
                <a:schemeClr val="tx2">
                  <a:lumMod val="75000"/>
                </a:schemeClr>
              </a:solidFill>
              <a:latin typeface="Arial" panose="020B0604020202020204" pitchFamily="34" charset="0"/>
            </a:endParaRPr>
          </a:p>
        </p:txBody>
      </p:sp>
      <p:pic>
        <p:nvPicPr>
          <p:cNvPr id="20" name="Image 4" descr="preencoded.png"/>
          <p:cNvPicPr>
            <a:picLocks noChangeAspect="1"/>
          </p:cNvPicPr>
          <p:nvPr/>
        </p:nvPicPr>
        <p:blipFill>
          <a:blip r:embed="rId7"/>
          <a:stretch>
            <a:fillRect/>
          </a:stretch>
        </p:blipFill>
        <p:spPr>
          <a:xfrm>
            <a:off x="402336" y="5292852"/>
            <a:ext cx="384048" cy="384048"/>
          </a:xfrm>
          <a:prstGeom prst="rect">
            <a:avLst/>
          </a:prstGeom>
        </p:spPr>
      </p:pic>
      <p:sp>
        <p:nvSpPr>
          <p:cNvPr id="21" name="Text 31"/>
          <p:cNvSpPr/>
          <p:nvPr/>
        </p:nvSpPr>
        <p:spPr>
          <a:xfrm>
            <a:off x="950976" y="5146548"/>
            <a:ext cx="2651760" cy="676656"/>
          </a:xfrm>
          <a:prstGeom prst="rect">
            <a:avLst/>
          </a:prstGeom>
          <a:noFill/>
          <a:ln/>
        </p:spPr>
        <p:txBody>
          <a:bodyPr wrap="square" lIns="0" tIns="0" rIns="0" bIns="0" rtlCol="0" anchor="ctr"/>
          <a:lstStyle/>
          <a:p>
            <a:r>
              <a:rPr lang="en-US" sz="2000" b="1" dirty="0">
                <a:solidFill>
                  <a:schemeClr val="tx2">
                    <a:lumMod val="75000"/>
                  </a:schemeClr>
                </a:solidFill>
                <a:latin typeface="Arial" pitchFamily="34" charset="0"/>
                <a:ea typeface="Arial" pitchFamily="34" charset="-122"/>
                <a:cs typeface="Arial" pitchFamily="34" charset="-120"/>
              </a:rPr>
              <a:t>Đánh </a:t>
            </a:r>
            <a:r>
              <a:rPr lang="en-US" sz="2000" b="1" dirty="0" err="1">
                <a:solidFill>
                  <a:schemeClr val="tx2">
                    <a:lumMod val="75000"/>
                  </a:schemeClr>
                </a:solidFill>
                <a:latin typeface="Arial" pitchFamily="34" charset="0"/>
                <a:ea typeface="Arial" pitchFamily="34" charset="-122"/>
                <a:cs typeface="Arial" pitchFamily="34" charset="-120"/>
              </a:rPr>
              <a:t>giá</a:t>
            </a:r>
            <a:r>
              <a:rPr lang="en-US" sz="2000" dirty="0">
                <a:solidFill>
                  <a:schemeClr val="tx2">
                    <a:lumMod val="75000"/>
                  </a:schemeClr>
                </a:solidFill>
                <a:latin typeface="Arial" panose="020B0604020202020204" pitchFamily="34" charset="0"/>
              </a:rPr>
              <a:t> </a:t>
            </a:r>
            <a:r>
              <a:rPr lang="en-US" sz="2000" b="1" dirty="0" err="1">
                <a:solidFill>
                  <a:schemeClr val="tx2">
                    <a:lumMod val="75000"/>
                  </a:schemeClr>
                </a:solidFill>
                <a:latin typeface="Arial" pitchFamily="34" charset="0"/>
                <a:ea typeface="Arial" pitchFamily="34" charset="-122"/>
                <a:cs typeface="Arial" pitchFamily="34" charset="-120"/>
              </a:rPr>
              <a:t>rủi</a:t>
            </a:r>
            <a:r>
              <a:rPr lang="en-US" sz="2000" b="1" dirty="0">
                <a:solidFill>
                  <a:schemeClr val="tx2">
                    <a:lumMod val="75000"/>
                  </a:schemeClr>
                </a:solidFill>
                <a:latin typeface="Arial" pitchFamily="34" charset="0"/>
                <a:ea typeface="Arial" pitchFamily="34" charset="-122"/>
                <a:cs typeface="Arial" pitchFamily="34" charset="-120"/>
              </a:rPr>
              <a:t> ro</a:t>
            </a:r>
            <a:endParaRPr lang="en-US" sz="2000" dirty="0">
              <a:solidFill>
                <a:schemeClr val="tx2">
                  <a:lumMod val="75000"/>
                </a:schemeClr>
              </a:solidFill>
              <a:latin typeface="Arial" panose="020B0604020202020204" pitchFamily="34" charset="0"/>
            </a:endParaRPr>
          </a:p>
        </p:txBody>
      </p:sp>
      <p:pic>
        <p:nvPicPr>
          <p:cNvPr id="22" name="Image 5" descr="preencoded.png"/>
          <p:cNvPicPr>
            <a:picLocks noChangeAspect="1"/>
          </p:cNvPicPr>
          <p:nvPr/>
        </p:nvPicPr>
        <p:blipFill>
          <a:blip r:embed="rId8"/>
          <a:stretch>
            <a:fillRect/>
          </a:stretch>
        </p:blipFill>
        <p:spPr>
          <a:xfrm>
            <a:off x="402336" y="6082284"/>
            <a:ext cx="384048" cy="384048"/>
          </a:xfrm>
          <a:prstGeom prst="rect">
            <a:avLst/>
          </a:prstGeom>
        </p:spPr>
      </p:pic>
      <p:sp>
        <p:nvSpPr>
          <p:cNvPr id="23" name="Text 36"/>
          <p:cNvSpPr/>
          <p:nvPr/>
        </p:nvSpPr>
        <p:spPr>
          <a:xfrm>
            <a:off x="950976" y="5935980"/>
            <a:ext cx="2651760" cy="676656"/>
          </a:xfrm>
          <a:prstGeom prst="rect">
            <a:avLst/>
          </a:prstGeom>
          <a:noFill/>
          <a:ln/>
        </p:spPr>
        <p:txBody>
          <a:bodyPr wrap="square" lIns="0" tIns="0" rIns="0" bIns="0" rtlCol="0" anchor="ctr"/>
          <a:lstStyle/>
          <a:p>
            <a:r>
              <a:rPr lang="en-US" sz="2000" b="1" dirty="0" err="1">
                <a:solidFill>
                  <a:schemeClr val="tx2">
                    <a:lumMod val="75000"/>
                  </a:schemeClr>
                </a:solidFill>
                <a:latin typeface="Arial" pitchFamily="34" charset="0"/>
                <a:ea typeface="Arial" pitchFamily="34" charset="-122"/>
                <a:cs typeface="Arial" pitchFamily="34" charset="-120"/>
              </a:rPr>
              <a:t>Giám</a:t>
            </a:r>
            <a:r>
              <a:rPr lang="en-US" sz="2000" b="1" dirty="0">
                <a:solidFill>
                  <a:schemeClr val="tx2">
                    <a:lumMod val="75000"/>
                  </a:schemeClr>
                </a:solidFill>
                <a:latin typeface="Arial" pitchFamily="34" charset="0"/>
                <a:ea typeface="Arial" pitchFamily="34" charset="-122"/>
                <a:cs typeface="Arial" pitchFamily="34" charset="-120"/>
              </a:rPr>
              <a:t> </a:t>
            </a:r>
            <a:r>
              <a:rPr lang="en-US" sz="2000" b="1" dirty="0" err="1">
                <a:solidFill>
                  <a:schemeClr val="tx2">
                    <a:lumMod val="75000"/>
                  </a:schemeClr>
                </a:solidFill>
                <a:latin typeface="Arial" pitchFamily="34" charset="0"/>
                <a:ea typeface="Arial" pitchFamily="34" charset="-122"/>
                <a:cs typeface="Arial" pitchFamily="34" charset="-120"/>
              </a:rPr>
              <a:t>sát</a:t>
            </a:r>
            <a:r>
              <a:rPr lang="en-US" sz="2000" dirty="0">
                <a:solidFill>
                  <a:schemeClr val="tx2">
                    <a:lumMod val="75000"/>
                  </a:schemeClr>
                </a:solidFill>
                <a:latin typeface="Arial" panose="020B0604020202020204" pitchFamily="34" charset="0"/>
              </a:rPr>
              <a:t> </a:t>
            </a:r>
            <a:r>
              <a:rPr lang="en-US" sz="2000" b="1" dirty="0">
                <a:solidFill>
                  <a:schemeClr val="tx2">
                    <a:lumMod val="75000"/>
                  </a:schemeClr>
                </a:solidFill>
                <a:latin typeface="Arial" pitchFamily="34" charset="0"/>
                <a:ea typeface="Arial" pitchFamily="34" charset="-122"/>
                <a:cs typeface="Arial" pitchFamily="34" charset="-120"/>
              </a:rPr>
              <a:t>&amp; Cảnh báo</a:t>
            </a:r>
            <a:endParaRPr lang="en-US" sz="2000" dirty="0">
              <a:solidFill>
                <a:schemeClr val="tx2">
                  <a:lumMod val="75000"/>
                </a:schemeClr>
              </a:solidFill>
              <a:latin typeface="Arial" panose="020B0604020202020204" pitchFamily="34" charset="0"/>
            </a:endParaRPr>
          </a:p>
        </p:txBody>
      </p:sp>
      <p:pic>
        <p:nvPicPr>
          <p:cNvPr id="24" name="Image 6" descr="preencoded.png"/>
          <p:cNvPicPr>
            <a:picLocks noChangeAspect="1"/>
          </p:cNvPicPr>
          <p:nvPr/>
        </p:nvPicPr>
        <p:blipFill>
          <a:blip r:embed="rId9"/>
          <a:stretch>
            <a:fillRect/>
          </a:stretch>
        </p:blipFill>
        <p:spPr>
          <a:xfrm>
            <a:off x="402336" y="6871716"/>
            <a:ext cx="384048" cy="384048"/>
          </a:xfrm>
          <a:prstGeom prst="rect">
            <a:avLst/>
          </a:prstGeom>
        </p:spPr>
      </p:pic>
      <p:sp>
        <p:nvSpPr>
          <p:cNvPr id="25" name="Text 42"/>
          <p:cNvSpPr/>
          <p:nvPr/>
        </p:nvSpPr>
        <p:spPr>
          <a:xfrm>
            <a:off x="950976" y="6725412"/>
            <a:ext cx="2651760" cy="676656"/>
          </a:xfrm>
          <a:prstGeom prst="rect">
            <a:avLst/>
          </a:prstGeom>
          <a:noFill/>
          <a:ln/>
        </p:spPr>
        <p:txBody>
          <a:bodyPr wrap="square" lIns="0" tIns="0" rIns="0" bIns="0" rtlCol="0" anchor="ctr"/>
          <a:lstStyle/>
          <a:p>
            <a:r>
              <a:rPr lang="en-US" sz="2000" b="1" dirty="0">
                <a:solidFill>
                  <a:schemeClr val="tx2">
                    <a:lumMod val="75000"/>
                  </a:schemeClr>
                </a:solidFill>
                <a:latin typeface="Arial" pitchFamily="34" charset="0"/>
                <a:ea typeface="Arial" pitchFamily="34" charset="-122"/>
                <a:cs typeface="Arial" pitchFamily="34" charset="-120"/>
              </a:rPr>
              <a:t>Văn </a:t>
            </a:r>
            <a:r>
              <a:rPr lang="en-US" sz="2000" b="1" dirty="0" err="1">
                <a:solidFill>
                  <a:schemeClr val="tx2">
                    <a:lumMod val="75000"/>
                  </a:schemeClr>
                </a:solidFill>
                <a:latin typeface="Arial" pitchFamily="34" charset="0"/>
                <a:ea typeface="Arial" pitchFamily="34" charset="-122"/>
                <a:cs typeface="Arial" pitchFamily="34" charset="-120"/>
              </a:rPr>
              <a:t>hóa</a:t>
            </a:r>
            <a:r>
              <a:rPr lang="en-US" sz="2000" b="1" dirty="0">
                <a:solidFill>
                  <a:schemeClr val="tx2">
                    <a:lumMod val="75000"/>
                  </a:schemeClr>
                </a:solidFill>
                <a:latin typeface="Arial" pitchFamily="34" charset="0"/>
                <a:ea typeface="Arial" pitchFamily="34" charset="-122"/>
                <a:cs typeface="Arial" pitchFamily="34" charset="-120"/>
              </a:rPr>
              <a:t> &amp;</a:t>
            </a:r>
            <a:r>
              <a:rPr lang="en-US" sz="2000" dirty="0">
                <a:solidFill>
                  <a:schemeClr val="tx2">
                    <a:lumMod val="75000"/>
                  </a:schemeClr>
                </a:solidFill>
                <a:latin typeface="Arial" panose="020B0604020202020204" pitchFamily="34" charset="0"/>
              </a:rPr>
              <a:t> </a:t>
            </a:r>
            <a:r>
              <a:rPr lang="en-US" sz="2000" b="1" dirty="0" err="1">
                <a:solidFill>
                  <a:schemeClr val="tx2">
                    <a:lumMod val="75000"/>
                  </a:schemeClr>
                </a:solidFill>
                <a:latin typeface="Arial" pitchFamily="34" charset="0"/>
                <a:ea typeface="Arial" pitchFamily="34" charset="-122"/>
                <a:cs typeface="Arial" pitchFamily="34" charset="-120"/>
              </a:rPr>
              <a:t>Trách</a:t>
            </a:r>
            <a:r>
              <a:rPr lang="en-US" sz="2000" b="1" dirty="0">
                <a:solidFill>
                  <a:schemeClr val="tx2">
                    <a:lumMod val="75000"/>
                  </a:schemeClr>
                </a:solidFill>
                <a:latin typeface="Arial" pitchFamily="34" charset="0"/>
                <a:ea typeface="Arial" pitchFamily="34" charset="-122"/>
                <a:cs typeface="Arial" pitchFamily="34" charset="-120"/>
              </a:rPr>
              <a:t> nhiệm</a:t>
            </a:r>
            <a:endParaRPr lang="en-US" sz="2000" dirty="0">
              <a:solidFill>
                <a:schemeClr val="tx2">
                  <a:lumMod val="75000"/>
                </a:schemeClr>
              </a:solidFill>
              <a:latin typeface="Arial" panose="020B0604020202020204" pitchFamily="34" charset="0"/>
            </a:endParaRPr>
          </a:p>
        </p:txBody>
      </p:sp>
      <p:pic>
        <p:nvPicPr>
          <p:cNvPr id="26" name="Image 7" descr="preencoded.png"/>
          <p:cNvPicPr>
            <a:picLocks noChangeAspect="1"/>
          </p:cNvPicPr>
          <p:nvPr/>
        </p:nvPicPr>
        <p:blipFill>
          <a:blip r:embed="rId10"/>
          <a:stretch>
            <a:fillRect/>
          </a:stretch>
        </p:blipFill>
        <p:spPr>
          <a:xfrm>
            <a:off x="402336" y="7661148"/>
            <a:ext cx="384048" cy="384048"/>
          </a:xfrm>
          <a:prstGeom prst="rect">
            <a:avLst/>
          </a:prstGeom>
        </p:spPr>
      </p:pic>
      <p:sp>
        <p:nvSpPr>
          <p:cNvPr id="27" name="Text 47"/>
          <p:cNvSpPr/>
          <p:nvPr/>
        </p:nvSpPr>
        <p:spPr>
          <a:xfrm>
            <a:off x="950976" y="7514844"/>
            <a:ext cx="2651760" cy="676656"/>
          </a:xfrm>
          <a:prstGeom prst="rect">
            <a:avLst/>
          </a:prstGeom>
          <a:noFill/>
          <a:ln/>
        </p:spPr>
        <p:txBody>
          <a:bodyPr wrap="square" lIns="0" tIns="0" rIns="0" bIns="0" rtlCol="0" anchor="ctr"/>
          <a:lstStyle/>
          <a:p>
            <a:r>
              <a:rPr lang="en-US" sz="2000" b="1" dirty="0">
                <a:solidFill>
                  <a:schemeClr val="tx2">
                    <a:lumMod val="75000"/>
                  </a:schemeClr>
                </a:solidFill>
                <a:latin typeface="Arial" pitchFamily="34" charset="0"/>
                <a:ea typeface="Arial" pitchFamily="34" charset="-122"/>
                <a:cs typeface="Arial" pitchFamily="34" charset="-120"/>
              </a:rPr>
              <a:t>Báo cáo</a:t>
            </a:r>
            <a:endParaRPr lang="en-US" sz="2000" dirty="0">
              <a:solidFill>
                <a:schemeClr val="tx2">
                  <a:lumMod val="75000"/>
                </a:schemeClr>
              </a:solidFill>
              <a:latin typeface="Arial" panose="020B0604020202020204" pitchFamily="34" charset="0"/>
            </a:endParaRPr>
          </a:p>
        </p:txBody>
      </p:sp>
      <p:pic>
        <p:nvPicPr>
          <p:cNvPr id="28" name="Image 8" descr="preencoded.png"/>
          <p:cNvPicPr>
            <a:picLocks noChangeAspect="1"/>
          </p:cNvPicPr>
          <p:nvPr/>
        </p:nvPicPr>
        <p:blipFill>
          <a:blip r:embed="rId11"/>
          <a:stretch>
            <a:fillRect/>
          </a:stretch>
        </p:blipFill>
        <p:spPr>
          <a:xfrm>
            <a:off x="402336" y="8450580"/>
            <a:ext cx="384048" cy="384048"/>
          </a:xfrm>
          <a:prstGeom prst="rect">
            <a:avLst/>
          </a:prstGeom>
        </p:spPr>
      </p:pic>
      <p:sp>
        <p:nvSpPr>
          <p:cNvPr id="29" name="Text 53"/>
          <p:cNvSpPr/>
          <p:nvPr/>
        </p:nvSpPr>
        <p:spPr>
          <a:xfrm>
            <a:off x="950976" y="8304276"/>
            <a:ext cx="2651760" cy="676656"/>
          </a:xfrm>
          <a:prstGeom prst="rect">
            <a:avLst/>
          </a:prstGeom>
          <a:noFill/>
          <a:ln/>
        </p:spPr>
        <p:txBody>
          <a:bodyPr wrap="square" lIns="0" tIns="0" rIns="0" bIns="0" rtlCol="0" anchor="ctr"/>
          <a:lstStyle/>
          <a:p>
            <a:r>
              <a:rPr lang="en-US" sz="2000" b="1" dirty="0">
                <a:solidFill>
                  <a:schemeClr val="tx2">
                    <a:lumMod val="75000"/>
                  </a:schemeClr>
                </a:solidFill>
                <a:latin typeface="Arial" pitchFamily="34" charset="0"/>
                <a:ea typeface="Arial" pitchFamily="34" charset="-122"/>
                <a:cs typeface="Arial" pitchFamily="34" charset="-120"/>
              </a:rPr>
              <a:t>Rà </a:t>
            </a:r>
            <a:r>
              <a:rPr lang="en-US" sz="2000" b="1" dirty="0" err="1">
                <a:solidFill>
                  <a:schemeClr val="tx2">
                    <a:lumMod val="75000"/>
                  </a:schemeClr>
                </a:solidFill>
                <a:latin typeface="Arial" pitchFamily="34" charset="0"/>
                <a:ea typeface="Arial" pitchFamily="34" charset="-122"/>
                <a:cs typeface="Arial" pitchFamily="34" charset="-120"/>
              </a:rPr>
              <a:t>soát</a:t>
            </a:r>
            <a:r>
              <a:rPr lang="en-US" sz="2000" b="1" dirty="0">
                <a:solidFill>
                  <a:schemeClr val="tx2">
                    <a:lumMod val="75000"/>
                  </a:schemeClr>
                </a:solidFill>
                <a:latin typeface="Arial" pitchFamily="34" charset="0"/>
                <a:ea typeface="Arial" pitchFamily="34" charset="-122"/>
                <a:cs typeface="Arial" pitchFamily="34" charset="-120"/>
              </a:rPr>
              <a:t> &amp;</a:t>
            </a:r>
            <a:r>
              <a:rPr lang="en-US" sz="2000" dirty="0">
                <a:solidFill>
                  <a:schemeClr val="tx2">
                    <a:lumMod val="75000"/>
                  </a:schemeClr>
                </a:solidFill>
                <a:latin typeface="Arial" panose="020B0604020202020204" pitchFamily="34" charset="0"/>
              </a:rPr>
              <a:t> </a:t>
            </a:r>
            <a:r>
              <a:rPr lang="en-US" sz="2000" b="1" dirty="0" err="1">
                <a:solidFill>
                  <a:schemeClr val="tx2">
                    <a:lumMod val="75000"/>
                  </a:schemeClr>
                </a:solidFill>
                <a:latin typeface="Arial" pitchFamily="34" charset="0"/>
                <a:ea typeface="Arial" pitchFamily="34" charset="-122"/>
                <a:cs typeface="Arial" pitchFamily="34" charset="-120"/>
              </a:rPr>
              <a:t>Cải</a:t>
            </a:r>
            <a:r>
              <a:rPr lang="en-US" sz="2000" b="1" dirty="0">
                <a:solidFill>
                  <a:schemeClr val="tx2">
                    <a:lumMod val="75000"/>
                  </a:schemeClr>
                </a:solidFill>
                <a:latin typeface="Arial" pitchFamily="34" charset="0"/>
                <a:ea typeface="Arial" pitchFamily="34" charset="-122"/>
                <a:cs typeface="Arial" pitchFamily="34" charset="-120"/>
              </a:rPr>
              <a:t> tiến</a:t>
            </a:r>
            <a:endParaRPr lang="en-US" sz="2000" dirty="0">
              <a:solidFill>
                <a:schemeClr val="tx2">
                  <a:lumMod val="75000"/>
                </a:schemeClr>
              </a:solidFill>
              <a:latin typeface="Arial" panose="020B0604020202020204" pitchFamily="34" charset="0"/>
            </a:endParaRPr>
          </a:p>
        </p:txBody>
      </p:sp>
      <p:pic>
        <p:nvPicPr>
          <p:cNvPr id="30" name="Image 9" descr="preencoded.png"/>
          <p:cNvPicPr>
            <a:picLocks noChangeAspect="1"/>
          </p:cNvPicPr>
          <p:nvPr/>
        </p:nvPicPr>
        <p:blipFill>
          <a:blip r:embed="rId12"/>
          <a:stretch>
            <a:fillRect/>
          </a:stretch>
        </p:blipFill>
        <p:spPr>
          <a:xfrm>
            <a:off x="402336" y="9240012"/>
            <a:ext cx="384048" cy="384048"/>
          </a:xfrm>
          <a:prstGeom prst="rect">
            <a:avLst/>
          </a:prstGeom>
        </p:spPr>
      </p:pic>
      <p:sp>
        <p:nvSpPr>
          <p:cNvPr id="31" name="Text 58"/>
          <p:cNvSpPr/>
          <p:nvPr/>
        </p:nvSpPr>
        <p:spPr>
          <a:xfrm>
            <a:off x="950976" y="9093708"/>
            <a:ext cx="2651760" cy="676656"/>
          </a:xfrm>
          <a:prstGeom prst="rect">
            <a:avLst/>
          </a:prstGeom>
          <a:noFill/>
          <a:ln/>
        </p:spPr>
        <p:txBody>
          <a:bodyPr wrap="square" lIns="0" tIns="0" rIns="0" bIns="0" rtlCol="0" anchor="ctr"/>
          <a:lstStyle/>
          <a:p>
            <a:r>
              <a:rPr lang="en-US" sz="2000" b="1" dirty="0" err="1">
                <a:solidFill>
                  <a:schemeClr val="tx2">
                    <a:lumMod val="75000"/>
                  </a:schemeClr>
                </a:solidFill>
                <a:latin typeface="Arial" pitchFamily="34" charset="0"/>
                <a:ea typeface="Arial" pitchFamily="34" charset="-122"/>
                <a:cs typeface="Arial" pitchFamily="34" charset="-120"/>
              </a:rPr>
              <a:t>Kết</a:t>
            </a:r>
            <a:r>
              <a:rPr lang="en-US" sz="2000" b="1" dirty="0">
                <a:solidFill>
                  <a:schemeClr val="tx2">
                    <a:lumMod val="75000"/>
                  </a:schemeClr>
                </a:solidFill>
                <a:latin typeface="Arial" pitchFamily="34" charset="0"/>
                <a:ea typeface="Arial" pitchFamily="34" charset="-122"/>
                <a:cs typeface="Arial" pitchFamily="34" charset="-120"/>
              </a:rPr>
              <a:t> </a:t>
            </a:r>
            <a:r>
              <a:rPr lang="en-US" sz="2000" b="1" dirty="0" err="1">
                <a:solidFill>
                  <a:schemeClr val="tx2">
                    <a:lumMod val="75000"/>
                  </a:schemeClr>
                </a:solidFill>
                <a:latin typeface="Arial" pitchFamily="34" charset="0"/>
                <a:ea typeface="Arial" pitchFamily="34" charset="-122"/>
                <a:cs typeface="Arial" pitchFamily="34" charset="-120"/>
              </a:rPr>
              <a:t>nối</a:t>
            </a:r>
            <a:r>
              <a:rPr lang="en-US" sz="2000" dirty="0">
                <a:solidFill>
                  <a:schemeClr val="tx2">
                    <a:lumMod val="75000"/>
                  </a:schemeClr>
                </a:solidFill>
                <a:latin typeface="Arial" panose="020B0604020202020204" pitchFamily="34" charset="0"/>
              </a:rPr>
              <a:t> </a:t>
            </a:r>
            <a:r>
              <a:rPr lang="en-US" sz="2000" b="1" dirty="0" err="1">
                <a:solidFill>
                  <a:schemeClr val="tx2">
                    <a:lumMod val="75000"/>
                  </a:schemeClr>
                </a:solidFill>
                <a:latin typeface="Arial" pitchFamily="34" charset="0"/>
                <a:ea typeface="Arial" pitchFamily="34" charset="-122"/>
                <a:cs typeface="Arial" pitchFamily="34" charset="-120"/>
              </a:rPr>
              <a:t>giá</a:t>
            </a:r>
            <a:r>
              <a:rPr lang="en-US" sz="2000" b="1" dirty="0">
                <a:solidFill>
                  <a:schemeClr val="tx2">
                    <a:lumMod val="75000"/>
                  </a:schemeClr>
                </a:solidFill>
                <a:latin typeface="Arial" pitchFamily="34" charset="0"/>
                <a:ea typeface="Arial" pitchFamily="34" charset="-122"/>
                <a:cs typeface="Arial" pitchFamily="34" charset="-120"/>
              </a:rPr>
              <a:t> trị</a:t>
            </a:r>
            <a:endParaRPr lang="en-US" sz="2000" dirty="0">
              <a:solidFill>
                <a:schemeClr val="tx2">
                  <a:lumMod val="75000"/>
                </a:schemeClr>
              </a:solidFill>
              <a:latin typeface="Arial" panose="020B0604020202020204" pitchFamily="34" charset="0"/>
            </a:endParaRPr>
          </a:p>
        </p:txBody>
      </p:sp>
      <p:cxnSp>
        <p:nvCxnSpPr>
          <p:cNvPr id="3" name="Straight Connector 2"/>
          <p:cNvCxnSpPr/>
          <p:nvPr/>
        </p:nvCxnSpPr>
        <p:spPr>
          <a:xfrm>
            <a:off x="3733800" y="1984248"/>
            <a:ext cx="70104" cy="7502652"/>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a:off x="10942320" y="1930146"/>
            <a:ext cx="0" cy="7556754"/>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sp>
        <p:nvSpPr>
          <p:cNvPr id="40" name="Text 10"/>
          <p:cNvSpPr/>
          <p:nvPr/>
        </p:nvSpPr>
        <p:spPr>
          <a:xfrm>
            <a:off x="3950208" y="1984248"/>
            <a:ext cx="6839712" cy="676656"/>
          </a:xfrm>
          <a:prstGeom prst="rect">
            <a:avLst/>
          </a:prstGeom>
          <a:noFill/>
          <a:ln/>
        </p:spPr>
        <p:txBody>
          <a:bodyPr wrap="square" lIns="0" tIns="0" rIns="0" bIns="0" rtlCol="0" anchor="ctr"/>
          <a:lstStyle/>
          <a:p>
            <a:pPr algn="just"/>
            <a:r>
              <a:rPr lang="vi-VN" dirty="0">
                <a:solidFill>
                  <a:srgbClr val="991B1B"/>
                </a:solidFill>
                <a:ea typeface="Arial" pitchFamily="34" charset="-122"/>
                <a:cs typeface="Arial" pitchFamily="34" charset="-120"/>
              </a:rPr>
              <a:t>Quản lý rủi ro tại từng bộ phận riêng lẻ, mỗi nơi có cách làm và tiêu chí khác nhau</a:t>
            </a:r>
            <a:r>
              <a:rPr lang="en-US" dirty="0">
                <a:solidFill>
                  <a:srgbClr val="991B1B"/>
                </a:solidFill>
                <a:latin typeface="Arial" panose="020B0604020202020204" pitchFamily="34" charset="0"/>
                <a:ea typeface="Arial" pitchFamily="34" charset="-122"/>
                <a:cs typeface="Arial" pitchFamily="34" charset="-120"/>
              </a:rPr>
              <a:t>, </a:t>
            </a:r>
            <a:r>
              <a:rPr lang="en-US" dirty="0" err="1">
                <a:solidFill>
                  <a:srgbClr val="991B1B"/>
                </a:solidFill>
                <a:latin typeface="Arial" panose="020B0604020202020204" pitchFamily="34" charset="0"/>
                <a:ea typeface="Arial" pitchFamily="34" charset="-122"/>
                <a:cs typeface="Arial" panose="020B0604020202020204" pitchFamily="34" charset="0"/>
              </a:rPr>
              <a:t>chưa</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có</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sự</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nhất</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quán</a:t>
            </a:r>
            <a:r>
              <a:rPr lang="en-US" dirty="0">
                <a:solidFill>
                  <a:srgbClr val="991B1B"/>
                </a:solidFill>
                <a:latin typeface="Arial" panose="020B0604020202020204" pitchFamily="34" charset="0"/>
                <a:ea typeface="Arial" pitchFamily="34" charset="-122"/>
                <a:cs typeface="Arial" panose="020B0604020202020204" pitchFamily="34" charset="0"/>
              </a:rPr>
              <a:t>.</a:t>
            </a:r>
            <a:endParaRPr lang="en-US" dirty="0">
              <a:latin typeface="Arial" panose="020B0604020202020204" pitchFamily="34" charset="0"/>
              <a:cs typeface="Arial" panose="020B0604020202020204" pitchFamily="34" charset="0"/>
            </a:endParaRPr>
          </a:p>
        </p:txBody>
      </p:sp>
      <p:sp>
        <p:nvSpPr>
          <p:cNvPr id="41" name="Text 11"/>
          <p:cNvSpPr/>
          <p:nvPr/>
        </p:nvSpPr>
        <p:spPr>
          <a:xfrm>
            <a:off x="11192256" y="1984248"/>
            <a:ext cx="6693408" cy="676656"/>
          </a:xfrm>
          <a:prstGeom prst="rect">
            <a:avLst/>
          </a:prstGeom>
          <a:noFill/>
          <a:ln/>
        </p:spPr>
        <p:txBody>
          <a:bodyPr wrap="square" lIns="0" tIns="0" rIns="0" bIns="0" rtlCol="0" anchor="ctr"/>
          <a:lstStyle/>
          <a:p>
            <a:pPr algn="just"/>
            <a:r>
              <a:rPr lang="en-US" dirty="0" err="1">
                <a:solidFill>
                  <a:srgbClr val="166534"/>
                </a:solidFill>
                <a:latin typeface="Arial" pitchFamily="34" charset="0"/>
                <a:ea typeface="Arial" pitchFamily="34" charset="-122"/>
                <a:cs typeface="Arial" pitchFamily="34" charset="-120"/>
              </a:rPr>
              <a:t>Quản</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lý</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rủi</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ro</a:t>
            </a:r>
            <a:r>
              <a:rPr lang="en-US" dirty="0">
                <a:solidFill>
                  <a:srgbClr val="166534"/>
                </a:solidFill>
                <a:latin typeface="Arial" pitchFamily="34" charset="0"/>
                <a:ea typeface="Arial" pitchFamily="34" charset="-122"/>
                <a:cs typeface="Arial" pitchFamily="34" charset="-120"/>
              </a:rPr>
              <a:t> ở </a:t>
            </a:r>
            <a:r>
              <a:rPr lang="en-US" dirty="0" err="1">
                <a:solidFill>
                  <a:srgbClr val="166534"/>
                </a:solidFill>
                <a:latin typeface="Arial" pitchFamily="34" charset="0"/>
                <a:ea typeface="Arial" pitchFamily="34" charset="-122"/>
                <a:cs typeface="Arial" pitchFamily="34" charset="-120"/>
              </a:rPr>
              <a:t>cấp</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toàn</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tổ</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chức</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xuyên</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suốt</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các</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bộ</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phận</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chức</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năng</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và</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công</a:t>
            </a:r>
            <a:r>
              <a:rPr lang="en-US" dirty="0">
                <a:solidFill>
                  <a:srgbClr val="166534"/>
                </a:solidFill>
                <a:latin typeface="Arial" pitchFamily="34" charset="0"/>
                <a:ea typeface="Arial" pitchFamily="34" charset="-122"/>
                <a:cs typeface="Arial" pitchFamily="34" charset="-120"/>
              </a:rPr>
              <a:t> ty con, </a:t>
            </a:r>
            <a:r>
              <a:rPr lang="en-US" dirty="0" err="1">
                <a:solidFill>
                  <a:srgbClr val="166534"/>
                </a:solidFill>
                <a:latin typeface="Arial" pitchFamily="34" charset="0"/>
                <a:ea typeface="Arial" pitchFamily="34" charset="-122"/>
                <a:cs typeface="Arial" pitchFamily="34" charset="-120"/>
              </a:rPr>
              <a:t>là</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công</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cụ</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quản</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trị</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ra</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quyết</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định</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của</a:t>
            </a:r>
            <a:r>
              <a:rPr lang="en-US" dirty="0">
                <a:solidFill>
                  <a:srgbClr val="166534"/>
                </a:solidFill>
                <a:latin typeface="Arial" pitchFamily="34" charset="0"/>
                <a:ea typeface="Arial" pitchFamily="34" charset="-122"/>
                <a:cs typeface="Arial" pitchFamily="34" charset="-120"/>
              </a:rPr>
              <a:t> BOD.</a:t>
            </a:r>
            <a:endParaRPr lang="en-US" dirty="0">
              <a:latin typeface="Arial" panose="020B0604020202020204" pitchFamily="34" charset="0"/>
            </a:endParaRPr>
          </a:p>
        </p:txBody>
      </p:sp>
      <p:sp>
        <p:nvSpPr>
          <p:cNvPr id="42" name="Text 10"/>
          <p:cNvSpPr/>
          <p:nvPr/>
        </p:nvSpPr>
        <p:spPr>
          <a:xfrm>
            <a:off x="3950208" y="2752127"/>
            <a:ext cx="6839712" cy="676656"/>
          </a:xfrm>
          <a:prstGeom prst="rect">
            <a:avLst/>
          </a:prstGeom>
          <a:noFill/>
          <a:ln/>
        </p:spPr>
        <p:txBody>
          <a:bodyPr wrap="square" lIns="0" tIns="0" rIns="0" bIns="0" rtlCol="0" anchor="ctr"/>
          <a:lstStyle/>
          <a:p>
            <a:pPr algn="just"/>
            <a:r>
              <a:rPr lang="vi-VN">
                <a:solidFill>
                  <a:srgbClr val="991B1B"/>
                </a:solidFill>
                <a:ea typeface="Arial" pitchFamily="34" charset="-122"/>
                <a:cs typeface="Arial" pitchFamily="34" charset="-120"/>
              </a:rPr>
              <a:t>Rủi ro được xem xét sau khi chiến lược đã quyết định. Không ảnh hưởng đến lựa chọn phương án kinh doanh.</a:t>
            </a:r>
            <a:endParaRPr lang="en-US" dirty="0">
              <a:latin typeface="Arial" panose="020B0604020202020204" pitchFamily="34" charset="0"/>
              <a:cs typeface="Arial" panose="020B0604020202020204" pitchFamily="34" charset="0"/>
            </a:endParaRPr>
          </a:p>
        </p:txBody>
      </p:sp>
      <p:sp>
        <p:nvSpPr>
          <p:cNvPr id="43" name="Text 11"/>
          <p:cNvSpPr/>
          <p:nvPr/>
        </p:nvSpPr>
        <p:spPr>
          <a:xfrm>
            <a:off x="11194884" y="2752127"/>
            <a:ext cx="6693408" cy="676656"/>
          </a:xfrm>
          <a:prstGeom prst="rect">
            <a:avLst/>
          </a:prstGeom>
          <a:noFill/>
          <a:ln/>
        </p:spPr>
        <p:txBody>
          <a:bodyPr wrap="square" lIns="0" tIns="0" rIns="0" bIns="0" rtlCol="0" anchor="ctr"/>
          <a:lstStyle/>
          <a:p>
            <a:pPr algn="just"/>
            <a:r>
              <a:rPr lang="vi-VN" dirty="0">
                <a:solidFill>
                  <a:srgbClr val="166534"/>
                </a:solidFill>
                <a:ea typeface="Arial" pitchFamily="34" charset="-122"/>
                <a:cs typeface="Arial" pitchFamily="34" charset="-120"/>
              </a:rPr>
              <a:t>Rủi ro được tích hợp ngay từ bước thiết lập chiến lược và mục tiêu kinh doanh — giúp lãnh đạo cân nhắc rủi ro khi ra quyết định</a:t>
            </a:r>
            <a:r>
              <a:rPr lang="en-US" dirty="0">
                <a:solidFill>
                  <a:srgbClr val="166534"/>
                </a:solidFill>
                <a:latin typeface="Arial" panose="020B0604020202020204" pitchFamily="34" charset="0"/>
                <a:ea typeface="Arial" pitchFamily="34" charset="-122"/>
                <a:cs typeface="Arial" pitchFamily="34" charset="-120"/>
              </a:rPr>
              <a:t>.</a:t>
            </a:r>
            <a:endParaRPr lang="en-US" dirty="0">
              <a:latin typeface="Arial" panose="020B0604020202020204" pitchFamily="34" charset="0"/>
            </a:endParaRPr>
          </a:p>
        </p:txBody>
      </p:sp>
      <p:sp>
        <p:nvSpPr>
          <p:cNvPr id="44" name="Text 11"/>
          <p:cNvSpPr/>
          <p:nvPr/>
        </p:nvSpPr>
        <p:spPr>
          <a:xfrm>
            <a:off x="11204554" y="3552335"/>
            <a:ext cx="6693408" cy="676656"/>
          </a:xfrm>
          <a:prstGeom prst="rect">
            <a:avLst/>
          </a:prstGeom>
          <a:noFill/>
          <a:ln/>
        </p:spPr>
        <p:txBody>
          <a:bodyPr wrap="square" lIns="0" tIns="0" rIns="0" bIns="0" rtlCol="0" anchor="ctr"/>
          <a:lstStyle/>
          <a:p>
            <a:r>
              <a:rPr lang="vi-VN" dirty="0">
                <a:solidFill>
                  <a:srgbClr val="166534"/>
                </a:solidFill>
                <a:ea typeface="Arial" pitchFamily="34" charset="-122"/>
                <a:cs typeface="Arial" pitchFamily="34" charset="-120"/>
              </a:rPr>
              <a:t>RAS cấp TCT + hạn mức + ngưỡng cảnh báo + leo thang</a:t>
            </a:r>
            <a:r>
              <a:rPr lang="en-US" dirty="0">
                <a:solidFill>
                  <a:srgbClr val="166534"/>
                </a:solidFill>
                <a:latin typeface="Arial" panose="020B0604020202020204" pitchFamily="34" charset="0"/>
                <a:ea typeface="Arial" pitchFamily="34" charset="-122"/>
                <a:cs typeface="Arial" pitchFamily="34" charset="-120"/>
              </a:rPr>
              <a:t>.</a:t>
            </a:r>
            <a:endParaRPr lang="vi-VN" dirty="0">
              <a:solidFill>
                <a:srgbClr val="166534"/>
              </a:solidFill>
              <a:ea typeface="Arial" pitchFamily="34" charset="-122"/>
              <a:cs typeface="Arial" pitchFamily="34" charset="-120"/>
            </a:endParaRPr>
          </a:p>
        </p:txBody>
      </p:sp>
      <p:sp>
        <p:nvSpPr>
          <p:cNvPr id="45" name="Text 10"/>
          <p:cNvSpPr/>
          <p:nvPr/>
        </p:nvSpPr>
        <p:spPr>
          <a:xfrm>
            <a:off x="3947580" y="3543300"/>
            <a:ext cx="6839712" cy="676656"/>
          </a:xfrm>
          <a:prstGeom prst="rect">
            <a:avLst/>
          </a:prstGeom>
          <a:noFill/>
          <a:ln/>
        </p:spPr>
        <p:txBody>
          <a:bodyPr wrap="square" lIns="0" tIns="0" rIns="0" bIns="0" rtlCol="0" anchor="ctr"/>
          <a:lstStyle/>
          <a:p>
            <a:pPr algn="just"/>
            <a:r>
              <a:rPr lang="vi-VN">
                <a:solidFill>
                  <a:srgbClr val="991B1B"/>
                </a:solidFill>
                <a:ea typeface="Arial" pitchFamily="34" charset="-122"/>
                <a:cs typeface="Arial" pitchFamily="34" charset="-120"/>
              </a:rPr>
              <a:t>Không có tuyên bố chính thức</a:t>
            </a:r>
          </a:p>
        </p:txBody>
      </p:sp>
      <p:sp>
        <p:nvSpPr>
          <p:cNvPr id="46" name="Text 10"/>
          <p:cNvSpPr/>
          <p:nvPr/>
        </p:nvSpPr>
        <p:spPr>
          <a:xfrm>
            <a:off x="3947266" y="4357116"/>
            <a:ext cx="6839712" cy="676656"/>
          </a:xfrm>
          <a:prstGeom prst="rect">
            <a:avLst/>
          </a:prstGeom>
          <a:noFill/>
          <a:ln/>
        </p:spPr>
        <p:txBody>
          <a:bodyPr wrap="square" lIns="0" tIns="0" rIns="0" bIns="0" rtlCol="0" anchor="ctr"/>
          <a:lstStyle/>
          <a:p>
            <a:pPr algn="just"/>
            <a:r>
              <a:rPr lang="vi-VN" dirty="0">
                <a:solidFill>
                  <a:srgbClr val="991B1B"/>
                </a:solidFill>
                <a:ea typeface="Arial" pitchFamily="34" charset="-122"/>
                <a:cs typeface="Arial" pitchFamily="34" charset="-120"/>
              </a:rPr>
              <a:t>Tự nhận diện trong phạm vi đơn vị; thiếu danh mục chung</a:t>
            </a:r>
            <a:r>
              <a:rPr lang="en-US" dirty="0">
                <a:solidFill>
                  <a:srgbClr val="991B1B"/>
                </a:solidFill>
                <a:latin typeface="Arial" panose="020B0604020202020204" pitchFamily="34" charset="0"/>
                <a:ea typeface="Arial" pitchFamily="34" charset="-122"/>
                <a:cs typeface="Arial" pitchFamily="34" charset="-120"/>
              </a:rPr>
              <a:t> </a:t>
            </a:r>
            <a:r>
              <a:rPr lang="en-US" dirty="0" err="1">
                <a:solidFill>
                  <a:srgbClr val="991B1B"/>
                </a:solidFill>
                <a:latin typeface="Arial" panose="020B0604020202020204" pitchFamily="34" charset="0"/>
                <a:ea typeface="Arial" pitchFamily="34" charset="-122"/>
                <a:cs typeface="Arial" panose="020B0604020202020204" pitchFamily="34" charset="0"/>
              </a:rPr>
              <a:t>cho</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toàn</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tổ</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chức</a:t>
            </a:r>
            <a:r>
              <a:rPr lang="en-US" dirty="0">
                <a:solidFill>
                  <a:srgbClr val="991B1B"/>
                </a:solidFill>
                <a:latin typeface="Arial" panose="020B0604020202020204" pitchFamily="34" charset="0"/>
                <a:ea typeface="Arial" pitchFamily="34" charset="-122"/>
                <a:cs typeface="Arial" pitchFamily="34" charset="-120"/>
              </a:rPr>
              <a:t>.</a:t>
            </a:r>
            <a:endParaRPr lang="vi-VN" dirty="0">
              <a:solidFill>
                <a:srgbClr val="991B1B"/>
              </a:solidFill>
              <a:ea typeface="Arial" pitchFamily="34" charset="-122"/>
              <a:cs typeface="Arial" pitchFamily="34" charset="-120"/>
            </a:endParaRPr>
          </a:p>
        </p:txBody>
      </p:sp>
      <p:sp>
        <p:nvSpPr>
          <p:cNvPr id="47" name="Text 10"/>
          <p:cNvSpPr/>
          <p:nvPr/>
        </p:nvSpPr>
        <p:spPr>
          <a:xfrm>
            <a:off x="3956304" y="5160052"/>
            <a:ext cx="6839712" cy="676656"/>
          </a:xfrm>
          <a:prstGeom prst="rect">
            <a:avLst/>
          </a:prstGeom>
          <a:noFill/>
          <a:ln/>
        </p:spPr>
        <p:txBody>
          <a:bodyPr wrap="square" lIns="0" tIns="0" rIns="0" bIns="0" rtlCol="0" anchor="ctr"/>
          <a:lstStyle/>
          <a:p>
            <a:pPr algn="just"/>
            <a:r>
              <a:rPr lang="vi-VN" dirty="0">
                <a:solidFill>
                  <a:srgbClr val="991B1B"/>
                </a:solidFill>
                <a:ea typeface="Arial" pitchFamily="34" charset="-122"/>
                <a:cs typeface="Arial" pitchFamily="34" charset="-120"/>
              </a:rPr>
              <a:t>Định tính, chủ quan; không có thước đo chung</a:t>
            </a:r>
            <a:r>
              <a:rPr lang="en-US" dirty="0">
                <a:solidFill>
                  <a:srgbClr val="991B1B"/>
                </a:solidFill>
                <a:latin typeface="Arial" panose="020B0604020202020204" pitchFamily="34" charset="0"/>
                <a:ea typeface="Arial" pitchFamily="34" charset="-122"/>
                <a:cs typeface="Arial" pitchFamily="34" charset="-120"/>
              </a:rPr>
              <a:t>, </a:t>
            </a:r>
            <a:r>
              <a:rPr lang="vi-VN" dirty="0">
                <a:solidFill>
                  <a:srgbClr val="991B1B"/>
                </a:solidFill>
                <a:ea typeface="Arial" pitchFamily="34" charset="-122"/>
                <a:cs typeface="Arial" pitchFamily="34" charset="-120"/>
              </a:rPr>
              <a:t>khó so sánh hoặc tổng hợp giữa các đơn vị</a:t>
            </a:r>
            <a:r>
              <a:rPr lang="en-US" dirty="0">
                <a:solidFill>
                  <a:srgbClr val="991B1B"/>
                </a:solidFill>
                <a:latin typeface="Arial" panose="020B0604020202020204" pitchFamily="34" charset="0"/>
                <a:ea typeface="Arial" pitchFamily="34" charset="-122"/>
                <a:cs typeface="Arial" pitchFamily="34" charset="-120"/>
              </a:rPr>
              <a:t>.</a:t>
            </a:r>
            <a:endParaRPr lang="vi-VN" dirty="0">
              <a:solidFill>
                <a:srgbClr val="991B1B"/>
              </a:solidFill>
              <a:ea typeface="Arial" pitchFamily="34" charset="-122"/>
              <a:cs typeface="Arial" pitchFamily="34" charset="-120"/>
            </a:endParaRPr>
          </a:p>
        </p:txBody>
      </p:sp>
      <p:sp>
        <p:nvSpPr>
          <p:cNvPr id="48" name="Text 11"/>
          <p:cNvSpPr/>
          <p:nvPr/>
        </p:nvSpPr>
        <p:spPr>
          <a:xfrm>
            <a:off x="11213592" y="4354594"/>
            <a:ext cx="6693408" cy="676656"/>
          </a:xfrm>
          <a:prstGeom prst="rect">
            <a:avLst/>
          </a:prstGeom>
          <a:noFill/>
          <a:ln/>
        </p:spPr>
        <p:txBody>
          <a:bodyPr wrap="square" lIns="0" tIns="0" rIns="0" bIns="0" rtlCol="0" anchor="ctr"/>
          <a:lstStyle/>
          <a:p>
            <a:r>
              <a:rPr lang="vi-VN">
                <a:solidFill>
                  <a:srgbClr val="166534"/>
                </a:solidFill>
                <a:ea typeface="Arial" pitchFamily="34" charset="-122"/>
                <a:cs typeface="Arial" pitchFamily="34" charset="-120"/>
              </a:rPr>
              <a:t>Thư viện rủi ro toàn TCT; nhận diện rủi ro tập trung &amp;</a:t>
            </a:r>
            <a:r>
              <a:rPr lang="vi-VN">
                <a:solidFill>
                  <a:srgbClr val="166534"/>
                </a:solidFill>
                <a:latin typeface="Arial" panose="020B0604020202020204" pitchFamily="34" charset="0"/>
                <a:ea typeface="Arial" pitchFamily="34" charset="-122"/>
                <a:cs typeface="Arial" panose="020B0604020202020204" pitchFamily="34" charset="0"/>
              </a:rPr>
              <a:t> </a:t>
            </a:r>
            <a:r>
              <a:rPr lang="en-US">
                <a:solidFill>
                  <a:srgbClr val="166534"/>
                </a:solidFill>
                <a:latin typeface="Arial" panose="020B0604020202020204" pitchFamily="34" charset="0"/>
                <a:ea typeface="Arial" pitchFamily="34" charset="-122"/>
                <a:cs typeface="Arial" panose="020B0604020202020204" pitchFamily="34" charset="0"/>
              </a:rPr>
              <a:t>tính đến sự tương tác giữa các rủi ro nằm ở các lĩnh vực khác nhau</a:t>
            </a:r>
            <a:endParaRPr lang="vi-VN">
              <a:solidFill>
                <a:srgbClr val="166534"/>
              </a:solidFill>
              <a:latin typeface="Arial" panose="020B0604020202020204" pitchFamily="34" charset="0"/>
              <a:ea typeface="Arial" pitchFamily="34" charset="-122"/>
              <a:cs typeface="Arial" panose="020B0604020202020204" pitchFamily="34" charset="0"/>
            </a:endParaRPr>
          </a:p>
        </p:txBody>
      </p:sp>
      <p:sp>
        <p:nvSpPr>
          <p:cNvPr id="49" name="Text 11"/>
          <p:cNvSpPr/>
          <p:nvPr/>
        </p:nvSpPr>
        <p:spPr>
          <a:xfrm>
            <a:off x="11213592" y="5141194"/>
            <a:ext cx="6693408" cy="676656"/>
          </a:xfrm>
          <a:prstGeom prst="rect">
            <a:avLst/>
          </a:prstGeom>
          <a:noFill/>
          <a:ln/>
        </p:spPr>
        <p:txBody>
          <a:bodyPr wrap="square" lIns="0" tIns="0" rIns="0" bIns="0" rtlCol="0" anchor="ctr"/>
          <a:lstStyle/>
          <a:p>
            <a:r>
              <a:rPr lang="vi-VN">
                <a:solidFill>
                  <a:srgbClr val="166534"/>
                </a:solidFill>
                <a:ea typeface="Arial" pitchFamily="34" charset="-122"/>
                <a:cs typeface="Arial" pitchFamily="34" charset="-120"/>
              </a:rPr>
              <a:t>Định tính + định lượng; ma trận </a:t>
            </a:r>
            <a:r>
              <a:rPr lang="en-US">
                <a:solidFill>
                  <a:srgbClr val="166534"/>
                </a:solidFill>
                <a:latin typeface="Arial" panose="020B0604020202020204" pitchFamily="34" charset="0"/>
                <a:ea typeface="Arial" pitchFamily="34" charset="-122"/>
                <a:cs typeface="Arial" panose="020B0604020202020204" pitchFamily="34" charset="0"/>
              </a:rPr>
              <a:t>xác suất</a:t>
            </a:r>
            <a:r>
              <a:rPr lang="vi-VN">
                <a:solidFill>
                  <a:srgbClr val="166534"/>
                </a:solidFill>
                <a:latin typeface="Arial" panose="020B0604020202020204" pitchFamily="34" charset="0"/>
                <a:ea typeface="Arial" pitchFamily="34" charset="-122"/>
                <a:cs typeface="Arial" panose="020B0604020202020204" pitchFamily="34" charset="0"/>
              </a:rPr>
              <a:t> × </a:t>
            </a:r>
            <a:r>
              <a:rPr lang="en-US">
                <a:solidFill>
                  <a:srgbClr val="166534"/>
                </a:solidFill>
                <a:latin typeface="Arial" panose="020B0604020202020204" pitchFamily="34" charset="0"/>
                <a:ea typeface="Arial" pitchFamily="34" charset="-122"/>
                <a:cs typeface="Arial" panose="020B0604020202020204" pitchFamily="34" charset="0"/>
              </a:rPr>
              <a:t>tác động</a:t>
            </a:r>
            <a:r>
              <a:rPr lang="vi-VN">
                <a:solidFill>
                  <a:srgbClr val="166534"/>
                </a:solidFill>
                <a:ea typeface="Arial" pitchFamily="34" charset="-122"/>
                <a:cs typeface="Arial" pitchFamily="34" charset="-120"/>
              </a:rPr>
              <a:t> thống nhất toàn TCT</a:t>
            </a:r>
          </a:p>
        </p:txBody>
      </p:sp>
      <p:sp>
        <p:nvSpPr>
          <p:cNvPr id="50" name="Text 10"/>
          <p:cNvSpPr/>
          <p:nvPr/>
        </p:nvSpPr>
        <p:spPr>
          <a:xfrm>
            <a:off x="3956304" y="5957533"/>
            <a:ext cx="6839712" cy="676656"/>
          </a:xfrm>
          <a:prstGeom prst="rect">
            <a:avLst/>
          </a:prstGeom>
          <a:noFill/>
          <a:ln/>
        </p:spPr>
        <p:txBody>
          <a:bodyPr wrap="square" lIns="0" tIns="0" rIns="0" bIns="0" rtlCol="0" anchor="ctr"/>
          <a:lstStyle/>
          <a:p>
            <a:pPr algn="just"/>
            <a:r>
              <a:rPr lang="vi-VN" dirty="0">
                <a:solidFill>
                  <a:srgbClr val="991B1B"/>
                </a:solidFill>
                <a:ea typeface="Arial" pitchFamily="34" charset="-122"/>
                <a:cs typeface="Arial" pitchFamily="34" charset="-120"/>
              </a:rPr>
              <a:t>Phản ứng sau </a:t>
            </a:r>
            <a:r>
              <a:rPr lang="en-US" dirty="0" err="1">
                <a:solidFill>
                  <a:srgbClr val="991B1B"/>
                </a:solidFill>
                <a:latin typeface="Arial" panose="020B0604020202020204" pitchFamily="34" charset="0"/>
                <a:ea typeface="Arial" pitchFamily="34" charset="-122"/>
                <a:cs typeface="Arial" panose="020B0604020202020204" pitchFamily="34" charset="0"/>
              </a:rPr>
              <a:t>khi</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sự</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cố</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đã</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phát</a:t>
            </a:r>
            <a:r>
              <a:rPr lang="en-US" dirty="0">
                <a:solidFill>
                  <a:srgbClr val="991B1B"/>
                </a:solidFill>
                <a:latin typeface="Arial" panose="020B0604020202020204" pitchFamily="34" charset="0"/>
                <a:ea typeface="Arial" pitchFamily="34" charset="-122"/>
                <a:cs typeface="Arial" panose="020B0604020202020204" pitchFamily="34" charset="0"/>
              </a:rPr>
              <a:t> </a:t>
            </a:r>
            <a:r>
              <a:rPr lang="en-US" dirty="0" err="1">
                <a:solidFill>
                  <a:srgbClr val="991B1B"/>
                </a:solidFill>
                <a:latin typeface="Arial" panose="020B0604020202020204" pitchFamily="34" charset="0"/>
                <a:ea typeface="Arial" pitchFamily="34" charset="-122"/>
                <a:cs typeface="Arial" panose="020B0604020202020204" pitchFamily="34" charset="0"/>
              </a:rPr>
              <a:t>sinh</a:t>
            </a:r>
            <a:r>
              <a:rPr lang="vi-VN" dirty="0">
                <a:solidFill>
                  <a:srgbClr val="991B1B"/>
                </a:solidFill>
                <a:ea typeface="Arial" pitchFamily="34" charset="-122"/>
                <a:cs typeface="Arial" pitchFamily="34" charset="-120"/>
              </a:rPr>
              <a:t>; không</a:t>
            </a:r>
            <a:r>
              <a:rPr lang="en-US" dirty="0">
                <a:solidFill>
                  <a:srgbClr val="991B1B"/>
                </a:solidFill>
                <a:latin typeface="Arial" panose="020B0604020202020204" pitchFamily="34" charset="0"/>
                <a:ea typeface="Arial" pitchFamily="34" charset="-122"/>
                <a:cs typeface="Arial" pitchFamily="34" charset="-120"/>
              </a:rPr>
              <a:t> </a:t>
            </a:r>
            <a:r>
              <a:rPr lang="vi-VN" dirty="0">
                <a:solidFill>
                  <a:srgbClr val="991B1B"/>
                </a:solidFill>
                <a:ea typeface="Arial" pitchFamily="34" charset="-122"/>
                <a:cs typeface="Arial" pitchFamily="34" charset="-120"/>
              </a:rPr>
              <a:t>cảnh báo sớm</a:t>
            </a:r>
          </a:p>
        </p:txBody>
      </p:sp>
      <p:sp>
        <p:nvSpPr>
          <p:cNvPr id="51" name="Text 11"/>
          <p:cNvSpPr/>
          <p:nvPr/>
        </p:nvSpPr>
        <p:spPr>
          <a:xfrm>
            <a:off x="11213592" y="5938675"/>
            <a:ext cx="6693408" cy="676656"/>
          </a:xfrm>
          <a:prstGeom prst="rect">
            <a:avLst/>
          </a:prstGeom>
          <a:noFill/>
          <a:ln/>
        </p:spPr>
        <p:txBody>
          <a:bodyPr wrap="square" lIns="0" tIns="0" rIns="0" bIns="0" rtlCol="0" anchor="ctr"/>
          <a:lstStyle/>
          <a:p>
            <a:r>
              <a:rPr lang="vi-VN" dirty="0">
                <a:solidFill>
                  <a:srgbClr val="166534"/>
                </a:solidFill>
                <a:ea typeface="Arial" pitchFamily="34" charset="-122"/>
                <a:cs typeface="Arial" pitchFamily="34" charset="-120"/>
              </a:rPr>
              <a:t>Chủ động qua bộ chỉ số KRI</a:t>
            </a:r>
            <a:r>
              <a:rPr lang="en-US" dirty="0">
                <a:solidFill>
                  <a:srgbClr val="166534"/>
                </a:solidFill>
                <a:latin typeface="Arial" panose="020B0604020202020204" pitchFamily="34" charset="0"/>
                <a:ea typeface="Arial" pitchFamily="34" charset="-122"/>
                <a:cs typeface="Arial" pitchFamily="34" charset="-120"/>
              </a:rPr>
              <a:t>, </a:t>
            </a:r>
            <a:r>
              <a:rPr lang="en-US" dirty="0" err="1">
                <a:solidFill>
                  <a:srgbClr val="166534"/>
                </a:solidFill>
                <a:latin typeface="Arial" panose="020B0604020202020204" pitchFamily="34" charset="0"/>
                <a:ea typeface="Arial" pitchFamily="34" charset="-122"/>
                <a:cs typeface="Arial" panose="020B0604020202020204" pitchFamily="34" charset="0"/>
              </a:rPr>
              <a:t>cảnh</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báo</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trước</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khi</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rủi</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ro</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thành</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tổn</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thất</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giám</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sát</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liên</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tục</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và</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định</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kỳ</a:t>
            </a:r>
            <a:endParaRPr lang="vi-VN" dirty="0">
              <a:solidFill>
                <a:srgbClr val="166534"/>
              </a:solidFill>
              <a:latin typeface="Arial" panose="020B0604020202020204" pitchFamily="34" charset="0"/>
              <a:ea typeface="Arial" pitchFamily="34" charset="-122"/>
              <a:cs typeface="Arial" panose="020B0604020202020204" pitchFamily="34" charset="0"/>
            </a:endParaRPr>
          </a:p>
        </p:txBody>
      </p:sp>
      <p:sp>
        <p:nvSpPr>
          <p:cNvPr id="52" name="Text 10"/>
          <p:cNvSpPr/>
          <p:nvPr/>
        </p:nvSpPr>
        <p:spPr>
          <a:xfrm>
            <a:off x="3947266" y="6729327"/>
            <a:ext cx="6839712" cy="676656"/>
          </a:xfrm>
          <a:prstGeom prst="rect">
            <a:avLst/>
          </a:prstGeom>
          <a:noFill/>
          <a:ln/>
        </p:spPr>
        <p:txBody>
          <a:bodyPr wrap="square" lIns="0" tIns="0" rIns="0" bIns="0" rtlCol="0" anchor="ctr"/>
          <a:lstStyle/>
          <a:p>
            <a:pPr algn="just"/>
            <a:r>
              <a:rPr lang="en-US">
                <a:solidFill>
                  <a:srgbClr val="991B1B"/>
                </a:solidFill>
                <a:latin typeface="Arial" panose="020B0604020202020204" pitchFamily="34" charset="0"/>
                <a:ea typeface="Arial" pitchFamily="34" charset="-122"/>
                <a:cs typeface="Arial" panose="020B0604020202020204" pitchFamily="34" charset="0"/>
              </a:rPr>
              <a:t>QTRR là công việc của BP.QTRR, Đơn vị kinh doanh chỉ phối hợp, hỗ trợ</a:t>
            </a:r>
            <a:endParaRPr lang="vi-VN">
              <a:solidFill>
                <a:srgbClr val="991B1B"/>
              </a:solidFill>
              <a:latin typeface="Arial" panose="020B0604020202020204" pitchFamily="34" charset="0"/>
              <a:ea typeface="Arial" pitchFamily="34" charset="-122"/>
              <a:cs typeface="Arial" panose="020B0604020202020204" pitchFamily="34" charset="0"/>
            </a:endParaRPr>
          </a:p>
        </p:txBody>
      </p:sp>
      <p:sp>
        <p:nvSpPr>
          <p:cNvPr id="53" name="Text 11"/>
          <p:cNvSpPr/>
          <p:nvPr/>
        </p:nvSpPr>
        <p:spPr>
          <a:xfrm>
            <a:off x="11204554" y="6710469"/>
            <a:ext cx="6693408" cy="676656"/>
          </a:xfrm>
          <a:prstGeom prst="rect">
            <a:avLst/>
          </a:prstGeom>
          <a:noFill/>
          <a:ln/>
        </p:spPr>
        <p:txBody>
          <a:bodyPr wrap="square" lIns="0" tIns="0" rIns="0" bIns="0" rtlCol="0" anchor="ctr"/>
          <a:lstStyle/>
          <a:p>
            <a:r>
              <a:rPr lang="vi-VN">
                <a:solidFill>
                  <a:srgbClr val="166534"/>
                </a:solidFill>
                <a:ea typeface="Arial" pitchFamily="34" charset="-122"/>
                <a:cs typeface="Arial" pitchFamily="34" charset="-120"/>
              </a:rPr>
              <a:t>Trách nhiệm toàn tổ chức theo mô hình 3 tuyến IIA</a:t>
            </a:r>
          </a:p>
        </p:txBody>
      </p:sp>
      <p:sp>
        <p:nvSpPr>
          <p:cNvPr id="54" name="Text 10"/>
          <p:cNvSpPr/>
          <p:nvPr/>
        </p:nvSpPr>
        <p:spPr>
          <a:xfrm>
            <a:off x="3961559" y="7513846"/>
            <a:ext cx="6839712" cy="676656"/>
          </a:xfrm>
          <a:prstGeom prst="rect">
            <a:avLst/>
          </a:prstGeom>
          <a:noFill/>
          <a:ln/>
        </p:spPr>
        <p:txBody>
          <a:bodyPr wrap="square" lIns="0" tIns="0" rIns="0" bIns="0" rtlCol="0" anchor="ctr"/>
          <a:lstStyle/>
          <a:p>
            <a:pPr algn="just"/>
            <a:r>
              <a:rPr lang="en-US">
                <a:solidFill>
                  <a:srgbClr val="991B1B"/>
                </a:solidFill>
                <a:latin typeface="Arial" panose="020B0604020202020204" pitchFamily="34" charset="0"/>
                <a:ea typeface="Arial" pitchFamily="34" charset="-122"/>
                <a:cs typeface="Arial" panose="020B0604020202020204" pitchFamily="34" charset="0"/>
              </a:rPr>
              <a:t>Tập trung vào báo cáo sự cố đã xảy ra; lãnh đạo thiếu bức tranh toàn cảnh và các chỉ số dự báo/cảnh báo rủi ro</a:t>
            </a:r>
          </a:p>
        </p:txBody>
      </p:sp>
      <p:sp>
        <p:nvSpPr>
          <p:cNvPr id="55" name="Text 11"/>
          <p:cNvSpPr/>
          <p:nvPr/>
        </p:nvSpPr>
        <p:spPr>
          <a:xfrm>
            <a:off x="11218847" y="7494988"/>
            <a:ext cx="6693408" cy="676656"/>
          </a:xfrm>
          <a:prstGeom prst="rect">
            <a:avLst/>
          </a:prstGeom>
          <a:noFill/>
          <a:ln/>
        </p:spPr>
        <p:txBody>
          <a:bodyPr wrap="square" lIns="0" tIns="0" rIns="0" bIns="0" rtlCol="0" anchor="ctr"/>
          <a:lstStyle/>
          <a:p>
            <a:r>
              <a:rPr lang="vi-VN" dirty="0">
                <a:solidFill>
                  <a:srgbClr val="166534"/>
                </a:solidFill>
                <a:ea typeface="Arial" pitchFamily="34" charset="-122"/>
                <a:cs typeface="Arial" pitchFamily="34" charset="-120"/>
              </a:rPr>
              <a:t>Dashboard KRI + LED + Top rủi ro; kịp thời,</a:t>
            </a:r>
            <a:r>
              <a:rPr lang="vi-VN"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có</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thể</a:t>
            </a:r>
            <a:r>
              <a:rPr lang="en-US" dirty="0">
                <a:solidFill>
                  <a:srgbClr val="166534"/>
                </a:solidFill>
                <a:latin typeface="Arial" panose="020B0604020202020204" pitchFamily="34" charset="0"/>
                <a:ea typeface="Arial" pitchFamily="34" charset="-122"/>
                <a:cs typeface="Arial" panose="020B0604020202020204" pitchFamily="34" charset="0"/>
              </a:rPr>
              <a:t> </a:t>
            </a:r>
            <a:r>
              <a:rPr lang="vi-VN" dirty="0">
                <a:solidFill>
                  <a:srgbClr val="166534"/>
                </a:solidFill>
                <a:latin typeface="Arial" panose="020B0604020202020204" pitchFamily="34" charset="0"/>
                <a:ea typeface="Arial" pitchFamily="34" charset="-122"/>
                <a:cs typeface="Arial" panose="020B0604020202020204" pitchFamily="34" charset="0"/>
              </a:rPr>
              <a:t>hành động </a:t>
            </a:r>
            <a:r>
              <a:rPr lang="en-US" dirty="0" err="1">
                <a:solidFill>
                  <a:srgbClr val="166534"/>
                </a:solidFill>
                <a:latin typeface="Arial" panose="020B0604020202020204" pitchFamily="34" charset="0"/>
                <a:ea typeface="Arial" pitchFamily="34" charset="-122"/>
                <a:cs typeface="Arial" panose="020B0604020202020204" pitchFamily="34" charset="0"/>
              </a:rPr>
              <a:t>phòng</a:t>
            </a:r>
            <a:r>
              <a:rPr lang="en-US" dirty="0">
                <a:solidFill>
                  <a:srgbClr val="166534"/>
                </a:solidFill>
                <a:latin typeface="Arial" panose="020B0604020202020204" pitchFamily="34" charset="0"/>
                <a:ea typeface="Arial" pitchFamily="34" charset="-122"/>
                <a:cs typeface="Arial" panose="020B0604020202020204" pitchFamily="34" charset="0"/>
              </a:rPr>
              <a:t> </a:t>
            </a:r>
            <a:r>
              <a:rPr lang="en-US" dirty="0" err="1">
                <a:solidFill>
                  <a:srgbClr val="166534"/>
                </a:solidFill>
                <a:latin typeface="Arial" panose="020B0604020202020204" pitchFamily="34" charset="0"/>
                <a:ea typeface="Arial" pitchFamily="34" charset="-122"/>
                <a:cs typeface="Arial" panose="020B0604020202020204" pitchFamily="34" charset="0"/>
              </a:rPr>
              <a:t>ngừa</a:t>
            </a:r>
            <a:r>
              <a:rPr lang="en-US" dirty="0">
                <a:solidFill>
                  <a:srgbClr val="166534"/>
                </a:solidFill>
                <a:latin typeface="Arial" panose="020B0604020202020204" pitchFamily="34" charset="0"/>
                <a:ea typeface="Arial" pitchFamily="34" charset="-122"/>
                <a:cs typeface="Arial" pitchFamily="34" charset="-120"/>
              </a:rPr>
              <a:t> </a:t>
            </a:r>
            <a:r>
              <a:rPr lang="vi-VN" dirty="0">
                <a:solidFill>
                  <a:srgbClr val="166534"/>
                </a:solidFill>
                <a:ea typeface="Arial" pitchFamily="34" charset="-122"/>
                <a:cs typeface="Arial" pitchFamily="34" charset="-120"/>
              </a:rPr>
              <a:t>được</a:t>
            </a:r>
          </a:p>
        </p:txBody>
      </p:sp>
      <p:sp>
        <p:nvSpPr>
          <p:cNvPr id="56" name="Text 10"/>
          <p:cNvSpPr/>
          <p:nvPr/>
        </p:nvSpPr>
        <p:spPr>
          <a:xfrm>
            <a:off x="3956304" y="8328375"/>
            <a:ext cx="6839712" cy="676656"/>
          </a:xfrm>
          <a:prstGeom prst="rect">
            <a:avLst/>
          </a:prstGeom>
          <a:noFill/>
          <a:ln/>
        </p:spPr>
        <p:txBody>
          <a:bodyPr wrap="square" lIns="0" tIns="0" rIns="0" bIns="0" rtlCol="0" anchor="ctr"/>
          <a:lstStyle/>
          <a:p>
            <a:pPr algn="just"/>
            <a:r>
              <a:rPr lang="vi-VN">
                <a:solidFill>
                  <a:srgbClr val="991B1B"/>
                </a:solidFill>
                <a:ea typeface="Arial" pitchFamily="34" charset="-122"/>
                <a:cs typeface="Arial" panose="020B0604020202020204" pitchFamily="34" charset="0"/>
              </a:rPr>
              <a:t>Rút kinh nghiệm sự cố riêng lẻ; không đánh giá trưởng thành</a:t>
            </a:r>
          </a:p>
        </p:txBody>
      </p:sp>
      <p:sp>
        <p:nvSpPr>
          <p:cNvPr id="57" name="Text 11"/>
          <p:cNvSpPr/>
          <p:nvPr/>
        </p:nvSpPr>
        <p:spPr>
          <a:xfrm>
            <a:off x="11204554" y="8340668"/>
            <a:ext cx="6693408" cy="676656"/>
          </a:xfrm>
          <a:prstGeom prst="rect">
            <a:avLst/>
          </a:prstGeom>
          <a:noFill/>
          <a:ln/>
        </p:spPr>
        <p:txBody>
          <a:bodyPr wrap="square" lIns="0" tIns="0" rIns="0" bIns="0" rtlCol="0" anchor="ctr"/>
          <a:lstStyle/>
          <a:p>
            <a:r>
              <a:rPr lang="vi-VN">
                <a:solidFill>
                  <a:srgbClr val="166534"/>
                </a:solidFill>
                <a:ea typeface="Arial" pitchFamily="34" charset="-122"/>
                <a:cs typeface="Arial" pitchFamily="34" charset="-120"/>
              </a:rPr>
              <a:t>Hiệu chỉnh định kỳ; đánh giá mức trưởng thành theo lộ trình</a:t>
            </a:r>
          </a:p>
        </p:txBody>
      </p:sp>
      <p:sp>
        <p:nvSpPr>
          <p:cNvPr id="58" name="Text 10"/>
          <p:cNvSpPr/>
          <p:nvPr/>
        </p:nvSpPr>
        <p:spPr>
          <a:xfrm>
            <a:off x="3956304" y="9115044"/>
            <a:ext cx="6839712" cy="676656"/>
          </a:xfrm>
          <a:prstGeom prst="rect">
            <a:avLst/>
          </a:prstGeom>
          <a:noFill/>
          <a:ln/>
        </p:spPr>
        <p:txBody>
          <a:bodyPr wrap="square" lIns="0" tIns="0" rIns="0" bIns="0" rtlCol="0" anchor="ctr"/>
          <a:lstStyle/>
          <a:p>
            <a:r>
              <a:rPr lang="en-US" dirty="0">
                <a:solidFill>
                  <a:srgbClr val="991B1B"/>
                </a:solidFill>
                <a:latin typeface="Arial" pitchFamily="34" charset="0"/>
                <a:ea typeface="Arial" pitchFamily="34" charset="-122"/>
                <a:cs typeface="Arial" pitchFamily="34" charset="-120"/>
              </a:rPr>
              <a:t>QTRR = chi </a:t>
            </a:r>
            <a:r>
              <a:rPr lang="en-US" dirty="0" err="1">
                <a:solidFill>
                  <a:srgbClr val="991B1B"/>
                </a:solidFill>
                <a:latin typeface="Arial" pitchFamily="34" charset="0"/>
                <a:ea typeface="Arial" pitchFamily="34" charset="-122"/>
                <a:cs typeface="Arial" pitchFamily="34" charset="-120"/>
              </a:rPr>
              <a:t>phí</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tuân</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thủ</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và</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xử</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lý</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sự</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cố</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không</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gắn</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trực</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tiếp</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vào</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hiệu</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quả</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kinh</a:t>
            </a:r>
            <a:r>
              <a:rPr lang="en-US" dirty="0">
                <a:solidFill>
                  <a:srgbClr val="991B1B"/>
                </a:solidFill>
                <a:latin typeface="Arial" pitchFamily="34" charset="0"/>
                <a:ea typeface="Arial" pitchFamily="34" charset="-122"/>
                <a:cs typeface="Arial" pitchFamily="34" charset="-120"/>
              </a:rPr>
              <a:t> </a:t>
            </a:r>
            <a:r>
              <a:rPr lang="en-US" dirty="0" err="1">
                <a:solidFill>
                  <a:srgbClr val="991B1B"/>
                </a:solidFill>
                <a:latin typeface="Arial" pitchFamily="34" charset="0"/>
                <a:ea typeface="Arial" pitchFamily="34" charset="-122"/>
                <a:cs typeface="Arial" pitchFamily="34" charset="-120"/>
              </a:rPr>
              <a:t>doanh</a:t>
            </a:r>
            <a:endParaRPr lang="en-US" dirty="0">
              <a:latin typeface="Arial" panose="020B0604020202020204" pitchFamily="34" charset="0"/>
            </a:endParaRPr>
          </a:p>
        </p:txBody>
      </p:sp>
      <p:sp>
        <p:nvSpPr>
          <p:cNvPr id="59" name="Text 11"/>
          <p:cNvSpPr/>
          <p:nvPr/>
        </p:nvSpPr>
        <p:spPr>
          <a:xfrm>
            <a:off x="11213592" y="9096186"/>
            <a:ext cx="6693408" cy="676656"/>
          </a:xfrm>
          <a:prstGeom prst="rect">
            <a:avLst/>
          </a:prstGeom>
          <a:noFill/>
          <a:ln/>
        </p:spPr>
        <p:txBody>
          <a:bodyPr wrap="square" lIns="0" tIns="0" rIns="0" bIns="0" rtlCol="0" anchor="ctr"/>
          <a:lstStyle/>
          <a:p>
            <a:r>
              <a:rPr lang="en-US" dirty="0">
                <a:solidFill>
                  <a:srgbClr val="166534"/>
                </a:solidFill>
                <a:latin typeface="Arial" pitchFamily="34" charset="0"/>
                <a:ea typeface="Arial" pitchFamily="34" charset="-122"/>
                <a:cs typeface="Arial" pitchFamily="34" charset="-120"/>
              </a:rPr>
              <a:t>QTRR </a:t>
            </a:r>
            <a:r>
              <a:rPr lang="en-US" dirty="0" err="1">
                <a:solidFill>
                  <a:srgbClr val="166534"/>
                </a:solidFill>
                <a:latin typeface="Arial" pitchFamily="34" charset="0"/>
                <a:ea typeface="Arial" pitchFamily="34" charset="-122"/>
                <a:cs typeface="Arial" pitchFamily="34" charset="-120"/>
              </a:rPr>
              <a:t>gắn</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với</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chiến</a:t>
            </a:r>
            <a:r>
              <a:rPr lang="en-US" dirty="0">
                <a:solidFill>
                  <a:srgbClr val="166534"/>
                </a:solidFill>
                <a:latin typeface="Arial" pitchFamily="34" charset="0"/>
                <a:ea typeface="Arial" pitchFamily="34" charset="-122"/>
                <a:cs typeface="Arial" pitchFamily="34" charset="-120"/>
              </a:rPr>
              <a:t> </a:t>
            </a:r>
            <a:r>
              <a:rPr lang="en-US" dirty="0" err="1">
                <a:solidFill>
                  <a:srgbClr val="166534"/>
                </a:solidFill>
                <a:latin typeface="Arial" pitchFamily="34" charset="0"/>
                <a:ea typeface="Arial" pitchFamily="34" charset="-122"/>
                <a:cs typeface="Arial" pitchFamily="34" charset="-120"/>
              </a:rPr>
              <a:t>lược</a:t>
            </a:r>
            <a:endParaRPr lang="en-US" dirty="0">
              <a:latin typeface="Arial" panose="020B0604020202020204" pitchFamily="34" charset="0"/>
            </a:endParaRPr>
          </a:p>
        </p:txBody>
      </p:sp>
      <p:sp>
        <p:nvSpPr>
          <p:cNvPr id="64" name="Text 10"/>
          <p:cNvSpPr/>
          <p:nvPr/>
        </p:nvSpPr>
        <p:spPr>
          <a:xfrm>
            <a:off x="152400" y="9660921"/>
            <a:ext cx="18288000" cy="676656"/>
          </a:xfrm>
          <a:prstGeom prst="rect">
            <a:avLst/>
          </a:prstGeom>
          <a:noFill/>
          <a:ln/>
        </p:spPr>
        <p:txBody>
          <a:bodyPr wrap="square" lIns="0" tIns="0" rIns="0" bIns="0" rtlCol="0" anchor="ctr"/>
          <a:lstStyle/>
          <a:p>
            <a:pPr algn="ctr"/>
            <a:r>
              <a:rPr lang="en-US" sz="1600" b="1" i="1">
                <a:solidFill>
                  <a:schemeClr val="bg1"/>
                </a:solidFill>
                <a:latin typeface="Arial" pitchFamily="34" charset="0"/>
                <a:ea typeface="Arial" pitchFamily="34" charset="-122"/>
                <a:cs typeface="Arial" pitchFamily="34" charset="-120"/>
              </a:rPr>
              <a:t>QTRR TRUYỀN THỐNG LÀ CHI PHÍ TUÂN THỦ, ERM LÀ CÔNG CỤ QUẢN TRỊ, HỖ TRỢ VIỆC RA QUYẾT ĐỊNH CỦA BTGĐ VÀ HƯỚNG TỚI VIỆC BẢO TOÀN CHIẾN LƯỢC CỦA TCT</a:t>
            </a:r>
            <a:endParaRPr lang="en-US" sz="1600" b="1" dirty="0">
              <a:solidFill>
                <a:schemeClr val="bg1"/>
              </a:solidFill>
              <a:latin typeface="Arial" panose="020B0604020202020204" pitchFamily="34" charset="0"/>
              <a:cs typeface="Arial" panose="020B0604020202020204" pitchFamily="34" charset="0"/>
            </a:endParaRPr>
          </a:p>
        </p:txBody>
      </p:sp>
      <p:sp>
        <p:nvSpPr>
          <p:cNvPr id="38" name="Right Arrow 37"/>
          <p:cNvSpPr/>
          <p:nvPr/>
        </p:nvSpPr>
        <p:spPr>
          <a:xfrm>
            <a:off x="328671" y="9863328"/>
            <a:ext cx="277368" cy="228600"/>
          </a:xfrm>
          <a:prstGeom prst="rightArrow">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endParaRPr>
          </a:p>
        </p:txBody>
      </p:sp>
      <p:cxnSp>
        <p:nvCxnSpPr>
          <p:cNvPr id="66" name="Straight Connector 65"/>
          <p:cNvCxnSpPr/>
          <p:nvPr/>
        </p:nvCxnSpPr>
        <p:spPr>
          <a:xfrm>
            <a:off x="256032" y="2705100"/>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7" name="Straight Connector 66"/>
          <p:cNvCxnSpPr/>
          <p:nvPr/>
        </p:nvCxnSpPr>
        <p:spPr>
          <a:xfrm>
            <a:off x="270546" y="3482122"/>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a:off x="270546" y="4220973"/>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69" name="Straight Connector 68"/>
          <p:cNvCxnSpPr/>
          <p:nvPr/>
        </p:nvCxnSpPr>
        <p:spPr>
          <a:xfrm>
            <a:off x="270546" y="5031250"/>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0" name="Straight Connector 69"/>
          <p:cNvCxnSpPr/>
          <p:nvPr/>
        </p:nvCxnSpPr>
        <p:spPr>
          <a:xfrm>
            <a:off x="328671" y="5836708"/>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1" name="Straight Connector 70"/>
          <p:cNvCxnSpPr/>
          <p:nvPr/>
        </p:nvCxnSpPr>
        <p:spPr>
          <a:xfrm>
            <a:off x="328671" y="6612636"/>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2" name="Straight Connector 71"/>
          <p:cNvCxnSpPr/>
          <p:nvPr/>
        </p:nvCxnSpPr>
        <p:spPr>
          <a:xfrm>
            <a:off x="328671" y="7402068"/>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3" name="Straight Connector 72"/>
          <p:cNvCxnSpPr/>
          <p:nvPr/>
        </p:nvCxnSpPr>
        <p:spPr>
          <a:xfrm>
            <a:off x="328671" y="8227713"/>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74" name="Straight Connector 73"/>
          <p:cNvCxnSpPr/>
          <p:nvPr/>
        </p:nvCxnSpPr>
        <p:spPr>
          <a:xfrm>
            <a:off x="328671" y="9075788"/>
            <a:ext cx="17775936" cy="0"/>
          </a:xfrm>
          <a:prstGeom prst="line">
            <a:avLst/>
          </a:prstGeom>
          <a:ln w="6350">
            <a:solidFill>
              <a:schemeClr val="bg1">
                <a:lumMod val="95000"/>
              </a:schemeClr>
            </a:solidFill>
            <a:prstDash val="sysDot"/>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8336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nvGraphicFramePr>
        <p:xfrm>
          <a:off x="152401" y="1409701"/>
          <a:ext cx="17983199" cy="8794035"/>
        </p:xfrm>
        <a:graphic>
          <a:graphicData uri="http://schemas.openxmlformats.org/drawingml/2006/table">
            <a:tbl>
              <a:tblPr firstRow="1" bandRow="1">
                <a:tableStyleId>{5C22544A-7EE6-4342-B048-85BDC9FD1C3A}</a:tableStyleId>
              </a:tblPr>
              <a:tblGrid>
                <a:gridCol w="1454609">
                  <a:extLst>
                    <a:ext uri="{9D8B030D-6E8A-4147-A177-3AD203B41FA5}">
                      <a16:colId xmlns:a16="http://schemas.microsoft.com/office/drawing/2014/main" val="3130170847"/>
                    </a:ext>
                  </a:extLst>
                </a:gridCol>
                <a:gridCol w="3299831">
                  <a:extLst>
                    <a:ext uri="{9D8B030D-6E8A-4147-A177-3AD203B41FA5}">
                      <a16:colId xmlns:a16="http://schemas.microsoft.com/office/drawing/2014/main" val="928649161"/>
                    </a:ext>
                  </a:extLst>
                </a:gridCol>
                <a:gridCol w="2229323">
                  <a:extLst>
                    <a:ext uri="{9D8B030D-6E8A-4147-A177-3AD203B41FA5}">
                      <a16:colId xmlns:a16="http://schemas.microsoft.com/office/drawing/2014/main" val="3267891094"/>
                    </a:ext>
                  </a:extLst>
                </a:gridCol>
                <a:gridCol w="5499718">
                  <a:extLst>
                    <a:ext uri="{9D8B030D-6E8A-4147-A177-3AD203B41FA5}">
                      <a16:colId xmlns:a16="http://schemas.microsoft.com/office/drawing/2014/main" val="908183143"/>
                    </a:ext>
                  </a:extLst>
                </a:gridCol>
                <a:gridCol w="5499718">
                  <a:extLst>
                    <a:ext uri="{9D8B030D-6E8A-4147-A177-3AD203B41FA5}">
                      <a16:colId xmlns:a16="http://schemas.microsoft.com/office/drawing/2014/main" val="385072934"/>
                    </a:ext>
                  </a:extLst>
                </a:gridCol>
              </a:tblGrid>
              <a:tr h="563327">
                <a:tc>
                  <a:txBody>
                    <a:bodyPr/>
                    <a:lstStyle/>
                    <a:p>
                      <a:pPr algn="ctr"/>
                      <a:r>
                        <a:rPr lang="en-US" sz="2400" b="1" dirty="0" err="1">
                          <a:solidFill>
                            <a:schemeClr val="bg1"/>
                          </a:solidFill>
                          <a:latin typeface="Arial" panose="020B0604020202020204" pitchFamily="34" charset="0"/>
                          <a:cs typeface="Arial" panose="020B0604020202020204" pitchFamily="34" charset="0"/>
                        </a:rPr>
                        <a:t>Khía</a:t>
                      </a:r>
                      <a:r>
                        <a:rPr lang="en-US" sz="2400" b="1" baseline="0" dirty="0">
                          <a:solidFill>
                            <a:schemeClr val="bg1"/>
                          </a:solidFill>
                          <a:latin typeface="Arial" panose="020B0604020202020204" pitchFamily="34" charset="0"/>
                          <a:cs typeface="Arial" panose="020B0604020202020204" pitchFamily="34" charset="0"/>
                        </a:rPr>
                        <a:t> </a:t>
                      </a:r>
                      <a:r>
                        <a:rPr lang="en-US" sz="2400" b="1" baseline="0" dirty="0" err="1">
                          <a:solidFill>
                            <a:schemeClr val="bg1"/>
                          </a:solidFill>
                          <a:latin typeface="Arial" panose="020B0604020202020204" pitchFamily="34" charset="0"/>
                          <a:cs typeface="Arial" panose="020B0604020202020204" pitchFamily="34" charset="0"/>
                        </a:rPr>
                        <a:t>cạnh</a:t>
                      </a:r>
                      <a:endParaRPr lang="en-US" sz="2400"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dirty="0" err="1">
                          <a:solidFill>
                            <a:schemeClr val="bg1"/>
                          </a:solidFill>
                          <a:latin typeface="Arial" panose="020B0604020202020204" pitchFamily="34" charset="0"/>
                          <a:cs typeface="Arial" panose="020B0604020202020204" pitchFamily="34" charset="0"/>
                        </a:rPr>
                        <a:t>Nguyên</a:t>
                      </a:r>
                      <a:r>
                        <a:rPr lang="en-US" sz="2400" b="1" baseline="0" dirty="0">
                          <a:solidFill>
                            <a:schemeClr val="bg1"/>
                          </a:solidFill>
                          <a:latin typeface="Arial" panose="020B0604020202020204" pitchFamily="34" charset="0"/>
                          <a:cs typeface="Arial" panose="020B0604020202020204" pitchFamily="34" charset="0"/>
                        </a:rPr>
                        <a:t> </a:t>
                      </a:r>
                      <a:r>
                        <a:rPr lang="en-US" sz="2400" b="1" baseline="0" dirty="0" err="1">
                          <a:solidFill>
                            <a:schemeClr val="bg1"/>
                          </a:solidFill>
                          <a:latin typeface="Arial" panose="020B0604020202020204" pitchFamily="34" charset="0"/>
                          <a:cs typeface="Arial" panose="020B0604020202020204" pitchFamily="34" charset="0"/>
                        </a:rPr>
                        <a:t>tắc</a:t>
                      </a:r>
                      <a:endParaRPr lang="en-US" sz="2400"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dirty="0" err="1">
                          <a:solidFill>
                            <a:schemeClr val="bg1"/>
                          </a:solidFill>
                          <a:latin typeface="Arial" panose="020B0604020202020204" pitchFamily="34" charset="0"/>
                          <a:cs typeface="Arial" panose="020B0604020202020204" pitchFamily="34" charset="0"/>
                        </a:rPr>
                        <a:t>Mức</a:t>
                      </a:r>
                      <a:r>
                        <a:rPr lang="en-US" sz="2400" b="1" baseline="0" dirty="0">
                          <a:solidFill>
                            <a:schemeClr val="bg1"/>
                          </a:solidFill>
                          <a:latin typeface="Arial" panose="020B0604020202020204" pitchFamily="34" charset="0"/>
                          <a:cs typeface="Arial" panose="020B0604020202020204" pitchFamily="34" charset="0"/>
                        </a:rPr>
                        <a:t> </a:t>
                      </a:r>
                      <a:r>
                        <a:rPr lang="en-US" sz="2400" b="1" baseline="0" dirty="0" err="1">
                          <a:solidFill>
                            <a:schemeClr val="bg1"/>
                          </a:solidFill>
                          <a:latin typeface="Arial" panose="020B0604020202020204" pitchFamily="34" charset="0"/>
                          <a:cs typeface="Arial" panose="020B0604020202020204" pitchFamily="34" charset="0"/>
                        </a:rPr>
                        <a:t>độ</a:t>
                      </a:r>
                      <a:r>
                        <a:rPr lang="en-US" sz="2400" b="1" baseline="0" dirty="0">
                          <a:solidFill>
                            <a:schemeClr val="bg1"/>
                          </a:solidFill>
                          <a:latin typeface="Arial" panose="020B0604020202020204" pitchFamily="34" charset="0"/>
                          <a:cs typeface="Arial" panose="020B0604020202020204" pitchFamily="34" charset="0"/>
                        </a:rPr>
                        <a:t> </a:t>
                      </a:r>
                      <a:r>
                        <a:rPr lang="en-US" sz="2400" b="1" baseline="0" dirty="0" err="1">
                          <a:solidFill>
                            <a:schemeClr val="bg1"/>
                          </a:solidFill>
                          <a:latin typeface="Arial" panose="020B0604020202020204" pitchFamily="34" charset="0"/>
                          <a:cs typeface="Arial" panose="020B0604020202020204" pitchFamily="34" charset="0"/>
                        </a:rPr>
                        <a:t>đáp</a:t>
                      </a:r>
                      <a:r>
                        <a:rPr lang="en-US" sz="2400" b="1" baseline="0" dirty="0">
                          <a:solidFill>
                            <a:schemeClr val="bg1"/>
                          </a:solidFill>
                          <a:latin typeface="Arial" panose="020B0604020202020204" pitchFamily="34" charset="0"/>
                          <a:cs typeface="Arial" panose="020B0604020202020204" pitchFamily="34" charset="0"/>
                        </a:rPr>
                        <a:t> </a:t>
                      </a:r>
                      <a:r>
                        <a:rPr lang="en-US" sz="2400" b="1" baseline="0" dirty="0" err="1">
                          <a:solidFill>
                            <a:schemeClr val="bg1"/>
                          </a:solidFill>
                          <a:latin typeface="Arial" panose="020B0604020202020204" pitchFamily="34" charset="0"/>
                          <a:cs typeface="Arial" panose="020B0604020202020204" pitchFamily="34" charset="0"/>
                        </a:rPr>
                        <a:t>ứng</a:t>
                      </a:r>
                      <a:endParaRPr lang="en-US" sz="2400"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dirty="0" err="1">
                          <a:solidFill>
                            <a:schemeClr val="bg1"/>
                          </a:solidFill>
                          <a:latin typeface="Arial" panose="020B0604020202020204" pitchFamily="34" charset="0"/>
                          <a:cs typeface="Arial" panose="020B0604020202020204" pitchFamily="34" charset="0"/>
                        </a:rPr>
                        <a:t>Thông</a:t>
                      </a:r>
                      <a:r>
                        <a:rPr lang="en-US" sz="2400" b="1" baseline="0" dirty="0">
                          <a:solidFill>
                            <a:schemeClr val="bg1"/>
                          </a:solidFill>
                          <a:latin typeface="Arial" panose="020B0604020202020204" pitchFamily="34" charset="0"/>
                          <a:cs typeface="Arial" panose="020B0604020202020204" pitchFamily="34" charset="0"/>
                        </a:rPr>
                        <a:t> </a:t>
                      </a:r>
                      <a:r>
                        <a:rPr lang="en-US" sz="2400" b="1" baseline="0" dirty="0" err="1">
                          <a:solidFill>
                            <a:schemeClr val="bg1"/>
                          </a:solidFill>
                          <a:latin typeface="Arial" panose="020B0604020202020204" pitchFamily="34" charset="0"/>
                          <a:cs typeface="Arial" panose="020B0604020202020204" pitchFamily="34" charset="0"/>
                        </a:rPr>
                        <a:t>lệ</a:t>
                      </a:r>
                      <a:endParaRPr lang="en-US" sz="2400"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dirty="0" err="1">
                          <a:solidFill>
                            <a:schemeClr val="bg1"/>
                          </a:solidFill>
                          <a:latin typeface="Arial" panose="020B0604020202020204" pitchFamily="34" charset="0"/>
                          <a:cs typeface="Arial" panose="020B0604020202020204" pitchFamily="34" charset="0"/>
                        </a:rPr>
                        <a:t>Thực</a:t>
                      </a:r>
                      <a:r>
                        <a:rPr lang="en-US" sz="2400" b="1" baseline="0" dirty="0">
                          <a:solidFill>
                            <a:schemeClr val="bg1"/>
                          </a:solidFill>
                          <a:latin typeface="Arial" panose="020B0604020202020204" pitchFamily="34" charset="0"/>
                          <a:cs typeface="Arial" panose="020B0604020202020204" pitchFamily="34" charset="0"/>
                        </a:rPr>
                        <a:t> </a:t>
                      </a:r>
                      <a:r>
                        <a:rPr lang="en-US" sz="2400" b="1" baseline="0" dirty="0" err="1">
                          <a:solidFill>
                            <a:schemeClr val="bg1"/>
                          </a:solidFill>
                          <a:latin typeface="Arial" panose="020B0604020202020204" pitchFamily="34" charset="0"/>
                          <a:cs typeface="Arial" panose="020B0604020202020204" pitchFamily="34" charset="0"/>
                        </a:rPr>
                        <a:t>trạng</a:t>
                      </a:r>
                      <a:r>
                        <a:rPr lang="en-US" sz="2400" b="1" baseline="0" dirty="0">
                          <a:solidFill>
                            <a:schemeClr val="bg1"/>
                          </a:solidFill>
                          <a:latin typeface="Arial" panose="020B0604020202020204" pitchFamily="34" charset="0"/>
                          <a:cs typeface="Arial" panose="020B0604020202020204" pitchFamily="34" charset="0"/>
                        </a:rPr>
                        <a:t> </a:t>
                      </a:r>
                      <a:r>
                        <a:rPr lang="en-US" sz="2400" b="1" baseline="0" dirty="0" err="1">
                          <a:solidFill>
                            <a:schemeClr val="bg1"/>
                          </a:solidFill>
                          <a:latin typeface="Arial" panose="020B0604020202020204" pitchFamily="34" charset="0"/>
                          <a:cs typeface="Arial" panose="020B0604020202020204" pitchFamily="34" charset="0"/>
                        </a:rPr>
                        <a:t>tại</a:t>
                      </a:r>
                      <a:r>
                        <a:rPr lang="en-US" sz="2400" b="1" baseline="0" dirty="0">
                          <a:solidFill>
                            <a:schemeClr val="bg1"/>
                          </a:solidFill>
                          <a:latin typeface="Arial" panose="020B0604020202020204" pitchFamily="34" charset="0"/>
                          <a:cs typeface="Arial" panose="020B0604020202020204" pitchFamily="34" charset="0"/>
                        </a:rPr>
                        <a:t> VDS</a:t>
                      </a:r>
                      <a:endParaRPr lang="en-US" sz="2400"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extLst>
                  <a:ext uri="{0D108BD9-81ED-4DB2-BD59-A6C34878D82A}">
                    <a16:rowId xmlns:a16="http://schemas.microsoft.com/office/drawing/2014/main" val="653763660"/>
                  </a:ext>
                </a:extLst>
              </a:tr>
              <a:tr h="1594215">
                <a:tc rowSpan="5">
                  <a:txBody>
                    <a:bodyPr/>
                    <a:lstStyle/>
                    <a:p>
                      <a:pPr algn="ctr"/>
                      <a:r>
                        <a:rPr lang="en-US" sz="2800" b="1" dirty="0" err="1">
                          <a:solidFill>
                            <a:srgbClr val="C00000"/>
                          </a:solidFill>
                          <a:latin typeface="Arial" panose="020B0604020202020204" pitchFamily="34" charset="0"/>
                          <a:cs typeface="Arial" panose="020B0604020202020204" pitchFamily="34" charset="0"/>
                        </a:rPr>
                        <a:t>Quản</a:t>
                      </a:r>
                      <a:r>
                        <a:rPr lang="en-US" sz="2800" b="1" baseline="0" dirty="0">
                          <a:solidFill>
                            <a:srgbClr val="C00000"/>
                          </a:solidFill>
                          <a:latin typeface="Arial" panose="020B0604020202020204" pitchFamily="34" charset="0"/>
                          <a:cs typeface="Arial" panose="020B0604020202020204" pitchFamily="34" charset="0"/>
                        </a:rPr>
                        <a:t> </a:t>
                      </a:r>
                      <a:r>
                        <a:rPr lang="en-US" sz="2800" b="1" baseline="0" dirty="0" err="1">
                          <a:solidFill>
                            <a:srgbClr val="C00000"/>
                          </a:solidFill>
                          <a:latin typeface="Arial" panose="020B0604020202020204" pitchFamily="34" charset="0"/>
                          <a:cs typeface="Arial" panose="020B0604020202020204" pitchFamily="34" charset="0"/>
                        </a:rPr>
                        <a:t>trị</a:t>
                      </a:r>
                      <a:r>
                        <a:rPr lang="en-US" sz="2800" b="1" baseline="0" dirty="0">
                          <a:solidFill>
                            <a:srgbClr val="C00000"/>
                          </a:solidFill>
                          <a:latin typeface="Arial" panose="020B0604020202020204" pitchFamily="34" charset="0"/>
                          <a:cs typeface="Arial" panose="020B0604020202020204" pitchFamily="34" charset="0"/>
                        </a:rPr>
                        <a:t> &amp; </a:t>
                      </a:r>
                      <a:r>
                        <a:rPr lang="en-US" sz="2800" b="1" baseline="0" dirty="0" err="1">
                          <a:solidFill>
                            <a:srgbClr val="C00000"/>
                          </a:solidFill>
                          <a:latin typeface="Arial" panose="020B0604020202020204" pitchFamily="34" charset="0"/>
                          <a:cs typeface="Arial" panose="020B0604020202020204" pitchFamily="34" charset="0"/>
                        </a:rPr>
                        <a:t>Văn</a:t>
                      </a:r>
                      <a:r>
                        <a:rPr lang="en-US" sz="2800" b="1" baseline="0" dirty="0">
                          <a:solidFill>
                            <a:srgbClr val="C00000"/>
                          </a:solidFill>
                          <a:latin typeface="Arial" panose="020B0604020202020204" pitchFamily="34" charset="0"/>
                          <a:cs typeface="Arial" panose="020B0604020202020204" pitchFamily="34" charset="0"/>
                        </a:rPr>
                        <a:t> </a:t>
                      </a:r>
                      <a:r>
                        <a:rPr lang="en-US" sz="2800" b="1" baseline="0" dirty="0" err="1">
                          <a:solidFill>
                            <a:srgbClr val="C00000"/>
                          </a:solidFill>
                          <a:latin typeface="Arial" panose="020B0604020202020204" pitchFamily="34" charset="0"/>
                          <a:cs typeface="Arial" panose="020B0604020202020204" pitchFamily="34" charset="0"/>
                        </a:rPr>
                        <a:t>hóa</a:t>
                      </a:r>
                      <a:endParaRPr lang="en-US" sz="2800" b="1" dirty="0">
                        <a:solidFill>
                          <a:srgbClr val="C00000"/>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indent="0">
                        <a:spcBef>
                          <a:spcPts val="600"/>
                        </a:spcBef>
                        <a:buNone/>
                      </a:pPr>
                      <a:r>
                        <a:rPr lang="en-US" sz="1600" b="1" dirty="0">
                          <a:solidFill>
                            <a:schemeClr val="tx1"/>
                          </a:solidFill>
                          <a:latin typeface="Arial" panose="020B0604020202020204" pitchFamily="34" charset="0"/>
                          <a:cs typeface="Arial" panose="020B0604020202020204" pitchFamily="34" charset="0"/>
                        </a:rPr>
                        <a:t>1. QTRR </a:t>
                      </a:r>
                      <a:r>
                        <a:rPr lang="en-US" sz="1600" b="1" dirty="0" err="1">
                          <a:solidFill>
                            <a:schemeClr val="tx1"/>
                          </a:solidFill>
                          <a:latin typeface="Arial" panose="020B0604020202020204" pitchFamily="34" charset="0"/>
                          <a:cs typeface="Arial" panose="020B0604020202020204" pitchFamily="34" charset="0"/>
                        </a:rPr>
                        <a:t>được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lãnh</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đạo</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giám</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sát</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a:latin typeface="Arial" panose="020B0604020202020204" pitchFamily="34" charset="0"/>
                          <a:cs typeface="Arial" panose="020B0604020202020204" pitchFamily="34" charset="0"/>
                        </a:rPr>
                        <a:t>Ban </a:t>
                      </a:r>
                      <a:r>
                        <a:rPr lang="en-US" sz="160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phải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chịu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nhiệm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trên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toàn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năng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năng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nhiệm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vụ</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ban </a:t>
                      </a:r>
                      <a:r>
                        <a:rPr lang="en-US" sz="1600" baseline="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bao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gồm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QTRR</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Cơ </a:t>
                      </a:r>
                      <a:r>
                        <a:rPr lang="en-US" sz="1600" baseline="0" dirty="0" err="1">
                          <a:latin typeface="Arial" panose="020B0604020202020204" pitchFamily="34" charset="0"/>
                          <a:cs typeface="Arial" panose="020B0604020202020204" pitchFamily="34" charset="0"/>
                        </a:rPr>
                        <a:t>chế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tiếp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tới</a:t>
                      </a:r>
                      <a:r>
                        <a:rPr lang="en-US" sz="1600" baseline="0" dirty="0">
                          <a:latin typeface="Arial" panose="020B0604020202020204" pitchFamily="34" charset="0"/>
                          <a:cs typeface="Arial" panose="020B0604020202020204" pitchFamily="34" charset="0"/>
                        </a:rPr>
                        <a:t> ban </a:t>
                      </a:r>
                      <a:r>
                        <a:rPr lang="en-US" sz="1600" baseline="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indent="-285750" algn="just">
                        <a:lnSpc>
                          <a:spcPct val="100000"/>
                        </a:lnSpc>
                        <a:buFontTx/>
                        <a:buChar char="-"/>
                      </a:pPr>
                      <a:r>
                        <a:rPr lang="en-US" sz="1600" dirty="0" err="1">
                          <a:latin typeface="Arial" panose="020B0604020202020204" pitchFamily="34" charset="0"/>
                          <a:cs typeface="Arial" panose="020B0604020202020204" pitchFamily="34" charset="0"/>
                        </a:rPr>
                        <a:t>Vai</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trò</a:t>
                      </a:r>
                      <a:r>
                        <a:rPr lang="en-US" sz="1600" dirty="0">
                          <a:latin typeface="Arial" panose="020B0604020202020204" pitchFamily="34" charset="0"/>
                          <a:cs typeface="Arial" panose="020B0604020202020204" pitchFamily="34" charset="0"/>
                        </a:rPr>
                        <a: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nhiệm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Chủ</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tịch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đốc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Ban </a:t>
                      </a:r>
                      <a:r>
                        <a:rPr lang="en-US" sz="1600" baseline="0" dirty="0" err="1">
                          <a:latin typeface="Arial" panose="020B0604020202020204" pitchFamily="34" charset="0"/>
                          <a:cs typeface="Arial" panose="020B0604020202020204" pitchFamily="34" charset="0"/>
                        </a:rPr>
                        <a:t>Kiểm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soát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rõ</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ràng</a:t>
                      </a:r>
                      <a:endParaRPr lang="en-US" sz="1600" baseline="0" dirty="0">
                        <a:latin typeface="Arial" panose="020B0604020202020204" pitchFamily="34" charset="0"/>
                        <a:cs typeface="Arial" panose="020B0604020202020204" pitchFamily="34" charset="0"/>
                      </a:endParaRPr>
                    </a:p>
                    <a:p>
                      <a:pPr marL="91440" indent="-285750" algn="just">
                        <a:lnSpc>
                          <a:spcPct val="100000"/>
                        </a:lnSpc>
                        <a:buFontTx/>
                        <a:buChar char="-"/>
                      </a:pPr>
                      <a:r>
                        <a:rPr lang="en-US" sz="1600" baseline="0" dirty="0" err="1">
                          <a:latin typeface="Arial" panose="020B0604020202020204" pitchFamily="34" charset="0"/>
                          <a:cs typeface="Arial" panose="020B0604020202020204" pitchFamily="34" charset="0"/>
                        </a:rPr>
                        <a:t>Đã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luồng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tiếp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tới</a:t>
                      </a:r>
                      <a:r>
                        <a:rPr lang="en-US" sz="1600" baseline="0" dirty="0">
                          <a:latin typeface="Arial" panose="020B0604020202020204" pitchFamily="34" charset="0"/>
                          <a:cs typeface="Arial" panose="020B0604020202020204" pitchFamily="34" charset="0"/>
                        </a:rPr>
                        <a:t> ban </a:t>
                      </a:r>
                      <a:r>
                        <a:rPr lang="en-US" sz="1600" baseline="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54908492"/>
                  </a:ext>
                </a:extLst>
              </a:tr>
              <a:tr h="1594215">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2. Cơ </a:t>
                      </a:r>
                      <a:r>
                        <a:rPr lang="en-US" sz="1600" b="1" dirty="0" err="1">
                          <a:solidFill>
                            <a:schemeClr val="tx1"/>
                          </a:solidFill>
                          <a:latin typeface="Arial" panose="020B0604020202020204" pitchFamily="34" charset="0"/>
                          <a:cs typeface="Arial" panose="020B0604020202020204" pitchFamily="34" charset="0"/>
                        </a:rPr>
                        <a:t>cấu</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tổ</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chức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bộ</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máy</a:t>
                      </a:r>
                      <a:r>
                        <a:rPr lang="en-US" sz="1600" b="1" dirty="0">
                          <a:solidFill>
                            <a:schemeClr val="tx1"/>
                          </a:solidFill>
                          <a:latin typeface="Arial" panose="020B0604020202020204" pitchFamily="34" charset="0"/>
                          <a:cs typeface="Arial" panose="020B0604020202020204" pitchFamily="34" charset="0"/>
                        </a:rPr>
                        <a:t> QTRR </a:t>
                      </a:r>
                      <a:r>
                        <a:rPr lang="en-US" sz="1600" b="1" dirty="0" err="1">
                          <a:solidFill>
                            <a:schemeClr val="tx1"/>
                          </a:solidFill>
                          <a:latin typeface="Arial" panose="020B0604020202020204" pitchFamily="34" charset="0"/>
                          <a:cs typeface="Arial" panose="020B0604020202020204" pitchFamily="34" charset="0"/>
                        </a:rPr>
                        <a:t>được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thiết</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lập</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a:latin typeface="Arial" panose="020B0604020202020204" pitchFamily="34" charset="0"/>
                          <a:cs typeface="Arial" panose="020B0604020202020204" pitchFamily="34" charset="0"/>
                        </a:rPr>
                        <a:t>Cơ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cấu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máy</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sắp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xếp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rõ</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ràng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nhằm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kiểm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soát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trình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hành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nghiệp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91440" algn="just">
                        <a:lnSpc>
                          <a:spcPct val="100000"/>
                        </a:lnSpc>
                      </a:pPr>
                      <a:r>
                        <a:rPr lang="en-US" sz="1600" baseline="0" dirty="0">
                          <a:latin typeface="Arial" panose="020B0604020202020204" pitchFamily="34" charset="0"/>
                          <a:cs typeface="Arial" panose="020B0604020202020204" pitchFamily="34" charset="0"/>
                        </a:rPr>
                        <a:t>- Xây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cấu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máy</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CNNV </a:t>
                      </a:r>
                      <a:r>
                        <a:rPr lang="en-US" sz="1600" baseline="0" dirty="0" err="1">
                          <a:latin typeface="Arial" panose="020B0604020202020204" pitchFamily="34" charset="0"/>
                          <a:cs typeface="Arial" panose="020B0604020202020204" pitchFamily="34" charset="0"/>
                        </a:rPr>
                        <a:t>rõ</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ràng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giữa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tuyến</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VDS </a:t>
                      </a:r>
                      <a:r>
                        <a:rPr lang="en-US" sz="1600" baseline="0" dirty="0" err="1">
                          <a:latin typeface="Arial" panose="020B0604020202020204" pitchFamily="34" charset="0"/>
                          <a:cs typeface="Arial" panose="020B0604020202020204" pitchFamily="34" charset="0"/>
                        </a:rPr>
                        <a:t>đã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xây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mô</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hình</a:t>
                      </a:r>
                      <a:r>
                        <a:rPr lang="en-US" sz="1600" baseline="0" dirty="0">
                          <a:latin typeface="Arial" panose="020B0604020202020204" pitchFamily="34" charset="0"/>
                          <a:cs typeface="Arial" panose="020B0604020202020204" pitchFamily="34" charset="0"/>
                        </a:rPr>
                        <a:t> 3 </a:t>
                      </a:r>
                      <a:r>
                        <a:rPr lang="en-US" sz="1600" baseline="0" dirty="0" err="1">
                          <a:latin typeface="Arial" panose="020B0604020202020204" pitchFamily="34" charset="0"/>
                          <a:cs typeface="Arial" panose="020B0604020202020204" pitchFamily="34" charset="0"/>
                        </a:rPr>
                        <a:t>tuyến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theo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mô</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hình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IIA</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2893438"/>
                  </a:ext>
                </a:extLst>
              </a:tr>
              <a:tr h="1594215">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3. </a:t>
                      </a:r>
                      <a:r>
                        <a:rPr lang="en-US" sz="1600" b="1" dirty="0" err="1">
                          <a:solidFill>
                            <a:schemeClr val="tx1"/>
                          </a:solidFill>
                          <a:latin typeface="Arial" panose="020B0604020202020204" pitchFamily="34" charset="0"/>
                          <a:cs typeface="Arial" panose="020B0604020202020204" pitchFamily="34" charset="0"/>
                        </a:rPr>
                        <a:t>Văn</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hóa</a:t>
                      </a:r>
                      <a:r>
                        <a:rPr lang="en-US" sz="1600" b="1" dirty="0">
                          <a:solidFill>
                            <a:schemeClr val="tx1"/>
                          </a:solidFill>
                          <a:latin typeface="Arial" panose="020B0604020202020204" pitchFamily="34" charset="0"/>
                          <a:cs typeface="Arial" panose="020B0604020202020204" pitchFamily="34" charset="0"/>
                        </a:rPr>
                        <a:t> QTRR </a:t>
                      </a:r>
                      <a:r>
                        <a:rPr lang="en-US" sz="1600" b="1" dirty="0" err="1">
                          <a:solidFill>
                            <a:schemeClr val="tx1"/>
                          </a:solidFill>
                          <a:latin typeface="Arial" panose="020B0604020202020204" pitchFamily="34" charset="0"/>
                          <a:cs typeface="Arial" panose="020B0604020202020204" pitchFamily="34" charset="0"/>
                        </a:rPr>
                        <a:t>được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xác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định</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một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phần</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Văn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hóa</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nghĩa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truyền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thống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nhất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toàn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chúc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Văn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hóa</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nghĩa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rõ</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ràng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bản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tài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liệu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chính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thức</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Nhân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sự</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toàn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ty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thống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nhất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đầy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đủ</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QTRR</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Văn </a:t>
                      </a:r>
                      <a:r>
                        <a:rPr lang="en-US" sz="1600" baseline="0" dirty="0" err="1">
                          <a:latin typeface="Arial" panose="020B0604020202020204" pitchFamily="34" charset="0"/>
                          <a:cs typeface="Arial" panose="020B0604020202020204" pitchFamily="34" charset="0"/>
                        </a:rPr>
                        <a:t>hóa</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đã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nghĩa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Khung QTRR, </a:t>
                      </a:r>
                      <a:r>
                        <a:rPr lang="en-US" sz="1600" baseline="0" dirty="0" err="1">
                          <a:latin typeface="Arial" panose="020B0604020202020204" pitchFamily="34" charset="0"/>
                          <a:cs typeface="Arial" panose="020B0604020202020204" pitchFamily="34" charset="0"/>
                        </a:rPr>
                        <a:t>tuy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nhiên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tế</a:t>
                      </a:r>
                      <a:r>
                        <a:rPr lang="en-US" sz="1600" baseline="0" dirty="0">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mức</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độ</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nhận</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thức</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về</a:t>
                      </a:r>
                      <a:r>
                        <a:rPr lang="en-US" sz="1600" baseline="0" dirty="0">
                          <a:solidFill>
                            <a:srgbClr val="C00000"/>
                          </a:solidFill>
                          <a:latin typeface="Arial" panose="020B0604020202020204" pitchFamily="34" charset="0"/>
                          <a:cs typeface="Arial" panose="020B0604020202020204" pitchFamily="34" charset="0"/>
                        </a:rPr>
                        <a:t> QTRR </a:t>
                      </a:r>
                      <a:r>
                        <a:rPr lang="en-US" sz="1600" baseline="0" dirty="0" err="1">
                          <a:solidFill>
                            <a:srgbClr val="C00000"/>
                          </a:solidFill>
                          <a:latin typeface="Arial" panose="020B0604020202020204" pitchFamily="34" charset="0"/>
                          <a:cs typeface="Arial" panose="020B0604020202020204" pitchFamily="34" charset="0"/>
                        </a:rPr>
                        <a:t>chưa</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đồng</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đều</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giữa</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các</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phòng</a:t>
                      </a:r>
                      <a:r>
                        <a:rPr lang="en-US" sz="1600" baseline="0" dirty="0">
                          <a:solidFill>
                            <a:srgbClr val="C00000"/>
                          </a:solidFill>
                          <a:latin typeface="Arial" panose="020B0604020202020204" pitchFamily="34" charset="0"/>
                          <a:cs typeface="Arial" panose="020B0604020202020204" pitchFamily="34" charset="0"/>
                        </a:rPr>
                        <a:t> ban, </a:t>
                      </a:r>
                      <a:r>
                        <a:rPr lang="en-US" sz="1600" baseline="0" dirty="0" err="1">
                          <a:solidFill>
                            <a:srgbClr val="C00000"/>
                          </a:solidFill>
                          <a:latin typeface="Arial" panose="020B0604020202020204" pitchFamily="34" charset="0"/>
                          <a:cs typeface="Arial" panose="020B0604020202020204" pitchFamily="34" charset="0"/>
                        </a:rPr>
                        <a:t>đơn</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vị</a:t>
                      </a:r>
                      <a:endParaRPr lang="en-US" sz="1600" baseline="0" dirty="0">
                        <a:solidFill>
                          <a:srgbClr val="C00000"/>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4853363"/>
                  </a:ext>
                </a:extLst>
              </a:tr>
              <a:tr h="1594215">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4. </a:t>
                      </a:r>
                      <a:r>
                        <a:rPr lang="en-US" sz="1600" b="1" dirty="0" err="1">
                          <a:solidFill>
                            <a:schemeClr val="tx1"/>
                          </a:solidFill>
                          <a:latin typeface="Arial" panose="020B0604020202020204" pitchFamily="34" charset="0"/>
                          <a:cs typeface="Arial" panose="020B0604020202020204" pitchFamily="34" charset="0"/>
                        </a:rPr>
                        <a:t>Thể</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hiện</a:t>
                      </a:r>
                      <a:r>
                        <a:rPr lang="en-US" sz="1600" b="1" dirty="0">
                          <a:solidFill>
                            <a:schemeClr val="tx1"/>
                          </a:solidFill>
                          <a:latin typeface="Arial" panose="020B0604020202020204" pitchFamily="34" charset="0"/>
                          <a:cs typeface="Arial" panose="020B0604020202020204" pitchFamily="34" charset="0"/>
                        </a:rPr>
                        <a:t> cam </a:t>
                      </a:r>
                      <a:r>
                        <a:rPr lang="en-US" sz="1600" b="1" dirty="0" err="1">
                          <a:solidFill>
                            <a:schemeClr val="tx1"/>
                          </a:solidFill>
                          <a:latin typeface="Arial" panose="020B0604020202020204" pitchFamily="34" charset="0"/>
                          <a:cs typeface="Arial" panose="020B0604020202020204" pitchFamily="34" charset="0"/>
                        </a:rPr>
                        <a:t>kết</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với</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các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giá</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trị</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cốt</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lõi</a:t>
                      </a:r>
                      <a:r>
                        <a:rPr lang="en-US" sz="1600" b="1" dirty="0">
                          <a:solidFill>
                            <a:schemeClr val="tx1"/>
                          </a:solidFill>
                          <a:latin typeface="Arial" panose="020B0604020202020204" pitchFamily="34" charset="0"/>
                          <a:cs typeface="Arial" panose="020B0604020202020204" pitchFamily="34" charset="0"/>
                        </a:rPr>
                        <a:t> </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baseline="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cam </a:t>
                      </a:r>
                      <a:r>
                        <a:rPr lang="en-US" sz="1600" baseline="0" dirty="0" err="1">
                          <a:latin typeface="Arial" panose="020B0604020202020204" pitchFamily="34" charset="0"/>
                          <a:cs typeface="Arial" panose="020B0604020202020204" pitchFamily="34" charset="0"/>
                        </a:rPr>
                        <a:t>kết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trì</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cốt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lõi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hoạt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động</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thấm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nhuần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hoạt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Xây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tắc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xử</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liên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quan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QTRR</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xử</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lý</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hành</a:t>
                      </a:r>
                      <a:r>
                        <a:rPr lang="en-US" sz="1600" baseline="0" dirty="0">
                          <a:latin typeface="Arial" panose="020B0604020202020204" pitchFamily="34" charset="0"/>
                          <a:cs typeface="Arial" panose="020B0604020202020204" pitchFamily="34" charset="0"/>
                        </a:rPr>
                        <a:t> vi </a:t>
                      </a:r>
                      <a:r>
                        <a:rPr lang="en-US" sz="1600" baseline="0" dirty="0" err="1">
                          <a:latin typeface="Arial" panose="020B0604020202020204" pitchFamily="34" charset="0"/>
                          <a:cs typeface="Arial" panose="020B0604020202020204" pitchFamily="34" charset="0"/>
                        </a:rPr>
                        <a:t>vi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phạm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QTRR</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a:lnSpc>
                          <a:spcPct val="100000"/>
                        </a:lnSpc>
                        <a:buFontTx/>
                        <a:buChar char="-"/>
                      </a:pPr>
                      <a:r>
                        <a:rPr lang="en-US" sz="1600" dirty="0" err="1">
                          <a:latin typeface="Arial" panose="020B0604020202020204" pitchFamily="34" charset="0"/>
                          <a:cs typeface="Arial" panose="020B0604020202020204" pitchFamily="34" charset="0"/>
                        </a:rPr>
                        <a:t>Đã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nguyên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tắc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khung</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TCT</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Đã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xử</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lý</a:t>
                      </a:r>
                      <a:r>
                        <a:rPr lang="en-US" sz="1600" baseline="0" dirty="0">
                          <a:latin typeface="Arial" panose="020B0604020202020204" pitchFamily="34" charset="0"/>
                          <a:cs typeface="Arial" panose="020B0604020202020204" pitchFamily="34" charset="0"/>
                        </a:rPr>
                        <a:t> vi </a:t>
                      </a:r>
                      <a:r>
                        <a:rPr lang="en-US" sz="1600" baseline="0" dirty="0" err="1">
                          <a:latin typeface="Arial" panose="020B0604020202020204" pitchFamily="34" charset="0"/>
                          <a:cs typeface="Arial" panose="020B0604020202020204" pitchFamily="34" charset="0"/>
                        </a:rPr>
                        <a:t>phạm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QTRR</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13259125"/>
                  </a:ext>
                </a:extLst>
              </a:tr>
              <a:tr h="1594215">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5. Thu </a:t>
                      </a:r>
                      <a:r>
                        <a:rPr lang="en-US" sz="1600" b="1" dirty="0" err="1">
                          <a:solidFill>
                            <a:schemeClr val="tx1"/>
                          </a:solidFill>
                          <a:latin typeface="Arial" panose="020B0604020202020204" pitchFamily="34" charset="0"/>
                          <a:cs typeface="Arial" panose="020B0604020202020204" pitchFamily="34" charset="0"/>
                        </a:rPr>
                        <a:t>hút</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phát</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triển</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và</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giữ</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chân</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nhân</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sự</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một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phần</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năng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hút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phát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triển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nguồn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nhân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như</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hoạch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thừa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Xây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yêu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cầu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hiểu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biết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đối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trí</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chủ</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chốt</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Xây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đào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chuyển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giao</a:t>
                      </a:r>
                      <a:r>
                        <a:rPr lang="en-US" sz="1600" baseline="0" dirty="0">
                          <a:latin typeface="Arial" panose="020B0604020202020204" pitchFamily="34" charset="0"/>
                          <a:cs typeface="Arial" panose="020B0604020202020204" pitchFamily="34" charset="0"/>
                        </a:rPr>
                        <a:t> tri </a:t>
                      </a:r>
                      <a:r>
                        <a:rPr lang="en-US" sz="1600" baseline="0" dirty="0" err="1">
                          <a:latin typeface="Arial" panose="020B0604020202020204" pitchFamily="34" charset="0"/>
                          <a:cs typeface="Arial" panose="020B0604020202020204" pitchFamily="34" charset="0"/>
                        </a:rPr>
                        <a:t>thức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QTRR</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VDS </a:t>
                      </a:r>
                      <a:r>
                        <a:rPr lang="en-US" sz="1600" baseline="0" dirty="0" err="1">
                          <a:latin typeface="Arial" panose="020B0604020202020204" pitchFamily="34" charset="0"/>
                          <a:cs typeface="Arial" panose="020B0604020202020204" pitchFamily="34" charset="0"/>
                        </a:rPr>
                        <a:t>đã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xây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nội</a:t>
                      </a:r>
                      <a:r>
                        <a:rPr lang="en-US" sz="1600" baseline="0" dirty="0">
                          <a:latin typeface="Arial" panose="020B0604020202020204" pitchFamily="34" charset="0"/>
                          <a:cs typeface="Arial" panose="020B0604020202020204" pitchFamily="34" charset="0"/>
                        </a:rPr>
                        <a:t> dung </a:t>
                      </a:r>
                      <a:r>
                        <a:rPr lang="en-US" sz="1600" baseline="0" dirty="0" err="1">
                          <a:latin typeface="Arial" panose="020B0604020202020204" pitchFamily="34" charset="0"/>
                          <a:cs typeface="Arial" panose="020B0604020202020204" pitchFamily="34" charset="0"/>
                        </a:rPr>
                        <a:t>đào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chủ</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chốt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nắm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hiểu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biết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hướng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QTRR </a:t>
                      </a:r>
                    </a:p>
                    <a:p>
                      <a:pPr marL="377190" indent="-285750" algn="just">
                        <a:lnSpc>
                          <a:spcPct val="100000"/>
                        </a:lnSpc>
                        <a:buFontTx/>
                        <a:buChar char="-"/>
                      </a:pPr>
                      <a:r>
                        <a:rPr lang="en-US" sz="1600" baseline="0" dirty="0">
                          <a:solidFill>
                            <a:srgbClr val="C00000"/>
                          </a:solidFill>
                          <a:latin typeface="Arial" panose="020B0604020202020204" pitchFamily="34" charset="0"/>
                          <a:cs typeface="Arial" panose="020B0604020202020204" pitchFamily="34" charset="0"/>
                        </a:rPr>
                        <a:t>VDS </a:t>
                      </a:r>
                      <a:r>
                        <a:rPr lang="en-US" sz="1600" baseline="0" dirty="0" err="1">
                          <a:solidFill>
                            <a:srgbClr val="C00000"/>
                          </a:solidFill>
                          <a:latin typeface="Arial" panose="020B0604020202020204" pitchFamily="34" charset="0"/>
                          <a:cs typeface="Arial" panose="020B0604020202020204" pitchFamily="34" charset="0"/>
                        </a:rPr>
                        <a:t>chưa</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có</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hệ</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thống</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kế</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thừa</a:t>
                      </a:r>
                      <a:r>
                        <a:rPr lang="en-US" sz="1600" baseline="0" dirty="0">
                          <a:solidFill>
                            <a:srgbClr val="C00000"/>
                          </a:solidFill>
                          <a:latin typeface="Arial" panose="020B0604020202020204" pitchFamily="34" charset="0"/>
                          <a:cs typeface="Arial" panose="020B0604020202020204" pitchFamily="34" charset="0"/>
                        </a:rPr>
                        <a:t> tri </a:t>
                      </a:r>
                      <a:r>
                        <a:rPr lang="en-US" sz="1600" baseline="0" dirty="0" err="1">
                          <a:solidFill>
                            <a:srgbClr val="C00000"/>
                          </a:solidFill>
                          <a:latin typeface="Arial" panose="020B0604020202020204" pitchFamily="34" charset="0"/>
                          <a:cs typeface="Arial" panose="020B0604020202020204" pitchFamily="34" charset="0"/>
                        </a:rPr>
                        <a:t>thức</a:t>
                      </a:r>
                      <a:r>
                        <a:rPr lang="en-US" sz="1600" baseline="0" dirty="0">
                          <a:solidFill>
                            <a:srgbClr val="C00000"/>
                          </a:solidFill>
                          <a:latin typeface="Arial" panose="020B0604020202020204" pitchFamily="34" charset="0"/>
                          <a:cs typeface="Arial" panose="020B0604020202020204" pitchFamily="34" charset="0"/>
                        </a:rPr>
                        <a:t> </a:t>
                      </a:r>
                      <a:r>
                        <a:rPr lang="en-US" sz="1600" baseline="0" dirty="0" err="1">
                          <a:solidFill>
                            <a:srgbClr val="C00000"/>
                          </a:solidFill>
                          <a:latin typeface="Arial" panose="020B0604020202020204" pitchFamily="34" charset="0"/>
                          <a:cs typeface="Arial" panose="020B0604020202020204" pitchFamily="34" charset="0"/>
                        </a:rPr>
                        <a:t>về</a:t>
                      </a:r>
                      <a:r>
                        <a:rPr lang="en-US" sz="1600" baseline="0" dirty="0">
                          <a:solidFill>
                            <a:srgbClr val="C00000"/>
                          </a:solidFill>
                          <a:latin typeface="Arial" panose="020B0604020202020204" pitchFamily="34" charset="0"/>
                          <a:cs typeface="Arial" panose="020B0604020202020204" pitchFamily="34" charset="0"/>
                        </a:rPr>
                        <a:t> QTRR</a:t>
                      </a:r>
                      <a:endParaRPr lang="en-US" sz="1600" dirty="0">
                        <a:solidFill>
                          <a:srgbClr val="C00000"/>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31521537"/>
                  </a:ext>
                </a:extLst>
              </a:tr>
            </a:tbl>
          </a:graphicData>
        </a:graphic>
      </p:graphicFrame>
      <p:sp>
        <p:nvSpPr>
          <p:cNvPr id="63" name="Oval 62"/>
          <p:cNvSpPr/>
          <p:nvPr/>
        </p:nvSpPr>
        <p:spPr>
          <a:xfrm>
            <a:off x="5105400" y="2857500"/>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71" name="Oval 70"/>
          <p:cNvSpPr/>
          <p:nvPr/>
        </p:nvSpPr>
        <p:spPr>
          <a:xfrm>
            <a:off x="5105400" y="4421266"/>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72" name="Group 71"/>
          <p:cNvGrpSpPr/>
          <p:nvPr/>
        </p:nvGrpSpPr>
        <p:grpSpPr>
          <a:xfrm>
            <a:off x="5106521" y="6068792"/>
            <a:ext cx="365760" cy="367059"/>
            <a:chOff x="333181" y="7831207"/>
            <a:chExt cx="365760" cy="367059"/>
          </a:xfrm>
        </p:grpSpPr>
        <p:sp>
          <p:nvSpPr>
            <p:cNvPr id="74" name="Oval 73"/>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77" name="Pie 76"/>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79" name="Group 78"/>
          <p:cNvGrpSpPr/>
          <p:nvPr/>
        </p:nvGrpSpPr>
        <p:grpSpPr>
          <a:xfrm>
            <a:off x="5105401" y="9161467"/>
            <a:ext cx="365760" cy="367059"/>
            <a:chOff x="333181" y="7831207"/>
            <a:chExt cx="365760" cy="367059"/>
          </a:xfrm>
        </p:grpSpPr>
        <p:sp>
          <p:nvSpPr>
            <p:cNvPr id="80" name="Oval 79"/>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81" name="Pie 80"/>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
        <p:nvSpPr>
          <p:cNvPr id="18" name="Oval 17"/>
          <p:cNvSpPr/>
          <p:nvPr/>
        </p:nvSpPr>
        <p:spPr>
          <a:xfrm>
            <a:off x="5105400" y="7614481"/>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19" name="Group 2"/>
          <p:cNvGrpSpPr/>
          <p:nvPr/>
        </p:nvGrpSpPr>
        <p:grpSpPr>
          <a:xfrm>
            <a:off x="0" y="114299"/>
            <a:ext cx="9829800" cy="1097280"/>
            <a:chOff x="0" y="-2"/>
            <a:chExt cx="19479172" cy="1664815"/>
          </a:xfrm>
          <a:solidFill>
            <a:schemeClr val="bg1">
              <a:lumMod val="95000"/>
            </a:schemeClr>
          </a:solidFill>
        </p:grpSpPr>
        <p:sp>
          <p:nvSpPr>
            <p:cNvPr id="20" name="Freeform 3"/>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Đánh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marL="914400">
                <a:lnSpc>
                  <a:spcPts val="4320"/>
                </a:lnSpc>
              </a:pP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Khía</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cạnh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Quản</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trị</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&amp;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Văn</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hóa</a:t>
              </a:r>
              <a:endParaRPr lang="en-US" sz="2400" b="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21" name="Group 4"/>
          <p:cNvGrpSpPr/>
          <p:nvPr/>
        </p:nvGrpSpPr>
        <p:grpSpPr>
          <a:xfrm>
            <a:off x="0" y="114299"/>
            <a:ext cx="936307" cy="1097280"/>
            <a:chOff x="0" y="0"/>
            <a:chExt cx="1248410" cy="1554290"/>
          </a:xfrm>
        </p:grpSpPr>
        <p:sp>
          <p:nvSpPr>
            <p:cNvPr id="22"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Tree>
    <p:extLst>
      <p:ext uri="{BB962C8B-B14F-4D97-AF65-F5344CB8AC3E}">
        <p14:creationId xmlns:p14="http://schemas.microsoft.com/office/powerpoint/2010/main" val="1287707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c 3"/>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graphicFrame>
        <p:nvGraphicFramePr>
          <p:cNvPr id="13" name="Table 12"/>
          <p:cNvGraphicFramePr>
            <a:graphicFrameLocks noGrp="1"/>
          </p:cNvGraphicFramePr>
          <p:nvPr/>
        </p:nvGraphicFramePr>
        <p:xfrm>
          <a:off x="152401" y="1409701"/>
          <a:ext cx="17983199" cy="8734648"/>
        </p:xfrm>
        <a:graphic>
          <a:graphicData uri="http://schemas.openxmlformats.org/drawingml/2006/table">
            <a:tbl>
              <a:tblPr firstRow="1" bandRow="1">
                <a:tableStyleId>{5C22544A-7EE6-4342-B048-85BDC9FD1C3A}</a:tableStyleId>
              </a:tblPr>
              <a:tblGrid>
                <a:gridCol w="1454609">
                  <a:extLst>
                    <a:ext uri="{9D8B030D-6E8A-4147-A177-3AD203B41FA5}">
                      <a16:colId xmlns:a16="http://schemas.microsoft.com/office/drawing/2014/main" val="3130170847"/>
                    </a:ext>
                  </a:extLst>
                </a:gridCol>
                <a:gridCol w="3299831">
                  <a:extLst>
                    <a:ext uri="{9D8B030D-6E8A-4147-A177-3AD203B41FA5}">
                      <a16:colId xmlns:a16="http://schemas.microsoft.com/office/drawing/2014/main" val="928649161"/>
                    </a:ext>
                  </a:extLst>
                </a:gridCol>
                <a:gridCol w="2229323">
                  <a:extLst>
                    <a:ext uri="{9D8B030D-6E8A-4147-A177-3AD203B41FA5}">
                      <a16:colId xmlns:a16="http://schemas.microsoft.com/office/drawing/2014/main" val="3267891094"/>
                    </a:ext>
                  </a:extLst>
                </a:gridCol>
                <a:gridCol w="5499718">
                  <a:extLst>
                    <a:ext uri="{9D8B030D-6E8A-4147-A177-3AD203B41FA5}">
                      <a16:colId xmlns:a16="http://schemas.microsoft.com/office/drawing/2014/main" val="908183143"/>
                    </a:ext>
                  </a:extLst>
                </a:gridCol>
                <a:gridCol w="5499718">
                  <a:extLst>
                    <a:ext uri="{9D8B030D-6E8A-4147-A177-3AD203B41FA5}">
                      <a16:colId xmlns:a16="http://schemas.microsoft.com/office/drawing/2014/main" val="385072934"/>
                    </a:ext>
                  </a:extLst>
                </a:gridCol>
              </a:tblGrid>
              <a:tr h="698912">
                <a:tc>
                  <a:txBody>
                    <a:bodyPr/>
                    <a:lstStyle/>
                    <a:p>
                      <a:pPr marL="0" algn="ctr" defTabSz="914400" rtl="0" eaLnBrk="1" latinLnBrk="0" hangingPunct="1"/>
                      <a:r>
                        <a:rPr lang="en-US" sz="2400" b="1" kern="1200" dirty="0" err="1">
                          <a:solidFill>
                            <a:schemeClr val="bg1"/>
                          </a:solidFill>
                          <a:latin typeface="Arial" panose="020B0604020202020204" pitchFamily="34" charset="0"/>
                          <a:ea typeface="+mn-ea"/>
                          <a:cs typeface="Arial" panose="020B0604020202020204" pitchFamily="34" charset="0"/>
                        </a:rPr>
                        <a:t>Khía</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cạnh</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marL="0" algn="ctr" defTabSz="914400" rtl="0" eaLnBrk="1" latinLnBrk="0" hangingPunct="1"/>
                      <a:r>
                        <a:rPr lang="en-US" sz="2400" b="1" kern="1200" dirty="0" err="1">
                          <a:solidFill>
                            <a:schemeClr val="bg1"/>
                          </a:solidFill>
                          <a:latin typeface="Arial" panose="020B0604020202020204" pitchFamily="34" charset="0"/>
                          <a:ea typeface="+mn-ea"/>
                          <a:cs typeface="Arial" panose="020B0604020202020204" pitchFamily="34" charset="0"/>
                        </a:rPr>
                        <a:t>Nguyên</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tắc</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marL="0" algn="ctr" defTabSz="914400" rtl="0" eaLnBrk="1" latinLnBrk="0" hangingPunct="1"/>
                      <a:r>
                        <a:rPr lang="en-US" sz="2400" b="1" kern="1200" dirty="0" err="1">
                          <a:solidFill>
                            <a:schemeClr val="bg1"/>
                          </a:solidFill>
                          <a:latin typeface="Arial" panose="020B0604020202020204" pitchFamily="34" charset="0"/>
                          <a:ea typeface="+mn-ea"/>
                          <a:cs typeface="Arial" panose="020B0604020202020204" pitchFamily="34" charset="0"/>
                        </a:rPr>
                        <a:t>Mức</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độ</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đáp</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ứng</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marL="0" algn="ctr" defTabSz="914400" rtl="0" eaLnBrk="1" latinLnBrk="0" hangingPunct="1"/>
                      <a:r>
                        <a:rPr lang="en-US" sz="2400" b="1" kern="1200" dirty="0" err="1">
                          <a:solidFill>
                            <a:schemeClr val="bg1"/>
                          </a:solidFill>
                          <a:latin typeface="Arial" panose="020B0604020202020204" pitchFamily="34" charset="0"/>
                          <a:ea typeface="+mn-ea"/>
                          <a:cs typeface="Arial" panose="020B0604020202020204" pitchFamily="34" charset="0"/>
                        </a:rPr>
                        <a:t>Thông</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lệ</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marL="0" algn="ctr" defTabSz="914400" rtl="0" eaLnBrk="1" latinLnBrk="0" hangingPunct="1"/>
                      <a:r>
                        <a:rPr lang="en-US" sz="2400" b="1" kern="1200" dirty="0" err="1">
                          <a:solidFill>
                            <a:schemeClr val="bg1"/>
                          </a:solidFill>
                          <a:latin typeface="Arial" panose="020B0604020202020204" pitchFamily="34" charset="0"/>
                          <a:ea typeface="+mn-ea"/>
                          <a:cs typeface="Arial" panose="020B0604020202020204" pitchFamily="34" charset="0"/>
                        </a:rPr>
                        <a:t>Thực</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trạng</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tại</a:t>
                      </a:r>
                      <a:r>
                        <a:rPr lang="en-US" sz="2400" b="1" kern="1200" dirty="0">
                          <a:solidFill>
                            <a:schemeClr val="bg1"/>
                          </a:solidFill>
                          <a:latin typeface="Arial" panose="020B0604020202020204" pitchFamily="34" charset="0"/>
                          <a:ea typeface="+mn-ea"/>
                          <a:cs typeface="Arial" panose="020B0604020202020204" pitchFamily="34" charset="0"/>
                        </a:rPr>
                        <a:t> VDS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extLst>
                  <a:ext uri="{0D108BD9-81ED-4DB2-BD59-A6C34878D82A}">
                    <a16:rowId xmlns:a16="http://schemas.microsoft.com/office/drawing/2014/main" val="653763660"/>
                  </a:ext>
                </a:extLst>
              </a:tr>
              <a:tr h="1977922">
                <a:tc rowSpan="4">
                  <a:txBody>
                    <a:bodyPr/>
                    <a:lstStyle/>
                    <a:p>
                      <a:pPr algn="ctr"/>
                      <a:r>
                        <a:rPr lang="en-US" sz="2800" b="1" kern="1200" baseline="0" dirty="0" err="1">
                          <a:solidFill>
                            <a:srgbClr val="C00000"/>
                          </a:solidFill>
                          <a:latin typeface="Arial" panose="020B0604020202020204" pitchFamily="34" charset="0"/>
                          <a:ea typeface="+mn-ea"/>
                          <a:cs typeface="Arial" panose="020B0604020202020204" pitchFamily="34" charset="0"/>
                        </a:rPr>
                        <a:t>Chiến</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lược</a:t>
                      </a:r>
                      <a:r>
                        <a:rPr lang="en-US" sz="2800" b="1" kern="1200" baseline="0" dirty="0">
                          <a:solidFill>
                            <a:srgbClr val="C00000"/>
                          </a:solidFill>
                          <a:latin typeface="Arial" panose="020B0604020202020204" pitchFamily="34" charset="0"/>
                          <a:ea typeface="+mn-ea"/>
                          <a:cs typeface="Arial" panose="020B0604020202020204" pitchFamily="34" charset="0"/>
                        </a:rPr>
                        <a:t> &amp; </a:t>
                      </a:r>
                      <a:r>
                        <a:rPr lang="en-US" sz="2800" b="1" kern="1200" baseline="0" dirty="0" err="1">
                          <a:solidFill>
                            <a:srgbClr val="C00000"/>
                          </a:solidFill>
                          <a:latin typeface="Arial" panose="020B0604020202020204" pitchFamily="34" charset="0"/>
                          <a:ea typeface="+mn-ea"/>
                          <a:cs typeface="Arial" panose="020B0604020202020204" pitchFamily="34" charset="0"/>
                        </a:rPr>
                        <a:t>Thiết</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lập</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mục</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tiêu</a:t>
                      </a:r>
                      <a:endParaRPr lang="en-US" sz="2800" b="1" kern="1200" baseline="0" dirty="0">
                        <a:solidFill>
                          <a:srgbClr val="C00000"/>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spcBef>
                          <a:spcPts val="600"/>
                        </a:spcBef>
                        <a:buNone/>
                      </a:pPr>
                      <a:r>
                        <a:rPr lang="en-US" sz="1600" b="1" dirty="0">
                          <a:solidFill>
                            <a:schemeClr val="tx1"/>
                          </a:solidFill>
                          <a:latin typeface="Arial" panose="020B0604020202020204" pitchFamily="34" charset="0"/>
                          <a:cs typeface="Arial" panose="020B0604020202020204" pitchFamily="34" charset="0"/>
                        </a:rPr>
                        <a:t>6. </a:t>
                      </a:r>
                      <a:r>
                        <a:rPr lang="en-US" sz="1600" b="1" dirty="0" err="1">
                          <a:solidFill>
                            <a:schemeClr val="tx1"/>
                          </a:solidFill>
                          <a:latin typeface="Arial" panose="020B0604020202020204" pitchFamily="34" charset="0"/>
                          <a:cs typeface="Arial" panose="020B0604020202020204" pitchFamily="34" charset="0"/>
                        </a:rPr>
                        <a:t>Phân</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tích</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bối</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cảnh</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kinh</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doanh</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năng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từ</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những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thay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đổi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môi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trường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Phân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tích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môi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trường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bối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kỳ</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Cơ </a:t>
                      </a:r>
                      <a:r>
                        <a:rPr lang="en-US" sz="1600" baseline="0" dirty="0" err="1">
                          <a:latin typeface="Arial" panose="020B0604020202020204" pitchFamily="34" charset="0"/>
                          <a:cs typeface="Arial" panose="020B0604020202020204" pitchFamily="34" charset="0"/>
                        </a:rPr>
                        <a:t>chế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cập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bối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phát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thay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đổi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trọng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yếu</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sự</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tham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BP. QTRR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môi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trường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ngoài</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vi-VN" sz="1600" b="0" i="0" u="none" strike="noStrike" dirty="0">
                          <a:solidFill>
                            <a:schemeClr val="tx1"/>
                          </a:solidFill>
                          <a:effectLst/>
                          <a:latin typeface="Arial" panose="020B0604020202020204" pitchFamily="34" charset="0"/>
                        </a:rPr>
                        <a:t>Đã thực hiện các hoạt động phân tích bối cảnh kinh doanh (bao gồm các khía cạnh về rủi ro môi trường trong và ngoài</a:t>
                      </a:r>
                      <a:r>
                        <a:rPr lang="en-US" sz="1600" b="0" i="0" u="none" strike="noStrike" dirty="0">
                          <a:solidFill>
                            <a:schemeClr val="tx1"/>
                          </a:solidFill>
                          <a:effectLst/>
                          <a:latin typeface="Arial" panose="020B0604020202020204" pitchFamily="34" charset="0"/>
                        </a:rPr>
                        <a:t>)</a:t>
                      </a:r>
                    </a:p>
                    <a:p>
                      <a:pPr marL="377190" indent="-285750" algn="just" fontAlgn="ctr">
                        <a:buFontTx/>
                        <a:buChar char="-"/>
                      </a:pPr>
                      <a:r>
                        <a:rPr lang="en-US" sz="1600" b="0" i="0" u="none" strike="noStrike" dirty="0" err="1">
                          <a:solidFill>
                            <a:schemeClr val="tx1"/>
                          </a:solidFill>
                          <a:effectLst/>
                          <a:latin typeface="Arial" panose="020B0604020202020204" pitchFamily="34" charset="0"/>
                        </a:rPr>
                        <a:t>Đã</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có</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công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tác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nhận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diện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rủi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nhận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diện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cơ</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hội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thách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thức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từ</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môi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trường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trong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và</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ngoài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trong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quá</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trình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xây</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dựng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chiến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lược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kinh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doanh</a:t>
                      </a:r>
                      <a:endParaRPr lang="vi-VN" sz="1600" b="0" i="0" u="none" strike="noStrike" dirty="0">
                        <a:solidFill>
                          <a:schemeClr val="tx1"/>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54908492"/>
                  </a:ext>
                </a:extLst>
              </a:tr>
              <a:tr h="1977922">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7. </a:t>
                      </a:r>
                      <a:r>
                        <a:rPr lang="en-US" sz="1600" b="1" dirty="0" err="1">
                          <a:solidFill>
                            <a:schemeClr val="tx1"/>
                          </a:solidFill>
                          <a:latin typeface="Arial" panose="020B0604020202020204" pitchFamily="34" charset="0"/>
                          <a:cs typeface="Arial" panose="020B0604020202020204" pitchFamily="34" charset="0"/>
                        </a:rPr>
                        <a:t>Xác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định</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khẩu</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vị</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rủi</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ro</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Chưa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rõ</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sẵn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sàng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chấp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theo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đuổi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Ban </a:t>
                      </a:r>
                      <a:r>
                        <a:rPr lang="en-US" sz="1600" baseline="0" dirty="0" err="1">
                          <a:latin typeface="Arial" panose="020B0604020202020204" pitchFamily="34" charset="0"/>
                          <a:cs typeface="Arial" panose="020B0604020202020204" pitchFamily="34" charset="0"/>
                        </a:rPr>
                        <a:t>hành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tuyên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bố</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khẩu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phê</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duyệt</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Xây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thước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ngưỡng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chấp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cụ</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Cập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khẩu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thước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kỳ</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vi-VN" sz="1600" b="0" i="0" u="none" strike="noStrike" dirty="0">
                          <a:solidFill>
                            <a:srgbClr val="C00000"/>
                          </a:solidFill>
                          <a:effectLst/>
                          <a:latin typeface="Arial" panose="020B0604020202020204" pitchFamily="34" charset="0"/>
                        </a:rPr>
                        <a:t>Khẩu vị rủi ro phụ thuộc vào khẩu vị rủi ro của Tập đoàn, chưa ban hành KVRR của TCT</a:t>
                      </a:r>
                      <a:endParaRPr lang="en-US" sz="1600" b="0" i="0" u="none" strike="noStrike" dirty="0">
                        <a:solidFill>
                          <a:srgbClr val="C00000"/>
                        </a:solidFill>
                        <a:effectLst/>
                        <a:latin typeface="Arial" panose="020B0604020202020204" pitchFamily="34" charset="0"/>
                      </a:endParaRPr>
                    </a:p>
                    <a:p>
                      <a:pPr marL="377190" indent="-285750" algn="just" fontAlgn="ctr">
                        <a:buFontTx/>
                        <a:buChar char="-"/>
                      </a:pPr>
                      <a:r>
                        <a:rPr lang="vi-VN" sz="1600" b="0" i="0" u="none" strike="noStrike" dirty="0">
                          <a:solidFill>
                            <a:srgbClr val="C00000"/>
                          </a:solidFill>
                          <a:effectLst/>
                          <a:latin typeface="Arial" panose="020B0604020202020204" pitchFamily="34" charset="0"/>
                        </a:rPr>
                        <a:t>Thước đo rủi ro mới ở mức quy trình, chưa được ban hành thước đo rủi ro cấp TCT</a:t>
                      </a:r>
                      <a:endParaRPr lang="en-US" sz="1600" b="0" i="0" u="none" strike="noStrike" dirty="0">
                        <a:solidFill>
                          <a:srgbClr val="C00000"/>
                        </a:solidFill>
                        <a:effectLst/>
                        <a:latin typeface="Arial" panose="020B0604020202020204" pitchFamily="34" charset="0"/>
                      </a:endParaRPr>
                    </a:p>
                    <a:p>
                      <a:pPr marL="377190" indent="-285750" algn="just" fontAlgn="ctr">
                        <a:buFontTx/>
                        <a:buChar char="-"/>
                      </a:pPr>
                      <a:r>
                        <a:rPr lang="vi-VN" sz="1600" b="0" i="0" u="none" strike="noStrike" dirty="0">
                          <a:solidFill>
                            <a:srgbClr val="C00000"/>
                          </a:solidFill>
                          <a:effectLst/>
                          <a:latin typeface="Arial" panose="020B0604020202020204" pitchFamily="34" charset="0"/>
                        </a:rPr>
                        <a:t>Chưa có </a:t>
                      </a:r>
                      <a:r>
                        <a:rPr lang="en-US" sz="1600" b="0" i="0" u="none" strike="noStrike" dirty="0" err="1">
                          <a:solidFill>
                            <a:srgbClr val="C00000"/>
                          </a:solidFill>
                          <a:effectLst/>
                          <a:latin typeface="Arial" panose="020B0604020202020204" pitchFamily="34" charset="0"/>
                        </a:rPr>
                        <a:t>cơ</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chế</a:t>
                      </a:r>
                      <a:r>
                        <a:rPr lang="en-US" sz="1600" b="0" i="0" u="none" strike="noStrike" baseline="0" dirty="0">
                          <a:solidFill>
                            <a:srgbClr val="C00000"/>
                          </a:solidFill>
                          <a:effectLst/>
                          <a:latin typeface="Arial" panose="020B0604020202020204" pitchFamily="34" charset="0"/>
                        </a:rPr>
                        <a:t> </a:t>
                      </a:r>
                      <a:r>
                        <a:rPr lang="vi-VN" sz="1600" b="0" i="0" u="none" strike="noStrike" dirty="0">
                          <a:solidFill>
                            <a:srgbClr val="C00000"/>
                          </a:solidFill>
                          <a:effectLst/>
                          <a:latin typeface="Arial" panose="020B0604020202020204" pitchFamily="34" charset="0"/>
                        </a:rPr>
                        <a:t>câp nhật KVRR định kỳ</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2893438"/>
                  </a:ext>
                </a:extLst>
              </a:tr>
              <a:tr h="1977922">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8.</a:t>
                      </a:r>
                      <a:r>
                        <a:rPr lang="en-US" sz="1600" b="1" baseline="0" dirty="0">
                          <a:solidFill>
                            <a:schemeClr val="tx1"/>
                          </a:solidFill>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Đánh </a:t>
                      </a:r>
                      <a:r>
                        <a:rPr lang="en-US" sz="1600" b="1" dirty="0" err="1">
                          <a:latin typeface="Arial" panose="020B0604020202020204" pitchFamily="34" charset="0"/>
                          <a:cs typeface="Arial" panose="020B0604020202020204" pitchFamily="34" charset="0"/>
                        </a:rPr>
                        <a:t>giá</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các</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phương</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án</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chiến</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lược</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án</a:t>
                      </a:r>
                      <a:r>
                        <a:rPr lang="en-US" sz="1600" baseline="0" dirty="0">
                          <a:latin typeface="Arial" panose="020B0604020202020204" pitchFamily="34" charset="0"/>
                          <a:cs typeface="Arial" panose="020B0604020202020204" pitchFamily="34" charset="0"/>
                        </a:rPr>
                        <a:t>, bao </a:t>
                      </a:r>
                      <a:r>
                        <a:rPr lang="en-US" sz="1600" baseline="0" dirty="0" err="1">
                          <a:latin typeface="Arial" panose="020B0604020202020204" pitchFamily="34" charset="0"/>
                          <a:cs typeface="Arial" panose="020B0604020202020204" pitchFamily="34" charset="0"/>
                        </a:rPr>
                        <a:t>gồm</a:t>
                      </a:r>
                      <a:r>
                        <a:rPr lang="en-US" sz="1600" baseline="0" dirty="0">
                          <a:latin typeface="Arial" panose="020B0604020202020204" pitchFamily="34" charset="0"/>
                          <a:cs typeface="Arial" panose="020B0604020202020204" pitchFamily="34" charset="0"/>
                        </a:rPr>
                        <a:t>:</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Báo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phân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tích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Phân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tích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kịch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bản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đối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lược</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vi-VN" sz="1600" b="0" i="0" u="none" strike="noStrike" dirty="0">
                          <a:solidFill>
                            <a:schemeClr val="tx1"/>
                          </a:solidFill>
                          <a:effectLst/>
                          <a:latin typeface="Arial" panose="020B0604020202020204" pitchFamily="34" charset="0"/>
                        </a:rPr>
                        <a:t>Các phương án chiến lược được đưa ra đã thực hiện đánh </a:t>
                      </a:r>
                      <a:r>
                        <a:rPr lang="en-US" sz="1600" b="0" i="0" u="none" strike="noStrike" dirty="0" err="1">
                          <a:solidFill>
                            <a:schemeClr val="tx1"/>
                          </a:solidFill>
                          <a:effectLst/>
                          <a:latin typeface="Arial" panose="020B0604020202020204" pitchFamily="34" charset="0"/>
                        </a:rPr>
                        <a:t>giá</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rủi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và</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các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kịch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bản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rủi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ro</a:t>
                      </a:r>
                      <a:endParaRPr lang="en-US" sz="1600" b="0" i="0" u="none" strike="noStrike" baseline="0" dirty="0">
                        <a:solidFill>
                          <a:schemeClr val="tx1"/>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4853363"/>
                  </a:ext>
                </a:extLst>
              </a:tr>
              <a:tr h="1977922">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9. Xây </a:t>
                      </a:r>
                      <a:r>
                        <a:rPr lang="en-US" sz="1600" b="1" dirty="0" err="1">
                          <a:solidFill>
                            <a:schemeClr val="tx1"/>
                          </a:solidFill>
                          <a:latin typeface="Arial" panose="020B0604020202020204" pitchFamily="34" charset="0"/>
                          <a:cs typeface="Arial" panose="020B0604020202020204" pitchFamily="34" charset="0"/>
                        </a:rPr>
                        <a:t>dựng</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mục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tiêu</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kinh</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doanh</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một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phần</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vị</a:t>
                      </a:r>
                      <a:r>
                        <a:rPr lang="en-US" sz="1600" baseline="0" dirty="0">
                          <a:latin typeface="Arial" panose="020B0604020202020204" pitchFamily="34" charset="0"/>
                          <a:cs typeface="Arial" panose="020B0604020202020204" pitchFamily="34" charset="0"/>
                        </a:rPr>
                        <a:t> ở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cấp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toàn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nhất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khẩu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 </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Đánh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hội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liên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kết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lược</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phù</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hợp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khẩu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vi-VN" sz="1600" b="0" i="0" u="none" strike="noStrike" dirty="0">
                          <a:solidFill>
                            <a:schemeClr val="tx1"/>
                          </a:solidFill>
                          <a:effectLst/>
                          <a:latin typeface="Arial" panose="020B0604020202020204" pitchFamily="34" charset="0"/>
                        </a:rPr>
                        <a:t>Các mục tiêu kinh doanh đã được đánh giá rủi ro và cơ hội</a:t>
                      </a:r>
                      <a:r>
                        <a:rPr lang="en-US" sz="1600" b="0" i="0" u="none" strike="noStrike" dirty="0">
                          <a:solidFill>
                            <a:schemeClr val="tx1"/>
                          </a:solidFill>
                          <a:effectLst/>
                          <a:latin typeface="Arial" panose="020B0604020202020204" pitchFamily="34" charset="0"/>
                        </a:rPr>
                        <a:t>,</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cũng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như</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được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đảm</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bảo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phù</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hợp</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với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các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mục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tiêu</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chiến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lược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tuy</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nhiên</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chưa</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được</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gắn</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với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khẩu</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vị</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rủi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ro</a:t>
                      </a:r>
                      <a:r>
                        <a:rPr lang="en-US" sz="1600" b="0" i="0" u="none" strike="noStrike" baseline="0" dirty="0">
                          <a:solidFill>
                            <a:srgbClr val="C00000"/>
                          </a:solidFill>
                          <a:effectLst/>
                          <a:latin typeface="Arial" panose="020B0604020202020204" pitchFamily="34" charset="0"/>
                        </a:rPr>
                        <a:t> </a:t>
                      </a:r>
                      <a:r>
                        <a:rPr lang="en-US" sz="1600" b="1" i="0" u="none" strike="noStrike" baseline="0" dirty="0">
                          <a:solidFill>
                            <a:srgbClr val="C00000"/>
                          </a:solidFill>
                          <a:effectLst/>
                          <a:latin typeface="Arial" panose="020B0604020202020204" pitchFamily="34" charset="0"/>
                        </a:rPr>
                        <a:t>(do </a:t>
                      </a:r>
                      <a:r>
                        <a:rPr lang="en-US" sz="1600" b="1" i="0" u="none" strike="noStrike" baseline="0" dirty="0" err="1">
                          <a:solidFill>
                            <a:srgbClr val="C00000"/>
                          </a:solidFill>
                          <a:effectLst/>
                          <a:latin typeface="Arial" panose="020B0604020202020204" pitchFamily="34" charset="0"/>
                        </a:rPr>
                        <a:t>chưa</a:t>
                      </a:r>
                      <a:r>
                        <a:rPr lang="en-US" sz="1600" b="1" i="0" u="none" strike="noStrike" baseline="0" dirty="0">
                          <a:solidFill>
                            <a:srgbClr val="C00000"/>
                          </a:solidFill>
                          <a:effectLst/>
                          <a:latin typeface="Arial" panose="020B0604020202020204" pitchFamily="34" charset="0"/>
                        </a:rPr>
                        <a:t> </a:t>
                      </a:r>
                      <a:r>
                        <a:rPr lang="en-US" sz="1600" b="1" i="0" u="none" strike="noStrike" baseline="0" dirty="0" err="1">
                          <a:solidFill>
                            <a:srgbClr val="C00000"/>
                          </a:solidFill>
                          <a:effectLst/>
                          <a:latin typeface="Arial" panose="020B0604020202020204" pitchFamily="34" charset="0"/>
                        </a:rPr>
                        <a:t>có</a:t>
                      </a:r>
                      <a:r>
                        <a:rPr lang="en-US" sz="1600" b="1" i="0" u="none" strike="noStrike" baseline="0" dirty="0">
                          <a:solidFill>
                            <a:srgbClr val="C00000"/>
                          </a:solidFill>
                          <a:effectLst/>
                          <a:latin typeface="Arial" panose="020B0604020202020204" pitchFamily="34" charset="0"/>
                        </a:rPr>
                        <a:t> KVRR)</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13259125"/>
                  </a:ext>
                </a:extLst>
              </a:tr>
            </a:tbl>
          </a:graphicData>
        </a:graphic>
      </p:graphicFrame>
      <p:sp>
        <p:nvSpPr>
          <p:cNvPr id="24" name="Oval 23"/>
          <p:cNvSpPr/>
          <p:nvPr/>
        </p:nvSpPr>
        <p:spPr>
          <a:xfrm>
            <a:off x="5105401" y="6992094"/>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17" name="Group 16"/>
          <p:cNvGrpSpPr/>
          <p:nvPr/>
        </p:nvGrpSpPr>
        <p:grpSpPr>
          <a:xfrm>
            <a:off x="5105400" y="8868426"/>
            <a:ext cx="365760" cy="367059"/>
            <a:chOff x="333181" y="7831207"/>
            <a:chExt cx="365760" cy="367059"/>
          </a:xfrm>
        </p:grpSpPr>
        <p:sp>
          <p:nvSpPr>
            <p:cNvPr id="26" name="Oval 25"/>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7" name="Pie 26"/>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
        <p:nvSpPr>
          <p:cNvPr id="28" name="Oval 27"/>
          <p:cNvSpPr/>
          <p:nvPr/>
        </p:nvSpPr>
        <p:spPr>
          <a:xfrm>
            <a:off x="5105400" y="5045345"/>
            <a:ext cx="365760" cy="365760"/>
          </a:xfrm>
          <a:prstGeom prst="ellipse">
            <a:avLst/>
          </a:prstGeom>
          <a:solidFill>
            <a:srgbClr val="EF3535"/>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9" name="Oval 28"/>
          <p:cNvSpPr/>
          <p:nvPr/>
        </p:nvSpPr>
        <p:spPr>
          <a:xfrm>
            <a:off x="5105400" y="3086100"/>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30" name="Group 2"/>
          <p:cNvGrpSpPr/>
          <p:nvPr/>
        </p:nvGrpSpPr>
        <p:grpSpPr>
          <a:xfrm>
            <a:off x="0" y="114299"/>
            <a:ext cx="9906000" cy="1097280"/>
            <a:chOff x="0" y="-2"/>
            <a:chExt cx="19479172" cy="1664815"/>
          </a:xfrm>
          <a:solidFill>
            <a:schemeClr val="bg1">
              <a:lumMod val="95000"/>
            </a:schemeClr>
          </a:solidFill>
        </p:grpSpPr>
        <p:sp>
          <p:nvSpPr>
            <p:cNvPr id="31" name="Freeform 3"/>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Đánh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marL="914400">
                <a:lnSpc>
                  <a:spcPts val="4320"/>
                </a:lnSpc>
              </a:pP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Khía</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cạnh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Chiến</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lược</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&amp;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Thiết</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lập</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mục</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tiêu</a:t>
              </a:r>
              <a:endParaRPr lang="en-US" sz="2400" b="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32" name="Group 4"/>
          <p:cNvGrpSpPr/>
          <p:nvPr/>
        </p:nvGrpSpPr>
        <p:grpSpPr>
          <a:xfrm>
            <a:off x="0" y="114299"/>
            <a:ext cx="936307" cy="1097280"/>
            <a:chOff x="0" y="0"/>
            <a:chExt cx="1248410" cy="1554290"/>
          </a:xfrm>
        </p:grpSpPr>
        <p:sp>
          <p:nvSpPr>
            <p:cNvPr id="3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Tree>
    <p:extLst>
      <p:ext uri="{BB962C8B-B14F-4D97-AF65-F5344CB8AC3E}">
        <p14:creationId xmlns:p14="http://schemas.microsoft.com/office/powerpoint/2010/main" val="2268361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c 3"/>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graphicFrame>
        <p:nvGraphicFramePr>
          <p:cNvPr id="13" name="Table 12"/>
          <p:cNvGraphicFramePr>
            <a:graphicFrameLocks noGrp="1"/>
          </p:cNvGraphicFramePr>
          <p:nvPr/>
        </p:nvGraphicFramePr>
        <p:xfrm>
          <a:off x="152401" y="1409701"/>
          <a:ext cx="17983199" cy="8794035"/>
        </p:xfrm>
        <a:graphic>
          <a:graphicData uri="http://schemas.openxmlformats.org/drawingml/2006/table">
            <a:tbl>
              <a:tblPr firstRow="1" bandRow="1">
                <a:tableStyleId>{5C22544A-7EE6-4342-B048-85BDC9FD1C3A}</a:tableStyleId>
              </a:tblPr>
              <a:tblGrid>
                <a:gridCol w="1454609">
                  <a:extLst>
                    <a:ext uri="{9D8B030D-6E8A-4147-A177-3AD203B41FA5}">
                      <a16:colId xmlns:a16="http://schemas.microsoft.com/office/drawing/2014/main" val="3130170847"/>
                    </a:ext>
                  </a:extLst>
                </a:gridCol>
                <a:gridCol w="3299831">
                  <a:extLst>
                    <a:ext uri="{9D8B030D-6E8A-4147-A177-3AD203B41FA5}">
                      <a16:colId xmlns:a16="http://schemas.microsoft.com/office/drawing/2014/main" val="928649161"/>
                    </a:ext>
                  </a:extLst>
                </a:gridCol>
                <a:gridCol w="2229323">
                  <a:extLst>
                    <a:ext uri="{9D8B030D-6E8A-4147-A177-3AD203B41FA5}">
                      <a16:colId xmlns:a16="http://schemas.microsoft.com/office/drawing/2014/main" val="3267891094"/>
                    </a:ext>
                  </a:extLst>
                </a:gridCol>
                <a:gridCol w="5499718">
                  <a:extLst>
                    <a:ext uri="{9D8B030D-6E8A-4147-A177-3AD203B41FA5}">
                      <a16:colId xmlns:a16="http://schemas.microsoft.com/office/drawing/2014/main" val="908183143"/>
                    </a:ext>
                  </a:extLst>
                </a:gridCol>
                <a:gridCol w="5499718">
                  <a:extLst>
                    <a:ext uri="{9D8B030D-6E8A-4147-A177-3AD203B41FA5}">
                      <a16:colId xmlns:a16="http://schemas.microsoft.com/office/drawing/2014/main" val="385072934"/>
                    </a:ext>
                  </a:extLst>
                </a:gridCol>
              </a:tblGrid>
              <a:tr h="563327">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Khía</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cạnh</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Nguyên</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tắc</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Mức</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độ</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đáp</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ứng</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Thông</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lệ</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Thực</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trạng</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tại</a:t>
                      </a:r>
                      <a:r>
                        <a:rPr lang="en-US" sz="2400" b="1" kern="1200" dirty="0">
                          <a:solidFill>
                            <a:schemeClr val="bg1"/>
                          </a:solidFill>
                          <a:latin typeface="Arial" panose="020B0604020202020204" pitchFamily="34" charset="0"/>
                          <a:ea typeface="+mn-ea"/>
                          <a:cs typeface="Arial" panose="020B0604020202020204" pitchFamily="34" charset="0"/>
                        </a:rPr>
                        <a:t> VDS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extLst>
                  <a:ext uri="{0D108BD9-81ED-4DB2-BD59-A6C34878D82A}">
                    <a16:rowId xmlns:a16="http://schemas.microsoft.com/office/drawing/2014/main" val="653763660"/>
                  </a:ext>
                </a:extLst>
              </a:tr>
              <a:tr h="1594215">
                <a:tc rowSpan="5">
                  <a:txBody>
                    <a:bodyPr/>
                    <a:lstStyle/>
                    <a:p>
                      <a:pPr algn="ctr"/>
                      <a:r>
                        <a:rPr lang="en-US" sz="2800" b="1" kern="1200" baseline="0" dirty="0" err="1">
                          <a:solidFill>
                            <a:srgbClr val="C00000"/>
                          </a:solidFill>
                          <a:latin typeface="Arial" panose="020B0604020202020204" pitchFamily="34" charset="0"/>
                          <a:ea typeface="+mn-ea"/>
                          <a:cs typeface="Arial" panose="020B0604020202020204" pitchFamily="34" charset="0"/>
                        </a:rPr>
                        <a:t>Thực</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thi</a:t>
                      </a:r>
                      <a:endParaRPr lang="en-US" sz="2800" b="1" kern="1200" baseline="0" dirty="0">
                        <a:solidFill>
                          <a:srgbClr val="C00000"/>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spcBef>
                          <a:spcPts val="600"/>
                        </a:spcBef>
                        <a:buNone/>
                      </a:pPr>
                      <a:r>
                        <a:rPr lang="en-US" sz="1600" b="1" dirty="0">
                          <a:solidFill>
                            <a:schemeClr val="tx1"/>
                          </a:solidFill>
                          <a:latin typeface="Arial" panose="020B0604020202020204" pitchFamily="34" charset="0"/>
                          <a:cs typeface="Arial" panose="020B0604020202020204" pitchFamily="34" charset="0"/>
                        </a:rPr>
                        <a:t>10. </a:t>
                      </a:r>
                      <a:r>
                        <a:rPr lang="en-US" sz="1600" b="1" dirty="0" err="1">
                          <a:solidFill>
                            <a:schemeClr val="tx1"/>
                          </a:solidFill>
                          <a:latin typeface="Arial" panose="020B0604020202020204" pitchFamily="34" charset="0"/>
                          <a:cs typeface="Arial" panose="020B0604020202020204" pitchFamily="34" charset="0"/>
                        </a:rPr>
                        <a:t>Nhận</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diện</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rủi</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ro</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một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phần</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năng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nổi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thay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đổi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đối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hữu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Ban </a:t>
                      </a:r>
                      <a:r>
                        <a:rPr lang="en-US" sz="1600" baseline="0" dirty="0" err="1">
                          <a:latin typeface="Arial" panose="020B0604020202020204" pitchFamily="34" charset="0"/>
                          <a:cs typeface="Arial" panose="020B0604020202020204" pitchFamily="34" charset="0"/>
                        </a:rPr>
                        <a:t>hành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thư</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trọng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yếu</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dirty="0">
                          <a:latin typeface="Arial" panose="020B0604020202020204" pitchFamily="34" charset="0"/>
                          <a:cs typeface="Arial" panose="020B0604020202020204" pitchFamily="34" charset="0"/>
                        </a:rPr>
                        <a:t>Ban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hành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cập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thư</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nổi</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en-US" sz="1600" b="0" i="0" u="none" strike="noStrike" dirty="0">
                          <a:solidFill>
                            <a:srgbClr val="C00000"/>
                          </a:solidFill>
                          <a:effectLst/>
                          <a:latin typeface="Arial" panose="020B0604020202020204" pitchFamily="34" charset="0"/>
                        </a:rPr>
                        <a:t>C</a:t>
                      </a:r>
                      <a:r>
                        <a:rPr lang="vi-VN" sz="1600" b="0" i="0" u="none" strike="noStrike" dirty="0">
                          <a:solidFill>
                            <a:srgbClr val="C00000"/>
                          </a:solidFill>
                          <a:effectLst/>
                          <a:latin typeface="Arial" panose="020B0604020202020204" pitchFamily="34" charset="0"/>
                        </a:rPr>
                        <a:t>hưa xây dựng thư viện rủi ro và danh mục rủi ro trọng yếu </a:t>
                      </a:r>
                      <a:endParaRPr lang="en-US" sz="1600" b="0" i="0" u="none" strike="noStrike" dirty="0">
                        <a:solidFill>
                          <a:srgbClr val="C00000"/>
                        </a:solidFill>
                        <a:effectLst/>
                        <a:latin typeface="Arial" panose="020B0604020202020204" pitchFamily="34" charset="0"/>
                      </a:endParaRPr>
                    </a:p>
                    <a:p>
                      <a:pPr marL="377190" indent="-285750" algn="just" fontAlgn="ctr">
                        <a:buFontTx/>
                        <a:buChar char="-"/>
                      </a:pPr>
                      <a:r>
                        <a:rPr lang="en-US" sz="1600" b="0" i="0" u="none" strike="noStrike" dirty="0" err="1">
                          <a:solidFill>
                            <a:srgbClr val="C00000"/>
                          </a:solidFill>
                          <a:effectLst/>
                          <a:latin typeface="Arial" panose="020B0604020202020204" pitchFamily="34" charset="0"/>
                        </a:rPr>
                        <a:t>Chưa</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có</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quy</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định</a:t>
                      </a:r>
                      <a:r>
                        <a:rPr lang="en-US" sz="1600" b="0" i="0" u="none" strike="noStrike" baseline="0" dirty="0">
                          <a:solidFill>
                            <a:srgbClr val="C00000"/>
                          </a:solidFill>
                          <a:effectLst/>
                          <a:latin typeface="Arial" panose="020B0604020202020204" pitchFamily="34" charset="0"/>
                        </a:rPr>
                        <a:t> v/v </a:t>
                      </a:r>
                      <a:r>
                        <a:rPr lang="en-US" sz="1600" b="0" i="0" u="none" strike="noStrike" baseline="0" dirty="0" err="1">
                          <a:solidFill>
                            <a:srgbClr val="C00000"/>
                          </a:solidFill>
                          <a:effectLst/>
                          <a:latin typeface="Arial" panose="020B0604020202020204" pitchFamily="34" charset="0"/>
                        </a:rPr>
                        <a:t>cập</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nhật</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thư</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viện</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danh</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mục</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rủi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trọng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yếu</a:t>
                      </a:r>
                      <a:r>
                        <a:rPr lang="en-US" sz="1600" b="0" i="0" u="none" strike="noStrike" baseline="0" dirty="0">
                          <a:solidFill>
                            <a:schemeClr val="tx1"/>
                          </a:solidFill>
                          <a:effectLst/>
                          <a:latin typeface="Arial" panose="020B0604020202020204" pitchFamily="34" charset="0"/>
                        </a:rPr>
                        <a:t>. </a:t>
                      </a:r>
                      <a:r>
                        <a:rPr lang="vi-VN" sz="1600" b="0" i="0" u="none" strike="noStrike" dirty="0">
                          <a:solidFill>
                            <a:schemeClr val="tx1"/>
                          </a:solidFill>
                          <a:effectLst/>
                          <a:latin typeface="Arial" panose="020B0604020202020204" pitchFamily="34" charset="0"/>
                        </a:rPr>
                        <a:t>Đã xây dựng quy trình quản lý rủi ro yêu cầu đơn vị tuyến 1 tự đánh giá rủi ro</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54908492"/>
                  </a:ext>
                </a:extLst>
              </a:tr>
              <a:tr h="1594215">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11.</a:t>
                      </a:r>
                      <a:r>
                        <a:rPr lang="en-US" sz="1600" b="1" baseline="0" dirty="0">
                          <a:solidFill>
                            <a:schemeClr val="tx1"/>
                          </a:solidFill>
                          <a:latin typeface="Arial" panose="020B0604020202020204" pitchFamily="34" charset="0"/>
                          <a:cs typeface="Arial" panose="020B0604020202020204" pitchFamily="34" charset="0"/>
                        </a:rPr>
                        <a:t> Đánh </a:t>
                      </a:r>
                      <a:r>
                        <a:rPr lang="en-US" sz="1600" b="1" baseline="0" dirty="0" err="1">
                          <a:solidFill>
                            <a:schemeClr val="tx1"/>
                          </a:solidFill>
                          <a:latin typeface="Arial" panose="020B0604020202020204" pitchFamily="34" charset="0"/>
                          <a:cs typeface="Arial" panose="020B0604020202020204" pitchFamily="34" charset="0"/>
                        </a:rPr>
                        <a:t>giá</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mức</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độ</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trọng</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yếu</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của</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rủi</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ro</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Chưa</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đáp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ứng</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sử</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dụng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tính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trọng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yếu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cấp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nghiệp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91440" algn="just">
                        <a:lnSpc>
                          <a:spcPct val="100000"/>
                        </a:lnSpc>
                      </a:pPr>
                      <a:r>
                        <a:rPr lang="en-US" sz="1600" baseline="0" dirty="0">
                          <a:latin typeface="Arial" panose="020B0604020202020204" pitchFamily="34" charset="0"/>
                          <a:cs typeface="Arial" panose="020B0604020202020204" pitchFamily="34" charset="0"/>
                        </a:rPr>
                        <a:t>- Quy </a:t>
                      </a:r>
                      <a:r>
                        <a:rPr lang="en-US" sz="1600" baseline="0" dirty="0" err="1">
                          <a:latin typeface="Arial" panose="020B0604020202020204" pitchFamily="34" charset="0"/>
                          <a:cs typeface="Arial" panose="020B0604020202020204" pitchFamily="34" charset="0"/>
                        </a:rPr>
                        <a:t>trình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hưởng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năng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xảy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trọng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yếu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l" fontAlgn="ctr">
                        <a:buFontTx/>
                        <a:buChar char="-"/>
                      </a:pPr>
                      <a:r>
                        <a:rPr lang="vi-VN" sz="1600" b="0" i="0" u="none" strike="noStrike" dirty="0">
                          <a:solidFill>
                            <a:srgbClr val="C00000"/>
                          </a:solidFill>
                          <a:effectLst/>
                          <a:latin typeface="Arial" panose="020B0604020202020204" pitchFamily="34" charset="0"/>
                        </a:rPr>
                        <a:t>Chưa có phương pháp đánh giá rủi ro </a:t>
                      </a:r>
                      <a:r>
                        <a:rPr lang="en-US" sz="1600" b="0" i="0" u="none" strike="noStrike" dirty="0" err="1">
                          <a:solidFill>
                            <a:srgbClr val="C00000"/>
                          </a:solidFill>
                          <a:effectLst/>
                          <a:latin typeface="Arial" panose="020B0604020202020204" pitchFamily="34" charset="0"/>
                        </a:rPr>
                        <a:t>cấp</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doanh</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nghiệp</a:t>
                      </a:r>
                      <a:r>
                        <a:rPr lang="en-US" sz="1600" b="0" i="0" u="none" strike="noStrike" baseline="0" dirty="0">
                          <a:solidFill>
                            <a:srgbClr val="C00000"/>
                          </a:solidFill>
                          <a:effectLst/>
                          <a:latin typeface="Arial" panose="020B0604020202020204" pitchFamily="34" charset="0"/>
                        </a:rPr>
                        <a:t> </a:t>
                      </a:r>
                      <a:r>
                        <a:rPr lang="vi-VN" sz="1600" b="0" i="0" u="none" strike="noStrike" dirty="0">
                          <a:solidFill>
                            <a:srgbClr val="C00000"/>
                          </a:solidFill>
                          <a:effectLst/>
                          <a:latin typeface="Arial" panose="020B0604020202020204" pitchFamily="34" charset="0"/>
                        </a:rPr>
                        <a:t>chi tiết,</a:t>
                      </a:r>
                      <a:r>
                        <a:rPr lang="en-US" sz="1600" b="0" i="0" u="none" strike="noStrike" baseline="0" dirty="0">
                          <a:solidFill>
                            <a:srgbClr val="C00000"/>
                          </a:solidFill>
                          <a:effectLst/>
                          <a:latin typeface="Arial" panose="020B0604020202020204" pitchFamily="34" charset="0"/>
                        </a:rPr>
                        <a:t> </a:t>
                      </a:r>
                      <a:r>
                        <a:rPr lang="vi-VN" sz="1600" b="0" i="0" u="none" strike="noStrike" dirty="0">
                          <a:solidFill>
                            <a:srgbClr val="C00000"/>
                          </a:solidFill>
                          <a:effectLst/>
                          <a:latin typeface="Arial" panose="020B0604020202020204" pitchFamily="34" charset="0"/>
                        </a:rPr>
                        <a:t>cụ thể</a:t>
                      </a:r>
                      <a:endParaRPr lang="en-US" sz="1600" b="0" i="0" u="none" strike="noStrike" dirty="0">
                        <a:solidFill>
                          <a:srgbClr val="C00000"/>
                        </a:solidFill>
                        <a:effectLst/>
                        <a:latin typeface="Arial" panose="020B0604020202020204" pitchFamily="34" charset="0"/>
                      </a:endParaRPr>
                    </a:p>
                    <a:p>
                      <a:pPr marL="377190" indent="-285750" algn="l" fontAlgn="ctr">
                        <a:buFontTx/>
                        <a:buChar char="-"/>
                      </a:pPr>
                      <a:r>
                        <a:rPr lang="vi-VN" sz="1600" b="0" i="0" u="none" strike="noStrike" dirty="0">
                          <a:solidFill>
                            <a:srgbClr val="C00000"/>
                          </a:solidFill>
                          <a:effectLst/>
                          <a:latin typeface="Arial" panose="020B0604020202020204" pitchFamily="34" charset="0"/>
                        </a:rPr>
                        <a:t>Chưa xây dựng danh mục rủi ro trọng yếu</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2893438"/>
                  </a:ext>
                </a:extLst>
              </a:tr>
              <a:tr h="1594215">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12.</a:t>
                      </a:r>
                      <a:r>
                        <a:rPr lang="en-US" sz="1600" b="1" baseline="0" dirty="0">
                          <a:solidFill>
                            <a:schemeClr val="tx1"/>
                          </a:solidFill>
                          <a:latin typeface="Arial" panose="020B0604020202020204" pitchFamily="34" charset="0"/>
                          <a:cs typeface="Arial" panose="020B0604020202020204" pitchFamily="34" charset="0"/>
                        </a:rPr>
                        <a:t> Đánh </a:t>
                      </a:r>
                      <a:r>
                        <a:rPr lang="en-US" sz="1600" b="1" baseline="0" dirty="0" err="1">
                          <a:solidFill>
                            <a:schemeClr val="tx1"/>
                          </a:solidFill>
                          <a:latin typeface="Arial" panose="020B0604020202020204" pitchFamily="34" charset="0"/>
                          <a:cs typeface="Arial" panose="020B0604020202020204" pitchFamily="34" charset="0"/>
                        </a:rPr>
                        <a:t>giá</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mức</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độ</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ưu</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tiên</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của</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rủi</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ro</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Chưa</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đáp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ứng</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xếp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theo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ưu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tập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trung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nguồn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xử</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lý</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Danh </a:t>
                      </a: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trọng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yếu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xây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xếp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theo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ưu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bản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đồ</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nhiệt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phê</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duyệt</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Quy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trình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soát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cập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nhật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ưu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l" fontAlgn="ctr">
                        <a:buFontTx/>
                        <a:buChar char="-"/>
                      </a:pPr>
                      <a:r>
                        <a:rPr lang="vi-VN" sz="1600" b="0" i="0" u="none" strike="noStrike" dirty="0">
                          <a:solidFill>
                            <a:srgbClr val="C00000"/>
                          </a:solidFill>
                          <a:effectLst/>
                          <a:latin typeface="Arial" panose="020B0604020202020204" pitchFamily="34" charset="0"/>
                        </a:rPr>
                        <a:t>Chưa xây dựng danh mục rủi ro trọng yếu được TGĐ phê duyệt</a:t>
                      </a:r>
                      <a:endParaRPr lang="en-US" sz="1600" b="0" i="0" u="none" strike="noStrike" dirty="0">
                        <a:solidFill>
                          <a:srgbClr val="C00000"/>
                        </a:solidFill>
                        <a:effectLst/>
                        <a:latin typeface="Arial" panose="020B0604020202020204" pitchFamily="34" charset="0"/>
                      </a:endParaRPr>
                    </a:p>
                    <a:p>
                      <a:pPr marL="377190" indent="-285750" algn="l" fontAlgn="ctr">
                        <a:buFontTx/>
                        <a:buChar char="-"/>
                      </a:pPr>
                      <a:r>
                        <a:rPr lang="vi-VN" sz="1600" b="0" i="0" u="none" strike="noStrike" dirty="0">
                          <a:solidFill>
                            <a:srgbClr val="C00000"/>
                          </a:solidFill>
                          <a:effectLst/>
                          <a:latin typeface="Arial" panose="020B0604020202020204" pitchFamily="34" charset="0"/>
                        </a:rPr>
                        <a:t>Chưa xây dựng quy trình/ quy định nhằm cập nhật danh sách rủi ro trọng yếu định kỳ hoặc khi phát sinh thay đổi</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4853363"/>
                  </a:ext>
                </a:extLst>
              </a:tr>
              <a:tr h="1594215">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13. </a:t>
                      </a:r>
                      <a:r>
                        <a:rPr lang="en-US" sz="1600" b="1" dirty="0" err="1">
                          <a:solidFill>
                            <a:schemeClr val="tx1"/>
                          </a:solidFill>
                          <a:latin typeface="Arial" panose="020B0604020202020204" pitchFamily="34" charset="0"/>
                          <a:cs typeface="Arial" panose="020B0604020202020204" pitchFamily="34" charset="0"/>
                        </a:rPr>
                        <a:t>Triển</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khai</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kế</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hoạch</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hành</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động</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xử</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lý</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rủi</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ro</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Đáp ứng một phần</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xử</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lý</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phù</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hợp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cân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nhắc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yếu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tố</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đối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từng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91440" algn="just">
                        <a:lnSpc>
                          <a:spcPct val="100000"/>
                        </a:lnSpc>
                      </a:pPr>
                      <a:r>
                        <a:rPr lang="en-US" sz="1600" baseline="0" dirty="0">
                          <a:latin typeface="Arial" panose="020B0604020202020204" pitchFamily="34" charset="0"/>
                          <a:cs typeface="Arial" panose="020B0604020202020204" pitchFamily="34" charset="0"/>
                        </a:rPr>
                        <a:t>- Kế </a:t>
                      </a:r>
                      <a:r>
                        <a:rPr lang="en-US" sz="1600" baseline="0" dirty="0" err="1">
                          <a:latin typeface="Arial" panose="020B0604020202020204" pitchFamily="34" charset="0"/>
                          <a:cs typeface="Arial" panose="020B0604020202020204" pitchFamily="34" charset="0"/>
                        </a:rPr>
                        <a:t>hoạch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xử</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lý</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xây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phân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nhiệm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phòng</a:t>
                      </a:r>
                      <a:r>
                        <a:rPr lang="en-US" sz="1600" baseline="0" dirty="0">
                          <a:latin typeface="Arial" panose="020B0604020202020204" pitchFamily="34" charset="0"/>
                          <a:cs typeface="Arial" panose="020B0604020202020204" pitchFamily="34" charset="0"/>
                        </a:rPr>
                        <a:t> ban, </a:t>
                      </a:r>
                      <a:r>
                        <a:rPr lang="en-US" sz="1600" baseline="0" dirty="0" err="1">
                          <a:latin typeface="Arial" panose="020B0604020202020204" pitchFamily="34" charset="0"/>
                          <a:cs typeface="Arial" panose="020B0604020202020204" pitchFamily="34" charset="0"/>
                        </a:rPr>
                        <a:t>đơn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nhân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cụ</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theo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dõi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triển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khai</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l" fontAlgn="ctr">
                        <a:buFontTx/>
                        <a:buChar char="-"/>
                      </a:pPr>
                      <a:r>
                        <a:rPr lang="vi-VN" sz="1600" b="0" i="0" u="none" strike="noStrike" dirty="0">
                          <a:solidFill>
                            <a:schemeClr val="tx1"/>
                          </a:solidFill>
                          <a:effectLst/>
                          <a:latin typeface="Arial" panose="020B0604020202020204" pitchFamily="34" charset="0"/>
                        </a:rPr>
                        <a:t>Đã có quy định về các biện pháp ứng phó rủi ro</a:t>
                      </a:r>
                      <a:endParaRPr lang="en-US" sz="1600" b="0" i="0" u="none" strike="noStrike" dirty="0">
                        <a:solidFill>
                          <a:schemeClr val="tx1"/>
                        </a:solidFill>
                        <a:effectLst/>
                        <a:latin typeface="Arial" panose="020B0604020202020204" pitchFamily="34" charset="0"/>
                      </a:endParaRPr>
                    </a:p>
                    <a:p>
                      <a:pPr marL="377190" indent="-285750" algn="l" fontAlgn="ctr">
                        <a:buFontTx/>
                        <a:buChar char="-"/>
                      </a:pPr>
                      <a:r>
                        <a:rPr lang="en-US" sz="1600" b="0" i="0" u="none" strike="noStrike" dirty="0">
                          <a:solidFill>
                            <a:srgbClr val="C00000"/>
                          </a:solidFill>
                          <a:effectLst/>
                          <a:latin typeface="Arial" panose="020B0604020202020204" pitchFamily="34" charset="0"/>
                        </a:rPr>
                        <a:t>C</a:t>
                      </a:r>
                      <a:r>
                        <a:rPr lang="vi-VN" sz="1600" b="0" i="0" u="none" strike="noStrike" dirty="0">
                          <a:solidFill>
                            <a:srgbClr val="C00000"/>
                          </a:solidFill>
                          <a:effectLst/>
                          <a:latin typeface="Arial" panose="020B0604020202020204" pitchFamily="34" charset="0"/>
                        </a:rPr>
                        <a:t>hưa xây dựng các KHHĐ cụ thể</a:t>
                      </a:r>
                      <a:endParaRPr lang="en-US" sz="1600" b="0" i="0" u="none" strike="noStrike" dirty="0">
                        <a:solidFill>
                          <a:srgbClr val="C00000"/>
                        </a:solidFill>
                        <a:effectLst/>
                        <a:latin typeface="Arial" panose="020B0604020202020204" pitchFamily="34" charset="0"/>
                      </a:endParaRPr>
                    </a:p>
                    <a:p>
                      <a:pPr marL="377190" indent="-285750" algn="l" fontAlgn="ctr">
                        <a:buFontTx/>
                        <a:buChar char="-"/>
                      </a:pPr>
                      <a:r>
                        <a:rPr lang="vi-VN" sz="1600" b="0" i="0" u="none" strike="noStrike" dirty="0">
                          <a:solidFill>
                            <a:srgbClr val="C00000"/>
                          </a:solidFill>
                          <a:effectLst/>
                          <a:latin typeface="Arial" panose="020B0604020202020204" pitchFamily="34" charset="0"/>
                        </a:rPr>
                        <a:t>Chưa xây dựng bộ chỉ số rủi ro chính</a:t>
                      </a:r>
                      <a:r>
                        <a:rPr lang="en-US" sz="1600" b="0" i="0" u="none" strike="noStrike" dirty="0">
                          <a:solidFill>
                            <a:srgbClr val="C00000"/>
                          </a:solidFill>
                          <a:effectLst/>
                          <a:latin typeface="Arial" panose="020B0604020202020204" pitchFamily="34" charset="0"/>
                        </a:rPr>
                        <a:t> (KRI)</a:t>
                      </a:r>
                      <a:endParaRPr lang="vi-VN" sz="1600" b="0" i="0" u="none" strike="noStrike" dirty="0">
                        <a:solidFill>
                          <a:srgbClr val="C00000"/>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13259125"/>
                  </a:ext>
                </a:extLst>
              </a:tr>
              <a:tr h="1594215">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14. Xây</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dựng</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hồ</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sơ</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rủi</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ro</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toàn</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tổ</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chức</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Đáp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ứng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một</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phần</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xây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hồ</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quan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quản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toàn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91440" algn="just">
                        <a:lnSpc>
                          <a:spcPct val="100000"/>
                        </a:lnSpc>
                      </a:pP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hồ</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toàn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 </a:t>
                      </a:r>
                      <a:r>
                        <a:rPr lang="en-US" sz="1600" baseline="0" dirty="0" err="1">
                          <a:latin typeface="Arial" panose="020B0604020202020204" pitchFamily="34" charset="0"/>
                          <a:cs typeface="Arial" panose="020B0604020202020204" pitchFamily="34" charset="0"/>
                        </a:rPr>
                        <a:t>mô</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hình</a:t>
                      </a:r>
                      <a:r>
                        <a:rPr lang="en-US" sz="1600" baseline="0" dirty="0">
                          <a:latin typeface="Arial" panose="020B0604020202020204" pitchFamily="34" charset="0"/>
                          <a:cs typeface="Arial" panose="020B0604020202020204" pitchFamily="34" charset="0"/>
                        </a:rPr>
                        <a:t>, dashboard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sự</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tương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quan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giữa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tiêu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endParaRPr lang="en-US" sz="1600" baseline="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l" fontAlgn="ctr"/>
                      <a:r>
                        <a:rPr lang="en-US" sz="1600" b="0" i="0" u="none" strike="noStrike" dirty="0">
                          <a:solidFill>
                            <a:schemeClr val="tx1"/>
                          </a:solidFill>
                          <a:effectLst/>
                          <a:latin typeface="Arial" panose="020B0604020202020204" pitchFamily="34" charset="0"/>
                        </a:rPr>
                        <a:t>-</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Đã</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xây</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dựng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hồ</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sơ</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rủi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cấp</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quy</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trình</a:t>
                      </a:r>
                      <a:r>
                        <a:rPr lang="en-US" sz="1600" b="0" i="0" u="none" strike="noStrike" dirty="0">
                          <a:solidFill>
                            <a:srgbClr val="C00000"/>
                          </a:solidFill>
                          <a:effectLst/>
                          <a:latin typeface="Arial" panose="020B0604020202020204" pitchFamily="34" charset="0"/>
                        </a:rPr>
                        <a:t> </a:t>
                      </a:r>
                    </a:p>
                    <a:p>
                      <a:pPr marL="91440" algn="l" fontAlgn="ctr"/>
                      <a:r>
                        <a:rPr lang="en-US" sz="1600" b="0" i="0" u="none" strike="noStrike" dirty="0">
                          <a:solidFill>
                            <a:srgbClr val="C00000"/>
                          </a:solidFill>
                          <a:effectLst/>
                          <a:latin typeface="Arial" panose="020B0604020202020204" pitchFamily="34" charset="0"/>
                        </a:rPr>
                        <a:t>-</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Chưa</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xây</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dựng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được</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hồ</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sơ</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rủi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tổng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quan</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của</a:t>
                      </a:r>
                      <a:r>
                        <a:rPr lang="en-US" sz="1600" b="0" i="0" u="none" strike="noStrike" baseline="0" dirty="0">
                          <a:solidFill>
                            <a:srgbClr val="C00000"/>
                          </a:solidFill>
                          <a:effectLst/>
                          <a:latin typeface="Arial" panose="020B0604020202020204" pitchFamily="34" charset="0"/>
                        </a:rPr>
                        <a:t> VDS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31521537"/>
                  </a:ext>
                </a:extLst>
              </a:tr>
            </a:tbl>
          </a:graphicData>
        </a:graphic>
      </p:graphicFrame>
      <p:sp>
        <p:nvSpPr>
          <p:cNvPr id="18" name="Oval 17"/>
          <p:cNvSpPr/>
          <p:nvPr/>
        </p:nvSpPr>
        <p:spPr>
          <a:xfrm>
            <a:off x="5120640" y="4441858"/>
            <a:ext cx="365760" cy="365760"/>
          </a:xfrm>
          <a:prstGeom prst="ellipse">
            <a:avLst/>
          </a:prstGeom>
          <a:solidFill>
            <a:srgbClr val="EF3535"/>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19" name="Group 18"/>
          <p:cNvGrpSpPr/>
          <p:nvPr/>
        </p:nvGrpSpPr>
        <p:grpSpPr>
          <a:xfrm>
            <a:off x="5120640" y="2850417"/>
            <a:ext cx="365760" cy="367059"/>
            <a:chOff x="333181" y="7831207"/>
            <a:chExt cx="365760" cy="367059"/>
          </a:xfrm>
        </p:grpSpPr>
        <p:sp>
          <p:nvSpPr>
            <p:cNvPr id="20" name="Oval 19"/>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1" name="Pie 20"/>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
        <p:nvSpPr>
          <p:cNvPr id="22" name="Oval 21"/>
          <p:cNvSpPr/>
          <p:nvPr/>
        </p:nvSpPr>
        <p:spPr>
          <a:xfrm>
            <a:off x="5120640" y="6064055"/>
            <a:ext cx="365760" cy="365760"/>
          </a:xfrm>
          <a:prstGeom prst="ellipse">
            <a:avLst/>
          </a:prstGeom>
          <a:solidFill>
            <a:srgbClr val="EF3535"/>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grpSp>
        <p:nvGrpSpPr>
          <p:cNvPr id="16" name="Group 2"/>
          <p:cNvGrpSpPr/>
          <p:nvPr/>
        </p:nvGrpSpPr>
        <p:grpSpPr>
          <a:xfrm>
            <a:off x="0" y="114299"/>
            <a:ext cx="9601200" cy="1097280"/>
            <a:chOff x="0" y="-2"/>
            <a:chExt cx="19479172" cy="1664815"/>
          </a:xfrm>
          <a:solidFill>
            <a:schemeClr val="bg1">
              <a:lumMod val="95000"/>
            </a:schemeClr>
          </a:solidFill>
        </p:grpSpPr>
        <p:sp>
          <p:nvSpPr>
            <p:cNvPr id="17" name="Freeform 3"/>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Đánh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marL="914400">
                <a:lnSpc>
                  <a:spcPts val="4320"/>
                </a:lnSpc>
              </a:pP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Khía</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cạnh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Thực</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thi</a:t>
              </a:r>
              <a:endParaRPr lang="en-US" sz="2400" b="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25" name="Group 4"/>
          <p:cNvGrpSpPr/>
          <p:nvPr/>
        </p:nvGrpSpPr>
        <p:grpSpPr>
          <a:xfrm>
            <a:off x="0" y="114299"/>
            <a:ext cx="936307" cy="1097280"/>
            <a:chOff x="0" y="0"/>
            <a:chExt cx="1248410" cy="1554290"/>
          </a:xfrm>
        </p:grpSpPr>
        <p:sp>
          <p:nvSpPr>
            <p:cNvPr id="26"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grpSp>
        <p:nvGrpSpPr>
          <p:cNvPr id="15" name="Group 14"/>
          <p:cNvGrpSpPr/>
          <p:nvPr/>
        </p:nvGrpSpPr>
        <p:grpSpPr>
          <a:xfrm>
            <a:off x="5135017" y="7623442"/>
            <a:ext cx="365760" cy="367059"/>
            <a:chOff x="333181" y="7831207"/>
            <a:chExt cx="365760" cy="367059"/>
          </a:xfrm>
        </p:grpSpPr>
        <p:sp>
          <p:nvSpPr>
            <p:cNvPr id="27" name="Oval 26"/>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8" name="Pie 27"/>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29" name="Group 28"/>
          <p:cNvGrpSpPr/>
          <p:nvPr/>
        </p:nvGrpSpPr>
        <p:grpSpPr>
          <a:xfrm>
            <a:off x="5135017" y="9182100"/>
            <a:ext cx="365760" cy="367059"/>
            <a:chOff x="333181" y="7831207"/>
            <a:chExt cx="365760" cy="367059"/>
          </a:xfrm>
        </p:grpSpPr>
        <p:sp>
          <p:nvSpPr>
            <p:cNvPr id="30" name="Oval 29"/>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31" name="Pie 30"/>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Tree>
    <p:extLst>
      <p:ext uri="{BB962C8B-B14F-4D97-AF65-F5344CB8AC3E}">
        <p14:creationId xmlns:p14="http://schemas.microsoft.com/office/powerpoint/2010/main" val="587262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rc 3"/>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graphicFrame>
        <p:nvGraphicFramePr>
          <p:cNvPr id="13" name="Table 12"/>
          <p:cNvGraphicFramePr>
            <a:graphicFrameLocks noGrp="1"/>
          </p:cNvGraphicFramePr>
          <p:nvPr/>
        </p:nvGraphicFramePr>
        <p:xfrm>
          <a:off x="152400" y="1409701"/>
          <a:ext cx="17907001" cy="8686798"/>
        </p:xfrm>
        <a:graphic>
          <a:graphicData uri="http://schemas.openxmlformats.org/drawingml/2006/table">
            <a:tbl>
              <a:tblPr firstRow="1" bandRow="1">
                <a:tableStyleId>{5C22544A-7EE6-4342-B048-85BDC9FD1C3A}</a:tableStyleId>
              </a:tblPr>
              <a:tblGrid>
                <a:gridCol w="1448445">
                  <a:extLst>
                    <a:ext uri="{9D8B030D-6E8A-4147-A177-3AD203B41FA5}">
                      <a16:colId xmlns:a16="http://schemas.microsoft.com/office/drawing/2014/main" val="3130170847"/>
                    </a:ext>
                  </a:extLst>
                </a:gridCol>
                <a:gridCol w="3285849">
                  <a:extLst>
                    <a:ext uri="{9D8B030D-6E8A-4147-A177-3AD203B41FA5}">
                      <a16:colId xmlns:a16="http://schemas.microsoft.com/office/drawing/2014/main" val="928649161"/>
                    </a:ext>
                  </a:extLst>
                </a:gridCol>
                <a:gridCol w="2219877">
                  <a:extLst>
                    <a:ext uri="{9D8B030D-6E8A-4147-A177-3AD203B41FA5}">
                      <a16:colId xmlns:a16="http://schemas.microsoft.com/office/drawing/2014/main" val="3267891094"/>
                    </a:ext>
                  </a:extLst>
                </a:gridCol>
                <a:gridCol w="5476415">
                  <a:extLst>
                    <a:ext uri="{9D8B030D-6E8A-4147-A177-3AD203B41FA5}">
                      <a16:colId xmlns:a16="http://schemas.microsoft.com/office/drawing/2014/main" val="908183143"/>
                    </a:ext>
                  </a:extLst>
                </a:gridCol>
                <a:gridCol w="5476415">
                  <a:extLst>
                    <a:ext uri="{9D8B030D-6E8A-4147-A177-3AD203B41FA5}">
                      <a16:colId xmlns:a16="http://schemas.microsoft.com/office/drawing/2014/main" val="385072934"/>
                    </a:ext>
                  </a:extLst>
                </a:gridCol>
              </a:tblGrid>
              <a:tr h="1011902">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Khía</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cạnh</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Nguyên</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tắc</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Mức</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độ</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đáp</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ứng</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Thông</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lệ</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Thực</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trạng</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tại</a:t>
                      </a:r>
                      <a:r>
                        <a:rPr lang="en-US" sz="2400" b="1" kern="1200" dirty="0">
                          <a:solidFill>
                            <a:schemeClr val="bg1"/>
                          </a:solidFill>
                          <a:latin typeface="Arial" panose="020B0604020202020204" pitchFamily="34" charset="0"/>
                          <a:ea typeface="+mn-ea"/>
                          <a:cs typeface="Arial" panose="020B0604020202020204" pitchFamily="34" charset="0"/>
                        </a:rPr>
                        <a:t> VDS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extLst>
                  <a:ext uri="{0D108BD9-81ED-4DB2-BD59-A6C34878D82A}">
                    <a16:rowId xmlns:a16="http://schemas.microsoft.com/office/drawing/2014/main" val="653763660"/>
                  </a:ext>
                </a:extLst>
              </a:tr>
              <a:tr h="2810838">
                <a:tc rowSpan="3">
                  <a:txBody>
                    <a:bodyPr/>
                    <a:lstStyle/>
                    <a:p>
                      <a:pPr algn="ctr"/>
                      <a:r>
                        <a:rPr lang="en-US" sz="2800" b="1" kern="1200" baseline="0" dirty="0" err="1">
                          <a:solidFill>
                            <a:srgbClr val="C00000"/>
                          </a:solidFill>
                          <a:latin typeface="Arial" panose="020B0604020202020204" pitchFamily="34" charset="0"/>
                          <a:ea typeface="+mn-ea"/>
                          <a:cs typeface="Arial" panose="020B0604020202020204" pitchFamily="34" charset="0"/>
                        </a:rPr>
                        <a:t>Rà</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soát</a:t>
                      </a:r>
                      <a:r>
                        <a:rPr lang="en-US" sz="2800" b="1" kern="1200" baseline="0" dirty="0">
                          <a:solidFill>
                            <a:srgbClr val="C00000"/>
                          </a:solidFill>
                          <a:latin typeface="Arial" panose="020B0604020202020204" pitchFamily="34" charset="0"/>
                          <a:ea typeface="+mn-ea"/>
                          <a:cs typeface="Arial" panose="020B0604020202020204" pitchFamily="34" charset="0"/>
                        </a:rPr>
                        <a:t> &amp; </a:t>
                      </a:r>
                      <a:r>
                        <a:rPr lang="en-US" sz="2800" b="1" kern="1200" baseline="0" dirty="0" err="1">
                          <a:solidFill>
                            <a:srgbClr val="C00000"/>
                          </a:solidFill>
                          <a:latin typeface="Arial" panose="020B0604020202020204" pitchFamily="34" charset="0"/>
                          <a:ea typeface="+mn-ea"/>
                          <a:cs typeface="Arial" panose="020B0604020202020204" pitchFamily="34" charset="0"/>
                        </a:rPr>
                        <a:t>Điều</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chỉnh</a:t>
                      </a:r>
                      <a:endParaRPr lang="en-US" sz="2800" b="1" kern="1200" baseline="0" dirty="0">
                        <a:solidFill>
                          <a:srgbClr val="C00000"/>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spcBef>
                          <a:spcPts val="600"/>
                        </a:spcBef>
                        <a:buNone/>
                      </a:pPr>
                      <a:r>
                        <a:rPr lang="en-US" sz="1600" b="1" dirty="0">
                          <a:solidFill>
                            <a:schemeClr val="tx1"/>
                          </a:solidFill>
                          <a:latin typeface="Arial" panose="020B0604020202020204" pitchFamily="34" charset="0"/>
                          <a:cs typeface="Arial" panose="020B0604020202020204" pitchFamily="34" charset="0"/>
                        </a:rPr>
                        <a:t>15. Đánh </a:t>
                      </a:r>
                      <a:r>
                        <a:rPr lang="en-US" sz="1600" b="1" dirty="0" err="1">
                          <a:solidFill>
                            <a:schemeClr val="tx1"/>
                          </a:solidFill>
                          <a:latin typeface="Arial" panose="020B0604020202020204" pitchFamily="34" charset="0"/>
                          <a:cs typeface="Arial" panose="020B0604020202020204" pitchFamily="34" charset="0"/>
                        </a:rPr>
                        <a:t>giá</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thay</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đổi</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trọng</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yếu</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một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phần</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liên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theo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dõi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thay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đổi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trọng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yếu</a:t>
                      </a:r>
                      <a:r>
                        <a:rPr lang="en-US" sz="1600" baseline="0" dirty="0">
                          <a:latin typeface="Arial" panose="020B0604020202020204" pitchFamily="34" charset="0"/>
                          <a:cs typeface="Arial" panose="020B0604020202020204" pitchFamily="34" charset="0"/>
                        </a:rPr>
                        <a:t> (M&amp;A, </a:t>
                      </a:r>
                      <a:r>
                        <a:rPr lang="en-US" sz="1600" baseline="0" dirty="0" err="1">
                          <a:latin typeface="Arial" panose="020B0604020202020204" pitchFamily="34" charset="0"/>
                          <a:cs typeface="Arial" panose="020B0604020202020204" pitchFamily="34" charset="0"/>
                        </a:rPr>
                        <a:t>thay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đổi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môi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trường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lý</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môi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trường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doanh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hưởng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solidFill>
                            <a:schemeClr val="tx1"/>
                          </a:solidFill>
                          <a:latin typeface="Arial" panose="020B0604020202020204" pitchFamily="34" charset="0"/>
                          <a:cs typeface="Arial" panose="020B0604020202020204" pitchFamily="34" charset="0"/>
                        </a:rPr>
                        <a:t>Xây </a:t>
                      </a:r>
                      <a:r>
                        <a:rPr lang="en-US" sz="1600" baseline="0" dirty="0" err="1">
                          <a:solidFill>
                            <a:schemeClr val="tx1"/>
                          </a:solidFill>
                          <a:latin typeface="Arial" panose="020B0604020202020204" pitchFamily="34" charset="0"/>
                          <a:cs typeface="Arial" panose="020B0604020202020204" pitchFamily="34" charset="0"/>
                        </a:rPr>
                        <a:t>dựng</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cơ</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chế</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theo</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dõi</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báo</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cáo</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thay</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đổi</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trọng</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yếu</a:t>
                      </a:r>
                      <a:endParaRPr lang="en-US" sz="1600" baseline="0" dirty="0">
                        <a:solidFill>
                          <a:schemeClr val="tx1"/>
                        </a:solidFill>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KRI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xây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hành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Xây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thay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đổi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trọng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yếu</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en-US" sz="1600" b="0" i="0" u="none" strike="noStrike" dirty="0" err="1">
                          <a:solidFill>
                            <a:schemeClr val="tx1"/>
                          </a:solidFill>
                          <a:effectLst/>
                          <a:latin typeface="Arial" panose="020B0604020202020204" pitchFamily="34" charset="0"/>
                        </a:rPr>
                        <a:t>Việc</a:t>
                      </a:r>
                      <a:r>
                        <a:rPr lang="en-US" sz="1600" b="0" i="0" u="none" strike="noStrike" dirty="0">
                          <a:solidFill>
                            <a:schemeClr val="tx1"/>
                          </a:solidFill>
                          <a:effectLst/>
                          <a:latin typeface="Arial" panose="020B0604020202020204" pitchFamily="34" charset="0"/>
                        </a:rPr>
                        <a:t> </a:t>
                      </a:r>
                      <a:r>
                        <a:rPr lang="en-US" sz="1600" b="0" i="0" u="none" strike="noStrike" dirty="0" err="1">
                          <a:solidFill>
                            <a:schemeClr val="tx1"/>
                          </a:solidFill>
                          <a:effectLst/>
                          <a:latin typeface="Arial" panose="020B0604020202020204" pitchFamily="34" charset="0"/>
                        </a:rPr>
                        <a:t>phát</a:t>
                      </a:r>
                      <a:r>
                        <a:rPr lang="en-US" sz="1600" b="0" i="0" u="none" strike="noStrike" dirty="0">
                          <a:solidFill>
                            <a:schemeClr val="tx1"/>
                          </a:solidFill>
                          <a:effectLst/>
                          <a:latin typeface="Arial" panose="020B0604020202020204" pitchFamily="34" charset="0"/>
                        </a:rPr>
                        <a:t> </a:t>
                      </a:r>
                      <a:r>
                        <a:rPr lang="en-US" sz="1600" b="0" i="0" u="none" strike="noStrike" dirty="0" err="1">
                          <a:solidFill>
                            <a:schemeClr val="tx1"/>
                          </a:solidFill>
                          <a:effectLst/>
                          <a:latin typeface="Arial" panose="020B0604020202020204" pitchFamily="34" charset="0"/>
                        </a:rPr>
                        <a:t>sinh</a:t>
                      </a:r>
                      <a:r>
                        <a:rPr lang="en-US" sz="1600" b="0" i="0" u="none" strike="noStrike" dirty="0">
                          <a:solidFill>
                            <a:schemeClr val="tx1"/>
                          </a:solidFill>
                          <a:effectLst/>
                          <a:latin typeface="Arial" panose="020B0604020202020204" pitchFamily="34" charset="0"/>
                        </a:rPr>
                        <a:t> </a:t>
                      </a:r>
                      <a:r>
                        <a:rPr lang="en-US" sz="1600" b="0" i="0" u="none" strike="noStrike" dirty="0" err="1">
                          <a:solidFill>
                            <a:schemeClr val="tx1"/>
                          </a:solidFill>
                          <a:effectLst/>
                          <a:latin typeface="Arial" panose="020B0604020202020204" pitchFamily="34" charset="0"/>
                        </a:rPr>
                        <a:t>các</a:t>
                      </a:r>
                      <a:r>
                        <a:rPr lang="en-US" sz="1600" b="0" i="0" u="none" strike="noStrike" dirty="0">
                          <a:solidFill>
                            <a:schemeClr val="tx1"/>
                          </a:solidFill>
                          <a:effectLst/>
                          <a:latin typeface="Arial" panose="020B0604020202020204" pitchFamily="34" charset="0"/>
                        </a:rPr>
                        <a:t> </a:t>
                      </a:r>
                      <a:r>
                        <a:rPr lang="en-US" sz="1600" b="0" i="0" u="none" strike="noStrike" dirty="0" err="1">
                          <a:solidFill>
                            <a:schemeClr val="tx1"/>
                          </a:solidFill>
                          <a:effectLst/>
                          <a:latin typeface="Arial" panose="020B0604020202020204" pitchFamily="34" charset="0"/>
                        </a:rPr>
                        <a:t>thay</a:t>
                      </a:r>
                      <a:r>
                        <a:rPr lang="en-US" sz="1600" b="0" i="0" u="none" strike="noStrike" dirty="0">
                          <a:solidFill>
                            <a:schemeClr val="tx1"/>
                          </a:solidFill>
                          <a:effectLst/>
                          <a:latin typeface="Arial" panose="020B0604020202020204" pitchFamily="34" charset="0"/>
                        </a:rPr>
                        <a:t> </a:t>
                      </a:r>
                      <a:r>
                        <a:rPr lang="en-US" sz="1600" b="0" i="0" u="none" strike="noStrike" dirty="0" err="1">
                          <a:solidFill>
                            <a:schemeClr val="tx1"/>
                          </a:solidFill>
                          <a:effectLst/>
                          <a:latin typeface="Arial" panose="020B0604020202020204" pitchFamily="34" charset="0"/>
                        </a:rPr>
                        <a:t>đổi</a:t>
                      </a:r>
                      <a:r>
                        <a:rPr lang="en-US" sz="1600" b="0" i="0" u="none" strike="noStrike" dirty="0">
                          <a:solidFill>
                            <a:schemeClr val="tx1"/>
                          </a:solidFill>
                          <a:effectLst/>
                          <a:latin typeface="Arial" panose="020B0604020202020204" pitchFamily="34" charset="0"/>
                        </a:rPr>
                        <a:t> </a:t>
                      </a:r>
                      <a:r>
                        <a:rPr lang="en-US" sz="1600" b="0" i="0" u="none" strike="noStrike" dirty="0" err="1">
                          <a:solidFill>
                            <a:schemeClr val="tx1"/>
                          </a:solidFill>
                          <a:effectLst/>
                          <a:latin typeface="Arial" panose="020B0604020202020204" pitchFamily="34" charset="0"/>
                        </a:rPr>
                        <a:t>trọng</a:t>
                      </a:r>
                      <a:r>
                        <a:rPr lang="en-US" sz="1600" b="0" i="0" u="none" strike="noStrike" dirty="0">
                          <a:solidFill>
                            <a:schemeClr val="tx1"/>
                          </a:solidFill>
                          <a:effectLst/>
                          <a:latin typeface="Arial" panose="020B0604020202020204" pitchFamily="34" charset="0"/>
                        </a:rPr>
                        <a:t> </a:t>
                      </a:r>
                      <a:r>
                        <a:rPr lang="en-US" sz="1600" b="0" i="0" u="none" strike="noStrike" dirty="0" err="1">
                          <a:solidFill>
                            <a:schemeClr val="tx1"/>
                          </a:solidFill>
                          <a:effectLst/>
                          <a:latin typeface="Arial" panose="020B0604020202020204" pitchFamily="34" charset="0"/>
                        </a:rPr>
                        <a:t>yếu</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đã</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được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bộ</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phận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chiến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lược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theo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dõi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đánh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giá</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định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kỳ</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hoặc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khi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phát</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sinh</a:t>
                      </a:r>
                      <a:r>
                        <a:rPr lang="en-US" sz="1600" b="0" i="0" u="none" strike="noStrike" baseline="0" dirty="0">
                          <a:solidFill>
                            <a:schemeClr val="tx1"/>
                          </a:solidFill>
                          <a:effectLst/>
                          <a:latin typeface="Arial" panose="020B0604020202020204" pitchFamily="34" charset="0"/>
                        </a:rPr>
                        <a:t>, bao </a:t>
                      </a:r>
                      <a:r>
                        <a:rPr lang="en-US" sz="1600" b="0" i="0" u="none" strike="noStrike" baseline="0" dirty="0" err="1">
                          <a:solidFill>
                            <a:schemeClr val="tx1"/>
                          </a:solidFill>
                          <a:effectLst/>
                          <a:latin typeface="Arial" panose="020B0604020202020204" pitchFamily="34" charset="0"/>
                        </a:rPr>
                        <a:t>gồm</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đánh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giá</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giả</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định</a:t>
                      </a:r>
                      <a:r>
                        <a:rPr lang="en-US" sz="1600" b="0" i="0" u="none" strike="noStrike" baseline="0" dirty="0">
                          <a:solidFill>
                            <a:schemeClr val="tx1"/>
                          </a:solidFill>
                          <a:effectLst/>
                          <a:latin typeface="Arial" panose="020B0604020202020204" pitchFamily="34" charset="0"/>
                        </a:rPr>
                        <a:t>.</a:t>
                      </a:r>
                    </a:p>
                    <a:p>
                      <a:pPr marL="377190" indent="-285750" algn="just" fontAlgn="ctr">
                        <a:buFontTx/>
                        <a:buChar char="-"/>
                      </a:pPr>
                      <a:r>
                        <a:rPr lang="en-US" sz="1600" b="0" i="0" u="none" strike="noStrike" baseline="0" dirty="0">
                          <a:solidFill>
                            <a:schemeClr val="tx1"/>
                          </a:solidFill>
                          <a:effectLst/>
                          <a:latin typeface="Arial" panose="020B0604020202020204" pitchFamily="34" charset="0"/>
                        </a:rPr>
                        <a:t>Tuy </a:t>
                      </a:r>
                      <a:r>
                        <a:rPr lang="en-US" sz="1600" b="0" i="0" u="none" strike="noStrike" baseline="0" dirty="0" err="1">
                          <a:solidFill>
                            <a:schemeClr val="tx1"/>
                          </a:solidFill>
                          <a:effectLst/>
                          <a:latin typeface="Arial" panose="020B0604020202020204" pitchFamily="34" charset="0"/>
                        </a:rPr>
                        <a:t>nhiên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chưa</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xây</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dựng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các</a:t>
                      </a:r>
                      <a:r>
                        <a:rPr lang="en-US" sz="1600" b="0" i="0" u="none" strike="noStrike" baseline="0" dirty="0">
                          <a:solidFill>
                            <a:srgbClr val="C00000"/>
                          </a:solidFill>
                          <a:effectLst/>
                          <a:latin typeface="Arial" panose="020B0604020202020204" pitchFamily="34" charset="0"/>
                        </a:rPr>
                        <a:t> KRI </a:t>
                      </a:r>
                      <a:r>
                        <a:rPr lang="en-US" sz="1600" b="0" i="0" u="none" strike="noStrike" baseline="0" dirty="0" err="1">
                          <a:solidFill>
                            <a:srgbClr val="C00000"/>
                          </a:solidFill>
                          <a:effectLst/>
                          <a:latin typeface="Arial" panose="020B0604020202020204" pitchFamily="34" charset="0"/>
                        </a:rPr>
                        <a:t>cảnh</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báo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rủi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khi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phát</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sinh</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các</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thay</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đổi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trọng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yếu</a:t>
                      </a:r>
                      <a:endParaRPr lang="en-US" sz="1600" b="0" i="0" u="none" strike="noStrike" dirty="0">
                        <a:solidFill>
                          <a:srgbClr val="C00000"/>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54908492"/>
                  </a:ext>
                </a:extLst>
              </a:tr>
              <a:tr h="2432029">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16.</a:t>
                      </a:r>
                      <a:r>
                        <a:rPr lang="en-US" sz="1600" b="1" baseline="0"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Rà</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soát</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rủi</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ro</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và</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hiệu</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quả</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triển</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khai</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Đáp ứng một phần</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pháp</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danh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mục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kỳ</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KRI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vận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hành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triển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khai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gắn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KPI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phòng</a:t>
                      </a:r>
                      <a:r>
                        <a:rPr lang="en-US" sz="1600" baseline="0" dirty="0">
                          <a:latin typeface="Arial" panose="020B0604020202020204" pitchFamily="34" charset="0"/>
                          <a:cs typeface="Arial" panose="020B0604020202020204" pitchFamily="34" charset="0"/>
                        </a:rPr>
                        <a:t> ban, </a:t>
                      </a:r>
                      <a:r>
                        <a:rPr lang="en-US" sz="1600" baseline="0" dirty="0" err="1">
                          <a:latin typeface="Arial" panose="020B0604020202020204" pitchFamily="34" charset="0"/>
                          <a:cs typeface="Arial" panose="020B0604020202020204" pitchFamily="34" charset="0"/>
                        </a:rPr>
                        <a:t>đơn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nhân</a:t>
                      </a:r>
                      <a:endParaRPr lang="en-US" sz="1600" baseline="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en-US" sz="1600" b="0" i="0" u="none" strike="noStrike" dirty="0" err="1">
                          <a:solidFill>
                            <a:schemeClr val="tx1"/>
                          </a:solidFill>
                          <a:effectLst/>
                          <a:latin typeface="Arial" panose="020B0604020202020204" pitchFamily="34" charset="0"/>
                        </a:rPr>
                        <a:t>Đã</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có</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luồng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báo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cáo</a:t>
                      </a:r>
                      <a:r>
                        <a:rPr lang="en-US" sz="1600" b="0" i="0" u="none" strike="noStrike" baseline="0" dirty="0">
                          <a:solidFill>
                            <a:schemeClr val="tx1"/>
                          </a:solidFill>
                          <a:effectLst/>
                          <a:latin typeface="Arial" panose="020B0604020202020204" pitchFamily="34" charset="0"/>
                        </a:rPr>
                        <a:t> SKRR </a:t>
                      </a:r>
                      <a:r>
                        <a:rPr lang="en-US" sz="1600" b="0" i="0" u="none" strike="noStrike" baseline="0" dirty="0" err="1">
                          <a:solidFill>
                            <a:schemeClr val="tx1"/>
                          </a:solidFill>
                          <a:effectLst/>
                          <a:latin typeface="Arial" panose="020B0604020202020204" pitchFamily="34" charset="0"/>
                        </a:rPr>
                        <a:t>định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kỳ</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tuy</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nhiên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chưa</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báo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cáo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rõ</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hiệu</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quả</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công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tác</a:t>
                      </a:r>
                      <a:r>
                        <a:rPr lang="en-US" sz="1600" b="0" i="0" u="none" strike="noStrike" baseline="0" dirty="0">
                          <a:solidFill>
                            <a:srgbClr val="C00000"/>
                          </a:solidFill>
                          <a:effectLst/>
                          <a:latin typeface="Arial" panose="020B0604020202020204" pitchFamily="34" charset="0"/>
                        </a:rPr>
                        <a:t> QTRR do </a:t>
                      </a:r>
                      <a:r>
                        <a:rPr lang="en-US" sz="1600" b="0" i="0" u="none" strike="noStrike" baseline="0" dirty="0" err="1">
                          <a:solidFill>
                            <a:srgbClr val="C00000"/>
                          </a:solidFill>
                          <a:effectLst/>
                          <a:latin typeface="Arial" panose="020B0604020202020204" pitchFamily="34" charset="0"/>
                        </a:rPr>
                        <a:t>chưa</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xây</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dựng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được</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các</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chỉ</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số</a:t>
                      </a:r>
                      <a:r>
                        <a:rPr lang="en-US" sz="1600" b="0" i="0" u="none" strike="noStrike" baseline="0" dirty="0">
                          <a:solidFill>
                            <a:srgbClr val="C00000"/>
                          </a:solidFill>
                          <a:effectLst/>
                          <a:latin typeface="Arial" panose="020B0604020202020204" pitchFamily="34" charset="0"/>
                        </a:rPr>
                        <a:t> KRI </a:t>
                      </a:r>
                      <a:r>
                        <a:rPr lang="en-US" sz="1600" b="0" i="0" u="none" strike="noStrike" baseline="0" dirty="0" err="1">
                          <a:solidFill>
                            <a:srgbClr val="C00000"/>
                          </a:solidFill>
                          <a:effectLst/>
                          <a:latin typeface="Arial" panose="020B0604020202020204" pitchFamily="34" charset="0"/>
                        </a:rPr>
                        <a:t>để</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theo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dõi</a:t>
                      </a:r>
                      <a:endParaRPr lang="en-US" sz="1600" b="0" i="0" u="none" strike="noStrike" baseline="0" dirty="0">
                        <a:solidFill>
                          <a:srgbClr val="C00000"/>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2893438"/>
                  </a:ext>
                </a:extLst>
              </a:tr>
              <a:tr h="2432029">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latin typeface="Arial" panose="020B0604020202020204" pitchFamily="34" charset="0"/>
                          <a:cs typeface="Arial" panose="020B0604020202020204" pitchFamily="34" charset="0"/>
                        </a:rPr>
                        <a:t>17.</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Cải</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tiến</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liên</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tục</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công</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tác</a:t>
                      </a:r>
                      <a:r>
                        <a:rPr lang="en-US" sz="1600" b="1" baseline="0" dirty="0">
                          <a:solidFill>
                            <a:schemeClr val="tx1"/>
                          </a:solidFill>
                          <a:latin typeface="Arial" panose="020B0604020202020204" pitchFamily="34" charset="0"/>
                          <a:cs typeface="Arial" panose="020B0604020202020204" pitchFamily="34" charset="0"/>
                        </a:rPr>
                        <a:t> QTRR</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Đáp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ứng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một</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phần</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ngừng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nâng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cao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quả</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trị</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của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hệ</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thống</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Cơ </a:t>
                      </a:r>
                      <a:r>
                        <a:rPr lang="en-US" sz="1600" baseline="0" dirty="0" err="1">
                          <a:latin typeface="Arial" panose="020B0604020202020204" pitchFamily="34" charset="0"/>
                          <a:cs typeface="Arial" panose="020B0604020202020204" pitchFamily="34" charset="0"/>
                        </a:rPr>
                        <a:t>chế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đánh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trưởng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thành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hệ</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thống</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tham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chiếu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DN </a:t>
                      </a:r>
                      <a:r>
                        <a:rPr lang="en-US" sz="1600" baseline="0" dirty="0" err="1">
                          <a:latin typeface="Arial" panose="020B0604020202020204" pitchFamily="34" charset="0"/>
                          <a:cs typeface="Arial" panose="020B0604020202020204" pitchFamily="34" charset="0"/>
                        </a:rPr>
                        <a:t>dẫn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đầu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ngành</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dirty="0">
                          <a:latin typeface="Arial" panose="020B0604020202020204" pitchFamily="34" charset="0"/>
                          <a:cs typeface="Arial" panose="020B0604020202020204" pitchFamily="34" charset="0"/>
                        </a:rPr>
                        <a:t>Cơ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chế</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thập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rút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bài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học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kinh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nghiệm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QTRR</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vi-VN" sz="1600" b="0" i="0" u="none" strike="noStrike" dirty="0">
                          <a:solidFill>
                            <a:srgbClr val="C00000"/>
                          </a:solidFill>
                          <a:effectLst/>
                          <a:latin typeface="Arial" panose="020B0604020202020204" pitchFamily="34" charset="0"/>
                        </a:rPr>
                        <a:t>Chưa thực hiện đánh giá mức độ trưởng thành QTRR định kỳ</a:t>
                      </a:r>
                      <a:r>
                        <a:rPr lang="en-US" sz="1600" b="0" i="0" u="none" strike="noStrike" baseline="0" dirty="0">
                          <a:solidFill>
                            <a:srgbClr val="C00000"/>
                          </a:solidFill>
                          <a:effectLst/>
                          <a:latin typeface="Arial" panose="020B0604020202020204" pitchFamily="34" charset="0"/>
                        </a:rPr>
                        <a:t> </a:t>
                      </a:r>
                    </a:p>
                    <a:p>
                      <a:pPr marL="377190" indent="-285750" algn="just" fontAlgn="ctr">
                        <a:buFontTx/>
                        <a:buChar char="-"/>
                      </a:pPr>
                      <a:r>
                        <a:rPr lang="en-US" sz="1600" b="0" i="0" u="none" strike="noStrike" baseline="0" dirty="0">
                          <a:solidFill>
                            <a:schemeClr val="tx1"/>
                          </a:solidFill>
                          <a:effectLst/>
                          <a:latin typeface="Arial" panose="020B0604020202020204" pitchFamily="34" charset="0"/>
                        </a:rPr>
                        <a:t>Cơ </a:t>
                      </a:r>
                      <a:r>
                        <a:rPr lang="en-US" sz="1600" b="0" i="0" u="none" strike="noStrike" baseline="0" dirty="0" err="1">
                          <a:solidFill>
                            <a:schemeClr val="tx1"/>
                          </a:solidFill>
                          <a:effectLst/>
                          <a:latin typeface="Arial" panose="020B0604020202020204" pitchFamily="34" charset="0"/>
                        </a:rPr>
                        <a:t>chế</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thu</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thập</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và</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rút</a:t>
                      </a:r>
                      <a:r>
                        <a:rPr lang="en-US" sz="1600" b="0" i="0" u="none" strike="noStrike" baseline="0" dirty="0">
                          <a:solidFill>
                            <a:schemeClr val="tx1"/>
                          </a:solidFill>
                          <a:effectLst/>
                          <a:latin typeface="Arial" panose="020B0604020202020204" pitchFamily="34" charset="0"/>
                        </a:rPr>
                        <a:t> BHKN </a:t>
                      </a:r>
                      <a:r>
                        <a:rPr lang="en-US" sz="1600" b="0" i="0" u="none" strike="noStrike" baseline="0" dirty="0" err="1">
                          <a:solidFill>
                            <a:schemeClr val="tx1"/>
                          </a:solidFill>
                          <a:effectLst/>
                          <a:latin typeface="Arial" panose="020B0604020202020204" pitchFamily="34" charset="0"/>
                        </a:rPr>
                        <a:t>chủ</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yếu</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đối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với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các</a:t>
                      </a:r>
                      <a:r>
                        <a:rPr lang="en-US" sz="1600" b="0" i="0" u="none" strike="noStrike" baseline="0" dirty="0">
                          <a:solidFill>
                            <a:schemeClr val="tx1"/>
                          </a:solidFill>
                          <a:effectLst/>
                          <a:latin typeface="Arial" panose="020B0604020202020204" pitchFamily="34" charset="0"/>
                        </a:rPr>
                        <a:t> SKRR, </a:t>
                      </a:r>
                      <a:r>
                        <a:rPr lang="en-US" sz="1600" b="0" i="0" u="none" strike="noStrike" baseline="0" dirty="0" err="1">
                          <a:solidFill>
                            <a:schemeClr val="tx1"/>
                          </a:solidFill>
                          <a:effectLst/>
                          <a:latin typeface="Arial" panose="020B0604020202020204" pitchFamily="34" charset="0"/>
                        </a:rPr>
                        <a:t>sự</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cố</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tổn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thất</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chưa</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được</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hệ</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thống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hóa</a:t>
                      </a:r>
                      <a:r>
                        <a:rPr lang="en-US" sz="1600" b="0" i="0" u="none" strike="noStrike" baseline="0" dirty="0">
                          <a:solidFill>
                            <a:srgbClr val="C00000"/>
                          </a:solidFill>
                          <a:effectLst/>
                          <a:latin typeface="Arial" panose="020B0604020202020204" pitchFamily="34" charset="0"/>
                        </a:rPr>
                        <a:t> ở </a:t>
                      </a:r>
                      <a:r>
                        <a:rPr lang="en-US" sz="1600" b="0" i="0" u="none" strike="noStrike" baseline="0" dirty="0" err="1">
                          <a:solidFill>
                            <a:srgbClr val="C00000"/>
                          </a:solidFill>
                          <a:effectLst/>
                          <a:latin typeface="Arial" panose="020B0604020202020204" pitchFamily="34" charset="0"/>
                        </a:rPr>
                        <a:t>cấp</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doanh</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nghiệp</a:t>
                      </a:r>
                      <a:endParaRPr lang="vi-VN" sz="1600" b="0" i="0" u="none" strike="noStrike" dirty="0">
                        <a:solidFill>
                          <a:srgbClr val="C00000"/>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4853363"/>
                  </a:ext>
                </a:extLst>
              </a:tr>
            </a:tbl>
          </a:graphicData>
        </a:graphic>
      </p:graphicFrame>
      <p:grpSp>
        <p:nvGrpSpPr>
          <p:cNvPr id="18" name="Group 17"/>
          <p:cNvGrpSpPr/>
          <p:nvPr/>
        </p:nvGrpSpPr>
        <p:grpSpPr>
          <a:xfrm>
            <a:off x="5128259" y="3649475"/>
            <a:ext cx="365760" cy="367059"/>
            <a:chOff x="333181" y="7831207"/>
            <a:chExt cx="365760" cy="367059"/>
          </a:xfrm>
        </p:grpSpPr>
        <p:sp>
          <p:nvSpPr>
            <p:cNvPr id="19" name="Oval 18"/>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0" name="Pie 19"/>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14" name="Group 13"/>
          <p:cNvGrpSpPr/>
          <p:nvPr/>
        </p:nvGrpSpPr>
        <p:grpSpPr>
          <a:xfrm>
            <a:off x="5105400" y="6286500"/>
            <a:ext cx="365760" cy="367059"/>
            <a:chOff x="333181" y="7831207"/>
            <a:chExt cx="365760" cy="367059"/>
          </a:xfrm>
        </p:grpSpPr>
        <p:sp>
          <p:nvSpPr>
            <p:cNvPr id="15" name="Oval 14"/>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16" name="Pie 15"/>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17" name="Group 16"/>
          <p:cNvGrpSpPr/>
          <p:nvPr/>
        </p:nvGrpSpPr>
        <p:grpSpPr>
          <a:xfrm>
            <a:off x="5128259" y="8738697"/>
            <a:ext cx="365760" cy="367059"/>
            <a:chOff x="333181" y="7831207"/>
            <a:chExt cx="365760" cy="367059"/>
          </a:xfrm>
        </p:grpSpPr>
        <p:sp>
          <p:nvSpPr>
            <p:cNvPr id="21" name="Oval 20"/>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2" name="Pie 21"/>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23" name="Group 2"/>
          <p:cNvGrpSpPr/>
          <p:nvPr/>
        </p:nvGrpSpPr>
        <p:grpSpPr>
          <a:xfrm>
            <a:off x="0" y="114299"/>
            <a:ext cx="9906000" cy="1097280"/>
            <a:chOff x="0" y="-2"/>
            <a:chExt cx="19479172" cy="1664815"/>
          </a:xfrm>
          <a:solidFill>
            <a:schemeClr val="bg1">
              <a:lumMod val="95000"/>
            </a:schemeClr>
          </a:solidFill>
        </p:grpSpPr>
        <p:sp>
          <p:nvSpPr>
            <p:cNvPr id="24" name="Freeform 3"/>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Đánh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marL="914400">
                <a:lnSpc>
                  <a:spcPts val="4320"/>
                </a:lnSpc>
              </a:pP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Khía</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cạnh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Rà</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soát</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&amp;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Điều</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chỉnh</a:t>
              </a:r>
              <a:endParaRPr lang="en-US" sz="2400" b="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25" name="Group 4"/>
          <p:cNvGrpSpPr/>
          <p:nvPr/>
        </p:nvGrpSpPr>
        <p:grpSpPr>
          <a:xfrm>
            <a:off x="0" y="114299"/>
            <a:ext cx="936307" cy="1097280"/>
            <a:chOff x="0" y="0"/>
            <a:chExt cx="1248410" cy="1554290"/>
          </a:xfrm>
        </p:grpSpPr>
        <p:sp>
          <p:nvSpPr>
            <p:cNvPr id="26"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Tree>
    <p:extLst>
      <p:ext uri="{BB962C8B-B14F-4D97-AF65-F5344CB8AC3E}">
        <p14:creationId xmlns:p14="http://schemas.microsoft.com/office/powerpoint/2010/main" val="753259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nvGraphicFramePr>
        <p:xfrm>
          <a:off x="152401" y="1409700"/>
          <a:ext cx="17983202" cy="8686799"/>
        </p:xfrm>
        <a:graphic>
          <a:graphicData uri="http://schemas.openxmlformats.org/drawingml/2006/table">
            <a:tbl>
              <a:tblPr firstRow="1" bandRow="1">
                <a:tableStyleId>{5C22544A-7EE6-4342-B048-85BDC9FD1C3A}</a:tableStyleId>
              </a:tblPr>
              <a:tblGrid>
                <a:gridCol w="1775043">
                  <a:extLst>
                    <a:ext uri="{9D8B030D-6E8A-4147-A177-3AD203B41FA5}">
                      <a16:colId xmlns:a16="http://schemas.microsoft.com/office/drawing/2014/main" val="3130170847"/>
                    </a:ext>
                  </a:extLst>
                </a:gridCol>
                <a:gridCol w="2597089">
                  <a:extLst>
                    <a:ext uri="{9D8B030D-6E8A-4147-A177-3AD203B41FA5}">
                      <a16:colId xmlns:a16="http://schemas.microsoft.com/office/drawing/2014/main" val="928649161"/>
                    </a:ext>
                  </a:extLst>
                </a:gridCol>
                <a:gridCol w="2749860">
                  <a:extLst>
                    <a:ext uri="{9D8B030D-6E8A-4147-A177-3AD203B41FA5}">
                      <a16:colId xmlns:a16="http://schemas.microsoft.com/office/drawing/2014/main" val="3267891094"/>
                    </a:ext>
                  </a:extLst>
                </a:gridCol>
                <a:gridCol w="5361491">
                  <a:extLst>
                    <a:ext uri="{9D8B030D-6E8A-4147-A177-3AD203B41FA5}">
                      <a16:colId xmlns:a16="http://schemas.microsoft.com/office/drawing/2014/main" val="908183143"/>
                    </a:ext>
                  </a:extLst>
                </a:gridCol>
                <a:gridCol w="5499719">
                  <a:extLst>
                    <a:ext uri="{9D8B030D-6E8A-4147-A177-3AD203B41FA5}">
                      <a16:colId xmlns:a16="http://schemas.microsoft.com/office/drawing/2014/main" val="385072934"/>
                    </a:ext>
                  </a:extLst>
                </a:gridCol>
              </a:tblGrid>
              <a:tr h="784760">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Khía</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cạnh</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Nguyên</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tắc</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Mức</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độ</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đáp</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ứng</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Thông</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lệ</a:t>
                      </a:r>
                      <a:endParaRPr lang="en-US" sz="2400" b="1" kern="1200" dirty="0">
                        <a:solidFill>
                          <a:schemeClr val="bg1"/>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tc>
                  <a:txBody>
                    <a:bodyPr/>
                    <a:lstStyle/>
                    <a:p>
                      <a:pPr algn="ctr"/>
                      <a:r>
                        <a:rPr lang="en-US" sz="2400" b="1" kern="1200" dirty="0" err="1">
                          <a:solidFill>
                            <a:schemeClr val="bg1"/>
                          </a:solidFill>
                          <a:latin typeface="Arial" panose="020B0604020202020204" pitchFamily="34" charset="0"/>
                          <a:ea typeface="+mn-ea"/>
                          <a:cs typeface="Arial" panose="020B0604020202020204" pitchFamily="34" charset="0"/>
                        </a:rPr>
                        <a:t>Thực</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trạng</a:t>
                      </a:r>
                      <a:r>
                        <a:rPr lang="en-US" sz="2400" b="1" kern="1200" dirty="0">
                          <a:solidFill>
                            <a:schemeClr val="bg1"/>
                          </a:solidFill>
                          <a:latin typeface="Arial" panose="020B0604020202020204" pitchFamily="34" charset="0"/>
                          <a:ea typeface="+mn-ea"/>
                          <a:cs typeface="Arial" panose="020B0604020202020204" pitchFamily="34" charset="0"/>
                        </a:rPr>
                        <a:t> </a:t>
                      </a:r>
                      <a:r>
                        <a:rPr lang="en-US" sz="2400" b="1" kern="1200" dirty="0" err="1">
                          <a:solidFill>
                            <a:schemeClr val="bg1"/>
                          </a:solidFill>
                          <a:latin typeface="Arial" panose="020B0604020202020204" pitchFamily="34" charset="0"/>
                          <a:ea typeface="+mn-ea"/>
                          <a:cs typeface="Arial" panose="020B0604020202020204" pitchFamily="34" charset="0"/>
                        </a:rPr>
                        <a:t>tại</a:t>
                      </a:r>
                      <a:r>
                        <a:rPr lang="en-US" sz="2400" b="1" kern="1200" dirty="0">
                          <a:solidFill>
                            <a:schemeClr val="bg1"/>
                          </a:solidFill>
                          <a:latin typeface="Arial" panose="020B0604020202020204" pitchFamily="34" charset="0"/>
                          <a:ea typeface="+mn-ea"/>
                          <a:cs typeface="Arial" panose="020B0604020202020204" pitchFamily="34" charset="0"/>
                        </a:rPr>
                        <a:t> VDS</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C00000"/>
                    </a:solidFill>
                  </a:tcPr>
                </a:tc>
                <a:extLst>
                  <a:ext uri="{0D108BD9-81ED-4DB2-BD59-A6C34878D82A}">
                    <a16:rowId xmlns:a16="http://schemas.microsoft.com/office/drawing/2014/main" val="653763660"/>
                  </a:ext>
                </a:extLst>
              </a:tr>
              <a:tr h="2840583">
                <a:tc rowSpan="3">
                  <a:txBody>
                    <a:bodyPr/>
                    <a:lstStyle/>
                    <a:p>
                      <a:pPr algn="ctr"/>
                      <a:r>
                        <a:rPr lang="en-US" sz="2800" b="1" kern="1200" baseline="0" dirty="0" err="1">
                          <a:solidFill>
                            <a:srgbClr val="C00000"/>
                          </a:solidFill>
                          <a:latin typeface="Arial" panose="020B0604020202020204" pitchFamily="34" charset="0"/>
                          <a:ea typeface="+mn-ea"/>
                          <a:cs typeface="Arial" panose="020B0604020202020204" pitchFamily="34" charset="0"/>
                        </a:rPr>
                        <a:t>Thông</a:t>
                      </a:r>
                      <a:r>
                        <a:rPr lang="en-US" sz="2800" b="1" kern="1200" baseline="0" dirty="0">
                          <a:solidFill>
                            <a:srgbClr val="C00000"/>
                          </a:solidFill>
                          <a:latin typeface="Arial" panose="020B0604020202020204" pitchFamily="34" charset="0"/>
                          <a:ea typeface="+mn-ea"/>
                          <a:cs typeface="Arial" panose="020B0604020202020204" pitchFamily="34" charset="0"/>
                        </a:rPr>
                        <a:t> tin, </a:t>
                      </a:r>
                      <a:r>
                        <a:rPr lang="en-US" sz="2800" b="1" kern="1200" baseline="0" dirty="0" err="1">
                          <a:solidFill>
                            <a:srgbClr val="C00000"/>
                          </a:solidFill>
                          <a:latin typeface="Arial" panose="020B0604020202020204" pitchFamily="34" charset="0"/>
                          <a:ea typeface="+mn-ea"/>
                          <a:cs typeface="Arial" panose="020B0604020202020204" pitchFamily="34" charset="0"/>
                        </a:rPr>
                        <a:t>Truyền</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thông</a:t>
                      </a:r>
                      <a:r>
                        <a:rPr lang="en-US" sz="2800" b="1" kern="1200" baseline="0" dirty="0">
                          <a:solidFill>
                            <a:srgbClr val="C00000"/>
                          </a:solidFill>
                          <a:latin typeface="Arial" panose="020B0604020202020204" pitchFamily="34" charset="0"/>
                          <a:ea typeface="+mn-ea"/>
                          <a:cs typeface="Arial" panose="020B0604020202020204" pitchFamily="34" charset="0"/>
                        </a:rPr>
                        <a:t> &amp; </a:t>
                      </a:r>
                      <a:r>
                        <a:rPr lang="en-US" sz="2800" b="1" kern="1200" baseline="0" dirty="0" err="1">
                          <a:solidFill>
                            <a:srgbClr val="C00000"/>
                          </a:solidFill>
                          <a:latin typeface="Arial" panose="020B0604020202020204" pitchFamily="34" charset="0"/>
                          <a:ea typeface="+mn-ea"/>
                          <a:cs typeface="Arial" panose="020B0604020202020204" pitchFamily="34" charset="0"/>
                        </a:rPr>
                        <a:t>Báo</a:t>
                      </a:r>
                      <a:r>
                        <a:rPr lang="en-US" sz="2800" b="1" kern="1200" baseline="0" dirty="0">
                          <a:solidFill>
                            <a:srgbClr val="C00000"/>
                          </a:solidFill>
                          <a:latin typeface="Arial" panose="020B0604020202020204" pitchFamily="34" charset="0"/>
                          <a:ea typeface="+mn-ea"/>
                          <a:cs typeface="Arial" panose="020B0604020202020204" pitchFamily="34" charset="0"/>
                        </a:rPr>
                        <a:t> </a:t>
                      </a:r>
                      <a:r>
                        <a:rPr lang="en-US" sz="2800" b="1" kern="1200" baseline="0" dirty="0" err="1">
                          <a:solidFill>
                            <a:srgbClr val="C00000"/>
                          </a:solidFill>
                          <a:latin typeface="Arial" panose="020B0604020202020204" pitchFamily="34" charset="0"/>
                          <a:ea typeface="+mn-ea"/>
                          <a:cs typeface="Arial" panose="020B0604020202020204" pitchFamily="34" charset="0"/>
                        </a:rPr>
                        <a:t>cáo</a:t>
                      </a:r>
                      <a:endParaRPr lang="en-US" sz="2800" b="1" kern="1200" baseline="0" dirty="0">
                        <a:solidFill>
                          <a:srgbClr val="C00000"/>
                        </a:solidFill>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indent="0">
                        <a:spcBef>
                          <a:spcPts val="600"/>
                        </a:spcBef>
                        <a:buNone/>
                      </a:pPr>
                      <a:r>
                        <a:rPr lang="en-US" sz="1600" b="1" dirty="0">
                          <a:solidFill>
                            <a:schemeClr val="tx1"/>
                          </a:solidFill>
                          <a:latin typeface="Arial" panose="020B0604020202020204" pitchFamily="34" charset="0"/>
                          <a:cs typeface="Arial" panose="020B0604020202020204" pitchFamily="34" charset="0"/>
                        </a:rPr>
                        <a:t>18. </a:t>
                      </a:r>
                      <a:r>
                        <a:rPr lang="en-US" sz="1600" b="1" dirty="0" err="1">
                          <a:solidFill>
                            <a:schemeClr val="tx1"/>
                          </a:solidFill>
                          <a:latin typeface="Arial" panose="020B0604020202020204" pitchFamily="34" charset="0"/>
                          <a:cs typeface="Arial" panose="020B0604020202020204" pitchFamily="34" charset="0"/>
                        </a:rPr>
                        <a:t>Khai</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thác</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thông</a:t>
                      </a:r>
                      <a:r>
                        <a:rPr lang="en-US" sz="1600" b="1" dirty="0">
                          <a:solidFill>
                            <a:schemeClr val="tx1"/>
                          </a:solidFill>
                          <a:latin typeface="Arial" panose="020B0604020202020204" pitchFamily="34" charset="0"/>
                          <a:cs typeface="Arial" panose="020B0604020202020204" pitchFamily="34" charset="0"/>
                        </a:rPr>
                        <a:t> tin </a:t>
                      </a:r>
                      <a:r>
                        <a:rPr lang="en-US" sz="1600" b="1" dirty="0" err="1">
                          <a:solidFill>
                            <a:schemeClr val="tx1"/>
                          </a:solidFill>
                          <a:latin typeface="Arial" panose="020B0604020202020204" pitchFamily="34" charset="0"/>
                          <a:cs typeface="Arial" panose="020B0604020202020204" pitchFamily="34" charset="0"/>
                        </a:rPr>
                        <a:t>và</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công</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nghệ</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a:r>
                        <a:rPr lang="en-US" sz="1600" dirty="0" err="1">
                          <a:latin typeface="Arial" panose="020B0604020202020204" pitchFamily="34" charset="0"/>
                          <a:cs typeface="Arial" panose="020B0604020202020204" pitchFamily="34" charset="0"/>
                        </a:rPr>
                        <a:t>Đáp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ứng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một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phần</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phát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triển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tối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ưu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hệ</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thống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tin </a:t>
                      </a:r>
                      <a:r>
                        <a:rPr lang="en-US" sz="1600" baseline="0" dirty="0" err="1">
                          <a:latin typeface="Arial" panose="020B0604020202020204" pitchFamily="34" charset="0"/>
                          <a:cs typeface="Arial" panose="020B0604020202020204" pitchFamily="34" charset="0"/>
                        </a:rPr>
                        <a:t>để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hỗ</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trợ</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Xây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hệ</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thống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eGRC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tích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hợp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nhằm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cung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cấp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tin </a:t>
                      </a:r>
                      <a:r>
                        <a:rPr lang="en-US" sz="1600" baseline="0" dirty="0" err="1">
                          <a:latin typeface="Arial" panose="020B0604020202020204" pitchFamily="34" charset="0"/>
                          <a:cs typeface="Arial" panose="020B0604020202020204" pitchFamily="34" charset="0"/>
                        </a:rPr>
                        <a:t>tổng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quan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tình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hình</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tại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tham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khảo</a:t>
                      </a:r>
                      <a:r>
                        <a:rPr lang="en-US" sz="1600" baseline="0" dirty="0">
                          <a:latin typeface="Arial" panose="020B0604020202020204" pitchFamily="34" charset="0"/>
                          <a:cs typeface="Arial" panose="020B0604020202020204" pitchFamily="34" charset="0"/>
                        </a:rPr>
                        <a:t> Archer, </a:t>
                      </a:r>
                      <a:r>
                        <a:rPr lang="en-US" sz="1600" baseline="0" dirty="0" err="1">
                          <a:latin typeface="Arial" panose="020B0604020202020204" pitchFamily="34" charset="0"/>
                          <a:cs typeface="Arial" panose="020B0604020202020204" pitchFamily="34" charset="0"/>
                        </a:rPr>
                        <a:t>Servicenow</a:t>
                      </a:r>
                      <a:r>
                        <a:rPr lang="en-US" sz="1600" baseline="0" dirty="0">
                          <a:latin typeface="Arial" panose="020B0604020202020204" pitchFamily="34" charset="0"/>
                          <a:cs typeface="Arial" panose="020B0604020202020204" pitchFamily="34" charset="0"/>
                        </a:rPr>
                        <a:t>,…)</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Chính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quản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lý</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dữ</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liệu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chất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lượng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dữ</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liệu</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a:solidFill>
                            <a:schemeClr val="tx1"/>
                          </a:solidFill>
                          <a:latin typeface="Arial" panose="020B0604020202020204" pitchFamily="34" charset="0"/>
                          <a:cs typeface="Arial" panose="020B0604020202020204" pitchFamily="34" charset="0"/>
                        </a:rPr>
                        <a:t>Xây </a:t>
                      </a:r>
                      <a:r>
                        <a:rPr lang="en-US" sz="1600" baseline="0" dirty="0" err="1">
                          <a:solidFill>
                            <a:schemeClr val="tx1"/>
                          </a:solidFill>
                          <a:latin typeface="Arial" panose="020B0604020202020204" pitchFamily="34" charset="0"/>
                          <a:cs typeface="Arial" panose="020B0604020202020204" pitchFamily="34" charset="0"/>
                        </a:rPr>
                        <a:t>dựng</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kế</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hoạch</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kinh</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doanh</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liên</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tục</a:t>
                      </a:r>
                      <a:r>
                        <a:rPr lang="en-US" sz="1600" baseline="0" dirty="0">
                          <a:solidFill>
                            <a:schemeClr val="tx1"/>
                          </a:solidFill>
                          <a:latin typeface="Arial" panose="020B0604020202020204" pitchFamily="34" charset="0"/>
                          <a:cs typeface="Arial" panose="020B0604020202020204" pitchFamily="34" charset="0"/>
                        </a:rPr>
                        <a:t> (BCP) </a:t>
                      </a:r>
                      <a:r>
                        <a:rPr lang="en-US" sz="1600" baseline="0" dirty="0" err="1">
                          <a:solidFill>
                            <a:schemeClr val="tx1"/>
                          </a:solidFill>
                          <a:latin typeface="Arial" panose="020B0604020202020204" pitchFamily="34" charset="0"/>
                          <a:cs typeface="Arial" panose="020B0604020202020204" pitchFamily="34" charset="0"/>
                        </a:rPr>
                        <a:t>và</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kế</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hoạch</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phục</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hồi</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sau</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thảm</a:t>
                      </a:r>
                      <a:r>
                        <a:rPr lang="en-US" sz="1600" baseline="0" dirty="0">
                          <a:solidFill>
                            <a:schemeClr val="tx1"/>
                          </a:solidFill>
                          <a:latin typeface="Arial" panose="020B0604020202020204" pitchFamily="34" charset="0"/>
                          <a:cs typeface="Arial" panose="020B0604020202020204" pitchFamily="34" charset="0"/>
                        </a:rPr>
                        <a:t> </a:t>
                      </a:r>
                      <a:r>
                        <a:rPr lang="en-US" sz="1600" baseline="0" dirty="0" err="1">
                          <a:solidFill>
                            <a:schemeClr val="tx1"/>
                          </a:solidFill>
                          <a:latin typeface="Arial" panose="020B0604020202020204" pitchFamily="34" charset="0"/>
                          <a:cs typeface="Arial" panose="020B0604020202020204" pitchFamily="34" charset="0"/>
                        </a:rPr>
                        <a:t>họa</a:t>
                      </a:r>
                      <a:r>
                        <a:rPr lang="en-US" sz="1600" baseline="0" dirty="0">
                          <a:solidFill>
                            <a:schemeClr val="tx1"/>
                          </a:solidFill>
                          <a:latin typeface="Arial" panose="020B0604020202020204" pitchFamily="34" charset="0"/>
                          <a:cs typeface="Arial" panose="020B0604020202020204" pitchFamily="34" charset="0"/>
                        </a:rPr>
                        <a:t> (DRP)</a:t>
                      </a:r>
                      <a:endParaRPr lang="en-US" sz="1600"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vi-VN" sz="1600" b="0" i="0" u="none" strike="noStrike" dirty="0">
                          <a:solidFill>
                            <a:srgbClr val="C00000"/>
                          </a:solidFill>
                          <a:effectLst/>
                          <a:latin typeface="Arial" panose="020B0604020202020204" pitchFamily="34" charset="0"/>
                        </a:rPr>
                        <a:t>Chưa </a:t>
                      </a:r>
                      <a:r>
                        <a:rPr lang="en-US" sz="1600" b="0" i="0" u="none" strike="noStrike" dirty="0" err="1">
                          <a:solidFill>
                            <a:srgbClr val="C00000"/>
                          </a:solidFill>
                          <a:effectLst/>
                          <a:latin typeface="Arial" panose="020B0604020202020204" pitchFamily="34" charset="0"/>
                        </a:rPr>
                        <a:t>tối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ưu</a:t>
                      </a:r>
                      <a:r>
                        <a:rPr lang="vi-VN" sz="1600" b="0" i="0" u="none" strike="noStrike" dirty="0">
                          <a:solidFill>
                            <a:srgbClr val="C00000"/>
                          </a:solidFill>
                          <a:effectLst/>
                          <a:latin typeface="Arial" panose="020B0604020202020204" pitchFamily="34" charset="0"/>
                        </a:rPr>
                        <a:t> dashboard/ công cụ báo cáo QTRR</a:t>
                      </a:r>
                      <a:r>
                        <a:rPr lang="en-US" sz="1600" b="0" i="0" u="none" strike="noStrike" dirty="0">
                          <a:solidFill>
                            <a:srgbClr val="C00000"/>
                          </a:solidFill>
                          <a:effectLst/>
                          <a:latin typeface="Arial" panose="020B0604020202020204" pitchFamily="34" charset="0"/>
                        </a:rPr>
                        <a:t>DN. Công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cụ</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mới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chỉ</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ghi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nhận</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thủ</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công</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các</a:t>
                      </a:r>
                      <a:r>
                        <a:rPr lang="en-US" sz="1600" b="0" i="0" u="none" strike="noStrike" baseline="0" dirty="0">
                          <a:solidFill>
                            <a:srgbClr val="C00000"/>
                          </a:solidFill>
                          <a:effectLst/>
                          <a:latin typeface="Arial" panose="020B0604020202020204" pitchFamily="34" charset="0"/>
                        </a:rPr>
                        <a:t> SKRR.</a:t>
                      </a:r>
                      <a:endParaRPr lang="en-US" sz="1600" b="0" i="0" u="none" strike="noStrike" dirty="0">
                        <a:solidFill>
                          <a:srgbClr val="C00000"/>
                        </a:solidFill>
                        <a:effectLst/>
                        <a:latin typeface="Arial" panose="020B0604020202020204" pitchFamily="34" charset="0"/>
                      </a:endParaRPr>
                    </a:p>
                    <a:p>
                      <a:pPr marL="377190" indent="-285750" algn="just" fontAlgn="ctr">
                        <a:buFontTx/>
                        <a:buChar char="-"/>
                      </a:pPr>
                      <a:r>
                        <a:rPr lang="en-US" sz="1600" b="0" i="0" u="none" strike="noStrike" dirty="0" err="1">
                          <a:solidFill>
                            <a:schemeClr val="tx1"/>
                          </a:solidFill>
                          <a:effectLst/>
                          <a:latin typeface="Arial" panose="020B0604020202020204" pitchFamily="34" charset="0"/>
                        </a:rPr>
                        <a:t>Đã</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có</a:t>
                      </a:r>
                      <a:r>
                        <a:rPr lang="en-US" sz="1600" b="0" i="0" u="none" strike="noStrike" baseline="0" dirty="0">
                          <a:solidFill>
                            <a:schemeClr val="tx1"/>
                          </a:solidFill>
                          <a:effectLst/>
                          <a:latin typeface="Arial" panose="020B0604020202020204" pitchFamily="34" charset="0"/>
                        </a:rPr>
                        <a:t> </a:t>
                      </a:r>
                      <a:r>
                        <a:rPr lang="vi-VN" sz="1600" b="0" i="0" u="none" strike="noStrike" baseline="0" dirty="0">
                          <a:solidFill>
                            <a:schemeClr val="tx1"/>
                          </a:solidFill>
                          <a:effectLst/>
                          <a:latin typeface="+mn-lt"/>
                        </a:rPr>
                        <a:t>Chính sách quản lý dữ liệu</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Tuy</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nhiên</a:t>
                      </a:r>
                      <a:r>
                        <a:rPr lang="en-US" sz="1600" b="0" i="0" u="none" strike="noStrike" baseline="0" dirty="0">
                          <a:solidFill>
                            <a:schemeClr val="tx1"/>
                          </a:solidFill>
                          <a:effectLst/>
                          <a:latin typeface="Arial" panose="020B0604020202020204" pitchFamily="34" charset="0"/>
                        </a:rPr>
                        <a:t>, </a:t>
                      </a:r>
                      <a:r>
                        <a:rPr lang="en-US" sz="1600" b="0" i="0" u="none" strike="noStrike" dirty="0">
                          <a:solidFill>
                            <a:srgbClr val="C00000"/>
                          </a:solidFill>
                          <a:effectLst/>
                          <a:latin typeface="Arial" panose="020B0604020202020204" pitchFamily="34" charset="0"/>
                        </a:rPr>
                        <a:t>n</a:t>
                      </a:r>
                      <a:r>
                        <a:rPr lang="vi-VN" sz="1600" b="0" i="0" u="none" strike="noStrike" dirty="0">
                          <a:solidFill>
                            <a:srgbClr val="C00000"/>
                          </a:solidFill>
                          <a:effectLst/>
                          <a:latin typeface="Arial" panose="020B0604020202020204" pitchFamily="34" charset="0"/>
                        </a:rPr>
                        <a:t>guồn dữ liệu QTRR </a:t>
                      </a:r>
                      <a:r>
                        <a:rPr lang="en-US" sz="1600" b="0" i="0" u="none" strike="noStrike" dirty="0">
                          <a:solidFill>
                            <a:srgbClr val="C00000"/>
                          </a:solidFill>
                          <a:effectLst/>
                          <a:latin typeface="Arial" panose="020B0604020202020204" pitchFamily="34" charset="0"/>
                        </a:rPr>
                        <a:t>(</a:t>
                      </a:r>
                      <a:r>
                        <a:rPr lang="en-US" sz="1600" b="0" i="0" u="none" strike="noStrike" dirty="0" err="1">
                          <a:solidFill>
                            <a:srgbClr val="C00000"/>
                          </a:solidFill>
                          <a:effectLst/>
                          <a:latin typeface="Arial" panose="020B0604020202020204" pitchFamily="34" charset="0"/>
                        </a:rPr>
                        <a:t>sự</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cố</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hệ</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thống</a:t>
                      </a:r>
                      <a:r>
                        <a:rPr lang="en-US" sz="1600" b="0" i="0" u="none" strike="noStrike" baseline="0" dirty="0">
                          <a:solidFill>
                            <a:srgbClr val="C00000"/>
                          </a:solidFill>
                          <a:effectLst/>
                          <a:latin typeface="Arial" panose="020B0604020202020204" pitchFamily="34" charset="0"/>
                        </a:rPr>
                        <a:t> CNTT, </a:t>
                      </a:r>
                      <a:r>
                        <a:rPr lang="en-US" sz="1600" b="0" i="0" u="none" strike="noStrike" baseline="0" dirty="0" err="1">
                          <a:solidFill>
                            <a:srgbClr val="C00000"/>
                          </a:solidFill>
                          <a:effectLst/>
                          <a:latin typeface="Arial" panose="020B0604020202020204" pitchFamily="34" charset="0"/>
                        </a:rPr>
                        <a:t>khiếu</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nại</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gian</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lận</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danh</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tiếng</a:t>
                      </a:r>
                      <a:r>
                        <a:rPr lang="en-US" sz="1600" b="0" i="0" u="none" strike="noStrike" baseline="0" dirty="0">
                          <a:solidFill>
                            <a:srgbClr val="C00000"/>
                          </a:solidFill>
                          <a:effectLst/>
                          <a:latin typeface="Arial" panose="020B0604020202020204" pitchFamily="34" charset="0"/>
                        </a:rPr>
                        <a:t>,…) </a:t>
                      </a:r>
                      <a:r>
                        <a:rPr lang="vi-VN" sz="1600" b="0" i="0" u="none" strike="noStrike" dirty="0">
                          <a:solidFill>
                            <a:srgbClr val="C00000"/>
                          </a:solidFill>
                          <a:effectLst/>
                          <a:latin typeface="Arial" panose="020B0604020202020204" pitchFamily="34" charset="0"/>
                        </a:rPr>
                        <a:t>hiện đang </a:t>
                      </a:r>
                      <a:r>
                        <a:rPr lang="en-US" sz="1600" b="0" i="0" u="none" strike="noStrike" dirty="0" err="1">
                          <a:solidFill>
                            <a:srgbClr val="C00000"/>
                          </a:solidFill>
                          <a:effectLst/>
                          <a:latin typeface="Arial" panose="020B0604020202020204" pitchFamily="34" charset="0"/>
                        </a:rPr>
                        <a:t>phân</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tán</a:t>
                      </a:r>
                      <a:r>
                        <a:rPr lang="vi-VN" sz="1600" b="0" i="0" u="none" strike="noStrike" dirty="0">
                          <a:solidFill>
                            <a:srgbClr val="C00000"/>
                          </a:solidFill>
                          <a:effectLst/>
                          <a:latin typeface="Arial" panose="020B0604020202020204" pitchFamily="34" charset="0"/>
                        </a:rPr>
                        <a:t>, chưa được quản trị tập trung</a:t>
                      </a:r>
                      <a:endParaRPr lang="en-US" sz="1600" b="0" i="0" u="none" strike="noStrike" dirty="0">
                        <a:solidFill>
                          <a:srgbClr val="C00000"/>
                        </a:solidFill>
                        <a:effectLst/>
                        <a:latin typeface="Arial" panose="020B0604020202020204" pitchFamily="34" charset="0"/>
                      </a:endParaRPr>
                    </a:p>
                    <a:p>
                      <a:pPr marL="377190" indent="-285750" algn="just" fontAlgn="ctr">
                        <a:buFontTx/>
                        <a:buChar char="-"/>
                      </a:pPr>
                      <a:r>
                        <a:rPr lang="en-US" sz="1600" b="0" i="0" u="none" strike="noStrike" dirty="0" err="1">
                          <a:solidFill>
                            <a:schemeClr val="tx1"/>
                          </a:solidFill>
                          <a:effectLst/>
                          <a:latin typeface="Arial" panose="020B0604020202020204" pitchFamily="34" charset="0"/>
                        </a:rPr>
                        <a:t>Đã</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có</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kế</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hoạch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kinh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doanh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liên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tục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và</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phục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hồi</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sau</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thảm</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họa</a:t>
                      </a:r>
                      <a:endParaRPr lang="en-US" sz="1600" b="0" i="0" u="none" strike="noStrike" dirty="0">
                        <a:solidFill>
                          <a:schemeClr val="tx1"/>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054908492"/>
                  </a:ext>
                </a:extLst>
              </a:tr>
              <a:tr h="2220873">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spcBef>
                          <a:spcPts val="600"/>
                        </a:spcBef>
                      </a:pPr>
                      <a:r>
                        <a:rPr lang="en-US" sz="1600" b="1" dirty="0">
                          <a:solidFill>
                            <a:schemeClr val="tx1"/>
                          </a:solidFill>
                          <a:latin typeface="Arial" panose="020B0604020202020204" pitchFamily="34" charset="0"/>
                          <a:cs typeface="Arial" panose="020B0604020202020204" pitchFamily="34" charset="0"/>
                        </a:rPr>
                        <a:t>19.</a:t>
                      </a:r>
                      <a:r>
                        <a:rPr lang="en-US" sz="1600" b="1" baseline="0"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Truyền</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thông</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thông</a:t>
                      </a:r>
                      <a:r>
                        <a:rPr lang="en-US" sz="1600" b="1" dirty="0">
                          <a:solidFill>
                            <a:schemeClr val="tx1"/>
                          </a:solidFill>
                          <a:latin typeface="Arial" panose="020B0604020202020204" pitchFamily="34" charset="0"/>
                          <a:cs typeface="Arial" panose="020B0604020202020204" pitchFamily="34" charset="0"/>
                        </a:rPr>
                        <a:t> tin </a:t>
                      </a:r>
                      <a:r>
                        <a:rPr lang="en-US" sz="1600" b="1" dirty="0" err="1">
                          <a:solidFill>
                            <a:schemeClr val="tx1"/>
                          </a:solidFill>
                          <a:latin typeface="Arial" panose="020B0604020202020204" pitchFamily="34" charset="0"/>
                          <a:cs typeface="Arial" panose="020B0604020202020204" pitchFamily="34" charset="0"/>
                        </a:rPr>
                        <a:t>rủi</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ro</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Đáp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ứng</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tin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được</a:t>
                      </a:r>
                      <a:r>
                        <a:rPr lang="en-US" sz="1600" baseline="0" dirty="0">
                          <a:latin typeface="Arial" panose="020B0604020202020204" pitchFamily="34" charset="0"/>
                          <a:cs typeface="Arial" panose="020B0604020202020204" pitchFamily="34" charset="0"/>
                        </a:rPr>
                        <a:t> chia </a:t>
                      </a:r>
                      <a:r>
                        <a:rPr lang="en-US" sz="1600" baseline="0" dirty="0" err="1">
                          <a:latin typeface="Arial" panose="020B0604020202020204" pitchFamily="34" charset="0"/>
                          <a:cs typeface="Arial" panose="020B0604020202020204" pitchFamily="34" charset="0"/>
                        </a:rPr>
                        <a:t>sẻ</a:t>
                      </a:r>
                      <a:r>
                        <a:rPr lang="en-US" sz="1600" baseline="0" dirty="0">
                          <a:latin typeface="Arial" panose="020B0604020202020204" pitchFamily="34" charset="0"/>
                          <a:cs typeface="Arial" panose="020B0604020202020204" pitchFamily="34" charset="0"/>
                        </a:rPr>
                        <a:t> minh </a:t>
                      </a:r>
                      <a:r>
                        <a:rPr lang="en-US" sz="1600" baseline="0" dirty="0" err="1">
                          <a:latin typeface="Arial" panose="020B0604020202020204" pitchFamily="34" charset="0"/>
                          <a:cs typeface="Arial" panose="020B0604020202020204" pitchFamily="34" charset="0"/>
                        </a:rPr>
                        <a:t>bạch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suốt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chiều</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toàn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thể</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qua:</a:t>
                      </a: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Kế </a:t>
                      </a:r>
                      <a:r>
                        <a:rPr lang="en-US" sz="1600" baseline="0" dirty="0" err="1">
                          <a:latin typeface="Arial" panose="020B0604020202020204" pitchFamily="34" charset="0"/>
                          <a:cs typeface="Arial" panose="020B0604020202020204" pitchFamily="34" charset="0"/>
                        </a:rPr>
                        <a:t>hoạch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truyền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tin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nội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bộ</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ngoài</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Thiết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lập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kênh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tin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chiều</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a:latin typeface="Arial" panose="020B0604020202020204" pitchFamily="34" charset="0"/>
                          <a:cs typeface="Arial" panose="020B0604020202020204" pitchFamily="34" charset="0"/>
                        </a:rPr>
                        <a:t>Xây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nội</a:t>
                      </a:r>
                      <a:r>
                        <a:rPr lang="en-US" sz="1600" baseline="0" dirty="0">
                          <a:latin typeface="Arial" panose="020B0604020202020204" pitchFamily="34" charset="0"/>
                          <a:cs typeface="Arial" panose="020B0604020202020204" pitchFamily="34" charset="0"/>
                        </a:rPr>
                        <a:t> dung </a:t>
                      </a:r>
                      <a:r>
                        <a:rPr lang="en-US" sz="1600" baseline="0" dirty="0" err="1">
                          <a:latin typeface="Arial" panose="020B0604020202020204" pitchFamily="34" charset="0"/>
                          <a:cs typeface="Arial" panose="020B0604020202020204" pitchFamily="34" charset="0"/>
                        </a:rPr>
                        <a:t>đào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truyền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tin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phù</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hợp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từng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đối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tượng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tại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377190" indent="-285750" algn="just" fontAlgn="ctr">
                        <a:buFontTx/>
                        <a:buChar char="-"/>
                      </a:pPr>
                      <a:r>
                        <a:rPr lang="vi-VN" sz="1600" b="0" i="0" u="none" strike="noStrike" dirty="0">
                          <a:solidFill>
                            <a:schemeClr val="tx1"/>
                          </a:solidFill>
                          <a:effectLst/>
                          <a:latin typeface="Arial" panose="020B0604020202020204" pitchFamily="34" charset="0"/>
                        </a:rPr>
                        <a:t>Đã có cơ chế báo cáo và phối hợp thông tin về rủi ro giữa các phòng ban</a:t>
                      </a:r>
                      <a:endParaRPr lang="en-US" sz="1600" b="0" i="0" u="none" strike="noStrike" dirty="0">
                        <a:solidFill>
                          <a:schemeClr val="tx1"/>
                        </a:solidFill>
                        <a:effectLst/>
                        <a:latin typeface="Arial" panose="020B0604020202020204" pitchFamily="34" charset="0"/>
                      </a:endParaRPr>
                    </a:p>
                    <a:p>
                      <a:pPr marL="377190" indent="-285750" algn="just" fontAlgn="ctr">
                        <a:buFontTx/>
                        <a:buChar char="-"/>
                      </a:pPr>
                      <a:r>
                        <a:rPr lang="en-US" sz="1600" b="0" i="0" u="none" strike="noStrike" dirty="0" err="1">
                          <a:solidFill>
                            <a:schemeClr val="tx1"/>
                          </a:solidFill>
                          <a:effectLst/>
                          <a:latin typeface="Arial" panose="020B0604020202020204" pitchFamily="34" charset="0"/>
                        </a:rPr>
                        <a:t>Đã</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có</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các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đợt</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đào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tạo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về</a:t>
                      </a:r>
                      <a:r>
                        <a:rPr lang="en-US" sz="1600" b="0" i="0" u="none" strike="noStrike" baseline="0" dirty="0">
                          <a:solidFill>
                            <a:schemeClr val="tx1"/>
                          </a:solidFill>
                          <a:effectLst/>
                          <a:latin typeface="Arial" panose="020B0604020202020204" pitchFamily="34" charset="0"/>
                        </a:rPr>
                        <a:t> QTRR </a:t>
                      </a:r>
                      <a:r>
                        <a:rPr lang="en-US" sz="1600" b="0" i="0" u="none" strike="noStrike" baseline="0" dirty="0" err="1">
                          <a:solidFill>
                            <a:schemeClr val="tx1"/>
                          </a:solidFill>
                          <a:effectLst/>
                          <a:latin typeface="Arial" panose="020B0604020202020204" pitchFamily="34" charset="0"/>
                        </a:rPr>
                        <a:t>định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kỳ</a:t>
                      </a:r>
                      <a:endParaRPr lang="vi-VN" sz="1600" b="0" i="0" u="none" strike="noStrike" dirty="0">
                        <a:solidFill>
                          <a:schemeClr val="tx1"/>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722893438"/>
                  </a:ext>
                </a:extLst>
              </a:tr>
              <a:tr h="2840583">
                <a:tc vMerge="1">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a:spcBef>
                          <a:spcPts val="600"/>
                        </a:spcBef>
                      </a:pPr>
                      <a:r>
                        <a:rPr lang="en-US" sz="1600" b="1" dirty="0">
                          <a:solidFill>
                            <a:schemeClr val="tx1"/>
                          </a:solidFill>
                          <a:latin typeface="Arial" panose="020B0604020202020204" pitchFamily="34" charset="0"/>
                          <a:cs typeface="Arial" panose="020B0604020202020204" pitchFamily="34" charset="0"/>
                        </a:rPr>
                        <a:t>20.</a:t>
                      </a:r>
                      <a:r>
                        <a:rPr lang="en-US" sz="1600" b="1" baseline="0"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Báo</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cáo</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về</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rủi</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ro</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văn</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hóa</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và</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hiệu</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quả</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hoạt</a:t>
                      </a:r>
                      <a:r>
                        <a:rPr lang="en-US" sz="1600" b="1" dirty="0">
                          <a:solidFill>
                            <a:schemeClr val="tx1"/>
                          </a:solidFill>
                          <a:latin typeface="Arial" panose="020B0604020202020204" pitchFamily="34" charset="0"/>
                          <a:cs typeface="Arial" panose="020B0604020202020204" pitchFamily="34" charset="0"/>
                        </a:rPr>
                        <a:t> </a:t>
                      </a:r>
                      <a:r>
                        <a:rPr lang="en-US" sz="1600" b="1" dirty="0" err="1">
                          <a:solidFill>
                            <a:schemeClr val="tx1"/>
                          </a:solidFill>
                          <a:latin typeface="Arial" panose="020B0604020202020204" pitchFamily="34" charset="0"/>
                          <a:cs typeface="Arial" panose="020B0604020202020204" pitchFamily="34" charset="0"/>
                        </a:rPr>
                        <a:t>động</a:t>
                      </a:r>
                      <a:endParaRPr lang="en-US" sz="1600" b="1"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64008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Đáp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ứng</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một</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phần</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algn="just">
                        <a:lnSpc>
                          <a:spcPct val="100000"/>
                        </a:lnSpc>
                      </a:pPr>
                      <a:r>
                        <a:rPr lang="en-US" sz="1600" dirty="0">
                          <a:latin typeface="Arial" panose="020B0604020202020204" pitchFamily="34" charset="0"/>
                          <a:cs typeface="Arial" panose="020B0604020202020204" pitchFamily="34" charset="0"/>
                        </a:rPr>
                        <a:t>Xây</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dựng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hệ</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thống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a:t>
                      </a:r>
                      <a:r>
                        <a:rPr lang="en-US" sz="1600" dirty="0" err="1">
                          <a:latin typeface="Arial" panose="020B0604020202020204" pitchFamily="34" charset="0"/>
                          <a:cs typeface="Arial" panose="020B0604020202020204" pitchFamily="34" charset="0"/>
                        </a:rPr>
                        <a:t>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liên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quan</a:t>
                      </a:r>
                      <a:r>
                        <a:rPr lang="en-US" sz="1600" baseline="0" dirty="0">
                          <a:latin typeface="Arial" panose="020B0604020202020204" pitchFamily="34" charset="0"/>
                          <a:cs typeface="Arial" panose="020B0604020202020204" pitchFamily="34" charset="0"/>
                        </a:rPr>
                        <a:t>, bao </a:t>
                      </a:r>
                      <a:r>
                        <a:rPr lang="en-US" sz="1600" baseline="0" dirty="0" err="1">
                          <a:latin typeface="Arial" panose="020B0604020202020204" pitchFamily="34" charset="0"/>
                          <a:cs typeface="Arial" panose="020B0604020202020204" pitchFamily="34" charset="0"/>
                        </a:rPr>
                        <a:t>gồm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nhưng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giới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hạn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loại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kỳ</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tác</a:t>
                      </a:r>
                      <a:r>
                        <a:rPr lang="en-US" sz="1600" baseline="0" dirty="0">
                          <a:latin typeface="Arial" panose="020B0604020202020204" pitchFamily="34" charset="0"/>
                          <a:cs typeface="Arial" panose="020B0604020202020204" pitchFamily="34" charset="0"/>
                        </a:rPr>
                        <a:t> QTRR</a:t>
                      </a: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Công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bố</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tin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thường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niên</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về</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văn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hóa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rủi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ro</a:t>
                      </a:r>
                      <a:endParaRPr lang="en-US" sz="1600" baseline="0" dirty="0">
                        <a:latin typeface="Arial" panose="020B0604020202020204" pitchFamily="34" charset="0"/>
                        <a:cs typeface="Arial" panose="020B0604020202020204" pitchFamily="34" charset="0"/>
                      </a:endParaRPr>
                    </a:p>
                    <a:p>
                      <a:pPr marL="377190" indent="-285750" algn="just">
                        <a:lnSpc>
                          <a:spcPct val="100000"/>
                        </a:lnSpc>
                        <a:buFontTx/>
                        <a:buChar char="-"/>
                      </a:pP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báo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khác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nhằm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cung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cấp</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thông</a:t>
                      </a:r>
                      <a:r>
                        <a:rPr lang="en-US" sz="1600" baseline="0" dirty="0">
                          <a:latin typeface="Arial" panose="020B0604020202020204" pitchFamily="34" charset="0"/>
                          <a:cs typeface="Arial" panose="020B0604020202020204" pitchFamily="34" charset="0"/>
                        </a:rPr>
                        <a:t> tin </a:t>
                      </a:r>
                      <a:r>
                        <a:rPr lang="en-US" sz="1600" baseline="0" dirty="0" err="1">
                          <a:latin typeface="Arial" panose="020B0604020202020204" pitchFamily="34" charset="0"/>
                          <a:cs typeface="Arial" panose="020B0604020202020204" pitchFamily="34" charset="0"/>
                        </a:rPr>
                        <a:t>hỗ</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trợ</a:t>
                      </a:r>
                      <a:r>
                        <a:rPr lang="en-US" sz="1600" baseline="0" dirty="0">
                          <a:latin typeface="Arial" panose="020B0604020202020204" pitchFamily="34" charset="0"/>
                          <a:cs typeface="Arial" panose="020B0604020202020204" pitchFamily="34" charset="0"/>
                        </a:rPr>
                        <a:t> ban </a:t>
                      </a:r>
                      <a:r>
                        <a:rPr lang="en-US" sz="1600" baseline="0" dirty="0" err="1">
                          <a:latin typeface="Arial" panose="020B0604020202020204" pitchFamily="34" charset="0"/>
                          <a:cs typeface="Arial" panose="020B0604020202020204" pitchFamily="34" charset="0"/>
                        </a:rPr>
                        <a:t>lãnh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đạo</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trong</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quá</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trình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ra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quyết</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định</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và</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thực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hiện</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các</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nghĩa</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vụ</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giám</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sát</a:t>
                      </a:r>
                      <a:r>
                        <a:rPr lang="en-US" sz="1600" baseline="0" dirty="0">
                          <a:latin typeface="Arial" panose="020B0604020202020204" pitchFamily="34" charset="0"/>
                          <a:cs typeface="Arial" panose="020B0604020202020204" pitchFamily="34" charset="0"/>
                        </a:rPr>
                        <a:t> QTRR </a:t>
                      </a:r>
                      <a:r>
                        <a:rPr lang="en-US" sz="1600" baseline="0" dirty="0" err="1">
                          <a:latin typeface="Arial" panose="020B0604020202020204" pitchFamily="34" charset="0"/>
                          <a:cs typeface="Arial" panose="020B0604020202020204" pitchFamily="34" charset="0"/>
                        </a:rPr>
                        <a:t>tại</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tổ</a:t>
                      </a:r>
                      <a:r>
                        <a:rPr lang="en-US" sz="1600" baseline="0" dirty="0">
                          <a:latin typeface="Arial" panose="020B0604020202020204" pitchFamily="34" charset="0"/>
                          <a:cs typeface="Arial" panose="020B0604020202020204" pitchFamily="34" charset="0"/>
                        </a:rPr>
                        <a:t> </a:t>
                      </a:r>
                      <a:r>
                        <a:rPr lang="en-US" sz="1600" baseline="0" dirty="0" err="1">
                          <a:latin typeface="Arial" panose="020B0604020202020204" pitchFamily="34" charset="0"/>
                          <a:cs typeface="Arial" panose="020B0604020202020204" pitchFamily="34" charset="0"/>
                        </a:rPr>
                        <a:t>chức</a:t>
                      </a:r>
                      <a:endParaRPr lang="en-US" sz="1600"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tc>
                  <a:txBody>
                    <a:bodyPr/>
                    <a:lstStyle/>
                    <a:p>
                      <a:pPr marL="91440" indent="0" algn="just" fontAlgn="ctr">
                        <a:buFontTx/>
                        <a:buNone/>
                      </a:pPr>
                      <a:endParaRPr lang="en-US" sz="1600" b="0" i="0" u="none" strike="noStrike" dirty="0">
                        <a:solidFill>
                          <a:schemeClr val="tx1"/>
                        </a:solidFill>
                        <a:effectLst/>
                        <a:latin typeface="Arial" panose="020B0604020202020204" pitchFamily="34" charset="0"/>
                      </a:endParaRPr>
                    </a:p>
                    <a:p>
                      <a:pPr marL="377190" indent="-285750" algn="just" fontAlgn="ctr">
                        <a:buFontTx/>
                        <a:buChar char="-"/>
                      </a:pPr>
                      <a:r>
                        <a:rPr lang="en-US" sz="1600" b="0" i="0" u="none" strike="noStrike" baseline="0" dirty="0">
                          <a:solidFill>
                            <a:schemeClr val="tx1"/>
                          </a:solidFill>
                          <a:effectLst/>
                          <a:latin typeface="Arial" panose="020B0604020202020204" pitchFamily="34" charset="0"/>
                        </a:rPr>
                        <a:t>BP. QTRR </a:t>
                      </a:r>
                      <a:r>
                        <a:rPr lang="en-US" sz="1600" b="0" i="0" u="none" strike="noStrike" baseline="0" dirty="0" err="1">
                          <a:solidFill>
                            <a:schemeClr val="tx1"/>
                          </a:solidFill>
                          <a:effectLst/>
                          <a:latin typeface="Arial" panose="020B0604020202020204" pitchFamily="34" charset="0"/>
                        </a:rPr>
                        <a:t>xây</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dựng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các</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báo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cáo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định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kỳ</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báo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cáo</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chuyên</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đề</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nhằm</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cung</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cấp</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thông</a:t>
                      </a:r>
                      <a:r>
                        <a:rPr lang="en-US" sz="1600" b="0" i="0" u="none" strike="noStrike" baseline="0" dirty="0">
                          <a:solidFill>
                            <a:schemeClr val="tx1"/>
                          </a:solidFill>
                          <a:effectLst/>
                          <a:latin typeface="Arial" panose="020B0604020202020204" pitchFamily="34" charset="0"/>
                        </a:rPr>
                        <a:t> tin </a:t>
                      </a:r>
                      <a:r>
                        <a:rPr lang="en-US" sz="1600" b="0" i="0" u="none" strike="noStrike" baseline="0" dirty="0" err="1">
                          <a:solidFill>
                            <a:schemeClr val="tx1"/>
                          </a:solidFill>
                          <a:effectLst/>
                          <a:latin typeface="Arial" panose="020B0604020202020204" pitchFamily="34" charset="0"/>
                        </a:rPr>
                        <a:t>cho</a:t>
                      </a:r>
                      <a:r>
                        <a:rPr lang="en-US" sz="1600" b="0" i="0" u="none" strike="noStrike" baseline="0" dirty="0">
                          <a:solidFill>
                            <a:schemeClr val="tx1"/>
                          </a:solidFill>
                          <a:effectLst/>
                          <a:latin typeface="Arial" panose="020B0604020202020204" pitchFamily="34" charset="0"/>
                        </a:rPr>
                        <a:t> BTGĐ </a:t>
                      </a:r>
                      <a:r>
                        <a:rPr lang="en-US" sz="1600" b="0" i="0" u="none" strike="noStrike" baseline="0" dirty="0" err="1">
                          <a:solidFill>
                            <a:schemeClr val="tx1"/>
                          </a:solidFill>
                          <a:effectLst/>
                          <a:latin typeface="Arial" panose="020B0604020202020204" pitchFamily="34" charset="0"/>
                        </a:rPr>
                        <a:t>về</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tình</a:t>
                      </a:r>
                      <a:r>
                        <a:rPr lang="en-US" sz="1600" b="0" i="0" u="none" strike="noStrike" baseline="0" dirty="0">
                          <a:solidFill>
                            <a:schemeClr val="tx1"/>
                          </a:solidFill>
                          <a:effectLst/>
                          <a:latin typeface="Arial" panose="020B0604020202020204" pitchFamily="34" charset="0"/>
                        </a:rPr>
                        <a:t> </a:t>
                      </a:r>
                      <a:r>
                        <a:rPr lang="en-US" sz="1600" b="0" i="0" u="none" strike="noStrike" baseline="0" dirty="0" err="1">
                          <a:solidFill>
                            <a:schemeClr val="tx1"/>
                          </a:solidFill>
                          <a:effectLst/>
                          <a:latin typeface="Arial" panose="020B0604020202020204" pitchFamily="34" charset="0"/>
                        </a:rPr>
                        <a:t>hình</a:t>
                      </a:r>
                      <a:r>
                        <a:rPr lang="en-US" sz="1600" b="0" i="0" u="none" strike="noStrike" baseline="0" dirty="0">
                          <a:solidFill>
                            <a:schemeClr val="tx1"/>
                          </a:solidFill>
                          <a:effectLst/>
                          <a:latin typeface="Arial" panose="020B0604020202020204" pitchFamily="34" charset="0"/>
                        </a:rPr>
                        <a:t> QTRR </a:t>
                      </a:r>
                      <a:r>
                        <a:rPr lang="en-US" sz="1600" b="0" i="0" u="none" strike="noStrike" baseline="0" dirty="0" err="1">
                          <a:solidFill>
                            <a:schemeClr val="tx1"/>
                          </a:solidFill>
                          <a:effectLst/>
                          <a:latin typeface="Arial" panose="020B0604020202020204" pitchFamily="34" charset="0"/>
                        </a:rPr>
                        <a:t>tại</a:t>
                      </a:r>
                      <a:r>
                        <a:rPr lang="en-US" sz="1600" b="0" i="0" u="none" strike="noStrike" baseline="0" dirty="0">
                          <a:solidFill>
                            <a:schemeClr val="tx1"/>
                          </a:solidFill>
                          <a:effectLst/>
                          <a:latin typeface="Arial" panose="020B0604020202020204" pitchFamily="34" charset="0"/>
                        </a:rPr>
                        <a:t> VDS</a:t>
                      </a:r>
                    </a:p>
                    <a:p>
                      <a:pPr marL="377190" indent="-285750" algn="just" fontAlgn="ctr">
                        <a:buFontTx/>
                        <a:buChar char="-"/>
                      </a:pPr>
                      <a:r>
                        <a:rPr lang="en-US" sz="1600" b="0" i="0" u="none" strike="noStrike" baseline="0" dirty="0" err="1">
                          <a:solidFill>
                            <a:srgbClr val="C00000"/>
                          </a:solidFill>
                          <a:effectLst/>
                          <a:latin typeface="Arial" panose="020B0604020202020204" pitchFamily="34" charset="0"/>
                        </a:rPr>
                        <a:t>Chưa</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có</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báo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cáo</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đánh</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giá</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về</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hiệu</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quả</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hoạt</a:t>
                      </a:r>
                      <a:r>
                        <a:rPr lang="en-US" sz="1600" b="0" i="0" u="none" strike="noStrike" baseline="0" dirty="0">
                          <a:solidFill>
                            <a:srgbClr val="C00000"/>
                          </a:solidFill>
                          <a:effectLst/>
                          <a:latin typeface="Arial" panose="020B0604020202020204" pitchFamily="34" charset="0"/>
                        </a:rPr>
                        <a:t> </a:t>
                      </a:r>
                      <a:r>
                        <a:rPr lang="en-US" sz="1600" b="0" i="0" u="none" strike="noStrike" baseline="0" dirty="0" err="1">
                          <a:solidFill>
                            <a:srgbClr val="C00000"/>
                          </a:solidFill>
                          <a:effectLst/>
                          <a:latin typeface="Arial" panose="020B0604020202020204" pitchFamily="34" charset="0"/>
                        </a:rPr>
                        <a:t>động</a:t>
                      </a:r>
                      <a:r>
                        <a:rPr lang="en-US" sz="1600" b="0" i="0" u="none" strike="noStrike" baseline="0" dirty="0">
                          <a:solidFill>
                            <a:srgbClr val="C00000"/>
                          </a:solidFill>
                          <a:effectLst/>
                          <a:latin typeface="Arial" panose="020B0604020202020204" pitchFamily="34" charset="0"/>
                        </a:rPr>
                        <a:t> QTRR</a:t>
                      </a:r>
                      <a:endParaRPr lang="en-US" sz="1600" b="1" i="0" u="none" strike="noStrike" baseline="0" dirty="0">
                        <a:solidFill>
                          <a:srgbClr val="C00000"/>
                        </a:solidFill>
                        <a:effectLst/>
                        <a:latin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614853363"/>
                  </a:ext>
                </a:extLst>
              </a:tr>
            </a:tbl>
          </a:graphicData>
        </a:graphic>
      </p:graphicFrame>
      <p:grpSp>
        <p:nvGrpSpPr>
          <p:cNvPr id="18" name="Group 17"/>
          <p:cNvGrpSpPr/>
          <p:nvPr/>
        </p:nvGrpSpPr>
        <p:grpSpPr>
          <a:xfrm>
            <a:off x="4770120" y="3406789"/>
            <a:ext cx="365760" cy="367059"/>
            <a:chOff x="333181" y="7831207"/>
            <a:chExt cx="365760" cy="367059"/>
          </a:xfrm>
        </p:grpSpPr>
        <p:sp>
          <p:nvSpPr>
            <p:cNvPr id="19" name="Oval 18"/>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0" name="Pie 19"/>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grpSp>
        <p:nvGrpSpPr>
          <p:cNvPr id="17" name="Group 16"/>
          <p:cNvGrpSpPr/>
          <p:nvPr/>
        </p:nvGrpSpPr>
        <p:grpSpPr>
          <a:xfrm>
            <a:off x="4770120" y="8555312"/>
            <a:ext cx="365760" cy="367059"/>
            <a:chOff x="333181" y="7831207"/>
            <a:chExt cx="365760" cy="367059"/>
          </a:xfrm>
        </p:grpSpPr>
        <p:sp>
          <p:nvSpPr>
            <p:cNvPr id="21" name="Oval 20"/>
            <p:cNvSpPr/>
            <p:nvPr/>
          </p:nvSpPr>
          <p:spPr>
            <a:xfrm>
              <a:off x="333181" y="7832506"/>
              <a:ext cx="365760" cy="365760"/>
            </a:xfrm>
            <a:prstGeom prst="ellipse">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2" name="Pie 21"/>
            <p:cNvSpPr/>
            <p:nvPr/>
          </p:nvSpPr>
          <p:spPr>
            <a:xfrm rot="10800000">
              <a:off x="333181" y="7831207"/>
              <a:ext cx="365760" cy="365760"/>
            </a:xfrm>
            <a:prstGeom prst="pie">
              <a:avLst>
                <a:gd name="adj1" fmla="val 0"/>
                <a:gd name="adj2" fmla="val 1074261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endParaRPr>
            </a:p>
          </p:txBody>
        </p:sp>
      </p:grpSp>
      <p:sp>
        <p:nvSpPr>
          <p:cNvPr id="23" name="Oval 22"/>
          <p:cNvSpPr/>
          <p:nvPr/>
        </p:nvSpPr>
        <p:spPr>
          <a:xfrm>
            <a:off x="4770120" y="5981700"/>
            <a:ext cx="365760" cy="365760"/>
          </a:xfrm>
          <a:prstGeom prst="ellipse">
            <a:avLst/>
          </a:prstGeom>
          <a:solidFill>
            <a:srgbClr val="00B050"/>
          </a:solidFill>
          <a:ln>
            <a:solidFill>
              <a:srgbClr val="182D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endParaRPr>
          </a:p>
        </p:txBody>
      </p:sp>
      <p:sp>
        <p:nvSpPr>
          <p:cNvPr id="24" name="Arc 23"/>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grpSp>
        <p:nvGrpSpPr>
          <p:cNvPr id="25" name="Group 2"/>
          <p:cNvGrpSpPr/>
          <p:nvPr/>
        </p:nvGrpSpPr>
        <p:grpSpPr>
          <a:xfrm>
            <a:off x="0" y="114299"/>
            <a:ext cx="9906000" cy="1097280"/>
            <a:chOff x="0" y="-2"/>
            <a:chExt cx="19479172" cy="1664815"/>
          </a:xfrm>
          <a:solidFill>
            <a:schemeClr val="bg1">
              <a:lumMod val="95000"/>
            </a:schemeClr>
          </a:solidFill>
        </p:grpSpPr>
        <p:sp>
          <p:nvSpPr>
            <p:cNvPr id="26" name="Freeform 3"/>
            <p:cNvSpPr/>
            <p:nvPr/>
          </p:nvSpPr>
          <p:spPr>
            <a:xfrm>
              <a:off x="0" y="-2"/>
              <a:ext cx="19479172" cy="1664815"/>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nchor="ctr"/>
            <a:lstStyle/>
            <a:p>
              <a:pPr marL="914400"/>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Đánh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giá</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hiện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trạng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marL="914400">
                <a:lnSpc>
                  <a:spcPts val="4320"/>
                </a:lnSpc>
              </a:pP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Khía</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cạnh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Thông</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tin,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Truyền</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thông</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&amp;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Báo</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cáo</a:t>
              </a:r>
              <a:endParaRPr lang="en-US" sz="2400" b="1" dirty="0">
                <a:solidFill>
                  <a:srgbClr val="000000"/>
                </a:solidFill>
                <a:latin typeface="Arial" panose="020B0604020202020204" pitchFamily="34" charset="0"/>
                <a:ea typeface="Futura Ultra-Bold"/>
                <a:cs typeface="Arial" panose="020B0604020202020204" pitchFamily="34" charset="0"/>
                <a:sym typeface="Futura Ultra-Bold"/>
              </a:endParaRPr>
            </a:p>
          </p:txBody>
        </p:sp>
      </p:grpSp>
      <p:grpSp>
        <p:nvGrpSpPr>
          <p:cNvPr id="27" name="Group 4"/>
          <p:cNvGrpSpPr/>
          <p:nvPr/>
        </p:nvGrpSpPr>
        <p:grpSpPr>
          <a:xfrm>
            <a:off x="0" y="114299"/>
            <a:ext cx="936307" cy="1097280"/>
            <a:chOff x="0" y="0"/>
            <a:chExt cx="1248410" cy="1554290"/>
          </a:xfrm>
        </p:grpSpPr>
        <p:sp>
          <p:nvSpPr>
            <p:cNvPr id="28"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Tree>
    <p:extLst>
      <p:ext uri="{BB962C8B-B14F-4D97-AF65-F5344CB8AC3E}">
        <p14:creationId xmlns:p14="http://schemas.microsoft.com/office/powerpoint/2010/main" val="3850960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
          <p:cNvGrpSpPr/>
          <p:nvPr/>
        </p:nvGrpSpPr>
        <p:grpSpPr>
          <a:xfrm>
            <a:off x="0" y="114300"/>
            <a:ext cx="10744200" cy="1024391"/>
            <a:chOff x="0" y="0"/>
            <a:chExt cx="17492870" cy="1554226"/>
          </a:xfrm>
          <a:solidFill>
            <a:schemeClr val="bg1">
              <a:lumMod val="95000"/>
            </a:schemeClr>
          </a:solidFill>
        </p:grpSpPr>
        <p:sp>
          <p:nvSpPr>
            <p:cNvPr id="31" name="Freeform 3"/>
            <p:cNvSpPr/>
            <p:nvPr/>
          </p:nvSpPr>
          <p:spPr>
            <a:xfrm>
              <a:off x="0" y="0"/>
              <a:ext cx="17492870" cy="1554226"/>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lstStyle/>
            <a:p>
              <a:endParaRPr lang="en-US"/>
            </a:p>
          </p:txBody>
        </p:sp>
      </p:grpSp>
      <p:grpSp>
        <p:nvGrpSpPr>
          <p:cNvPr id="32" name="Group 4"/>
          <p:cNvGrpSpPr/>
          <p:nvPr/>
        </p:nvGrpSpPr>
        <p:grpSpPr>
          <a:xfrm>
            <a:off x="0" y="114300"/>
            <a:ext cx="936307" cy="1024391"/>
            <a:chOff x="0" y="0"/>
            <a:chExt cx="1248410" cy="1554290"/>
          </a:xfrm>
        </p:grpSpPr>
        <p:sp>
          <p:nvSpPr>
            <p:cNvPr id="3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34" name="TextBox 34"/>
          <p:cNvSpPr txBox="1"/>
          <p:nvPr/>
        </p:nvSpPr>
        <p:spPr>
          <a:xfrm>
            <a:off x="1066800" y="164830"/>
            <a:ext cx="10614184" cy="923330"/>
          </a:xfrm>
          <a:prstGeom prst="rect">
            <a:avLst/>
          </a:prstGeom>
        </p:spPr>
        <p:txBody>
          <a:bodyPr wrap="square" lIns="0" tIns="0" rIns="0" bIns="0" rtlCol="0" anchor="t">
            <a:spAutoFit/>
          </a:bodyPr>
          <a:lstStyle/>
          <a:p>
            <a:pPr algn="l"/>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3. Kế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hoạch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triển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khai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QTRRDN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algn="l"/>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Kế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hoạch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chi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tiết</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(1/4)</a:t>
            </a:r>
          </a:p>
        </p:txBody>
      </p:sp>
      <p:graphicFrame>
        <p:nvGraphicFramePr>
          <p:cNvPr id="3" name="Table 2"/>
          <p:cNvGraphicFramePr>
            <a:graphicFrameLocks noGrp="1"/>
          </p:cNvGraphicFramePr>
          <p:nvPr/>
        </p:nvGraphicFramePr>
        <p:xfrm>
          <a:off x="76200" y="1257300"/>
          <a:ext cx="17983196" cy="8885772"/>
        </p:xfrm>
        <a:graphic>
          <a:graphicData uri="http://schemas.openxmlformats.org/drawingml/2006/table">
            <a:tbl>
              <a:tblPr firstRow="1" bandRow="1">
                <a:tableStyleId>{72833802-FEF1-4C79-8D5D-14CF1EAF98D9}</a:tableStyleId>
              </a:tblPr>
              <a:tblGrid>
                <a:gridCol w="685799">
                  <a:extLst>
                    <a:ext uri="{9D8B030D-6E8A-4147-A177-3AD203B41FA5}">
                      <a16:colId xmlns:a16="http://schemas.microsoft.com/office/drawing/2014/main" val="354232345"/>
                    </a:ext>
                  </a:extLst>
                </a:gridCol>
                <a:gridCol w="2971800">
                  <a:extLst>
                    <a:ext uri="{9D8B030D-6E8A-4147-A177-3AD203B41FA5}">
                      <a16:colId xmlns:a16="http://schemas.microsoft.com/office/drawing/2014/main" val="599980580"/>
                    </a:ext>
                  </a:extLst>
                </a:gridCol>
                <a:gridCol w="5105400">
                  <a:extLst>
                    <a:ext uri="{9D8B030D-6E8A-4147-A177-3AD203B41FA5}">
                      <a16:colId xmlns:a16="http://schemas.microsoft.com/office/drawing/2014/main" val="354563642"/>
                    </a:ext>
                  </a:extLst>
                </a:gridCol>
                <a:gridCol w="3352800">
                  <a:extLst>
                    <a:ext uri="{9D8B030D-6E8A-4147-A177-3AD203B41FA5}">
                      <a16:colId xmlns:a16="http://schemas.microsoft.com/office/drawing/2014/main" val="3226650757"/>
                    </a:ext>
                  </a:extLst>
                </a:gridCol>
                <a:gridCol w="2209800">
                  <a:extLst>
                    <a:ext uri="{9D8B030D-6E8A-4147-A177-3AD203B41FA5}">
                      <a16:colId xmlns:a16="http://schemas.microsoft.com/office/drawing/2014/main" val="1764408370"/>
                    </a:ext>
                  </a:extLst>
                </a:gridCol>
                <a:gridCol w="1828800">
                  <a:extLst>
                    <a:ext uri="{9D8B030D-6E8A-4147-A177-3AD203B41FA5}">
                      <a16:colId xmlns:a16="http://schemas.microsoft.com/office/drawing/2014/main" val="1725199942"/>
                    </a:ext>
                  </a:extLst>
                </a:gridCol>
                <a:gridCol w="1828797">
                  <a:extLst>
                    <a:ext uri="{9D8B030D-6E8A-4147-A177-3AD203B41FA5}">
                      <a16:colId xmlns:a16="http://schemas.microsoft.com/office/drawing/2014/main" val="4266279641"/>
                    </a:ext>
                  </a:extLst>
                </a:gridCol>
              </a:tblGrid>
              <a:tr h="1130077">
                <a:tc>
                  <a:txBody>
                    <a:bodyPr/>
                    <a:lstStyle/>
                    <a:p>
                      <a:pPr algn="ctr"/>
                      <a:r>
                        <a:rPr lang="en-US" sz="2400" dirty="0">
                          <a:latin typeface="Arial" panose="020B0604020202020204" pitchFamily="34" charset="0"/>
                          <a:cs typeface="Arial" panose="020B0604020202020204" pitchFamily="34" charset="0"/>
                        </a:rPr>
                        <a:t>STT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CÔNG</a:t>
                      </a:r>
                      <a:r>
                        <a:rPr lang="en-US" sz="2400" baseline="0" dirty="0">
                          <a:latin typeface="Arial" panose="020B0604020202020204" pitchFamily="34" charset="0"/>
                          <a:cs typeface="Arial" panose="020B0604020202020204" pitchFamily="34" charset="0"/>
                        </a:rPr>
                        <a:t> VIỆC/HÀNH ĐỘNG</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CHI TIẾT</a:t>
                      </a:r>
                      <a:r>
                        <a:rPr lang="en-US" sz="2400" baseline="0" dirty="0">
                          <a:latin typeface="Arial" panose="020B0604020202020204" pitchFamily="34" charset="0"/>
                          <a:cs typeface="Arial" panose="020B0604020202020204" pitchFamily="34" charset="0"/>
                        </a:rPr>
                        <a:t> CÔNG VIỆC</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SẢN PHẨM ĐẦU RA / </a:t>
                      </a:r>
                    </a:p>
                    <a:p>
                      <a:pPr algn="ctr"/>
                      <a:r>
                        <a:rPr lang="en-US" sz="2400" dirty="0">
                          <a:latin typeface="Arial" panose="020B0604020202020204" pitchFamily="34" charset="0"/>
                          <a:cs typeface="Arial" panose="020B0604020202020204" pitchFamily="34" charset="0"/>
                        </a:rPr>
                        <a:t>VĂN BẢN TRÌNH BTGĐ</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CHỦ TRÌ</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PHỐI</a:t>
                      </a:r>
                      <a:r>
                        <a:rPr lang="en-US" sz="2400" baseline="0" dirty="0">
                          <a:latin typeface="Arial" panose="020B0604020202020204" pitchFamily="34" charset="0"/>
                          <a:cs typeface="Arial" panose="020B0604020202020204" pitchFamily="34" charset="0"/>
                        </a:rPr>
                        <a:t> HỢP</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THỜI</a:t>
                      </a:r>
                      <a:r>
                        <a:rPr lang="en-US" sz="2400" baseline="0" dirty="0">
                          <a:latin typeface="Arial" panose="020B0604020202020204" pitchFamily="34" charset="0"/>
                          <a:cs typeface="Arial" panose="020B0604020202020204" pitchFamily="34" charset="0"/>
                        </a:rPr>
                        <a:t> GIAN</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extLst>
                  <a:ext uri="{0D108BD9-81ED-4DB2-BD59-A6C34878D82A}">
                    <a16:rowId xmlns:a16="http://schemas.microsoft.com/office/drawing/2014/main" val="459785028"/>
                  </a:ext>
                </a:extLst>
              </a:tr>
              <a:tr h="492598">
                <a:tc gridSpan="7">
                  <a:txBody>
                    <a:bodyPr/>
                    <a:lstStyle/>
                    <a:p>
                      <a:r>
                        <a:rPr lang="en-US" sz="2800" b="1" dirty="0">
                          <a:solidFill>
                            <a:srgbClr val="C00000"/>
                          </a:solidFill>
                          <a:latin typeface="Arial" panose="020B0604020202020204" pitchFamily="34" charset="0"/>
                          <a:cs typeface="Arial" panose="020B0604020202020204" pitchFamily="34" charset="0"/>
                        </a:rPr>
                        <a:t>      GIAI</a:t>
                      </a:r>
                      <a:r>
                        <a:rPr lang="en-US" sz="2800" b="1" baseline="0" dirty="0">
                          <a:solidFill>
                            <a:srgbClr val="C00000"/>
                          </a:solidFill>
                          <a:latin typeface="Arial" panose="020B0604020202020204" pitchFamily="34" charset="0"/>
                          <a:cs typeface="Arial" panose="020B0604020202020204" pitchFamily="34" charset="0"/>
                        </a:rPr>
                        <a:t> ĐOẠN A – XÂY DỰNG NỀN TẢNG CẤP TCT</a:t>
                      </a:r>
                      <a:endParaRPr lang="en-US" sz="28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sz="2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99000646"/>
                  </a:ext>
                </a:extLst>
              </a:tr>
              <a:tr h="1680627">
                <a:tc>
                  <a:txBody>
                    <a:bodyPr/>
                    <a:lstStyle/>
                    <a:p>
                      <a:pPr algn="ctr"/>
                      <a:r>
                        <a:rPr lang="en-US" sz="2200">
                          <a:latin typeface="Arial" panose="020B0604020202020204" pitchFamily="34" charset="0"/>
                          <a:cs typeface="Arial" panose="020B0604020202020204" pitchFamily="34" charset="0"/>
                        </a:rPr>
                        <a:t>1</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vi-VN" sz="2200" b="1">
                          <a:latin typeface="Arial" panose="020B0604020202020204" pitchFamily="34" charset="0"/>
                          <a:cs typeface="Arial" panose="020B0604020202020204" pitchFamily="34" charset="0"/>
                        </a:rPr>
                        <a:t>Xây dựng khẩu vị rủi ro (KVRR) cấp TCT</a:t>
                      </a:r>
                      <a:endParaRPr lang="en-US" sz="2200" b="1"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vi-VN" sz="2200" dirty="0">
                          <a:latin typeface="Arial" panose="020B0604020202020204" pitchFamily="34" charset="0"/>
                          <a:cs typeface="Arial" panose="020B0604020202020204" pitchFamily="34" charset="0"/>
                        </a:rPr>
                        <a:t>Xây dựng  KVRR cấp TCT gắn với chiến lược và mục tiêu kinh doanh</a:t>
                      </a:r>
                      <a:r>
                        <a:rPr lang="en-US" sz="2200" dirty="0">
                          <a:latin typeface="Arial" panose="020B0604020202020204" pitchFamily="34" charset="0"/>
                          <a:cs typeface="Arial" panose="020B0604020202020204" pitchFamily="34" charset="0"/>
                        </a:rPr>
                        <a:t>.</a:t>
                      </a:r>
                    </a:p>
                    <a:p>
                      <a:pPr marL="342900" indent="-342900" algn="just">
                        <a:buFontTx/>
                        <a:buChar char="-"/>
                      </a:pPr>
                      <a:r>
                        <a:rPr lang="en-US" sz="2200" dirty="0">
                          <a:latin typeface="Arial" panose="020B0604020202020204" pitchFamily="34" charset="0"/>
                          <a:cs typeface="Arial" panose="020B0604020202020204" pitchFamily="34" charset="0"/>
                        </a:rPr>
                        <a:t>Xây</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dựng</a:t>
                      </a:r>
                      <a:r>
                        <a:rPr lang="en-US" sz="2200" baseline="0" dirty="0">
                          <a:latin typeface="Arial" panose="020B0604020202020204" pitchFamily="34" charset="0"/>
                          <a:cs typeface="Arial" panose="020B0604020202020204" pitchFamily="34" charset="0"/>
                        </a:rPr>
                        <a:t> </a:t>
                      </a:r>
                      <a:r>
                        <a:rPr lang="vi-VN" sz="2200" dirty="0">
                          <a:latin typeface="Arial" panose="020B0604020202020204" pitchFamily="34" charset="0"/>
                          <a:cs typeface="Arial" panose="020B0604020202020204" pitchFamily="34" charset="0"/>
                        </a:rPr>
                        <a:t>KVRR ở mức nền tảng</a:t>
                      </a:r>
                      <a:r>
                        <a:rPr lang="en-US" sz="2200" baseline="0" dirty="0">
                          <a:latin typeface="Arial" panose="020B0604020202020204" pitchFamily="34" charset="0"/>
                          <a:cs typeface="Arial" panose="020B0604020202020204" pitchFamily="34" charset="0"/>
                        </a:rPr>
                        <a:t> </a:t>
                      </a:r>
                      <a:r>
                        <a:rPr lang="vi-VN" sz="2200" dirty="0">
                          <a:latin typeface="Arial" panose="020B0604020202020204" pitchFamily="34" charset="0"/>
                          <a:cs typeface="Arial" panose="020B0604020202020204" pitchFamily="34" charset="0"/>
                        </a:rPr>
                        <a:t>và chưa bao gồm toàn bộ rủi ro đối với TC</a:t>
                      </a:r>
                      <a:r>
                        <a:rPr lang="en-US" sz="2200" dirty="0">
                          <a:latin typeface="Arial" panose="020B0604020202020204" pitchFamily="34" charset="0"/>
                          <a:cs typeface="Arial" panose="020B0604020202020204" pitchFamily="34" charset="0"/>
                        </a:rPr>
                        <a:t>T</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trong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giai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đoạn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này</a:t>
                      </a:r>
                      <a:r>
                        <a:rPr lang="en-US" sz="2200" baseline="0" dirty="0">
                          <a:latin typeface="Arial" panose="020B0604020202020204" pitchFamily="34" charset="0"/>
                          <a:cs typeface="Arial" panose="020B0604020202020204" pitchFamily="34" charset="0"/>
                        </a:rPr>
                        <a: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en-US" sz="2200" b="1">
                          <a:solidFill>
                            <a:schemeClr val="tx1"/>
                          </a:solidFill>
                          <a:latin typeface="Arial" panose="020B0604020202020204" pitchFamily="34" charset="0"/>
                          <a:cs typeface="Arial" panose="020B0604020202020204" pitchFamily="34" charset="0"/>
                        </a:rPr>
                        <a:t>- Tuyên bố KVRR cấp TCT</a:t>
                      </a:r>
                    </a:p>
                    <a:p>
                      <a:pPr algn="just"/>
                      <a:r>
                        <a:rPr lang="en-US" sz="2200" b="1">
                          <a:solidFill>
                            <a:schemeClr val="tx1"/>
                          </a:solidFill>
                          <a:latin typeface="Arial" panose="020B0604020202020204" pitchFamily="34" charset="0"/>
                          <a:cs typeface="Arial" panose="020B0604020202020204" pitchFamily="34" charset="0"/>
                        </a:rPr>
                        <a:t>- Quy định ban hành KVRR</a:t>
                      </a:r>
                      <a:endParaRPr lang="en-US" sz="2200" b="1"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a:buFontTx/>
                        <a:buNone/>
                      </a:pPr>
                      <a:r>
                        <a:rPr lang="en-US" sz="2200">
                          <a:latin typeface="Arial" panose="020B0604020202020204" pitchFamily="34" charset="0"/>
                          <a:cs typeface="Arial" panose="020B0604020202020204" pitchFamily="34" charset="0"/>
                        </a:rPr>
                        <a:t>P.</a:t>
                      </a:r>
                      <a:r>
                        <a:rPr lang="en-US" sz="2200" baseline="0">
                          <a:latin typeface="Arial" panose="020B0604020202020204" pitchFamily="34" charset="0"/>
                          <a:cs typeface="Arial" panose="020B0604020202020204" pitchFamily="34" charset="0"/>
                        </a:rPr>
                        <a:t> QTRR</a:t>
                      </a:r>
                      <a:endParaRPr lang="en-US" sz="220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a:latin typeface="Arial" panose="020B0604020202020204" pitchFamily="34" charset="0"/>
                          <a:cs typeface="Arial" panose="020B0604020202020204" pitchFamily="34" charset="0"/>
                        </a:rPr>
                        <a:t>Ban TGĐ</a:t>
                      </a:r>
                    </a:p>
                    <a:p>
                      <a:pPr marL="342900" indent="-342900" algn="just">
                        <a:buFontTx/>
                        <a:buChar char="-"/>
                      </a:pPr>
                      <a:r>
                        <a:rPr lang="en-US" sz="2200">
                          <a:latin typeface="Arial" panose="020B0604020202020204" pitchFamily="34" charset="0"/>
                          <a:cs typeface="Arial" panose="020B0604020202020204" pitchFamily="34" charset="0"/>
                        </a:rPr>
                        <a:t>P. Chiến</a:t>
                      </a:r>
                      <a:r>
                        <a:rPr lang="en-US" sz="2200" baseline="0">
                          <a:latin typeface="Arial" panose="020B0604020202020204" pitchFamily="34" charset="0"/>
                          <a:cs typeface="Arial" panose="020B0604020202020204" pitchFamily="34" charset="0"/>
                        </a:rPr>
                        <a:t> lược</a:t>
                      </a:r>
                      <a:endParaRPr lang="en-US" sz="220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Arial" panose="020B0604020202020204" pitchFamily="34" charset="0"/>
                          <a:cs typeface="Arial" panose="020B0604020202020204" pitchFamily="34" charset="0"/>
                        </a:rPr>
                        <a:t>T1</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2254545400"/>
                  </a:ext>
                </a:extLst>
              </a:tr>
              <a:tr h="1999366">
                <a:tc>
                  <a:txBody>
                    <a:bodyPr/>
                    <a:lstStyle/>
                    <a:p>
                      <a:pPr algn="ctr"/>
                      <a:r>
                        <a:rPr lang="en-US" sz="2200">
                          <a:latin typeface="Arial" panose="020B0604020202020204" pitchFamily="34" charset="0"/>
                          <a:cs typeface="Arial" panose="020B0604020202020204" pitchFamily="34" charset="0"/>
                        </a:rPr>
                        <a:t>2</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just" defTabSz="914400" rtl="0" eaLnBrk="1" latinLnBrk="0" hangingPunct="1">
                        <a:buFontTx/>
                        <a:buNone/>
                      </a:pPr>
                      <a:r>
                        <a:rPr lang="vi-VN" sz="2200" b="1" kern="1200">
                          <a:solidFill>
                            <a:schemeClr val="tx1"/>
                          </a:solidFill>
                          <a:latin typeface="Arial" panose="020B0604020202020204" pitchFamily="34" charset="0"/>
                          <a:ea typeface="+mn-ea"/>
                          <a:cs typeface="Arial" panose="020B0604020202020204" pitchFamily="34" charset="0"/>
                        </a:rPr>
                        <a:t>Xây dựng thước đo rủi ro chung toàn TCT</a:t>
                      </a:r>
                      <a:endParaRPr lang="en-US" sz="2200" b="1" kern="120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vi-VN" sz="2200" kern="1200">
                          <a:solidFill>
                            <a:schemeClr val="tx1"/>
                          </a:solidFill>
                          <a:latin typeface="Arial" panose="020B0604020202020204" pitchFamily="34" charset="0"/>
                          <a:ea typeface="+mn-ea"/>
                          <a:cs typeface="Arial" panose="020B0604020202020204" pitchFamily="34" charset="0"/>
                        </a:rPr>
                        <a:t>Xây dựng thước đo rủi ro, bản đồ nhiệt và nguyên tắc xử lý rủi ro theo mức độ trọng yếu của rủi ro.</a:t>
                      </a:r>
                    </a:p>
                    <a:p>
                      <a:pPr marL="342900" indent="-342900" algn="just" defTabSz="914400" rtl="0" eaLnBrk="1" latinLnBrk="0" hangingPunct="1">
                        <a:buFontTx/>
                        <a:buChar char="-"/>
                      </a:pPr>
                      <a:r>
                        <a:rPr lang="vi-VN" sz="2200" kern="1200">
                          <a:solidFill>
                            <a:schemeClr val="tx1"/>
                          </a:solidFill>
                          <a:latin typeface="Arial" panose="020B0604020202020204" pitchFamily="34" charset="0"/>
                          <a:ea typeface="+mn-ea"/>
                          <a:cs typeface="Arial" panose="020B0604020202020204" pitchFamily="34" charset="0"/>
                        </a:rPr>
                        <a:t>Thước đo rủi ro được thiết kế theo nhiều khía cạnh</a:t>
                      </a:r>
                      <a:r>
                        <a:rPr lang="en-US" sz="2200" kern="1200" baseline="0">
                          <a:solidFill>
                            <a:schemeClr val="tx1"/>
                          </a:solidFill>
                          <a:latin typeface="Arial" panose="020B0604020202020204" pitchFamily="34" charset="0"/>
                          <a:ea typeface="+mn-ea"/>
                          <a:cs typeface="Arial" panose="020B0604020202020204" pitchFamily="34" charset="0"/>
                        </a:rPr>
                        <a:t> </a:t>
                      </a:r>
                      <a:r>
                        <a:rPr lang="vi-VN" sz="2200" kern="1200">
                          <a:solidFill>
                            <a:schemeClr val="tx1"/>
                          </a:solidFill>
                          <a:latin typeface="Arial" panose="020B0604020202020204" pitchFamily="34" charset="0"/>
                          <a:ea typeface="+mn-ea"/>
                          <a:cs typeface="Arial" panose="020B0604020202020204" pitchFamily="34" charset="0"/>
                        </a:rPr>
                        <a:t>và có thể hiệu chỉnh theo </a:t>
                      </a:r>
                      <a:r>
                        <a:rPr lang="en-US" sz="2200" kern="1200">
                          <a:solidFill>
                            <a:schemeClr val="tx1"/>
                          </a:solidFill>
                          <a:latin typeface="Arial" panose="020B0604020202020204" pitchFamily="34" charset="0"/>
                          <a:ea typeface="+mn-ea"/>
                          <a:cs typeface="Arial" panose="020B0604020202020204" pitchFamily="34" charset="0"/>
                        </a:rPr>
                        <a:t>yêu</a:t>
                      </a:r>
                      <a:r>
                        <a:rPr lang="en-US" sz="2200" kern="1200" baseline="0">
                          <a:solidFill>
                            <a:schemeClr val="tx1"/>
                          </a:solidFill>
                          <a:latin typeface="Arial" panose="020B0604020202020204" pitchFamily="34" charset="0"/>
                          <a:ea typeface="+mn-ea"/>
                          <a:cs typeface="Arial" panose="020B0604020202020204" pitchFamily="34" charset="0"/>
                        </a:rPr>
                        <a:t> cầu nghiệp vụ.</a:t>
                      </a:r>
                      <a:endParaRPr lang="en-US" sz="22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b="1" kern="1200" dirty="0">
                          <a:solidFill>
                            <a:schemeClr val="tx1"/>
                          </a:solidFill>
                          <a:latin typeface="Arial" panose="020B0604020202020204" pitchFamily="34" charset="0"/>
                          <a:ea typeface="+mn-ea"/>
                          <a:cs typeface="Arial" panose="020B0604020202020204" pitchFamily="34" charset="0"/>
                        </a:rPr>
                        <a:t>Kế </a:t>
                      </a:r>
                      <a:r>
                        <a:rPr lang="en-US" sz="2200" b="1" kern="1200" dirty="0" err="1">
                          <a:solidFill>
                            <a:schemeClr val="tx1"/>
                          </a:solidFill>
                          <a:latin typeface="Arial" panose="020B0604020202020204" pitchFamily="34" charset="0"/>
                          <a:ea typeface="+mn-ea"/>
                          <a:cs typeface="Arial" panose="020B0604020202020204" pitchFamily="34" charset="0"/>
                        </a:rPr>
                        <a:t>hoạch</a:t>
                      </a:r>
                      <a:r>
                        <a:rPr lang="en-US" sz="2200" b="1" kern="1200" dirty="0">
                          <a:solidFill>
                            <a:schemeClr val="tx1"/>
                          </a:solidFill>
                          <a:latin typeface="Arial" panose="020B0604020202020204" pitchFamily="34" charset="0"/>
                          <a:ea typeface="+mn-ea"/>
                          <a:cs typeface="Arial" panose="020B0604020202020204" pitchFamily="34" charset="0"/>
                        </a:rPr>
                        <a:t>/</a:t>
                      </a:r>
                      <a:r>
                        <a:rPr lang="en-US" sz="2200" b="1" kern="1200" dirty="0" err="1">
                          <a:solidFill>
                            <a:schemeClr val="tx1"/>
                          </a:solidFill>
                          <a:latin typeface="Arial" panose="020B0604020202020204" pitchFamily="34" charset="0"/>
                          <a:ea typeface="+mn-ea"/>
                          <a:cs typeface="Arial" panose="020B0604020202020204" pitchFamily="34" charset="0"/>
                        </a:rPr>
                        <a:t>Chỉ</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thị</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triển</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khai</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dự</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án</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được</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phê</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duyệt</a:t>
                      </a:r>
                      <a:endParaRPr lang="en-US" sz="2200" b="1"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200" kern="1200">
                          <a:solidFill>
                            <a:schemeClr val="tx1"/>
                          </a:solidFill>
                          <a:latin typeface="Arial" panose="020B0604020202020204" pitchFamily="34" charset="0"/>
                          <a:ea typeface="+mn-ea"/>
                          <a:cs typeface="Arial" panose="020B0604020202020204" pitchFamily="34" charset="0"/>
                        </a:rPr>
                        <a:t>P.</a:t>
                      </a:r>
                      <a:r>
                        <a:rPr lang="en-US" sz="2200" kern="1200" baseline="0">
                          <a:solidFill>
                            <a:schemeClr val="tx1"/>
                          </a:solidFill>
                          <a:latin typeface="Arial" panose="020B0604020202020204" pitchFamily="34" charset="0"/>
                          <a:ea typeface="+mn-ea"/>
                          <a:cs typeface="Arial" panose="020B0604020202020204" pitchFamily="34" charset="0"/>
                        </a:rPr>
                        <a:t> QTRR</a:t>
                      </a:r>
                      <a:endParaRPr lang="en-US" sz="2200" kern="1200">
                        <a:solidFill>
                          <a:schemeClr val="tx1"/>
                        </a:solidFill>
                        <a:latin typeface="Arial" panose="020B0604020202020204" pitchFamily="34" charset="0"/>
                        <a:ea typeface="+mn-ea"/>
                        <a:cs typeface="Arial" panose="020B0604020202020204" pitchFamily="34" charset="0"/>
                      </a:endParaRPr>
                    </a:p>
                    <a:p>
                      <a:pPr marL="342900" indent="-342900" algn="ctr" defTabSz="914400" rtl="0" eaLnBrk="1" latinLnBrk="0" hangingPunct="1">
                        <a:buFontTx/>
                        <a:buChar char="-"/>
                      </a:pPr>
                      <a:endParaRPr lang="en-US" sz="2200" kern="120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kern="1200">
                          <a:solidFill>
                            <a:schemeClr val="tx1"/>
                          </a:solidFill>
                          <a:latin typeface="Arial" panose="020B0604020202020204" pitchFamily="34" charset="0"/>
                          <a:ea typeface="+mn-ea"/>
                          <a:cs typeface="Arial" panose="020B0604020202020204" pitchFamily="34" charset="0"/>
                        </a:rPr>
                        <a:t>Các</a:t>
                      </a:r>
                      <a:r>
                        <a:rPr lang="en-US" sz="2200" kern="1200" baseline="0">
                          <a:solidFill>
                            <a:schemeClr val="tx1"/>
                          </a:solidFill>
                          <a:latin typeface="Arial" panose="020B0604020202020204" pitchFamily="34" charset="0"/>
                          <a:ea typeface="+mn-ea"/>
                          <a:cs typeface="Arial" panose="020B0604020202020204" pitchFamily="34" charset="0"/>
                        </a:rPr>
                        <a:t> đơn vị liên quan</a:t>
                      </a:r>
                      <a:endParaRPr lang="en-US" sz="2200" kern="120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defTabSz="914400" rtl="0" eaLnBrk="1" latinLnBrk="0" hangingPunct="1">
                        <a:buFontTx/>
                        <a:buNone/>
                      </a:pPr>
                      <a:r>
                        <a:rPr lang="en-US" sz="2200" b="1" kern="1200">
                          <a:solidFill>
                            <a:srgbClr val="C00000"/>
                          </a:solidFill>
                          <a:latin typeface="Arial" panose="020B0604020202020204" pitchFamily="34" charset="0"/>
                          <a:ea typeface="+mn-ea"/>
                          <a:cs typeface="Arial" panose="020B0604020202020204" pitchFamily="34" charset="0"/>
                        </a:rPr>
                        <a:t>T1</a:t>
                      </a:r>
                      <a:endParaRPr lang="en-US" sz="2200" b="1" kern="1200" dirty="0">
                        <a:solidFill>
                          <a:srgbClr val="C00000"/>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891769588"/>
                  </a:ext>
                </a:extLst>
              </a:tr>
              <a:tr h="1653966">
                <a:tc>
                  <a:txBody>
                    <a:bodyPr/>
                    <a:lstStyle/>
                    <a:p>
                      <a:pPr algn="ctr"/>
                      <a:r>
                        <a:rPr lang="en-US" sz="2200">
                          <a:latin typeface="Arial" panose="020B0604020202020204" pitchFamily="34" charset="0"/>
                          <a:cs typeface="Arial" panose="020B0604020202020204" pitchFamily="34" charset="0"/>
                        </a:rPr>
                        <a:t>3</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just" defTabSz="914400" rtl="0" eaLnBrk="1" latinLnBrk="0" hangingPunct="1">
                        <a:buFontTx/>
                        <a:buNone/>
                      </a:pPr>
                      <a:r>
                        <a:rPr lang="en-US" sz="2200" b="1" kern="1200">
                          <a:solidFill>
                            <a:schemeClr val="tx1"/>
                          </a:solidFill>
                          <a:latin typeface="Arial" panose="020B0604020202020204" pitchFamily="34" charset="0"/>
                          <a:ea typeface="+mn-ea"/>
                          <a:cs typeface="Arial" panose="020B0604020202020204" pitchFamily="34" charset="0"/>
                        </a:rPr>
                        <a:t>Ban hành quy chế khung QTRR cấp TCT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vi-VN" sz="2200" kern="1200">
                          <a:solidFill>
                            <a:schemeClr val="tx1"/>
                          </a:solidFill>
                          <a:latin typeface="Arial" panose="020B0604020202020204" pitchFamily="34" charset="0"/>
                          <a:ea typeface="+mn-ea"/>
                          <a:cs typeface="Arial" panose="020B0604020202020204" pitchFamily="34" charset="0"/>
                        </a:rPr>
                        <a:t>Xây dựng quy chế khung QTRR cấp TCT, bao gồm nguyên tắc QTRR, mô hình tổ chức QTRR, cơ chế truyền thông, báo cáo</a:t>
                      </a:r>
                      <a:endParaRPr lang="en-US" sz="22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b="1" kern="1200">
                          <a:solidFill>
                            <a:schemeClr val="tx1"/>
                          </a:solidFill>
                          <a:latin typeface="Arial" panose="020B0604020202020204" pitchFamily="34" charset="0"/>
                          <a:ea typeface="+mn-ea"/>
                          <a:cs typeface="Arial" panose="020B0604020202020204" pitchFamily="34" charset="0"/>
                        </a:rPr>
                        <a:t>Quy chế khung QTRR cấp TCT</a:t>
                      </a:r>
                      <a:endParaRPr lang="en-US" sz="2200" b="1"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defTabSz="914400" rtl="0" eaLnBrk="1" latinLnBrk="0" hangingPunct="1">
                        <a:buFontTx/>
                        <a:buNone/>
                      </a:pPr>
                      <a:r>
                        <a:rPr lang="en-US" sz="2200" kern="1200">
                          <a:solidFill>
                            <a:schemeClr val="tx1"/>
                          </a:solidFill>
                          <a:latin typeface="Arial" panose="020B0604020202020204" pitchFamily="34" charset="0"/>
                          <a:ea typeface="+mn-ea"/>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kern="1200">
                          <a:solidFill>
                            <a:schemeClr val="tx1"/>
                          </a:solidFill>
                          <a:latin typeface="Arial" panose="020B0604020202020204" pitchFamily="34" charset="0"/>
                          <a:ea typeface="+mn-ea"/>
                          <a:cs typeface="Arial" panose="020B0604020202020204" pitchFamily="34" charset="0"/>
                        </a:rPr>
                        <a:t>Ban TGĐ</a:t>
                      </a:r>
                    </a:p>
                    <a:p>
                      <a:pPr marL="342900" indent="-342900" algn="just" defTabSz="914400" rtl="0" eaLnBrk="1" latinLnBrk="0" hangingPunct="1">
                        <a:buFontTx/>
                        <a:buChar char="-"/>
                      </a:pPr>
                      <a:r>
                        <a:rPr lang="en-US" sz="2200" kern="1200">
                          <a:solidFill>
                            <a:schemeClr val="tx1"/>
                          </a:solidFill>
                          <a:latin typeface="Arial" panose="020B0604020202020204" pitchFamily="34" charset="0"/>
                          <a:ea typeface="+mn-ea"/>
                          <a:cs typeface="Arial" panose="020B0604020202020204" pitchFamily="34" charset="0"/>
                        </a:rPr>
                        <a:t>P.</a:t>
                      </a:r>
                      <a:r>
                        <a:rPr lang="en-US" sz="2200" kern="1200" baseline="0">
                          <a:solidFill>
                            <a:schemeClr val="tx1"/>
                          </a:solidFill>
                          <a:latin typeface="Arial" panose="020B0604020202020204" pitchFamily="34" charset="0"/>
                          <a:ea typeface="+mn-ea"/>
                          <a:cs typeface="Arial" panose="020B0604020202020204" pitchFamily="34" charset="0"/>
                        </a:rPr>
                        <a:t> Pháp chế</a:t>
                      </a:r>
                      <a:endParaRPr lang="en-US" sz="2200" kern="120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defTabSz="914400" rtl="0" eaLnBrk="1" latinLnBrk="0" hangingPunct="1">
                        <a:buFontTx/>
                        <a:buNone/>
                      </a:pPr>
                      <a:r>
                        <a:rPr lang="en-US" sz="2200" b="1" kern="1200">
                          <a:solidFill>
                            <a:srgbClr val="C00000"/>
                          </a:solidFill>
                          <a:latin typeface="Arial" panose="020B0604020202020204" pitchFamily="34" charset="0"/>
                          <a:ea typeface="+mn-ea"/>
                          <a:cs typeface="Arial" panose="020B0604020202020204" pitchFamily="34" charset="0"/>
                        </a:rPr>
                        <a:t>T2</a:t>
                      </a:r>
                      <a:endParaRPr lang="en-US" sz="2200" b="1" kern="1200" dirty="0">
                        <a:solidFill>
                          <a:srgbClr val="C00000"/>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809067697"/>
                  </a:ext>
                </a:extLst>
              </a:tr>
              <a:tr h="1653966">
                <a:tc>
                  <a:txBody>
                    <a:bodyPr/>
                    <a:lstStyle/>
                    <a:p>
                      <a:pPr algn="ctr"/>
                      <a:r>
                        <a:rPr lang="en-US" sz="2200">
                          <a:latin typeface="Arial" panose="020B0604020202020204" pitchFamily="34" charset="0"/>
                          <a:cs typeface="Arial" panose="020B0604020202020204" pitchFamily="34" charset="0"/>
                        </a:rPr>
                        <a:t>4</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just" defTabSz="914400" rtl="0" eaLnBrk="1" latinLnBrk="0" hangingPunct="1">
                        <a:buFontTx/>
                        <a:buNone/>
                      </a:pPr>
                      <a:r>
                        <a:rPr lang="vi-VN" sz="2200" b="1" kern="1200">
                          <a:solidFill>
                            <a:schemeClr val="tx1"/>
                          </a:solidFill>
                          <a:latin typeface="Arial" panose="020B0604020202020204" pitchFamily="34" charset="0"/>
                          <a:ea typeface="+mn-ea"/>
                          <a:cs typeface="Arial" panose="020B0604020202020204" pitchFamily="34" charset="0"/>
                        </a:rPr>
                        <a:t>Xác định một số rủi ro trọng yếu định hướng cấp TCT</a:t>
                      </a:r>
                      <a:endParaRPr lang="en-US" sz="2200" b="1" kern="120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vi-VN" sz="2200" kern="1200" dirty="0">
                          <a:solidFill>
                            <a:schemeClr val="tx1"/>
                          </a:solidFill>
                          <a:latin typeface="Arial" panose="020B0604020202020204" pitchFamily="34" charset="0"/>
                          <a:ea typeface="+mn-ea"/>
                          <a:cs typeface="Arial" panose="020B0604020202020204" pitchFamily="34" charset="0"/>
                        </a:rPr>
                        <a:t>Ban TGĐ nhận diện một số rủi ro trọng yếu mang tính định hướng ở cấp TCT làm </a:t>
                      </a:r>
                      <a:r>
                        <a:rPr lang="en-US" sz="2200" kern="1200" dirty="0" err="1">
                          <a:solidFill>
                            <a:schemeClr val="tx1"/>
                          </a:solidFill>
                          <a:latin typeface="Arial" panose="020B0604020202020204" pitchFamily="34" charset="0"/>
                          <a:ea typeface="+mn-ea"/>
                          <a:cs typeface="Arial" panose="020B0604020202020204" pitchFamily="34" charset="0"/>
                        </a:rPr>
                        <a:t>cơ</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sở</a:t>
                      </a:r>
                      <a:r>
                        <a:rPr lang="vi-VN" sz="2200" kern="1200" dirty="0">
                          <a:solidFill>
                            <a:schemeClr val="tx1"/>
                          </a:solidFill>
                          <a:latin typeface="Arial" panose="020B0604020202020204" pitchFamily="34" charset="0"/>
                          <a:ea typeface="+mn-ea"/>
                          <a:cs typeface="Arial" panose="020B0604020202020204" pitchFamily="34" charset="0"/>
                        </a:rPr>
                        <a:t> tham chiếu cho các đơn vị</a:t>
                      </a:r>
                      <a:endParaRPr lang="en-US" sz="2200"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b="1" kern="1200">
                          <a:solidFill>
                            <a:schemeClr val="tx1"/>
                          </a:solidFill>
                          <a:latin typeface="Arial" panose="020B0604020202020204" pitchFamily="34" charset="0"/>
                          <a:ea typeface="+mn-ea"/>
                          <a:cs typeface="Arial" panose="020B0604020202020204" pitchFamily="34" charset="0"/>
                        </a:rPr>
                        <a:t>Danh mục</a:t>
                      </a:r>
                      <a:r>
                        <a:rPr lang="en-US" sz="2200" b="1" kern="1200" baseline="0">
                          <a:solidFill>
                            <a:schemeClr val="tx1"/>
                          </a:solidFill>
                          <a:latin typeface="Arial" panose="020B0604020202020204" pitchFamily="34" charset="0"/>
                          <a:ea typeface="+mn-ea"/>
                          <a:cs typeface="Arial" panose="020B0604020202020204" pitchFamily="34" charset="0"/>
                        </a:rPr>
                        <a:t> rủi ro trọng yếu cấp TCT</a:t>
                      </a:r>
                      <a:endParaRPr lang="en-US" sz="2200" b="1"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defTabSz="914400" rtl="0" eaLnBrk="1" latinLnBrk="0" hangingPunct="1">
                        <a:buFontTx/>
                        <a:buNone/>
                      </a:pPr>
                      <a:r>
                        <a:rPr lang="en-US" sz="2200" kern="1200">
                          <a:solidFill>
                            <a:schemeClr val="tx1"/>
                          </a:solidFill>
                          <a:latin typeface="Arial" panose="020B0604020202020204" pitchFamily="34" charset="0"/>
                          <a:ea typeface="+mn-ea"/>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kern="1200">
                          <a:solidFill>
                            <a:schemeClr val="tx1"/>
                          </a:solidFill>
                          <a:latin typeface="Arial" panose="020B0604020202020204" pitchFamily="34" charset="0"/>
                          <a:ea typeface="+mn-ea"/>
                          <a:cs typeface="Arial" panose="020B0604020202020204" pitchFamily="34" charset="0"/>
                        </a:rPr>
                        <a:t>Các</a:t>
                      </a:r>
                      <a:r>
                        <a:rPr lang="en-US" sz="2200" kern="1200" baseline="0">
                          <a:solidFill>
                            <a:schemeClr val="tx1"/>
                          </a:solidFill>
                          <a:latin typeface="Arial" panose="020B0604020202020204" pitchFamily="34" charset="0"/>
                          <a:ea typeface="+mn-ea"/>
                          <a:cs typeface="Arial" panose="020B0604020202020204" pitchFamily="34" charset="0"/>
                        </a:rPr>
                        <a:t> đơn vị liên quan</a:t>
                      </a:r>
                      <a:endParaRPr lang="en-US" sz="2200" kern="120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defTabSz="914400" rtl="0" eaLnBrk="1" latinLnBrk="0" hangingPunct="1">
                        <a:buFontTx/>
                        <a:buNone/>
                      </a:pPr>
                      <a:r>
                        <a:rPr lang="en-US" sz="2200" b="1" kern="1200">
                          <a:solidFill>
                            <a:srgbClr val="C00000"/>
                          </a:solidFill>
                          <a:latin typeface="Arial" panose="020B0604020202020204" pitchFamily="34" charset="0"/>
                          <a:ea typeface="+mn-ea"/>
                          <a:cs typeface="Arial" panose="020B0604020202020204" pitchFamily="34" charset="0"/>
                        </a:rPr>
                        <a:t>T2</a:t>
                      </a:r>
                      <a:endParaRPr lang="en-US" sz="2200" b="1" kern="1200" dirty="0">
                        <a:solidFill>
                          <a:srgbClr val="C00000"/>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454022747"/>
                  </a:ext>
                </a:extLst>
              </a:tr>
            </a:tbl>
          </a:graphicData>
        </a:graphic>
      </p:graphicFrame>
      <p:grpSp>
        <p:nvGrpSpPr>
          <p:cNvPr id="8" name="Group 97"/>
          <p:cNvGrpSpPr>
            <a:grpSpLocks noChangeAspect="1"/>
          </p:cNvGrpSpPr>
          <p:nvPr/>
        </p:nvGrpSpPr>
        <p:grpSpPr bwMode="auto">
          <a:xfrm>
            <a:off x="84243" y="2476500"/>
            <a:ext cx="479107" cy="479107"/>
            <a:chOff x="4846" y="2047"/>
            <a:chExt cx="227" cy="226"/>
          </a:xfrm>
          <a:solidFill>
            <a:srgbClr val="EE0033"/>
          </a:solidFill>
        </p:grpSpPr>
        <p:sp>
          <p:nvSpPr>
            <p:cNvPr id="9" name="Freeform 98"/>
            <p:cNvSpPr>
              <a:spLocks/>
            </p:cNvSpPr>
            <p:nvPr/>
          </p:nvSpPr>
          <p:spPr bwMode="auto">
            <a:xfrm>
              <a:off x="4930" y="2071"/>
              <a:ext cx="58" cy="174"/>
            </a:xfrm>
            <a:custGeom>
              <a:avLst/>
              <a:gdLst>
                <a:gd name="T0" fmla="*/ 413 w 418"/>
                <a:gd name="T1" fmla="*/ 603 h 1261"/>
                <a:gd name="T2" fmla="*/ 326 w 418"/>
                <a:gd name="T3" fmla="*/ 504 h 1261"/>
                <a:gd name="T4" fmla="*/ 308 w 418"/>
                <a:gd name="T5" fmla="*/ 545 h 1261"/>
                <a:gd name="T6" fmla="*/ 290 w 418"/>
                <a:gd name="T7" fmla="*/ 175 h 1261"/>
                <a:gd name="T8" fmla="*/ 208 w 418"/>
                <a:gd name="T9" fmla="*/ 0 h 1261"/>
                <a:gd name="T10" fmla="*/ 126 w 418"/>
                <a:gd name="T11" fmla="*/ 175 h 1261"/>
                <a:gd name="T12" fmla="*/ 127 w 418"/>
                <a:gd name="T13" fmla="*/ 500 h 1261"/>
                <a:gd name="T14" fmla="*/ 111 w 418"/>
                <a:gd name="T15" fmla="*/ 546 h 1261"/>
                <a:gd name="T16" fmla="*/ 91 w 418"/>
                <a:gd name="T17" fmla="*/ 528 h 1261"/>
                <a:gd name="T18" fmla="*/ 68 w 418"/>
                <a:gd name="T19" fmla="*/ 504 h 1261"/>
                <a:gd name="T20" fmla="*/ 5 w 418"/>
                <a:gd name="T21" fmla="*/ 1203 h 1261"/>
                <a:gd name="T22" fmla="*/ 0 w 418"/>
                <a:gd name="T23" fmla="*/ 1218 h 1261"/>
                <a:gd name="T24" fmla="*/ 16 w 418"/>
                <a:gd name="T25" fmla="*/ 1227 h 1261"/>
                <a:gd name="T26" fmla="*/ 6 w 418"/>
                <a:gd name="T27" fmla="*/ 1261 h 1261"/>
                <a:gd name="T28" fmla="*/ 74 w 418"/>
                <a:gd name="T29" fmla="*/ 1245 h 1261"/>
                <a:gd name="T30" fmla="*/ 89 w 418"/>
                <a:gd name="T31" fmla="*/ 1218 h 1261"/>
                <a:gd name="T32" fmla="*/ 86 w 418"/>
                <a:gd name="T33" fmla="*/ 1211 h 1261"/>
                <a:gd name="T34" fmla="*/ 84 w 418"/>
                <a:gd name="T35" fmla="*/ 1089 h 1261"/>
                <a:gd name="T36" fmla="*/ 91 w 418"/>
                <a:gd name="T37" fmla="*/ 564 h 1261"/>
                <a:gd name="T38" fmla="*/ 126 w 418"/>
                <a:gd name="T39" fmla="*/ 564 h 1261"/>
                <a:gd name="T40" fmla="*/ 179 w 418"/>
                <a:gd name="T41" fmla="*/ 1133 h 1261"/>
                <a:gd name="T42" fmla="*/ 183 w 418"/>
                <a:gd name="T43" fmla="*/ 1168 h 1261"/>
                <a:gd name="T44" fmla="*/ 187 w 418"/>
                <a:gd name="T45" fmla="*/ 1187 h 1261"/>
                <a:gd name="T46" fmla="*/ 204 w 418"/>
                <a:gd name="T47" fmla="*/ 1201 h 1261"/>
                <a:gd name="T48" fmla="*/ 191 w 418"/>
                <a:gd name="T49" fmla="*/ 1236 h 1261"/>
                <a:gd name="T50" fmla="*/ 216 w 418"/>
                <a:gd name="T51" fmla="*/ 1215 h 1261"/>
                <a:gd name="T52" fmla="*/ 223 w 418"/>
                <a:gd name="T53" fmla="*/ 1190 h 1261"/>
                <a:gd name="T54" fmla="*/ 230 w 418"/>
                <a:gd name="T55" fmla="*/ 1180 h 1261"/>
                <a:gd name="T56" fmla="*/ 234 w 418"/>
                <a:gd name="T57" fmla="*/ 1146 h 1261"/>
                <a:gd name="T58" fmla="*/ 291 w 418"/>
                <a:gd name="T59" fmla="*/ 1087 h 1261"/>
                <a:gd name="T60" fmla="*/ 308 w 418"/>
                <a:gd name="T61" fmla="*/ 546 h 1261"/>
                <a:gd name="T62" fmla="*/ 326 w 418"/>
                <a:gd name="T63" fmla="*/ 1073 h 1261"/>
                <a:gd name="T64" fmla="*/ 334 w 418"/>
                <a:gd name="T65" fmla="*/ 1203 h 1261"/>
                <a:gd name="T66" fmla="*/ 329 w 418"/>
                <a:gd name="T67" fmla="*/ 1218 h 1261"/>
                <a:gd name="T68" fmla="*/ 345 w 418"/>
                <a:gd name="T69" fmla="*/ 1227 h 1261"/>
                <a:gd name="T70" fmla="*/ 335 w 418"/>
                <a:gd name="T71" fmla="*/ 1261 h 1261"/>
                <a:gd name="T72" fmla="*/ 403 w 418"/>
                <a:gd name="T73" fmla="*/ 1245 h 1261"/>
                <a:gd name="T74" fmla="*/ 417 w 418"/>
                <a:gd name="T75" fmla="*/ 1218 h 1261"/>
                <a:gd name="T76" fmla="*/ 418 w 418"/>
                <a:gd name="T77" fmla="*/ 1218 h 1261"/>
                <a:gd name="T78" fmla="*/ 412 w 418"/>
                <a:gd name="T79" fmla="*/ 1203 h 1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18" h="1261">
                  <a:moveTo>
                    <a:pt x="412" y="1203"/>
                  </a:moveTo>
                  <a:cubicBezTo>
                    <a:pt x="413" y="603"/>
                    <a:pt x="413" y="603"/>
                    <a:pt x="413" y="603"/>
                  </a:cubicBezTo>
                  <a:cubicBezTo>
                    <a:pt x="348" y="503"/>
                    <a:pt x="348" y="503"/>
                    <a:pt x="348" y="503"/>
                  </a:cubicBezTo>
                  <a:cubicBezTo>
                    <a:pt x="345" y="501"/>
                    <a:pt x="331" y="501"/>
                    <a:pt x="326" y="504"/>
                  </a:cubicBezTo>
                  <a:cubicBezTo>
                    <a:pt x="326" y="528"/>
                    <a:pt x="326" y="528"/>
                    <a:pt x="326" y="528"/>
                  </a:cubicBezTo>
                  <a:cubicBezTo>
                    <a:pt x="326" y="537"/>
                    <a:pt x="318" y="545"/>
                    <a:pt x="308" y="545"/>
                  </a:cubicBezTo>
                  <a:cubicBezTo>
                    <a:pt x="299" y="545"/>
                    <a:pt x="291" y="537"/>
                    <a:pt x="291" y="528"/>
                  </a:cubicBezTo>
                  <a:cubicBezTo>
                    <a:pt x="290" y="175"/>
                    <a:pt x="290" y="175"/>
                    <a:pt x="290" y="175"/>
                  </a:cubicBezTo>
                  <a:cubicBezTo>
                    <a:pt x="290" y="104"/>
                    <a:pt x="262" y="43"/>
                    <a:pt x="234" y="15"/>
                  </a:cubicBezTo>
                  <a:cubicBezTo>
                    <a:pt x="225" y="6"/>
                    <a:pt x="215" y="0"/>
                    <a:pt x="208" y="0"/>
                  </a:cubicBezTo>
                  <a:cubicBezTo>
                    <a:pt x="197" y="0"/>
                    <a:pt x="177" y="15"/>
                    <a:pt x="159" y="48"/>
                  </a:cubicBezTo>
                  <a:cubicBezTo>
                    <a:pt x="138" y="84"/>
                    <a:pt x="126" y="131"/>
                    <a:pt x="126" y="175"/>
                  </a:cubicBezTo>
                  <a:cubicBezTo>
                    <a:pt x="126" y="497"/>
                    <a:pt x="126" y="497"/>
                    <a:pt x="126" y="497"/>
                  </a:cubicBezTo>
                  <a:cubicBezTo>
                    <a:pt x="127" y="498"/>
                    <a:pt x="127" y="499"/>
                    <a:pt x="127" y="500"/>
                  </a:cubicBezTo>
                  <a:cubicBezTo>
                    <a:pt x="127" y="529"/>
                    <a:pt x="127" y="529"/>
                    <a:pt x="127" y="529"/>
                  </a:cubicBezTo>
                  <a:cubicBezTo>
                    <a:pt x="127" y="538"/>
                    <a:pt x="120" y="545"/>
                    <a:pt x="111" y="546"/>
                  </a:cubicBezTo>
                  <a:cubicBezTo>
                    <a:pt x="101" y="548"/>
                    <a:pt x="94" y="541"/>
                    <a:pt x="92" y="532"/>
                  </a:cubicBezTo>
                  <a:cubicBezTo>
                    <a:pt x="92" y="531"/>
                    <a:pt x="91" y="529"/>
                    <a:pt x="91" y="528"/>
                  </a:cubicBezTo>
                  <a:cubicBezTo>
                    <a:pt x="91" y="500"/>
                    <a:pt x="91" y="500"/>
                    <a:pt x="91" y="500"/>
                  </a:cubicBezTo>
                  <a:cubicBezTo>
                    <a:pt x="88" y="501"/>
                    <a:pt x="73" y="501"/>
                    <a:pt x="68" y="504"/>
                  </a:cubicBezTo>
                  <a:cubicBezTo>
                    <a:pt x="5" y="603"/>
                    <a:pt x="5" y="603"/>
                    <a:pt x="5" y="603"/>
                  </a:cubicBezTo>
                  <a:cubicBezTo>
                    <a:pt x="5" y="1203"/>
                    <a:pt x="5" y="1203"/>
                    <a:pt x="5" y="1203"/>
                  </a:cubicBezTo>
                  <a:cubicBezTo>
                    <a:pt x="5" y="1206"/>
                    <a:pt x="4" y="1208"/>
                    <a:pt x="3" y="1210"/>
                  </a:cubicBezTo>
                  <a:cubicBezTo>
                    <a:pt x="0" y="1218"/>
                    <a:pt x="0" y="1218"/>
                    <a:pt x="0" y="1218"/>
                  </a:cubicBezTo>
                  <a:cubicBezTo>
                    <a:pt x="1" y="1218"/>
                    <a:pt x="1" y="1218"/>
                    <a:pt x="1" y="1218"/>
                  </a:cubicBezTo>
                  <a:cubicBezTo>
                    <a:pt x="7" y="1218"/>
                    <a:pt x="13" y="1222"/>
                    <a:pt x="16" y="1227"/>
                  </a:cubicBezTo>
                  <a:cubicBezTo>
                    <a:pt x="19" y="1233"/>
                    <a:pt x="19" y="1240"/>
                    <a:pt x="15" y="1245"/>
                  </a:cubicBezTo>
                  <a:cubicBezTo>
                    <a:pt x="14" y="1248"/>
                    <a:pt x="9" y="1257"/>
                    <a:pt x="6" y="1261"/>
                  </a:cubicBezTo>
                  <a:cubicBezTo>
                    <a:pt x="83" y="1261"/>
                    <a:pt x="83" y="1261"/>
                    <a:pt x="83" y="1261"/>
                  </a:cubicBezTo>
                  <a:cubicBezTo>
                    <a:pt x="81" y="1257"/>
                    <a:pt x="76" y="1248"/>
                    <a:pt x="74" y="1245"/>
                  </a:cubicBezTo>
                  <a:cubicBezTo>
                    <a:pt x="71" y="1239"/>
                    <a:pt x="70" y="1233"/>
                    <a:pt x="74" y="1227"/>
                  </a:cubicBezTo>
                  <a:cubicBezTo>
                    <a:pt x="77" y="1221"/>
                    <a:pt x="82" y="1218"/>
                    <a:pt x="89" y="1218"/>
                  </a:cubicBezTo>
                  <a:cubicBezTo>
                    <a:pt x="89" y="1218"/>
                    <a:pt x="89" y="1218"/>
                    <a:pt x="89" y="1218"/>
                  </a:cubicBezTo>
                  <a:cubicBezTo>
                    <a:pt x="86" y="1211"/>
                    <a:pt x="86" y="1211"/>
                    <a:pt x="86" y="1211"/>
                  </a:cubicBezTo>
                  <a:cubicBezTo>
                    <a:pt x="85" y="1208"/>
                    <a:pt x="84" y="1206"/>
                    <a:pt x="84" y="1203"/>
                  </a:cubicBezTo>
                  <a:cubicBezTo>
                    <a:pt x="84" y="1089"/>
                    <a:pt x="84" y="1089"/>
                    <a:pt x="84" y="1089"/>
                  </a:cubicBezTo>
                  <a:cubicBezTo>
                    <a:pt x="84" y="1083"/>
                    <a:pt x="87" y="1077"/>
                    <a:pt x="92" y="1074"/>
                  </a:cubicBezTo>
                  <a:cubicBezTo>
                    <a:pt x="91" y="564"/>
                    <a:pt x="91" y="564"/>
                    <a:pt x="91" y="564"/>
                  </a:cubicBezTo>
                  <a:cubicBezTo>
                    <a:pt x="91" y="554"/>
                    <a:pt x="99" y="546"/>
                    <a:pt x="109" y="546"/>
                  </a:cubicBezTo>
                  <a:cubicBezTo>
                    <a:pt x="119" y="546"/>
                    <a:pt x="126" y="554"/>
                    <a:pt x="126" y="564"/>
                  </a:cubicBezTo>
                  <a:cubicBezTo>
                    <a:pt x="127" y="1087"/>
                    <a:pt x="127" y="1087"/>
                    <a:pt x="127" y="1087"/>
                  </a:cubicBezTo>
                  <a:cubicBezTo>
                    <a:pt x="179" y="1133"/>
                    <a:pt x="179" y="1133"/>
                    <a:pt x="179" y="1133"/>
                  </a:cubicBezTo>
                  <a:cubicBezTo>
                    <a:pt x="182" y="1137"/>
                    <a:pt x="184" y="1141"/>
                    <a:pt x="184" y="1146"/>
                  </a:cubicBezTo>
                  <a:cubicBezTo>
                    <a:pt x="183" y="1168"/>
                    <a:pt x="183" y="1168"/>
                    <a:pt x="183" y="1168"/>
                  </a:cubicBezTo>
                  <a:cubicBezTo>
                    <a:pt x="186" y="1171"/>
                    <a:pt x="187" y="1176"/>
                    <a:pt x="187" y="1180"/>
                  </a:cubicBezTo>
                  <a:cubicBezTo>
                    <a:pt x="187" y="1187"/>
                    <a:pt x="187" y="1187"/>
                    <a:pt x="187" y="1187"/>
                  </a:cubicBezTo>
                  <a:cubicBezTo>
                    <a:pt x="195" y="1190"/>
                    <a:pt x="195" y="1190"/>
                    <a:pt x="195" y="1190"/>
                  </a:cubicBezTo>
                  <a:cubicBezTo>
                    <a:pt x="199" y="1192"/>
                    <a:pt x="203" y="1196"/>
                    <a:pt x="204" y="1201"/>
                  </a:cubicBezTo>
                  <a:cubicBezTo>
                    <a:pt x="206" y="1206"/>
                    <a:pt x="205" y="1211"/>
                    <a:pt x="202" y="1215"/>
                  </a:cubicBezTo>
                  <a:cubicBezTo>
                    <a:pt x="198" y="1223"/>
                    <a:pt x="194" y="1230"/>
                    <a:pt x="191" y="1236"/>
                  </a:cubicBezTo>
                  <a:cubicBezTo>
                    <a:pt x="227" y="1236"/>
                    <a:pt x="227" y="1236"/>
                    <a:pt x="227" y="1236"/>
                  </a:cubicBezTo>
                  <a:cubicBezTo>
                    <a:pt x="224" y="1230"/>
                    <a:pt x="220" y="1223"/>
                    <a:pt x="216" y="1215"/>
                  </a:cubicBezTo>
                  <a:cubicBezTo>
                    <a:pt x="213" y="1211"/>
                    <a:pt x="212" y="1206"/>
                    <a:pt x="214" y="1201"/>
                  </a:cubicBezTo>
                  <a:cubicBezTo>
                    <a:pt x="215" y="1196"/>
                    <a:pt x="219" y="1192"/>
                    <a:pt x="223" y="1190"/>
                  </a:cubicBezTo>
                  <a:cubicBezTo>
                    <a:pt x="230" y="1187"/>
                    <a:pt x="230" y="1187"/>
                    <a:pt x="230" y="1187"/>
                  </a:cubicBezTo>
                  <a:cubicBezTo>
                    <a:pt x="230" y="1180"/>
                    <a:pt x="230" y="1180"/>
                    <a:pt x="230" y="1180"/>
                  </a:cubicBezTo>
                  <a:cubicBezTo>
                    <a:pt x="230" y="1176"/>
                    <a:pt x="232" y="1171"/>
                    <a:pt x="235" y="1168"/>
                  </a:cubicBezTo>
                  <a:cubicBezTo>
                    <a:pt x="234" y="1146"/>
                    <a:pt x="234" y="1146"/>
                    <a:pt x="234" y="1146"/>
                  </a:cubicBezTo>
                  <a:cubicBezTo>
                    <a:pt x="234" y="1141"/>
                    <a:pt x="236" y="1136"/>
                    <a:pt x="240" y="1133"/>
                  </a:cubicBezTo>
                  <a:cubicBezTo>
                    <a:pt x="291" y="1087"/>
                    <a:pt x="291" y="1087"/>
                    <a:pt x="291" y="1087"/>
                  </a:cubicBezTo>
                  <a:cubicBezTo>
                    <a:pt x="291" y="564"/>
                    <a:pt x="291" y="564"/>
                    <a:pt x="291" y="564"/>
                  </a:cubicBezTo>
                  <a:cubicBezTo>
                    <a:pt x="291" y="554"/>
                    <a:pt x="299" y="546"/>
                    <a:pt x="308" y="546"/>
                  </a:cubicBezTo>
                  <a:cubicBezTo>
                    <a:pt x="318" y="546"/>
                    <a:pt x="326" y="554"/>
                    <a:pt x="326" y="564"/>
                  </a:cubicBezTo>
                  <a:cubicBezTo>
                    <a:pt x="326" y="1073"/>
                    <a:pt x="326" y="1073"/>
                    <a:pt x="326" y="1073"/>
                  </a:cubicBezTo>
                  <a:cubicBezTo>
                    <a:pt x="331" y="1076"/>
                    <a:pt x="334" y="1081"/>
                    <a:pt x="334" y="1087"/>
                  </a:cubicBezTo>
                  <a:cubicBezTo>
                    <a:pt x="334" y="1203"/>
                    <a:pt x="334" y="1203"/>
                    <a:pt x="334" y="1203"/>
                  </a:cubicBezTo>
                  <a:cubicBezTo>
                    <a:pt x="334" y="1206"/>
                    <a:pt x="333" y="1208"/>
                    <a:pt x="332" y="1211"/>
                  </a:cubicBezTo>
                  <a:cubicBezTo>
                    <a:pt x="329" y="1218"/>
                    <a:pt x="329" y="1218"/>
                    <a:pt x="329" y="1218"/>
                  </a:cubicBezTo>
                  <a:cubicBezTo>
                    <a:pt x="329" y="1218"/>
                    <a:pt x="329" y="1218"/>
                    <a:pt x="329" y="1218"/>
                  </a:cubicBezTo>
                  <a:cubicBezTo>
                    <a:pt x="336" y="1218"/>
                    <a:pt x="342" y="1221"/>
                    <a:pt x="345" y="1227"/>
                  </a:cubicBezTo>
                  <a:cubicBezTo>
                    <a:pt x="348" y="1233"/>
                    <a:pt x="347" y="1240"/>
                    <a:pt x="343" y="1245"/>
                  </a:cubicBezTo>
                  <a:cubicBezTo>
                    <a:pt x="342" y="1248"/>
                    <a:pt x="337" y="1257"/>
                    <a:pt x="335" y="1261"/>
                  </a:cubicBezTo>
                  <a:cubicBezTo>
                    <a:pt x="412" y="1261"/>
                    <a:pt x="412" y="1261"/>
                    <a:pt x="412" y="1261"/>
                  </a:cubicBezTo>
                  <a:cubicBezTo>
                    <a:pt x="410" y="1257"/>
                    <a:pt x="405" y="1248"/>
                    <a:pt x="403" y="1245"/>
                  </a:cubicBezTo>
                  <a:cubicBezTo>
                    <a:pt x="399" y="1240"/>
                    <a:pt x="399" y="1233"/>
                    <a:pt x="402" y="1227"/>
                  </a:cubicBezTo>
                  <a:cubicBezTo>
                    <a:pt x="405" y="1221"/>
                    <a:pt x="411" y="1218"/>
                    <a:pt x="417" y="1218"/>
                  </a:cubicBezTo>
                  <a:cubicBezTo>
                    <a:pt x="417" y="1218"/>
                    <a:pt x="417" y="1218"/>
                    <a:pt x="417" y="1218"/>
                  </a:cubicBezTo>
                  <a:cubicBezTo>
                    <a:pt x="418" y="1218"/>
                    <a:pt x="418" y="1218"/>
                    <a:pt x="418" y="1218"/>
                  </a:cubicBezTo>
                  <a:cubicBezTo>
                    <a:pt x="414" y="1211"/>
                    <a:pt x="414" y="1211"/>
                    <a:pt x="414" y="1211"/>
                  </a:cubicBezTo>
                  <a:cubicBezTo>
                    <a:pt x="413" y="1208"/>
                    <a:pt x="412" y="1206"/>
                    <a:pt x="412" y="120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10" name="Freeform 99"/>
            <p:cNvSpPr>
              <a:spLocks noEditPoints="1"/>
            </p:cNvSpPr>
            <p:nvPr/>
          </p:nvSpPr>
          <p:spPr bwMode="auto">
            <a:xfrm>
              <a:off x="4846" y="2047"/>
              <a:ext cx="227" cy="226"/>
            </a:xfrm>
            <a:custGeom>
              <a:avLst/>
              <a:gdLst>
                <a:gd name="T0" fmla="*/ 0 w 1636"/>
                <a:gd name="T1" fmla="*/ 818 h 1636"/>
                <a:gd name="T2" fmla="*/ 1636 w 1636"/>
                <a:gd name="T3" fmla="*/ 818 h 1636"/>
                <a:gd name="T4" fmla="*/ 1061 w 1636"/>
                <a:gd name="T5" fmla="*/ 1409 h 1636"/>
                <a:gd name="T6" fmla="*/ 1053 w 1636"/>
                <a:gd name="T7" fmla="*/ 1419 h 1636"/>
                <a:gd name="T8" fmla="*/ 1043 w 1636"/>
                <a:gd name="T9" fmla="*/ 1467 h 1636"/>
                <a:gd name="T10" fmla="*/ 904 w 1636"/>
                <a:gd name="T11" fmla="*/ 1450 h 1636"/>
                <a:gd name="T12" fmla="*/ 912 w 1636"/>
                <a:gd name="T13" fmla="*/ 1417 h 1636"/>
                <a:gd name="T14" fmla="*/ 899 w 1636"/>
                <a:gd name="T15" fmla="*/ 1388 h 1636"/>
                <a:gd name="T16" fmla="*/ 908 w 1636"/>
                <a:gd name="T17" fmla="*/ 1298 h 1636"/>
                <a:gd name="T18" fmla="*/ 878 w 1636"/>
                <a:gd name="T19" fmla="*/ 1329 h 1636"/>
                <a:gd name="T20" fmla="*/ 874 w 1636"/>
                <a:gd name="T21" fmla="*/ 1362 h 1636"/>
                <a:gd name="T22" fmla="*/ 864 w 1636"/>
                <a:gd name="T23" fmla="*/ 1385 h 1636"/>
                <a:gd name="T24" fmla="*/ 876 w 1636"/>
                <a:gd name="T25" fmla="*/ 1423 h 1636"/>
                <a:gd name="T26" fmla="*/ 858 w 1636"/>
                <a:gd name="T27" fmla="*/ 1442 h 1636"/>
                <a:gd name="T28" fmla="*/ 765 w 1636"/>
                <a:gd name="T29" fmla="*/ 1437 h 1636"/>
                <a:gd name="T30" fmla="*/ 772 w 1636"/>
                <a:gd name="T31" fmla="*/ 1385 h 1636"/>
                <a:gd name="T32" fmla="*/ 761 w 1636"/>
                <a:gd name="T33" fmla="*/ 1369 h 1636"/>
                <a:gd name="T34" fmla="*/ 755 w 1636"/>
                <a:gd name="T35" fmla="*/ 1346 h 1636"/>
                <a:gd name="T36" fmla="*/ 728 w 1636"/>
                <a:gd name="T37" fmla="*/ 1297 h 1636"/>
                <a:gd name="T38" fmla="*/ 737 w 1636"/>
                <a:gd name="T39" fmla="*/ 1388 h 1636"/>
                <a:gd name="T40" fmla="*/ 724 w 1636"/>
                <a:gd name="T41" fmla="*/ 1417 h 1636"/>
                <a:gd name="T42" fmla="*/ 732 w 1636"/>
                <a:gd name="T43" fmla="*/ 1450 h 1636"/>
                <a:gd name="T44" fmla="*/ 593 w 1636"/>
                <a:gd name="T45" fmla="*/ 1467 h 1636"/>
                <a:gd name="T46" fmla="*/ 582 w 1636"/>
                <a:gd name="T47" fmla="*/ 1421 h 1636"/>
                <a:gd name="T48" fmla="*/ 575 w 1636"/>
                <a:gd name="T49" fmla="*/ 1410 h 1636"/>
                <a:gd name="T50" fmla="*/ 579 w 1636"/>
                <a:gd name="T51" fmla="*/ 1370 h 1636"/>
                <a:gd name="T52" fmla="*/ 581 w 1636"/>
                <a:gd name="T53" fmla="*/ 759 h 1636"/>
                <a:gd name="T54" fmla="*/ 700 w 1636"/>
                <a:gd name="T55" fmla="*/ 638 h 1636"/>
                <a:gd name="T56" fmla="*/ 737 w 1636"/>
                <a:gd name="T57" fmla="*/ 202 h 1636"/>
                <a:gd name="T58" fmla="*/ 817 w 1636"/>
                <a:gd name="T59" fmla="*/ 136 h 1636"/>
                <a:gd name="T60" fmla="*/ 935 w 1636"/>
                <a:gd name="T61" fmla="*/ 346 h 1636"/>
                <a:gd name="T62" fmla="*/ 987 w 1636"/>
                <a:gd name="T63" fmla="*/ 655 h 1636"/>
                <a:gd name="T64" fmla="*/ 1057 w 1636"/>
                <a:gd name="T65" fmla="*/ 768 h 1636"/>
                <a:gd name="T66" fmla="*/ 1066 w 1636"/>
                <a:gd name="T67" fmla="*/ 1388 h 1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36" h="1636">
                  <a:moveTo>
                    <a:pt x="818" y="0"/>
                  </a:moveTo>
                  <a:cubicBezTo>
                    <a:pt x="366" y="0"/>
                    <a:pt x="0" y="366"/>
                    <a:pt x="0" y="818"/>
                  </a:cubicBezTo>
                  <a:cubicBezTo>
                    <a:pt x="0" y="1270"/>
                    <a:pt x="366" y="1636"/>
                    <a:pt x="818" y="1636"/>
                  </a:cubicBezTo>
                  <a:cubicBezTo>
                    <a:pt x="1270" y="1636"/>
                    <a:pt x="1636" y="1270"/>
                    <a:pt x="1636" y="818"/>
                  </a:cubicBezTo>
                  <a:cubicBezTo>
                    <a:pt x="1636" y="366"/>
                    <a:pt x="1270" y="0"/>
                    <a:pt x="818" y="0"/>
                  </a:cubicBezTo>
                  <a:close/>
                  <a:moveTo>
                    <a:pt x="1061" y="1409"/>
                  </a:moveTo>
                  <a:cubicBezTo>
                    <a:pt x="1052" y="1417"/>
                    <a:pt x="1052" y="1417"/>
                    <a:pt x="1052" y="1417"/>
                  </a:cubicBezTo>
                  <a:cubicBezTo>
                    <a:pt x="1053" y="1418"/>
                    <a:pt x="1053" y="1419"/>
                    <a:pt x="1053" y="1419"/>
                  </a:cubicBezTo>
                  <a:cubicBezTo>
                    <a:pt x="1058" y="1432"/>
                    <a:pt x="1061" y="1441"/>
                    <a:pt x="1061" y="1450"/>
                  </a:cubicBezTo>
                  <a:cubicBezTo>
                    <a:pt x="1061" y="1459"/>
                    <a:pt x="1053" y="1467"/>
                    <a:pt x="1043" y="1467"/>
                  </a:cubicBezTo>
                  <a:cubicBezTo>
                    <a:pt x="921" y="1467"/>
                    <a:pt x="921" y="1467"/>
                    <a:pt x="921" y="1467"/>
                  </a:cubicBezTo>
                  <a:cubicBezTo>
                    <a:pt x="912" y="1467"/>
                    <a:pt x="904" y="1460"/>
                    <a:pt x="904" y="1450"/>
                  </a:cubicBezTo>
                  <a:cubicBezTo>
                    <a:pt x="904" y="1441"/>
                    <a:pt x="906" y="1431"/>
                    <a:pt x="911" y="1420"/>
                  </a:cubicBezTo>
                  <a:cubicBezTo>
                    <a:pt x="911" y="1420"/>
                    <a:pt x="911" y="1419"/>
                    <a:pt x="912" y="1417"/>
                  </a:cubicBezTo>
                  <a:cubicBezTo>
                    <a:pt x="903" y="1409"/>
                    <a:pt x="903" y="1409"/>
                    <a:pt x="903" y="1409"/>
                  </a:cubicBezTo>
                  <a:cubicBezTo>
                    <a:pt x="897" y="1404"/>
                    <a:pt x="895" y="1395"/>
                    <a:pt x="899" y="1388"/>
                  </a:cubicBezTo>
                  <a:cubicBezTo>
                    <a:pt x="908" y="1370"/>
                    <a:pt x="908" y="1370"/>
                    <a:pt x="908" y="1370"/>
                  </a:cubicBezTo>
                  <a:cubicBezTo>
                    <a:pt x="908" y="1298"/>
                    <a:pt x="908" y="1298"/>
                    <a:pt x="908" y="1298"/>
                  </a:cubicBezTo>
                  <a:cubicBezTo>
                    <a:pt x="878" y="1325"/>
                    <a:pt x="878" y="1325"/>
                    <a:pt x="878" y="1325"/>
                  </a:cubicBezTo>
                  <a:cubicBezTo>
                    <a:pt x="878" y="1329"/>
                    <a:pt x="878" y="1329"/>
                    <a:pt x="878" y="1329"/>
                  </a:cubicBezTo>
                  <a:cubicBezTo>
                    <a:pt x="881" y="1346"/>
                    <a:pt x="881" y="1346"/>
                    <a:pt x="881" y="1346"/>
                  </a:cubicBezTo>
                  <a:cubicBezTo>
                    <a:pt x="881" y="1352"/>
                    <a:pt x="879" y="1358"/>
                    <a:pt x="874" y="1362"/>
                  </a:cubicBezTo>
                  <a:cubicBezTo>
                    <a:pt x="874" y="1369"/>
                    <a:pt x="874" y="1369"/>
                    <a:pt x="874" y="1369"/>
                  </a:cubicBezTo>
                  <a:cubicBezTo>
                    <a:pt x="875" y="1376"/>
                    <a:pt x="870" y="1382"/>
                    <a:pt x="864" y="1385"/>
                  </a:cubicBezTo>
                  <a:cubicBezTo>
                    <a:pt x="864" y="1385"/>
                    <a:pt x="864" y="1385"/>
                    <a:pt x="864" y="1385"/>
                  </a:cubicBezTo>
                  <a:cubicBezTo>
                    <a:pt x="871" y="1399"/>
                    <a:pt x="874" y="1411"/>
                    <a:pt x="876" y="1423"/>
                  </a:cubicBezTo>
                  <a:cubicBezTo>
                    <a:pt x="876" y="1428"/>
                    <a:pt x="875" y="1433"/>
                    <a:pt x="871" y="1437"/>
                  </a:cubicBezTo>
                  <a:cubicBezTo>
                    <a:pt x="868" y="1440"/>
                    <a:pt x="863" y="1442"/>
                    <a:pt x="858" y="1442"/>
                  </a:cubicBezTo>
                  <a:cubicBezTo>
                    <a:pt x="778" y="1442"/>
                    <a:pt x="778" y="1442"/>
                    <a:pt x="778" y="1442"/>
                  </a:cubicBezTo>
                  <a:cubicBezTo>
                    <a:pt x="773" y="1442"/>
                    <a:pt x="768" y="1440"/>
                    <a:pt x="765" y="1437"/>
                  </a:cubicBezTo>
                  <a:cubicBezTo>
                    <a:pt x="761" y="1433"/>
                    <a:pt x="760" y="1428"/>
                    <a:pt x="760" y="1423"/>
                  </a:cubicBezTo>
                  <a:cubicBezTo>
                    <a:pt x="761" y="1411"/>
                    <a:pt x="765" y="1399"/>
                    <a:pt x="772" y="1385"/>
                  </a:cubicBezTo>
                  <a:cubicBezTo>
                    <a:pt x="772" y="1385"/>
                    <a:pt x="772" y="1385"/>
                    <a:pt x="772" y="1385"/>
                  </a:cubicBezTo>
                  <a:cubicBezTo>
                    <a:pt x="765" y="1383"/>
                    <a:pt x="761" y="1376"/>
                    <a:pt x="761" y="1369"/>
                  </a:cubicBezTo>
                  <a:cubicBezTo>
                    <a:pt x="761" y="1362"/>
                    <a:pt x="761" y="1362"/>
                    <a:pt x="761" y="1362"/>
                  </a:cubicBezTo>
                  <a:cubicBezTo>
                    <a:pt x="757" y="1358"/>
                    <a:pt x="754" y="1352"/>
                    <a:pt x="755" y="1346"/>
                  </a:cubicBezTo>
                  <a:cubicBezTo>
                    <a:pt x="758" y="1325"/>
                    <a:pt x="758" y="1325"/>
                    <a:pt x="758" y="1325"/>
                  </a:cubicBezTo>
                  <a:cubicBezTo>
                    <a:pt x="728" y="1297"/>
                    <a:pt x="728" y="1297"/>
                    <a:pt x="728" y="1297"/>
                  </a:cubicBezTo>
                  <a:cubicBezTo>
                    <a:pt x="728" y="1370"/>
                    <a:pt x="728" y="1370"/>
                    <a:pt x="728" y="1370"/>
                  </a:cubicBezTo>
                  <a:cubicBezTo>
                    <a:pt x="737" y="1388"/>
                    <a:pt x="737" y="1388"/>
                    <a:pt x="737" y="1388"/>
                  </a:cubicBezTo>
                  <a:cubicBezTo>
                    <a:pt x="741" y="1396"/>
                    <a:pt x="739" y="1404"/>
                    <a:pt x="733" y="1410"/>
                  </a:cubicBezTo>
                  <a:cubicBezTo>
                    <a:pt x="724" y="1417"/>
                    <a:pt x="724" y="1417"/>
                    <a:pt x="724" y="1417"/>
                  </a:cubicBezTo>
                  <a:cubicBezTo>
                    <a:pt x="724" y="1418"/>
                    <a:pt x="725" y="1419"/>
                    <a:pt x="725" y="1419"/>
                  </a:cubicBezTo>
                  <a:cubicBezTo>
                    <a:pt x="730" y="1431"/>
                    <a:pt x="732" y="1441"/>
                    <a:pt x="732" y="1450"/>
                  </a:cubicBezTo>
                  <a:cubicBezTo>
                    <a:pt x="732" y="1460"/>
                    <a:pt x="724" y="1467"/>
                    <a:pt x="715" y="1467"/>
                  </a:cubicBezTo>
                  <a:cubicBezTo>
                    <a:pt x="593" y="1467"/>
                    <a:pt x="593" y="1467"/>
                    <a:pt x="593" y="1467"/>
                  </a:cubicBezTo>
                  <a:cubicBezTo>
                    <a:pt x="583" y="1467"/>
                    <a:pt x="575" y="1460"/>
                    <a:pt x="575" y="1450"/>
                  </a:cubicBezTo>
                  <a:cubicBezTo>
                    <a:pt x="575" y="1441"/>
                    <a:pt x="578" y="1432"/>
                    <a:pt x="582" y="1421"/>
                  </a:cubicBezTo>
                  <a:cubicBezTo>
                    <a:pt x="582" y="1420"/>
                    <a:pt x="583" y="1419"/>
                    <a:pt x="584" y="1417"/>
                  </a:cubicBezTo>
                  <a:cubicBezTo>
                    <a:pt x="575" y="1410"/>
                    <a:pt x="575" y="1410"/>
                    <a:pt x="575" y="1410"/>
                  </a:cubicBezTo>
                  <a:cubicBezTo>
                    <a:pt x="568" y="1404"/>
                    <a:pt x="567" y="1396"/>
                    <a:pt x="570" y="1389"/>
                  </a:cubicBezTo>
                  <a:cubicBezTo>
                    <a:pt x="579" y="1370"/>
                    <a:pt x="579" y="1370"/>
                    <a:pt x="579" y="1370"/>
                  </a:cubicBezTo>
                  <a:cubicBezTo>
                    <a:pt x="579" y="769"/>
                    <a:pt x="579" y="769"/>
                    <a:pt x="579" y="769"/>
                  </a:cubicBezTo>
                  <a:cubicBezTo>
                    <a:pt x="579" y="765"/>
                    <a:pt x="580" y="762"/>
                    <a:pt x="581" y="759"/>
                  </a:cubicBezTo>
                  <a:cubicBezTo>
                    <a:pt x="648" y="655"/>
                    <a:pt x="648" y="655"/>
                    <a:pt x="648" y="655"/>
                  </a:cubicBezTo>
                  <a:cubicBezTo>
                    <a:pt x="658" y="639"/>
                    <a:pt x="682" y="636"/>
                    <a:pt x="700" y="638"/>
                  </a:cubicBezTo>
                  <a:cubicBezTo>
                    <a:pt x="700" y="346"/>
                    <a:pt x="700" y="346"/>
                    <a:pt x="700" y="346"/>
                  </a:cubicBezTo>
                  <a:cubicBezTo>
                    <a:pt x="700" y="295"/>
                    <a:pt x="713" y="244"/>
                    <a:pt x="737" y="202"/>
                  </a:cubicBezTo>
                  <a:cubicBezTo>
                    <a:pt x="760" y="161"/>
                    <a:pt x="790" y="136"/>
                    <a:pt x="817" y="136"/>
                  </a:cubicBezTo>
                  <a:cubicBezTo>
                    <a:pt x="817" y="136"/>
                    <a:pt x="817" y="136"/>
                    <a:pt x="817" y="136"/>
                  </a:cubicBezTo>
                  <a:cubicBezTo>
                    <a:pt x="834" y="136"/>
                    <a:pt x="851" y="145"/>
                    <a:pt x="868" y="162"/>
                  </a:cubicBezTo>
                  <a:cubicBezTo>
                    <a:pt x="899" y="192"/>
                    <a:pt x="935" y="259"/>
                    <a:pt x="935" y="346"/>
                  </a:cubicBezTo>
                  <a:cubicBezTo>
                    <a:pt x="935" y="639"/>
                    <a:pt x="935" y="639"/>
                    <a:pt x="935" y="639"/>
                  </a:cubicBezTo>
                  <a:cubicBezTo>
                    <a:pt x="953" y="636"/>
                    <a:pt x="978" y="639"/>
                    <a:pt x="987" y="655"/>
                  </a:cubicBezTo>
                  <a:cubicBezTo>
                    <a:pt x="1055" y="759"/>
                    <a:pt x="1055" y="759"/>
                    <a:pt x="1055" y="759"/>
                  </a:cubicBezTo>
                  <a:cubicBezTo>
                    <a:pt x="1056" y="762"/>
                    <a:pt x="1057" y="765"/>
                    <a:pt x="1057" y="768"/>
                  </a:cubicBezTo>
                  <a:cubicBezTo>
                    <a:pt x="1056" y="1370"/>
                    <a:pt x="1056" y="1370"/>
                    <a:pt x="1056" y="1370"/>
                  </a:cubicBezTo>
                  <a:cubicBezTo>
                    <a:pt x="1066" y="1388"/>
                    <a:pt x="1066" y="1388"/>
                    <a:pt x="1066" y="1388"/>
                  </a:cubicBezTo>
                  <a:cubicBezTo>
                    <a:pt x="1069" y="1395"/>
                    <a:pt x="1068" y="1404"/>
                    <a:pt x="1061" y="140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5966527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
          <p:cNvGrpSpPr/>
          <p:nvPr/>
        </p:nvGrpSpPr>
        <p:grpSpPr>
          <a:xfrm>
            <a:off x="0" y="114300"/>
            <a:ext cx="10744200" cy="1024391"/>
            <a:chOff x="0" y="0"/>
            <a:chExt cx="17492870" cy="1554226"/>
          </a:xfrm>
          <a:solidFill>
            <a:schemeClr val="bg1">
              <a:lumMod val="95000"/>
            </a:schemeClr>
          </a:solidFill>
        </p:grpSpPr>
        <p:sp>
          <p:nvSpPr>
            <p:cNvPr id="31" name="Freeform 3"/>
            <p:cNvSpPr/>
            <p:nvPr/>
          </p:nvSpPr>
          <p:spPr>
            <a:xfrm>
              <a:off x="0" y="0"/>
              <a:ext cx="17492870" cy="1554226"/>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lstStyle/>
            <a:p>
              <a:endParaRPr lang="en-US"/>
            </a:p>
          </p:txBody>
        </p:sp>
      </p:grpSp>
      <p:grpSp>
        <p:nvGrpSpPr>
          <p:cNvPr id="32" name="Group 4"/>
          <p:cNvGrpSpPr/>
          <p:nvPr/>
        </p:nvGrpSpPr>
        <p:grpSpPr>
          <a:xfrm>
            <a:off x="0" y="114300"/>
            <a:ext cx="936307" cy="1024391"/>
            <a:chOff x="0" y="0"/>
            <a:chExt cx="1248410" cy="1554290"/>
          </a:xfrm>
        </p:grpSpPr>
        <p:sp>
          <p:nvSpPr>
            <p:cNvPr id="3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34" name="TextBox 34"/>
          <p:cNvSpPr txBox="1"/>
          <p:nvPr/>
        </p:nvSpPr>
        <p:spPr>
          <a:xfrm>
            <a:off x="1066800" y="164830"/>
            <a:ext cx="10614184" cy="923330"/>
          </a:xfrm>
          <a:prstGeom prst="rect">
            <a:avLst/>
          </a:prstGeom>
        </p:spPr>
        <p:txBody>
          <a:bodyPr wrap="square" lIns="0" tIns="0" rIns="0" bIns="0" rtlCol="0" anchor="t">
            <a:spAutoFit/>
          </a:bodyPr>
          <a:lstStyle/>
          <a:p>
            <a:pPr algn="l"/>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3. Kế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hoạch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triển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khai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QTRRDN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algn="l"/>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Kế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hoạch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chi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tiết</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(2/4)</a:t>
            </a:r>
          </a:p>
        </p:txBody>
      </p:sp>
      <p:graphicFrame>
        <p:nvGraphicFramePr>
          <p:cNvPr id="3" name="Table 2"/>
          <p:cNvGraphicFramePr>
            <a:graphicFrameLocks noGrp="1"/>
          </p:cNvGraphicFramePr>
          <p:nvPr>
            <p:extLst>
              <p:ext uri="{D42A27DB-BD31-4B8C-83A1-F6EECF244321}">
                <p14:modId xmlns:p14="http://schemas.microsoft.com/office/powerpoint/2010/main" val="1451518589"/>
              </p:ext>
            </p:extLst>
          </p:nvPr>
        </p:nvGraphicFramePr>
        <p:xfrm>
          <a:off x="152401" y="1363981"/>
          <a:ext cx="17983196" cy="8442960"/>
        </p:xfrm>
        <a:graphic>
          <a:graphicData uri="http://schemas.openxmlformats.org/drawingml/2006/table">
            <a:tbl>
              <a:tblPr firstRow="1" bandRow="1">
                <a:tableStyleId>{72833802-FEF1-4C79-8D5D-14CF1EAF98D9}</a:tableStyleId>
              </a:tblPr>
              <a:tblGrid>
                <a:gridCol w="685799">
                  <a:extLst>
                    <a:ext uri="{9D8B030D-6E8A-4147-A177-3AD203B41FA5}">
                      <a16:colId xmlns:a16="http://schemas.microsoft.com/office/drawing/2014/main" val="354232345"/>
                    </a:ext>
                  </a:extLst>
                </a:gridCol>
                <a:gridCol w="2971800">
                  <a:extLst>
                    <a:ext uri="{9D8B030D-6E8A-4147-A177-3AD203B41FA5}">
                      <a16:colId xmlns:a16="http://schemas.microsoft.com/office/drawing/2014/main" val="599980580"/>
                    </a:ext>
                  </a:extLst>
                </a:gridCol>
                <a:gridCol w="5105400">
                  <a:extLst>
                    <a:ext uri="{9D8B030D-6E8A-4147-A177-3AD203B41FA5}">
                      <a16:colId xmlns:a16="http://schemas.microsoft.com/office/drawing/2014/main" val="354563642"/>
                    </a:ext>
                  </a:extLst>
                </a:gridCol>
                <a:gridCol w="3352800">
                  <a:extLst>
                    <a:ext uri="{9D8B030D-6E8A-4147-A177-3AD203B41FA5}">
                      <a16:colId xmlns:a16="http://schemas.microsoft.com/office/drawing/2014/main" val="3226650757"/>
                    </a:ext>
                  </a:extLst>
                </a:gridCol>
                <a:gridCol w="2209800">
                  <a:extLst>
                    <a:ext uri="{9D8B030D-6E8A-4147-A177-3AD203B41FA5}">
                      <a16:colId xmlns:a16="http://schemas.microsoft.com/office/drawing/2014/main" val="1764408370"/>
                    </a:ext>
                  </a:extLst>
                </a:gridCol>
                <a:gridCol w="1828800">
                  <a:extLst>
                    <a:ext uri="{9D8B030D-6E8A-4147-A177-3AD203B41FA5}">
                      <a16:colId xmlns:a16="http://schemas.microsoft.com/office/drawing/2014/main" val="1725199942"/>
                    </a:ext>
                  </a:extLst>
                </a:gridCol>
                <a:gridCol w="1828797">
                  <a:extLst>
                    <a:ext uri="{9D8B030D-6E8A-4147-A177-3AD203B41FA5}">
                      <a16:colId xmlns:a16="http://schemas.microsoft.com/office/drawing/2014/main" val="4266279641"/>
                    </a:ext>
                  </a:extLst>
                </a:gridCol>
              </a:tblGrid>
              <a:tr h="858246">
                <a:tc>
                  <a:txBody>
                    <a:bodyPr/>
                    <a:lstStyle/>
                    <a:p>
                      <a:pPr algn="ctr"/>
                      <a:r>
                        <a:rPr lang="en-US" sz="2400" dirty="0">
                          <a:latin typeface="Arial" panose="020B0604020202020204" pitchFamily="34" charset="0"/>
                          <a:cs typeface="Arial" panose="020B0604020202020204" pitchFamily="34" charset="0"/>
                        </a:rPr>
                        <a:t>STT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CÔNG</a:t>
                      </a:r>
                      <a:r>
                        <a:rPr lang="en-US" sz="2400" baseline="0" dirty="0">
                          <a:latin typeface="Arial" panose="020B0604020202020204" pitchFamily="34" charset="0"/>
                          <a:cs typeface="Arial" panose="020B0604020202020204" pitchFamily="34" charset="0"/>
                        </a:rPr>
                        <a:t> VIỆC/HÀNH ĐỘNG</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CHI TIẾT</a:t>
                      </a:r>
                      <a:r>
                        <a:rPr lang="en-US" sz="2400" baseline="0" dirty="0">
                          <a:latin typeface="Arial" panose="020B0604020202020204" pitchFamily="34" charset="0"/>
                          <a:cs typeface="Arial" panose="020B0604020202020204" pitchFamily="34" charset="0"/>
                        </a:rPr>
                        <a:t> CÔNG VIỆC</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SẢN PHẨM ĐẦU RA / </a:t>
                      </a:r>
                    </a:p>
                    <a:p>
                      <a:pPr algn="ctr"/>
                      <a:r>
                        <a:rPr lang="en-US" sz="2400" dirty="0">
                          <a:latin typeface="Arial" panose="020B0604020202020204" pitchFamily="34" charset="0"/>
                          <a:cs typeface="Arial" panose="020B0604020202020204" pitchFamily="34" charset="0"/>
                        </a:rPr>
                        <a:t>VĂN BẢN TRÌNH BTGĐ</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CHỦ TRÌ</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PHỐI</a:t>
                      </a:r>
                      <a:r>
                        <a:rPr lang="en-US" sz="2400" baseline="0" dirty="0">
                          <a:latin typeface="Arial" panose="020B0604020202020204" pitchFamily="34" charset="0"/>
                          <a:cs typeface="Arial" panose="020B0604020202020204" pitchFamily="34" charset="0"/>
                        </a:rPr>
                        <a:t> HỢP</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THỜI</a:t>
                      </a:r>
                      <a:r>
                        <a:rPr lang="en-US" sz="2400" baseline="0" dirty="0">
                          <a:latin typeface="Arial" panose="020B0604020202020204" pitchFamily="34" charset="0"/>
                          <a:cs typeface="Arial" panose="020B0604020202020204" pitchFamily="34" charset="0"/>
                        </a:rPr>
                        <a:t> GIAN</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extLst>
                  <a:ext uri="{0D108BD9-81ED-4DB2-BD59-A6C34878D82A}">
                    <a16:rowId xmlns:a16="http://schemas.microsoft.com/office/drawing/2014/main" val="459785028"/>
                  </a:ext>
                </a:extLst>
              </a:tr>
              <a:tr h="374107">
                <a:tc gridSpan="7">
                  <a:txBody>
                    <a:bodyPr/>
                    <a:lstStyle/>
                    <a:p>
                      <a:r>
                        <a:rPr lang="en-US" sz="2800" b="1" dirty="0">
                          <a:solidFill>
                            <a:srgbClr val="C00000"/>
                          </a:solidFill>
                          <a:latin typeface="Arial" panose="020B0604020202020204" pitchFamily="34" charset="0"/>
                          <a:cs typeface="Arial" panose="020B0604020202020204" pitchFamily="34" charset="0"/>
                        </a:rPr>
                        <a:t>      GIAI</a:t>
                      </a:r>
                      <a:r>
                        <a:rPr lang="en-US" sz="2800" b="1" baseline="0" dirty="0">
                          <a:solidFill>
                            <a:srgbClr val="C00000"/>
                          </a:solidFill>
                          <a:latin typeface="Arial" panose="020B0604020202020204" pitchFamily="34" charset="0"/>
                          <a:cs typeface="Arial" panose="020B0604020202020204" pitchFamily="34" charset="0"/>
                        </a:rPr>
                        <a:t> ĐOẠN B – TRIỂN KHAI THÍ ĐIỂM TẠI TT VHKT VÀ XÂY DỰNG HỆ THỐNG</a:t>
                      </a:r>
                      <a:endParaRPr lang="en-US" sz="28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sz="2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99000646"/>
                  </a:ext>
                </a:extLst>
              </a:tr>
              <a:tr h="1518435">
                <a:tc>
                  <a:txBody>
                    <a:bodyPr/>
                    <a:lstStyle/>
                    <a:p>
                      <a:pPr algn="ctr"/>
                      <a:r>
                        <a:rPr lang="en-US" sz="2200">
                          <a:latin typeface="Arial" panose="020B0604020202020204" pitchFamily="34" charset="0"/>
                          <a:cs typeface="Arial" panose="020B0604020202020204" pitchFamily="34" charset="0"/>
                        </a:rPr>
                        <a:t>5</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vi-VN" sz="2200" b="1">
                          <a:latin typeface="Arial" panose="020B0604020202020204" pitchFamily="34" charset="0"/>
                          <a:cs typeface="Arial" panose="020B0604020202020204" pitchFamily="34" charset="0"/>
                        </a:rPr>
                        <a:t>Khởi động dự án và đánh giá hiện trạng QTRR tại Trung tâm VHKT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a:latin typeface="Arial" panose="020B0604020202020204" pitchFamily="34" charset="0"/>
                          <a:cs typeface="Arial" panose="020B0604020202020204" pitchFamily="34" charset="0"/>
                        </a:rPr>
                        <a:t>T</a:t>
                      </a:r>
                      <a:r>
                        <a:rPr lang="vi-VN" sz="2200">
                          <a:latin typeface="Arial" panose="020B0604020202020204" pitchFamily="34" charset="0"/>
                          <a:cs typeface="Arial" panose="020B0604020202020204" pitchFamily="34" charset="0"/>
                        </a:rPr>
                        <a:t>hống nhất phương án triển khai, phân công đầu mối tại TT VHKT theo từng mảng nghiệp vụ.</a:t>
                      </a:r>
                    </a:p>
                    <a:p>
                      <a:pPr marL="342900" indent="-342900" algn="just">
                        <a:buFontTx/>
                        <a:buChar char="-"/>
                      </a:pPr>
                      <a:r>
                        <a:rPr lang="vi-VN" sz="2200">
                          <a:latin typeface="Arial" panose="020B0604020202020204" pitchFamily="34" charset="0"/>
                          <a:cs typeface="Arial" panose="020B0604020202020204" pitchFamily="34" charset="0"/>
                        </a:rPr>
                        <a:t>Rà soát hiện trạng và thu thập dữ liệu sự cố/tổn thất</a:t>
                      </a:r>
                      <a:endParaRPr lang="en-US" sz="2200" baseline="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vi-VN" sz="2200" b="0">
                          <a:solidFill>
                            <a:schemeClr val="tx1"/>
                          </a:solidFill>
                          <a:latin typeface="Arial" panose="020B0604020202020204" pitchFamily="34" charset="0"/>
                          <a:cs typeface="Arial" panose="020B0604020202020204" pitchFamily="34" charset="0"/>
                        </a:rPr>
                        <a:t>- Báo cáo đánh giá hiện trạng QTRR tại TT VHKT</a:t>
                      </a:r>
                      <a:endParaRPr lang="en-US" sz="22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a:latin typeface="Arial" panose="020B0604020202020204" pitchFamily="34" charset="0"/>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en-US" sz="2200">
                          <a:latin typeface="Arial" panose="020B0604020202020204" pitchFamily="34" charset="0"/>
                          <a:cs typeface="Arial" panose="020B0604020202020204" pitchFamily="34" charset="0"/>
                        </a:rPr>
                        <a:t>Ban Giám</a:t>
                      </a:r>
                      <a:r>
                        <a:rPr lang="en-US" sz="2200" baseline="0">
                          <a:latin typeface="Arial" panose="020B0604020202020204" pitchFamily="34" charset="0"/>
                          <a:cs typeface="Arial" panose="020B0604020202020204" pitchFamily="34" charset="0"/>
                        </a:rPr>
                        <a:t> đốc Trung tâm</a:t>
                      </a:r>
                      <a:endParaRPr lang="en-US" sz="220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Arial" panose="020B0604020202020204" pitchFamily="34" charset="0"/>
                          <a:cs typeface="Arial" panose="020B0604020202020204" pitchFamily="34" charset="0"/>
                        </a:rPr>
                        <a:t>T3</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2254545400"/>
                  </a:ext>
                </a:extLst>
              </a:tr>
              <a:tr h="1276366">
                <a:tc>
                  <a:txBody>
                    <a:bodyPr/>
                    <a:lstStyle/>
                    <a:p>
                      <a:pPr algn="ctr"/>
                      <a:r>
                        <a:rPr lang="en-US" sz="2200">
                          <a:latin typeface="Arial" panose="020B0604020202020204" pitchFamily="34" charset="0"/>
                          <a:cs typeface="Arial" panose="020B0604020202020204" pitchFamily="34" charset="0"/>
                        </a:rPr>
                        <a:t>6</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vi-VN" sz="2200" b="1">
                          <a:latin typeface="Arial" panose="020B0604020202020204" pitchFamily="34" charset="0"/>
                          <a:cs typeface="Arial" panose="020B0604020202020204" pitchFamily="34" charset="0"/>
                        </a:rPr>
                        <a:t>Xây dựng KVRR, thư viện rủi ro và danh mục rủi ro trọng yếu cấp Trung tâm</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dirty="0">
                          <a:latin typeface="Arial" panose="020B0604020202020204" pitchFamily="34" charset="0"/>
                          <a:cs typeface="Arial" panose="020B0604020202020204" pitchFamily="34" charset="0"/>
                        </a:rPr>
                        <a:t>Xây</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dựng</a:t>
                      </a:r>
                      <a:r>
                        <a:rPr lang="en-US" sz="2200" baseline="0" dirty="0">
                          <a:latin typeface="Arial" panose="020B0604020202020204" pitchFamily="34" charset="0"/>
                          <a:cs typeface="Arial" panose="020B0604020202020204" pitchFamily="34" charset="0"/>
                        </a:rPr>
                        <a:t> </a:t>
                      </a:r>
                      <a:r>
                        <a:rPr lang="vi-VN" sz="2200" dirty="0">
                          <a:latin typeface="Arial" panose="020B0604020202020204" pitchFamily="34" charset="0"/>
                          <a:cs typeface="Arial" panose="020B0604020202020204" pitchFamily="34" charset="0"/>
                        </a:rPr>
                        <a:t>KVRR</a:t>
                      </a:r>
                      <a:r>
                        <a:rPr lang="en-US" sz="2200" dirty="0">
                          <a:latin typeface="Arial" panose="020B0604020202020204" pitchFamily="34" charset="0"/>
                          <a:cs typeface="Arial" panose="020B0604020202020204" pitchFamily="34" charset="0"/>
                        </a:rPr>
                        <a:t>,</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thư</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viện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rủi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danh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mục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rủi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trọng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yếu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của</a:t>
                      </a:r>
                      <a:r>
                        <a:rPr lang="en-US" sz="2200" baseline="0" dirty="0">
                          <a:latin typeface="Arial" panose="020B0604020202020204" pitchFamily="34" charset="0"/>
                          <a:cs typeface="Arial" panose="020B0604020202020204" pitchFamily="34" charset="0"/>
                        </a:rPr>
                        <a:t> TT </a:t>
                      </a:r>
                      <a:r>
                        <a:rPr lang="en-US" sz="2200" baseline="0" dirty="0" err="1">
                          <a:latin typeface="Arial" panose="020B0604020202020204" pitchFamily="34" charset="0"/>
                          <a:cs typeface="Arial" panose="020B0604020202020204" pitchFamily="34" charset="0"/>
                        </a:rPr>
                        <a:t>dựa</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trên</a:t>
                      </a:r>
                      <a:r>
                        <a:rPr lang="en-US" sz="2200" baseline="0" dirty="0">
                          <a:latin typeface="Arial" panose="020B0604020202020204" pitchFamily="34" charset="0"/>
                          <a:cs typeface="Arial" panose="020B0604020202020204" pitchFamily="34" charset="0"/>
                        </a:rPr>
                        <a:t> KVRR </a:t>
                      </a:r>
                      <a:r>
                        <a:rPr lang="en-US" sz="2200" baseline="0" dirty="0" err="1">
                          <a:latin typeface="Arial" panose="020B0604020202020204" pitchFamily="34" charset="0"/>
                          <a:cs typeface="Arial" panose="020B0604020202020204" pitchFamily="34" charset="0"/>
                        </a:rPr>
                        <a:t>của</a:t>
                      </a:r>
                      <a:r>
                        <a:rPr lang="en-US" sz="2200" baseline="0" dirty="0">
                          <a:latin typeface="Arial" panose="020B0604020202020204" pitchFamily="34" charset="0"/>
                          <a:cs typeface="Arial" panose="020B0604020202020204" pitchFamily="34" charset="0"/>
                        </a:rPr>
                        <a:t> TCT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đặc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thù</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vận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hành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của</a:t>
                      </a:r>
                      <a:r>
                        <a:rPr lang="en-US" sz="2200" baseline="0" dirty="0">
                          <a:latin typeface="Arial" panose="020B0604020202020204" pitchFamily="34" charset="0"/>
                          <a:cs typeface="Arial" panose="020B0604020202020204" pitchFamily="34" charset="0"/>
                        </a:rPr>
                        <a:t> TT.</a:t>
                      </a:r>
                      <a:endParaRPr lang="en-US" sz="22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b="0">
                          <a:solidFill>
                            <a:schemeClr val="tx1"/>
                          </a:solidFill>
                          <a:latin typeface="Arial" panose="020B0604020202020204" pitchFamily="34" charset="0"/>
                          <a:cs typeface="Arial" panose="020B0604020202020204" pitchFamily="34" charset="0"/>
                        </a:rPr>
                        <a:t>KVRR cấp Trung tâm</a:t>
                      </a:r>
                    </a:p>
                    <a:p>
                      <a:pPr marL="342900" indent="-342900" algn="just">
                        <a:buFontTx/>
                        <a:buChar char="-"/>
                      </a:pPr>
                      <a:r>
                        <a:rPr lang="en-US" sz="2200" b="0">
                          <a:solidFill>
                            <a:schemeClr val="tx1"/>
                          </a:solidFill>
                          <a:latin typeface="Arial" panose="020B0604020202020204" pitchFamily="34" charset="0"/>
                          <a:cs typeface="Arial" panose="020B0604020202020204" pitchFamily="34" charset="0"/>
                        </a:rPr>
                        <a:t>Thư</a:t>
                      </a:r>
                      <a:r>
                        <a:rPr lang="en-US" sz="2200" b="0" baseline="0">
                          <a:solidFill>
                            <a:schemeClr val="tx1"/>
                          </a:solidFill>
                          <a:latin typeface="Arial" panose="020B0604020202020204" pitchFamily="34" charset="0"/>
                          <a:cs typeface="Arial" panose="020B0604020202020204" pitchFamily="34" charset="0"/>
                        </a:rPr>
                        <a:t> viện rủi ro của Trung tâm VHKT</a:t>
                      </a:r>
                      <a:endParaRPr lang="en-US" sz="22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a:latin typeface="Arial" panose="020B0604020202020204" pitchFamily="34" charset="0"/>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a:latin typeface="Arial" panose="020B0604020202020204" pitchFamily="34" charset="0"/>
                          <a:cs typeface="Arial" panose="020B0604020202020204" pitchFamily="34" charset="0"/>
                        </a:rPr>
                        <a:t>Ban GĐ TT, các mảng nghiệp</a:t>
                      </a:r>
                      <a:r>
                        <a:rPr lang="en-US" sz="2200" baseline="0">
                          <a:latin typeface="Arial" panose="020B0604020202020204" pitchFamily="34" charset="0"/>
                          <a:cs typeface="Arial" panose="020B0604020202020204" pitchFamily="34" charset="0"/>
                        </a:rPr>
                        <a:t> vụ trung tâm</a:t>
                      </a:r>
                      <a:endParaRPr lang="en-US" sz="220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Arial" panose="020B0604020202020204" pitchFamily="34" charset="0"/>
                          <a:cs typeface="Arial" panose="020B0604020202020204" pitchFamily="34" charset="0"/>
                        </a:rPr>
                        <a:t>T3</a:t>
                      </a:r>
                      <a:endParaRPr lang="en-US" sz="22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891769588"/>
                  </a:ext>
                </a:extLst>
              </a:tr>
              <a:tr h="1276366">
                <a:tc>
                  <a:txBody>
                    <a:bodyPr/>
                    <a:lstStyle/>
                    <a:p>
                      <a:pPr algn="ctr"/>
                      <a:r>
                        <a:rPr lang="en-US" sz="2200">
                          <a:latin typeface="Arial" panose="020B0604020202020204" pitchFamily="34" charset="0"/>
                          <a:cs typeface="Arial" panose="020B0604020202020204" pitchFamily="34" charset="0"/>
                        </a:rPr>
                        <a:t>7</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vi-VN" sz="2200" b="1">
                          <a:latin typeface="Arial" panose="020B0604020202020204" pitchFamily="34" charset="0"/>
                          <a:cs typeface="Arial" panose="020B0604020202020204" pitchFamily="34" charset="0"/>
                        </a:rPr>
                        <a:t>Xây dựng KRI, kế hoạch hành động xử lý rủi ro trọng yếu cấp Trung tâm</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vi-VN" sz="2200" dirty="0">
                          <a:latin typeface="Arial" panose="020B0604020202020204" pitchFamily="34" charset="0"/>
                          <a:cs typeface="Arial" panose="020B0604020202020204" pitchFamily="34" charset="0"/>
                        </a:rPr>
                        <a:t>Xây</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dựng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bộ</a:t>
                      </a:r>
                      <a:r>
                        <a:rPr lang="en-US" sz="2200" baseline="0" dirty="0">
                          <a:latin typeface="Arial" panose="020B0604020202020204" pitchFamily="34" charset="0"/>
                          <a:cs typeface="Arial" panose="020B0604020202020204" pitchFamily="34" charset="0"/>
                        </a:rPr>
                        <a:t> KRI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kế</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hoạch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hành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động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xử</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lý</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rủi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đối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với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các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rủi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trọng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yếu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đã</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được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nhận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diện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trước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đó</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của</a:t>
                      </a:r>
                      <a:r>
                        <a:rPr lang="en-US" sz="2200" baseline="0" dirty="0">
                          <a:latin typeface="Arial" panose="020B0604020202020204" pitchFamily="34" charset="0"/>
                          <a:cs typeface="Arial" panose="020B0604020202020204" pitchFamily="34" charset="0"/>
                        </a:rPr>
                        <a:t> TT.</a:t>
                      </a:r>
                      <a:endParaRPr lang="en-US" sz="22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vi-VN" sz="2200" b="0">
                          <a:solidFill>
                            <a:schemeClr val="tx1"/>
                          </a:solidFill>
                          <a:latin typeface="Arial" panose="020B0604020202020204" pitchFamily="34" charset="0"/>
                          <a:cs typeface="Arial" panose="020B0604020202020204" pitchFamily="34" charset="0"/>
                        </a:rPr>
                        <a:t>Thư viện rủi ro của Trung tâm</a:t>
                      </a:r>
                    </a:p>
                    <a:p>
                      <a:pPr marL="342900" indent="-342900" algn="just">
                        <a:buFontTx/>
                        <a:buChar char="-"/>
                      </a:pPr>
                      <a:r>
                        <a:rPr lang="vi-VN" sz="2200" b="0">
                          <a:solidFill>
                            <a:schemeClr val="tx1"/>
                          </a:solidFill>
                          <a:latin typeface="Arial" panose="020B0604020202020204" pitchFamily="34" charset="0"/>
                          <a:cs typeface="Arial" panose="020B0604020202020204" pitchFamily="34" charset="0"/>
                        </a:rPr>
                        <a:t>Danh mục rủi ro trọng yếu kèm đơn vị chủ trì xử lý rủi ro</a:t>
                      </a:r>
                      <a:endParaRPr lang="en-US" sz="22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a:latin typeface="Arial" panose="020B0604020202020204" pitchFamily="34" charset="0"/>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a:latin typeface="Arial" panose="020B0604020202020204" pitchFamily="34" charset="0"/>
                          <a:cs typeface="Arial" panose="020B0604020202020204" pitchFamily="34" charset="0"/>
                        </a:rPr>
                        <a:t>Các</a:t>
                      </a:r>
                      <a:r>
                        <a:rPr lang="en-US" sz="2200" baseline="0">
                          <a:latin typeface="Arial" panose="020B0604020202020204" pitchFamily="34" charset="0"/>
                          <a:cs typeface="Arial" panose="020B0604020202020204" pitchFamily="34" charset="0"/>
                        </a:rPr>
                        <a:t> mảng nghiệp vụ trung tâm</a:t>
                      </a:r>
                      <a:endParaRPr lang="en-US" sz="220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Arial" panose="020B0604020202020204" pitchFamily="34" charset="0"/>
                          <a:cs typeface="Arial" panose="020B0604020202020204" pitchFamily="34" charset="0"/>
                        </a:rPr>
                        <a:t>T4</a:t>
                      </a:r>
                      <a:endParaRPr lang="en-US" sz="22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118171118"/>
                  </a:ext>
                </a:extLst>
              </a:tr>
              <a:tr h="1276366">
                <a:tc>
                  <a:txBody>
                    <a:bodyPr/>
                    <a:lstStyle/>
                    <a:p>
                      <a:pPr algn="ctr"/>
                      <a:r>
                        <a:rPr lang="en-US" sz="2200">
                          <a:latin typeface="Arial" panose="020B0604020202020204" pitchFamily="34" charset="0"/>
                          <a:cs typeface="Arial" panose="020B0604020202020204" pitchFamily="34" charset="0"/>
                        </a:rPr>
                        <a:t>8</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vi-VN" sz="2200" b="1">
                          <a:latin typeface="Arial" panose="020B0604020202020204" pitchFamily="34" charset="0"/>
                          <a:cs typeface="Arial" panose="020B0604020202020204" pitchFamily="34" charset="0"/>
                        </a:rPr>
                        <a:t>Xây dựng công cụ, dashboard và triển khai KRI, kế hoạch hành động xử lý rủi ro</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dirty="0" err="1">
                          <a:latin typeface="Arial" panose="020B0604020202020204" pitchFamily="34" charset="0"/>
                          <a:cs typeface="Arial" panose="020B0604020202020204" pitchFamily="34" charset="0"/>
                        </a:rPr>
                        <a:t>Thử</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nghiệm</a:t>
                      </a:r>
                      <a:r>
                        <a:rPr lang="en-US" sz="2200" baseline="0" dirty="0">
                          <a:latin typeface="Arial" panose="020B0604020202020204" pitchFamily="34" charset="0"/>
                          <a:cs typeface="Arial" panose="020B0604020202020204" pitchFamily="34" charset="0"/>
                        </a:rPr>
                        <a:t> KRI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KHHĐ </a:t>
                      </a:r>
                      <a:r>
                        <a:rPr lang="en-US" sz="2200" baseline="0" dirty="0" err="1">
                          <a:latin typeface="Arial" panose="020B0604020202020204" pitchFamily="34" charset="0"/>
                          <a:cs typeface="Arial" panose="020B0604020202020204" pitchFamily="34" charset="0"/>
                        </a:rPr>
                        <a:t>tại</a:t>
                      </a:r>
                      <a:r>
                        <a:rPr lang="en-US" sz="2200" baseline="0" dirty="0">
                          <a:latin typeface="Arial" panose="020B0604020202020204" pitchFamily="34" charset="0"/>
                          <a:cs typeface="Arial" panose="020B0604020202020204" pitchFamily="34" charset="0"/>
                        </a:rPr>
                        <a:t> TT, </a:t>
                      </a:r>
                      <a:r>
                        <a:rPr lang="en-US" sz="2200" baseline="0" dirty="0" err="1">
                          <a:latin typeface="Arial" panose="020B0604020202020204" pitchFamily="34" charset="0"/>
                          <a:cs typeface="Arial" panose="020B0604020202020204" pitchFamily="34" charset="0"/>
                        </a:rPr>
                        <a:t>đánh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giá</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hiệu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quả</a:t>
                      </a:r>
                      <a:r>
                        <a:rPr lang="en-US" sz="2200" baseline="0" dirty="0">
                          <a:latin typeface="Arial" panose="020B0604020202020204" pitchFamily="34" charset="0"/>
                          <a:cs typeface="Arial" panose="020B0604020202020204" pitchFamily="34" charset="0"/>
                        </a:rPr>
                        <a:t>.</a:t>
                      </a:r>
                    </a:p>
                    <a:p>
                      <a:pPr marL="342900" indent="-342900" algn="just">
                        <a:buFontTx/>
                        <a:buChar char="-"/>
                      </a:pPr>
                      <a:r>
                        <a:rPr lang="en-US" sz="2200" baseline="0" dirty="0" err="1">
                          <a:latin typeface="Arial" panose="020B0604020202020204" pitchFamily="34" charset="0"/>
                          <a:cs typeface="Arial" panose="020B0604020202020204" pitchFamily="34" charset="0"/>
                        </a:rPr>
                        <a:t>Nghiên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cứu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xây</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dựng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công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cụ</a:t>
                      </a:r>
                      <a:r>
                        <a:rPr lang="en-US" sz="2200" baseline="0" dirty="0">
                          <a:latin typeface="Arial" panose="020B0604020202020204" pitchFamily="34" charset="0"/>
                          <a:cs typeface="Arial" panose="020B0604020202020204" pitchFamily="34" charset="0"/>
                        </a:rPr>
                        <a:t>/ dashboard ERM </a:t>
                      </a:r>
                      <a:r>
                        <a:rPr lang="en-US" sz="2200" baseline="0" dirty="0" err="1">
                          <a:latin typeface="Arial" panose="020B0604020202020204" pitchFamily="34" charset="0"/>
                          <a:cs typeface="Arial" panose="020B0604020202020204" pitchFamily="34" charset="0"/>
                        </a:rPr>
                        <a:t>theo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dõi</a:t>
                      </a:r>
                      <a:r>
                        <a:rPr lang="en-US" sz="2200" baseline="0" dirty="0">
                          <a:latin typeface="Arial" panose="020B0604020202020204" pitchFamily="34" charset="0"/>
                          <a:cs typeface="Arial" panose="020B0604020202020204" pitchFamily="34" charset="0"/>
                        </a:rPr>
                        <a:t> KRI, </a:t>
                      </a:r>
                      <a:r>
                        <a:rPr lang="en-US" sz="2200" baseline="0" dirty="0" err="1">
                          <a:latin typeface="Arial" panose="020B0604020202020204" pitchFamily="34" charset="0"/>
                          <a:cs typeface="Arial" panose="020B0604020202020204" pitchFamily="34" charset="0"/>
                        </a:rPr>
                        <a:t>sự</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kiện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tổn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thất</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theo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thời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gian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thực</a:t>
                      </a:r>
                      <a:r>
                        <a:rPr lang="en-US" sz="2200" baseline="0" dirty="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b="0">
                          <a:solidFill>
                            <a:schemeClr val="tx1"/>
                          </a:solidFill>
                          <a:latin typeface="Arial" panose="020B0604020202020204" pitchFamily="34" charset="0"/>
                          <a:cs typeface="Arial" panose="020B0604020202020204" pitchFamily="34" charset="0"/>
                        </a:rPr>
                        <a:t>Công</a:t>
                      </a:r>
                      <a:r>
                        <a:rPr lang="en-US" sz="2200" b="0" baseline="0">
                          <a:solidFill>
                            <a:schemeClr val="tx1"/>
                          </a:solidFill>
                          <a:latin typeface="Arial" panose="020B0604020202020204" pitchFamily="34" charset="0"/>
                          <a:cs typeface="Arial" panose="020B0604020202020204" pitchFamily="34" charset="0"/>
                        </a:rPr>
                        <a:t> cụ/ dashboard theo dõi KRI và sự kiện tổn thất</a:t>
                      </a:r>
                      <a:endParaRPr lang="en-US" sz="22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a:latin typeface="Arial" panose="020B0604020202020204" pitchFamily="34" charset="0"/>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a:latin typeface="Arial" panose="020B0604020202020204" pitchFamily="34" charset="0"/>
                          <a:cs typeface="Arial" panose="020B0604020202020204" pitchFamily="34" charset="0"/>
                        </a:rPr>
                        <a:t>TT Công</a:t>
                      </a:r>
                      <a:r>
                        <a:rPr lang="en-US" sz="2200" baseline="0">
                          <a:latin typeface="Arial" panose="020B0604020202020204" pitchFamily="34" charset="0"/>
                          <a:cs typeface="Arial" panose="020B0604020202020204" pitchFamily="34" charset="0"/>
                        </a:rPr>
                        <a:t> nghệ</a:t>
                      </a:r>
                    </a:p>
                    <a:p>
                      <a:pPr algn="ctr"/>
                      <a:r>
                        <a:rPr lang="en-US" sz="2200" baseline="0">
                          <a:latin typeface="Arial" panose="020B0604020202020204" pitchFamily="34" charset="0"/>
                          <a:cs typeface="Arial" panose="020B0604020202020204" pitchFamily="34" charset="0"/>
                        </a:rPr>
                        <a:t>Các mảng nghiệp vụ trung tâm</a:t>
                      </a:r>
                      <a:endParaRPr lang="en-US" sz="220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Arial" panose="020B0604020202020204" pitchFamily="34" charset="0"/>
                          <a:cs typeface="Arial" panose="020B0604020202020204" pitchFamily="34" charset="0"/>
                        </a:rPr>
                        <a:t>T4-T8</a:t>
                      </a:r>
                      <a:endParaRPr lang="en-US" sz="22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830253954"/>
                  </a:ext>
                </a:extLst>
              </a:tr>
            </a:tbl>
          </a:graphicData>
        </a:graphic>
      </p:graphicFrame>
      <p:grpSp>
        <p:nvGrpSpPr>
          <p:cNvPr id="8" name="Group 1089"/>
          <p:cNvGrpSpPr>
            <a:grpSpLocks noChangeAspect="1"/>
          </p:cNvGrpSpPr>
          <p:nvPr/>
        </p:nvGrpSpPr>
        <p:grpSpPr bwMode="auto">
          <a:xfrm>
            <a:off x="221797" y="2552700"/>
            <a:ext cx="457200" cy="457200"/>
            <a:chOff x="5756" y="2047"/>
            <a:chExt cx="227" cy="226"/>
          </a:xfrm>
          <a:solidFill>
            <a:srgbClr val="EE0033"/>
          </a:solidFill>
        </p:grpSpPr>
        <p:sp>
          <p:nvSpPr>
            <p:cNvPr id="9" name="Freeform 1090"/>
            <p:cNvSpPr>
              <a:spLocks/>
            </p:cNvSpPr>
            <p:nvPr/>
          </p:nvSpPr>
          <p:spPr bwMode="auto">
            <a:xfrm>
              <a:off x="5808" y="2103"/>
              <a:ext cx="114" cy="115"/>
            </a:xfrm>
            <a:custGeom>
              <a:avLst/>
              <a:gdLst>
                <a:gd name="T0" fmla="*/ 613 w 762"/>
                <a:gd name="T1" fmla="*/ 464 h 763"/>
                <a:gd name="T2" fmla="*/ 497 w 762"/>
                <a:gd name="T3" fmla="*/ 518 h 763"/>
                <a:gd name="T4" fmla="*/ 477 w 762"/>
                <a:gd name="T5" fmla="*/ 522 h 763"/>
                <a:gd name="T6" fmla="*/ 304 w 762"/>
                <a:gd name="T7" fmla="*/ 429 h 763"/>
                <a:gd name="T8" fmla="*/ 295 w 762"/>
                <a:gd name="T9" fmla="*/ 412 h 763"/>
                <a:gd name="T10" fmla="*/ 299 w 762"/>
                <a:gd name="T11" fmla="*/ 381 h 763"/>
                <a:gd name="T12" fmla="*/ 293 w 762"/>
                <a:gd name="T13" fmla="*/ 342 h 763"/>
                <a:gd name="T14" fmla="*/ 300 w 762"/>
                <a:gd name="T15" fmla="*/ 324 h 763"/>
                <a:gd name="T16" fmla="*/ 490 w 762"/>
                <a:gd name="T17" fmla="*/ 207 h 763"/>
                <a:gd name="T18" fmla="*/ 508 w 762"/>
                <a:gd name="T19" fmla="*/ 208 h 763"/>
                <a:gd name="T20" fmla="*/ 580 w 762"/>
                <a:gd name="T21" fmla="*/ 233 h 763"/>
                <a:gd name="T22" fmla="*/ 696 w 762"/>
                <a:gd name="T23" fmla="*/ 116 h 763"/>
                <a:gd name="T24" fmla="*/ 580 w 762"/>
                <a:gd name="T25" fmla="*/ 0 h 763"/>
                <a:gd name="T26" fmla="*/ 463 w 762"/>
                <a:gd name="T27" fmla="*/ 116 h 763"/>
                <a:gd name="T28" fmla="*/ 465 w 762"/>
                <a:gd name="T29" fmla="*/ 139 h 763"/>
                <a:gd name="T30" fmla="*/ 458 w 762"/>
                <a:gd name="T31" fmla="*/ 156 h 763"/>
                <a:gd name="T32" fmla="*/ 269 w 762"/>
                <a:gd name="T33" fmla="*/ 272 h 763"/>
                <a:gd name="T34" fmla="*/ 249 w 762"/>
                <a:gd name="T35" fmla="*/ 271 h 763"/>
                <a:gd name="T36" fmla="*/ 149 w 762"/>
                <a:gd name="T37" fmla="*/ 232 h 763"/>
                <a:gd name="T38" fmla="*/ 0 w 762"/>
                <a:gd name="T39" fmla="*/ 381 h 763"/>
                <a:gd name="T40" fmla="*/ 149 w 762"/>
                <a:gd name="T41" fmla="*/ 531 h 763"/>
                <a:gd name="T42" fmla="*/ 256 w 762"/>
                <a:gd name="T43" fmla="*/ 486 h 763"/>
                <a:gd name="T44" fmla="*/ 267 w 762"/>
                <a:gd name="T45" fmla="*/ 481 h 763"/>
                <a:gd name="T46" fmla="*/ 275 w 762"/>
                <a:gd name="T47" fmla="*/ 483 h 763"/>
                <a:gd name="T48" fmla="*/ 456 w 762"/>
                <a:gd name="T49" fmla="*/ 579 h 763"/>
                <a:gd name="T50" fmla="*/ 464 w 762"/>
                <a:gd name="T51" fmla="*/ 595 h 763"/>
                <a:gd name="T52" fmla="*/ 463 w 762"/>
                <a:gd name="T53" fmla="*/ 613 h 763"/>
                <a:gd name="T54" fmla="*/ 613 w 762"/>
                <a:gd name="T55" fmla="*/ 763 h 763"/>
                <a:gd name="T56" fmla="*/ 762 w 762"/>
                <a:gd name="T57" fmla="*/ 613 h 763"/>
                <a:gd name="T58" fmla="*/ 613 w 762"/>
                <a:gd name="T59" fmla="*/ 464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62" h="763">
                  <a:moveTo>
                    <a:pt x="613" y="464"/>
                  </a:moveTo>
                  <a:cubicBezTo>
                    <a:pt x="568" y="464"/>
                    <a:pt x="526" y="484"/>
                    <a:pt x="497" y="518"/>
                  </a:cubicBezTo>
                  <a:cubicBezTo>
                    <a:pt x="492" y="524"/>
                    <a:pt x="484" y="526"/>
                    <a:pt x="477" y="522"/>
                  </a:cubicBezTo>
                  <a:cubicBezTo>
                    <a:pt x="304" y="429"/>
                    <a:pt x="304" y="429"/>
                    <a:pt x="304" y="429"/>
                  </a:cubicBezTo>
                  <a:cubicBezTo>
                    <a:pt x="297" y="426"/>
                    <a:pt x="294" y="419"/>
                    <a:pt x="295" y="412"/>
                  </a:cubicBezTo>
                  <a:cubicBezTo>
                    <a:pt x="298" y="402"/>
                    <a:pt x="299" y="391"/>
                    <a:pt x="299" y="381"/>
                  </a:cubicBezTo>
                  <a:cubicBezTo>
                    <a:pt x="299" y="368"/>
                    <a:pt x="297" y="355"/>
                    <a:pt x="293" y="342"/>
                  </a:cubicBezTo>
                  <a:cubicBezTo>
                    <a:pt x="291" y="335"/>
                    <a:pt x="294" y="328"/>
                    <a:pt x="300" y="324"/>
                  </a:cubicBezTo>
                  <a:cubicBezTo>
                    <a:pt x="490" y="207"/>
                    <a:pt x="490" y="207"/>
                    <a:pt x="490" y="207"/>
                  </a:cubicBezTo>
                  <a:cubicBezTo>
                    <a:pt x="496" y="204"/>
                    <a:pt x="503" y="204"/>
                    <a:pt x="508" y="208"/>
                  </a:cubicBezTo>
                  <a:cubicBezTo>
                    <a:pt x="529" y="224"/>
                    <a:pt x="553" y="233"/>
                    <a:pt x="580" y="233"/>
                  </a:cubicBezTo>
                  <a:cubicBezTo>
                    <a:pt x="644" y="233"/>
                    <a:pt x="696" y="181"/>
                    <a:pt x="696" y="116"/>
                  </a:cubicBezTo>
                  <a:cubicBezTo>
                    <a:pt x="696" y="52"/>
                    <a:pt x="644" y="0"/>
                    <a:pt x="580" y="0"/>
                  </a:cubicBezTo>
                  <a:cubicBezTo>
                    <a:pt x="515" y="0"/>
                    <a:pt x="463" y="52"/>
                    <a:pt x="463" y="116"/>
                  </a:cubicBezTo>
                  <a:cubicBezTo>
                    <a:pt x="463" y="124"/>
                    <a:pt x="464" y="132"/>
                    <a:pt x="465" y="139"/>
                  </a:cubicBezTo>
                  <a:cubicBezTo>
                    <a:pt x="467" y="145"/>
                    <a:pt x="464" y="152"/>
                    <a:pt x="458" y="156"/>
                  </a:cubicBezTo>
                  <a:cubicBezTo>
                    <a:pt x="269" y="272"/>
                    <a:pt x="269" y="272"/>
                    <a:pt x="269" y="272"/>
                  </a:cubicBezTo>
                  <a:cubicBezTo>
                    <a:pt x="263" y="276"/>
                    <a:pt x="255" y="275"/>
                    <a:pt x="249" y="271"/>
                  </a:cubicBezTo>
                  <a:cubicBezTo>
                    <a:pt x="222" y="246"/>
                    <a:pt x="186" y="232"/>
                    <a:pt x="149" y="232"/>
                  </a:cubicBezTo>
                  <a:cubicBezTo>
                    <a:pt x="67" y="232"/>
                    <a:pt x="0" y="299"/>
                    <a:pt x="0" y="381"/>
                  </a:cubicBezTo>
                  <a:cubicBezTo>
                    <a:pt x="0" y="464"/>
                    <a:pt x="67" y="531"/>
                    <a:pt x="149" y="531"/>
                  </a:cubicBezTo>
                  <a:cubicBezTo>
                    <a:pt x="190" y="531"/>
                    <a:pt x="228" y="515"/>
                    <a:pt x="256" y="486"/>
                  </a:cubicBezTo>
                  <a:cubicBezTo>
                    <a:pt x="259" y="483"/>
                    <a:pt x="263" y="481"/>
                    <a:pt x="267" y="481"/>
                  </a:cubicBezTo>
                  <a:cubicBezTo>
                    <a:pt x="270" y="481"/>
                    <a:pt x="273" y="482"/>
                    <a:pt x="275" y="483"/>
                  </a:cubicBezTo>
                  <a:cubicBezTo>
                    <a:pt x="456" y="579"/>
                    <a:pt x="456" y="579"/>
                    <a:pt x="456" y="579"/>
                  </a:cubicBezTo>
                  <a:cubicBezTo>
                    <a:pt x="462" y="582"/>
                    <a:pt x="465" y="589"/>
                    <a:pt x="464" y="595"/>
                  </a:cubicBezTo>
                  <a:cubicBezTo>
                    <a:pt x="464" y="601"/>
                    <a:pt x="463" y="607"/>
                    <a:pt x="463" y="613"/>
                  </a:cubicBezTo>
                  <a:cubicBezTo>
                    <a:pt x="463" y="696"/>
                    <a:pt x="530" y="763"/>
                    <a:pt x="613" y="763"/>
                  </a:cubicBezTo>
                  <a:cubicBezTo>
                    <a:pt x="695" y="763"/>
                    <a:pt x="762" y="696"/>
                    <a:pt x="762" y="613"/>
                  </a:cubicBezTo>
                  <a:cubicBezTo>
                    <a:pt x="762" y="531"/>
                    <a:pt x="695" y="464"/>
                    <a:pt x="613" y="46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10" name="Freeform 1091"/>
            <p:cNvSpPr>
              <a:spLocks noEditPoints="1"/>
            </p:cNvSpPr>
            <p:nvPr/>
          </p:nvSpPr>
          <p:spPr bwMode="auto">
            <a:xfrm>
              <a:off x="5756" y="2047"/>
              <a:ext cx="227" cy="226"/>
            </a:xfrm>
            <a:custGeom>
              <a:avLst/>
              <a:gdLst>
                <a:gd name="T0" fmla="*/ 753 w 1506"/>
                <a:gd name="T1" fmla="*/ 0 h 1506"/>
                <a:gd name="T2" fmla="*/ 0 w 1506"/>
                <a:gd name="T3" fmla="*/ 753 h 1506"/>
                <a:gd name="T4" fmla="*/ 753 w 1506"/>
                <a:gd name="T5" fmla="*/ 1506 h 1506"/>
                <a:gd name="T6" fmla="*/ 1506 w 1506"/>
                <a:gd name="T7" fmla="*/ 753 h 1506"/>
                <a:gd name="T8" fmla="*/ 753 w 1506"/>
                <a:gd name="T9" fmla="*/ 0 h 1506"/>
                <a:gd name="T10" fmla="*/ 955 w 1506"/>
                <a:gd name="T11" fmla="*/ 1169 h 1506"/>
                <a:gd name="T12" fmla="*/ 773 w 1506"/>
                <a:gd name="T13" fmla="*/ 987 h 1506"/>
                <a:gd name="T14" fmla="*/ 773 w 1506"/>
                <a:gd name="T15" fmla="*/ 977 h 1506"/>
                <a:gd name="T16" fmla="*/ 612 w 1506"/>
                <a:gd name="T17" fmla="*/ 891 h 1506"/>
                <a:gd name="T18" fmla="*/ 491 w 1506"/>
                <a:gd name="T19" fmla="*/ 937 h 1506"/>
                <a:gd name="T20" fmla="*/ 309 w 1506"/>
                <a:gd name="T21" fmla="*/ 755 h 1506"/>
                <a:gd name="T22" fmla="*/ 491 w 1506"/>
                <a:gd name="T23" fmla="*/ 574 h 1506"/>
                <a:gd name="T24" fmla="*/ 604 w 1506"/>
                <a:gd name="T25" fmla="*/ 613 h 1506"/>
                <a:gd name="T26" fmla="*/ 774 w 1506"/>
                <a:gd name="T27" fmla="*/ 508 h 1506"/>
                <a:gd name="T28" fmla="*/ 773 w 1506"/>
                <a:gd name="T29" fmla="*/ 490 h 1506"/>
                <a:gd name="T30" fmla="*/ 922 w 1506"/>
                <a:gd name="T31" fmla="*/ 342 h 1506"/>
                <a:gd name="T32" fmla="*/ 1070 w 1506"/>
                <a:gd name="T33" fmla="*/ 490 h 1506"/>
                <a:gd name="T34" fmla="*/ 922 w 1506"/>
                <a:gd name="T35" fmla="*/ 639 h 1506"/>
                <a:gd name="T36" fmla="*/ 840 w 1506"/>
                <a:gd name="T37" fmla="*/ 614 h 1506"/>
                <a:gd name="T38" fmla="*/ 669 w 1506"/>
                <a:gd name="T39" fmla="*/ 719 h 1506"/>
                <a:gd name="T40" fmla="*/ 673 w 1506"/>
                <a:gd name="T41" fmla="*/ 755 h 1506"/>
                <a:gd name="T42" fmla="*/ 671 w 1506"/>
                <a:gd name="T43" fmla="*/ 781 h 1506"/>
                <a:gd name="T44" fmla="*/ 823 w 1506"/>
                <a:gd name="T45" fmla="*/ 862 h 1506"/>
                <a:gd name="T46" fmla="*/ 955 w 1506"/>
                <a:gd name="T47" fmla="*/ 805 h 1506"/>
                <a:gd name="T48" fmla="*/ 1136 w 1506"/>
                <a:gd name="T49" fmla="*/ 987 h 1506"/>
                <a:gd name="T50" fmla="*/ 955 w 1506"/>
                <a:gd name="T51" fmla="*/ 1169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06" h="1506">
                  <a:moveTo>
                    <a:pt x="753" y="0"/>
                  </a:moveTo>
                  <a:cubicBezTo>
                    <a:pt x="337" y="0"/>
                    <a:pt x="0" y="337"/>
                    <a:pt x="0" y="753"/>
                  </a:cubicBezTo>
                  <a:cubicBezTo>
                    <a:pt x="0" y="1169"/>
                    <a:pt x="337" y="1506"/>
                    <a:pt x="753" y="1506"/>
                  </a:cubicBezTo>
                  <a:cubicBezTo>
                    <a:pt x="1169" y="1506"/>
                    <a:pt x="1506" y="1169"/>
                    <a:pt x="1506" y="753"/>
                  </a:cubicBezTo>
                  <a:cubicBezTo>
                    <a:pt x="1506" y="337"/>
                    <a:pt x="1169" y="0"/>
                    <a:pt x="753" y="0"/>
                  </a:cubicBezTo>
                  <a:close/>
                  <a:moveTo>
                    <a:pt x="955" y="1169"/>
                  </a:moveTo>
                  <a:cubicBezTo>
                    <a:pt x="854" y="1169"/>
                    <a:pt x="773" y="1087"/>
                    <a:pt x="773" y="987"/>
                  </a:cubicBezTo>
                  <a:cubicBezTo>
                    <a:pt x="773" y="984"/>
                    <a:pt x="773" y="980"/>
                    <a:pt x="773" y="977"/>
                  </a:cubicBezTo>
                  <a:cubicBezTo>
                    <a:pt x="612" y="891"/>
                    <a:pt x="612" y="891"/>
                    <a:pt x="612" y="891"/>
                  </a:cubicBezTo>
                  <a:cubicBezTo>
                    <a:pt x="579" y="921"/>
                    <a:pt x="536" y="937"/>
                    <a:pt x="491" y="937"/>
                  </a:cubicBezTo>
                  <a:cubicBezTo>
                    <a:pt x="391" y="937"/>
                    <a:pt x="309" y="856"/>
                    <a:pt x="309" y="755"/>
                  </a:cubicBezTo>
                  <a:cubicBezTo>
                    <a:pt x="309" y="655"/>
                    <a:pt x="391" y="574"/>
                    <a:pt x="491" y="574"/>
                  </a:cubicBezTo>
                  <a:cubicBezTo>
                    <a:pt x="532" y="574"/>
                    <a:pt x="572" y="587"/>
                    <a:pt x="604" y="613"/>
                  </a:cubicBezTo>
                  <a:cubicBezTo>
                    <a:pt x="774" y="508"/>
                    <a:pt x="774" y="508"/>
                    <a:pt x="774" y="508"/>
                  </a:cubicBezTo>
                  <a:cubicBezTo>
                    <a:pt x="773" y="502"/>
                    <a:pt x="773" y="496"/>
                    <a:pt x="773" y="490"/>
                  </a:cubicBezTo>
                  <a:cubicBezTo>
                    <a:pt x="773" y="409"/>
                    <a:pt x="840" y="342"/>
                    <a:pt x="922" y="342"/>
                  </a:cubicBezTo>
                  <a:cubicBezTo>
                    <a:pt x="1004" y="342"/>
                    <a:pt x="1070" y="409"/>
                    <a:pt x="1070" y="490"/>
                  </a:cubicBezTo>
                  <a:cubicBezTo>
                    <a:pt x="1070" y="572"/>
                    <a:pt x="1004" y="639"/>
                    <a:pt x="922" y="639"/>
                  </a:cubicBezTo>
                  <a:cubicBezTo>
                    <a:pt x="892" y="639"/>
                    <a:pt x="864" y="630"/>
                    <a:pt x="840" y="614"/>
                  </a:cubicBezTo>
                  <a:cubicBezTo>
                    <a:pt x="669" y="719"/>
                    <a:pt x="669" y="719"/>
                    <a:pt x="669" y="719"/>
                  </a:cubicBezTo>
                  <a:cubicBezTo>
                    <a:pt x="672" y="731"/>
                    <a:pt x="673" y="743"/>
                    <a:pt x="673" y="755"/>
                  </a:cubicBezTo>
                  <a:cubicBezTo>
                    <a:pt x="673" y="764"/>
                    <a:pt x="672" y="772"/>
                    <a:pt x="671" y="781"/>
                  </a:cubicBezTo>
                  <a:cubicBezTo>
                    <a:pt x="823" y="862"/>
                    <a:pt x="823" y="862"/>
                    <a:pt x="823" y="862"/>
                  </a:cubicBezTo>
                  <a:cubicBezTo>
                    <a:pt x="858" y="826"/>
                    <a:pt x="905" y="805"/>
                    <a:pt x="955" y="805"/>
                  </a:cubicBezTo>
                  <a:cubicBezTo>
                    <a:pt x="1055" y="805"/>
                    <a:pt x="1136" y="887"/>
                    <a:pt x="1136" y="987"/>
                  </a:cubicBezTo>
                  <a:cubicBezTo>
                    <a:pt x="1136" y="1087"/>
                    <a:pt x="1055" y="1169"/>
                    <a:pt x="955" y="11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084672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
          <p:cNvGrpSpPr/>
          <p:nvPr/>
        </p:nvGrpSpPr>
        <p:grpSpPr>
          <a:xfrm>
            <a:off x="0" y="114300"/>
            <a:ext cx="10744200" cy="1024391"/>
            <a:chOff x="0" y="0"/>
            <a:chExt cx="17492870" cy="1554226"/>
          </a:xfrm>
          <a:solidFill>
            <a:schemeClr val="bg1">
              <a:lumMod val="95000"/>
            </a:schemeClr>
          </a:solidFill>
        </p:grpSpPr>
        <p:sp>
          <p:nvSpPr>
            <p:cNvPr id="31" name="Freeform 3"/>
            <p:cNvSpPr/>
            <p:nvPr/>
          </p:nvSpPr>
          <p:spPr>
            <a:xfrm>
              <a:off x="0" y="0"/>
              <a:ext cx="17492870" cy="1554226"/>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lstStyle/>
            <a:p>
              <a:endParaRPr lang="en-US"/>
            </a:p>
          </p:txBody>
        </p:sp>
      </p:grpSp>
      <p:grpSp>
        <p:nvGrpSpPr>
          <p:cNvPr id="32" name="Group 4"/>
          <p:cNvGrpSpPr/>
          <p:nvPr/>
        </p:nvGrpSpPr>
        <p:grpSpPr>
          <a:xfrm>
            <a:off x="0" y="114300"/>
            <a:ext cx="936307" cy="1024391"/>
            <a:chOff x="0" y="0"/>
            <a:chExt cx="1248410" cy="1554290"/>
          </a:xfrm>
        </p:grpSpPr>
        <p:sp>
          <p:nvSpPr>
            <p:cNvPr id="3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34" name="TextBox 34"/>
          <p:cNvSpPr txBox="1"/>
          <p:nvPr/>
        </p:nvSpPr>
        <p:spPr>
          <a:xfrm>
            <a:off x="1066800" y="164830"/>
            <a:ext cx="10614184" cy="923330"/>
          </a:xfrm>
          <a:prstGeom prst="rect">
            <a:avLst/>
          </a:prstGeom>
        </p:spPr>
        <p:txBody>
          <a:bodyPr wrap="square" lIns="0" tIns="0" rIns="0" bIns="0" rtlCol="0" anchor="t">
            <a:spAutoFit/>
          </a:bodyPr>
          <a:lstStyle/>
          <a:p>
            <a:pPr algn="l"/>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3. Kế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hoạch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triển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khai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QTRRDN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algn="l"/>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Kế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hoạch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chi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tiết</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(3/4)</a:t>
            </a:r>
          </a:p>
        </p:txBody>
      </p:sp>
      <p:graphicFrame>
        <p:nvGraphicFramePr>
          <p:cNvPr id="3" name="Table 2"/>
          <p:cNvGraphicFramePr>
            <a:graphicFrameLocks noGrp="1"/>
          </p:cNvGraphicFramePr>
          <p:nvPr>
            <p:extLst>
              <p:ext uri="{D42A27DB-BD31-4B8C-83A1-F6EECF244321}">
                <p14:modId xmlns:p14="http://schemas.microsoft.com/office/powerpoint/2010/main" val="129982280"/>
              </p:ext>
            </p:extLst>
          </p:nvPr>
        </p:nvGraphicFramePr>
        <p:xfrm>
          <a:off x="152401" y="1363980"/>
          <a:ext cx="17983196" cy="8656321"/>
        </p:xfrm>
        <a:graphic>
          <a:graphicData uri="http://schemas.openxmlformats.org/drawingml/2006/table">
            <a:tbl>
              <a:tblPr firstRow="1" bandRow="1">
                <a:tableStyleId>{72833802-FEF1-4C79-8D5D-14CF1EAF98D9}</a:tableStyleId>
              </a:tblPr>
              <a:tblGrid>
                <a:gridCol w="685799">
                  <a:extLst>
                    <a:ext uri="{9D8B030D-6E8A-4147-A177-3AD203B41FA5}">
                      <a16:colId xmlns:a16="http://schemas.microsoft.com/office/drawing/2014/main" val="354232345"/>
                    </a:ext>
                  </a:extLst>
                </a:gridCol>
                <a:gridCol w="2971800">
                  <a:extLst>
                    <a:ext uri="{9D8B030D-6E8A-4147-A177-3AD203B41FA5}">
                      <a16:colId xmlns:a16="http://schemas.microsoft.com/office/drawing/2014/main" val="599980580"/>
                    </a:ext>
                  </a:extLst>
                </a:gridCol>
                <a:gridCol w="5105400">
                  <a:extLst>
                    <a:ext uri="{9D8B030D-6E8A-4147-A177-3AD203B41FA5}">
                      <a16:colId xmlns:a16="http://schemas.microsoft.com/office/drawing/2014/main" val="354563642"/>
                    </a:ext>
                  </a:extLst>
                </a:gridCol>
                <a:gridCol w="3352800">
                  <a:extLst>
                    <a:ext uri="{9D8B030D-6E8A-4147-A177-3AD203B41FA5}">
                      <a16:colId xmlns:a16="http://schemas.microsoft.com/office/drawing/2014/main" val="3226650757"/>
                    </a:ext>
                  </a:extLst>
                </a:gridCol>
                <a:gridCol w="2209800">
                  <a:extLst>
                    <a:ext uri="{9D8B030D-6E8A-4147-A177-3AD203B41FA5}">
                      <a16:colId xmlns:a16="http://schemas.microsoft.com/office/drawing/2014/main" val="1764408370"/>
                    </a:ext>
                  </a:extLst>
                </a:gridCol>
                <a:gridCol w="1828800">
                  <a:extLst>
                    <a:ext uri="{9D8B030D-6E8A-4147-A177-3AD203B41FA5}">
                      <a16:colId xmlns:a16="http://schemas.microsoft.com/office/drawing/2014/main" val="1725199942"/>
                    </a:ext>
                  </a:extLst>
                </a:gridCol>
                <a:gridCol w="1828797">
                  <a:extLst>
                    <a:ext uri="{9D8B030D-6E8A-4147-A177-3AD203B41FA5}">
                      <a16:colId xmlns:a16="http://schemas.microsoft.com/office/drawing/2014/main" val="4266279641"/>
                    </a:ext>
                  </a:extLst>
                </a:gridCol>
              </a:tblGrid>
              <a:tr h="1283637">
                <a:tc>
                  <a:txBody>
                    <a:bodyPr/>
                    <a:lstStyle/>
                    <a:p>
                      <a:pPr algn="ctr"/>
                      <a:r>
                        <a:rPr lang="en-US" sz="2400" dirty="0">
                          <a:latin typeface="Arial" panose="020B0604020202020204" pitchFamily="34" charset="0"/>
                          <a:cs typeface="Arial" panose="020B0604020202020204" pitchFamily="34" charset="0"/>
                        </a:rPr>
                        <a:t>STT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CÔNG</a:t>
                      </a:r>
                      <a:r>
                        <a:rPr lang="en-US" sz="2400" baseline="0" dirty="0">
                          <a:latin typeface="Arial" panose="020B0604020202020204" pitchFamily="34" charset="0"/>
                          <a:cs typeface="Arial" panose="020B0604020202020204" pitchFamily="34" charset="0"/>
                        </a:rPr>
                        <a:t> VIỆC/HÀNH ĐỘNG</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CHI TIẾT</a:t>
                      </a:r>
                      <a:r>
                        <a:rPr lang="en-US" sz="2400" baseline="0" dirty="0">
                          <a:latin typeface="Arial" panose="020B0604020202020204" pitchFamily="34" charset="0"/>
                          <a:cs typeface="Arial" panose="020B0604020202020204" pitchFamily="34" charset="0"/>
                        </a:rPr>
                        <a:t> CÔNG VIỆC</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SẢN PHẨM ĐẦU RA / </a:t>
                      </a:r>
                    </a:p>
                    <a:p>
                      <a:pPr algn="ctr"/>
                      <a:r>
                        <a:rPr lang="en-US" sz="2400" dirty="0">
                          <a:latin typeface="Arial" panose="020B0604020202020204" pitchFamily="34" charset="0"/>
                          <a:cs typeface="Arial" panose="020B0604020202020204" pitchFamily="34" charset="0"/>
                        </a:rPr>
                        <a:t>VĂN BẢN TRÌNH BTGĐ</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CHỦ TRÌ</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PHỐI</a:t>
                      </a:r>
                      <a:r>
                        <a:rPr lang="en-US" sz="2400" baseline="0" dirty="0">
                          <a:latin typeface="Arial" panose="020B0604020202020204" pitchFamily="34" charset="0"/>
                          <a:cs typeface="Arial" panose="020B0604020202020204" pitchFamily="34" charset="0"/>
                        </a:rPr>
                        <a:t> HỢP</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THỜI</a:t>
                      </a:r>
                      <a:r>
                        <a:rPr lang="en-US" sz="2400" baseline="0" dirty="0">
                          <a:latin typeface="Arial" panose="020B0604020202020204" pitchFamily="34" charset="0"/>
                          <a:cs typeface="Arial" panose="020B0604020202020204" pitchFamily="34" charset="0"/>
                        </a:rPr>
                        <a:t> GIAN</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extLst>
                  <a:ext uri="{0D108BD9-81ED-4DB2-BD59-A6C34878D82A}">
                    <a16:rowId xmlns:a16="http://schemas.microsoft.com/office/drawing/2014/main" val="459785028"/>
                  </a:ext>
                </a:extLst>
              </a:tr>
              <a:tr h="559534">
                <a:tc gridSpan="7">
                  <a:txBody>
                    <a:bodyPr/>
                    <a:lstStyle/>
                    <a:p>
                      <a:r>
                        <a:rPr lang="en-US" sz="2800" b="1" dirty="0">
                          <a:solidFill>
                            <a:srgbClr val="C00000"/>
                          </a:solidFill>
                          <a:latin typeface="Arial" panose="020B0604020202020204" pitchFamily="34" charset="0"/>
                          <a:cs typeface="Arial" panose="020B0604020202020204" pitchFamily="34" charset="0"/>
                        </a:rPr>
                        <a:t>      GIAI</a:t>
                      </a:r>
                      <a:r>
                        <a:rPr lang="en-US" sz="2800" b="1" baseline="0" dirty="0">
                          <a:solidFill>
                            <a:srgbClr val="C00000"/>
                          </a:solidFill>
                          <a:latin typeface="Arial" panose="020B0604020202020204" pitchFamily="34" charset="0"/>
                          <a:cs typeface="Arial" panose="020B0604020202020204" pitchFamily="34" charset="0"/>
                        </a:rPr>
                        <a:t> ĐOẠN C – TRIỂN KHAI THÍ ĐIỂM TẠI TT VHKT VÀ XÂY DỰNG HỆ THỐNG</a:t>
                      </a:r>
                      <a:endParaRPr lang="en-US" sz="28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sz="2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99000646"/>
                  </a:ext>
                </a:extLst>
              </a:tr>
              <a:tr h="1546947">
                <a:tc>
                  <a:txBody>
                    <a:bodyPr/>
                    <a:lstStyle/>
                    <a:p>
                      <a:pPr algn="ctr"/>
                      <a:r>
                        <a:rPr lang="en-US" sz="2200">
                          <a:latin typeface="Arial" panose="020B0604020202020204" pitchFamily="34" charset="0"/>
                          <a:cs typeface="Arial" panose="020B0604020202020204" pitchFamily="34" charset="0"/>
                        </a:rPr>
                        <a:t>9</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algn="just" defTabSz="914400" rtl="0" eaLnBrk="1" latinLnBrk="0" hangingPunct="1"/>
                      <a:r>
                        <a:rPr lang="vi-VN" sz="2200" b="1" kern="1200">
                          <a:solidFill>
                            <a:schemeClr val="tx1"/>
                          </a:solidFill>
                          <a:latin typeface="Arial" panose="020B0604020202020204" pitchFamily="34" charset="0"/>
                          <a:ea typeface="+mn-ea"/>
                          <a:cs typeface="Arial" panose="020B0604020202020204" pitchFamily="34" charset="0"/>
                        </a:rPr>
                        <a:t>Xác định đầu mối triển khai tại các đơn vị và đào tạo về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baseline="0" dirty="0">
                          <a:latin typeface="Arial" panose="020B0604020202020204" pitchFamily="34" charset="0"/>
                          <a:cs typeface="Arial" panose="020B0604020202020204" pitchFamily="34" charset="0"/>
                        </a:rPr>
                        <a:t>Các </a:t>
                      </a:r>
                      <a:r>
                        <a:rPr lang="en-US" sz="2200" baseline="0" dirty="0" err="1">
                          <a:latin typeface="Arial" panose="020B0604020202020204" pitchFamily="34" charset="0"/>
                          <a:cs typeface="Arial" panose="020B0604020202020204" pitchFamily="34" charset="0"/>
                        </a:rPr>
                        <a:t>phòng</a:t>
                      </a:r>
                      <a:r>
                        <a:rPr lang="en-US" sz="2200" baseline="0" dirty="0">
                          <a:latin typeface="Arial" panose="020B0604020202020204" pitchFamily="34" charset="0"/>
                          <a:cs typeface="Arial" panose="020B0604020202020204" pitchFamily="34" charset="0"/>
                        </a:rPr>
                        <a:t> ban </a:t>
                      </a:r>
                      <a:r>
                        <a:rPr lang="en-US" sz="2200" baseline="0" dirty="0" err="1">
                          <a:latin typeface="Arial" panose="020B0604020202020204" pitchFamily="34" charset="0"/>
                          <a:cs typeface="Arial" panose="020B0604020202020204" pitchFamily="34" charset="0"/>
                        </a:rPr>
                        <a:t>cử</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đầu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mối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triển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khai</a:t>
                      </a:r>
                      <a:r>
                        <a:rPr lang="en-US" sz="2200" baseline="0" dirty="0">
                          <a:latin typeface="Arial" panose="020B0604020202020204" pitchFamily="34" charset="0"/>
                          <a:cs typeface="Arial" panose="020B0604020202020204" pitchFamily="34" charset="0"/>
                        </a:rPr>
                        <a:t> QTRR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P. QTRR </a:t>
                      </a:r>
                      <a:r>
                        <a:rPr lang="en-US" sz="2200" baseline="0" dirty="0" err="1">
                          <a:latin typeface="Arial" panose="020B0604020202020204" pitchFamily="34" charset="0"/>
                          <a:cs typeface="Arial" panose="020B0604020202020204" pitchFamily="34" charset="0"/>
                        </a:rPr>
                        <a:t>tổ</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chức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buổi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đào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tạo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về</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dự</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án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để</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nâng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cao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nhận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thức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tăng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hiệu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quả</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phối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hợp</a:t>
                      </a:r>
                      <a:r>
                        <a:rPr lang="en-US" sz="2200" baseline="0" dirty="0">
                          <a:latin typeface="Arial" panose="020B0604020202020204" pitchFamily="34" charset="0"/>
                          <a:cs typeface="Arial" panose="020B0604020202020204" pitchFamily="34" charset="0"/>
                        </a:rPr>
                        <a: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en-US" sz="2200" b="0">
                          <a:solidFill>
                            <a:schemeClr val="tx1"/>
                          </a:solidFill>
                          <a:latin typeface="Arial" panose="020B0604020202020204" pitchFamily="34" charset="0"/>
                          <a:cs typeface="Arial" panose="020B0604020202020204" pitchFamily="34" charset="0"/>
                        </a:rPr>
                        <a:t>-</a:t>
                      </a:r>
                      <a:r>
                        <a:rPr lang="en-US" sz="2200" b="0" baseline="0">
                          <a:solidFill>
                            <a:schemeClr val="tx1"/>
                          </a:solidFill>
                          <a:latin typeface="Arial" panose="020B0604020202020204" pitchFamily="34" charset="0"/>
                          <a:cs typeface="Arial" panose="020B0604020202020204" pitchFamily="34" charset="0"/>
                        </a:rPr>
                        <a:t> Tài liệu đào tạo</a:t>
                      </a:r>
                      <a:endParaRPr lang="en-US" sz="22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a:latin typeface="Arial" panose="020B0604020202020204" pitchFamily="34" charset="0"/>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just"/>
                      <a:r>
                        <a:rPr lang="en-US" sz="2200" dirty="0">
                          <a:latin typeface="Arial" panose="020B0604020202020204" pitchFamily="34" charset="0"/>
                          <a:cs typeface="Arial" panose="020B0604020202020204" pitchFamily="34" charset="0"/>
                        </a:rPr>
                        <a:t>P. NS,</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các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phòng</a:t>
                      </a:r>
                      <a:r>
                        <a:rPr lang="en-US" sz="2200" baseline="0" dirty="0">
                          <a:latin typeface="Arial" panose="020B0604020202020204" pitchFamily="34" charset="0"/>
                          <a:cs typeface="Arial" panose="020B0604020202020204" pitchFamily="34" charset="0"/>
                        </a:rPr>
                        <a:t> ban/ </a:t>
                      </a:r>
                      <a:r>
                        <a:rPr lang="en-US" sz="2200" baseline="0" dirty="0" err="1">
                          <a:latin typeface="Arial" panose="020B0604020202020204" pitchFamily="34" charset="0"/>
                          <a:cs typeface="Arial" panose="020B0604020202020204" pitchFamily="34" charset="0"/>
                        </a:rPr>
                        <a:t>đơn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vị</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toàn</a:t>
                      </a:r>
                      <a:r>
                        <a:rPr lang="en-US" sz="2200" baseline="0" dirty="0">
                          <a:latin typeface="Arial" panose="020B0604020202020204" pitchFamily="34" charset="0"/>
                          <a:cs typeface="Arial" panose="020B0604020202020204" pitchFamily="34" charset="0"/>
                        </a:rPr>
                        <a:t> TCT</a:t>
                      </a:r>
                      <a:endParaRPr lang="en-US" sz="22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Arial" panose="020B0604020202020204" pitchFamily="34" charset="0"/>
                          <a:cs typeface="Arial" panose="020B0604020202020204" pitchFamily="34" charset="0"/>
                        </a:rPr>
                        <a:t>T9</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2254545400"/>
                  </a:ext>
                </a:extLst>
              </a:tr>
              <a:tr h="2995153">
                <a:tc>
                  <a:txBody>
                    <a:bodyPr/>
                    <a:lstStyle/>
                    <a:p>
                      <a:pPr algn="ctr"/>
                      <a:r>
                        <a:rPr lang="en-US" sz="2200">
                          <a:latin typeface="Arial" panose="020B0604020202020204" pitchFamily="34" charset="0"/>
                          <a:cs typeface="Arial" panose="020B0604020202020204" pitchFamily="34" charset="0"/>
                        </a:rPr>
                        <a:t>10</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algn="just" defTabSz="914400" rtl="0" eaLnBrk="1" latinLnBrk="0" hangingPunct="1"/>
                      <a:r>
                        <a:rPr lang="en-US" sz="2200" b="1" kern="1200" dirty="0">
                          <a:solidFill>
                            <a:schemeClr val="tx1"/>
                          </a:solidFill>
                          <a:latin typeface="Arial" panose="020B0604020202020204" pitchFamily="34" charset="0"/>
                          <a:ea typeface="+mn-ea"/>
                          <a:cs typeface="Arial" panose="020B0604020202020204" pitchFamily="34" charset="0"/>
                        </a:rPr>
                        <a:t>Đánh </a:t>
                      </a:r>
                      <a:r>
                        <a:rPr lang="en-US" sz="2200" b="1" kern="1200" dirty="0" err="1">
                          <a:solidFill>
                            <a:schemeClr val="tx1"/>
                          </a:solidFill>
                          <a:latin typeface="Arial" panose="020B0604020202020204" pitchFamily="34" charset="0"/>
                          <a:ea typeface="+mn-ea"/>
                          <a:cs typeface="Arial" panose="020B0604020202020204" pitchFamily="34" charset="0"/>
                        </a:rPr>
                        <a:t>giá</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lại</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danh</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mục</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rủi</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ro</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trọng</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yếu</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cấp</a:t>
                      </a:r>
                      <a:r>
                        <a:rPr lang="en-US" sz="2200" b="1" kern="1200" dirty="0">
                          <a:solidFill>
                            <a:schemeClr val="tx1"/>
                          </a:solidFill>
                          <a:latin typeface="Arial" panose="020B0604020202020204" pitchFamily="34" charset="0"/>
                          <a:ea typeface="+mn-ea"/>
                          <a:cs typeface="Arial" panose="020B0604020202020204" pitchFamily="34" charset="0"/>
                        </a:rPr>
                        <a:t> TCCT </a:t>
                      </a:r>
                      <a:r>
                        <a:rPr lang="en-US" sz="2200" b="1" kern="1200" dirty="0" err="1">
                          <a:solidFill>
                            <a:schemeClr val="tx1"/>
                          </a:solidFill>
                          <a:latin typeface="Arial" panose="020B0604020202020204" pitchFamily="34" charset="0"/>
                          <a:ea typeface="+mn-ea"/>
                          <a:cs typeface="Arial" panose="020B0604020202020204" pitchFamily="34" charset="0"/>
                        </a:rPr>
                        <a:t>và</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xây</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dựng</a:t>
                      </a:r>
                      <a:r>
                        <a:rPr lang="en-US" sz="2200" b="1" kern="1200" dirty="0">
                          <a:solidFill>
                            <a:schemeClr val="tx1"/>
                          </a:solidFill>
                          <a:latin typeface="Arial" panose="020B0604020202020204" pitchFamily="34" charset="0"/>
                          <a:ea typeface="+mn-ea"/>
                          <a:cs typeface="Arial" panose="020B0604020202020204" pitchFamily="34" charset="0"/>
                        </a:rPr>
                        <a:t> KHHĐ </a:t>
                      </a:r>
                      <a:r>
                        <a:rPr lang="en-US" sz="2200" b="1" kern="1200" dirty="0" err="1">
                          <a:solidFill>
                            <a:schemeClr val="tx1"/>
                          </a:solidFill>
                          <a:latin typeface="Arial" panose="020B0604020202020204" pitchFamily="34" charset="0"/>
                          <a:ea typeface="+mn-ea"/>
                          <a:cs typeface="Arial" panose="020B0604020202020204" pitchFamily="34" charset="0"/>
                        </a:rPr>
                        <a:t>xử</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lý</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rủi</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ro</a:t>
                      </a:r>
                      <a:endParaRPr lang="en-US" sz="2200" b="1"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dirty="0">
                          <a:latin typeface="Arial" panose="020B0604020202020204" pitchFamily="34" charset="0"/>
                          <a:cs typeface="Arial" panose="020B0604020202020204" pitchFamily="34" charset="0"/>
                        </a:rPr>
                        <a:t>Đánh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giá</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lại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danh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mục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rủi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được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nhận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diện</a:t>
                      </a:r>
                      <a:r>
                        <a:rPr lang="en-US" sz="2200" baseline="0" dirty="0">
                          <a:latin typeface="Arial" panose="020B0604020202020204" pitchFamily="34" charset="0"/>
                          <a:cs typeface="Arial" panose="020B0604020202020204" pitchFamily="34" charset="0"/>
                        </a:rPr>
                        <a:t> ở </a:t>
                      </a:r>
                      <a:r>
                        <a:rPr lang="en-US" sz="2200" baseline="0" dirty="0" err="1">
                          <a:latin typeface="Arial" panose="020B0604020202020204" pitchFamily="34" charset="0"/>
                          <a:cs typeface="Arial" panose="020B0604020202020204" pitchFamily="34" charset="0"/>
                        </a:rPr>
                        <a:t>giai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đoạn</a:t>
                      </a:r>
                      <a:r>
                        <a:rPr lang="en-US" sz="2200" baseline="0" dirty="0">
                          <a:latin typeface="Arial" panose="020B0604020202020204" pitchFamily="34" charset="0"/>
                          <a:cs typeface="Arial" panose="020B0604020202020204" pitchFamily="34" charset="0"/>
                        </a:rPr>
                        <a:t> A.</a:t>
                      </a:r>
                    </a:p>
                    <a:p>
                      <a:pPr marL="342900" indent="-342900" algn="just">
                        <a:buFontTx/>
                        <a:buChar char="-"/>
                      </a:pPr>
                      <a:r>
                        <a:rPr lang="en-US" sz="2200" baseline="0" dirty="0">
                          <a:latin typeface="Arial" panose="020B0604020202020204" pitchFamily="34" charset="0"/>
                          <a:cs typeface="Arial" panose="020B0604020202020204" pitchFamily="34" charset="0"/>
                        </a:rPr>
                        <a:t>KHHĐ </a:t>
                      </a:r>
                      <a:r>
                        <a:rPr lang="en-US" sz="2200" baseline="0" dirty="0" err="1">
                          <a:latin typeface="Arial" panose="020B0604020202020204" pitchFamily="34" charset="0"/>
                          <a:cs typeface="Arial" panose="020B0604020202020204" pitchFamily="34" charset="0"/>
                        </a:rPr>
                        <a:t>được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xây</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dựng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định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kỳ</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theo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dõi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báo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cáo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hiệu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quả</a:t>
                      </a:r>
                      <a:r>
                        <a:rPr lang="en-US" sz="2200" baseline="0" dirty="0">
                          <a:latin typeface="Arial" panose="020B0604020202020204" pitchFamily="34" charset="0"/>
                          <a:cs typeface="Arial" panose="020B0604020202020204" pitchFamily="34" charset="0"/>
                        </a:rPr>
                        <a:t>. KHHĐ </a:t>
                      </a:r>
                      <a:r>
                        <a:rPr lang="en-US" sz="2200" baseline="0" dirty="0" err="1">
                          <a:latin typeface="Arial" panose="020B0604020202020204" pitchFamily="34" charset="0"/>
                          <a:cs typeface="Arial" panose="020B0604020202020204" pitchFamily="34" charset="0"/>
                        </a:rPr>
                        <a:t>đảm</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bảo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có</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phương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án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xử</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lý</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rủi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ro</a:t>
                      </a:r>
                      <a:r>
                        <a:rPr lang="en-US" sz="2200" baseline="0" dirty="0">
                          <a:latin typeface="Arial" panose="020B0604020202020204" pitchFamily="34" charset="0"/>
                          <a:cs typeface="Arial" panose="020B0604020202020204" pitchFamily="34" charset="0"/>
                        </a:rPr>
                        <a:t>, ma </a:t>
                      </a:r>
                      <a:r>
                        <a:rPr lang="en-US" sz="2200" baseline="0" dirty="0" err="1">
                          <a:latin typeface="Arial" panose="020B0604020202020204" pitchFamily="34" charset="0"/>
                          <a:cs typeface="Arial" panose="020B0604020202020204" pitchFamily="34" charset="0"/>
                        </a:rPr>
                        <a:t>trận</a:t>
                      </a:r>
                      <a:r>
                        <a:rPr lang="en-US" sz="2200" baseline="0" dirty="0">
                          <a:latin typeface="Arial" panose="020B0604020202020204" pitchFamily="34" charset="0"/>
                          <a:cs typeface="Arial" panose="020B0604020202020204" pitchFamily="34" charset="0"/>
                        </a:rPr>
                        <a:t> RACI, </a:t>
                      </a:r>
                      <a:r>
                        <a:rPr lang="en-US" sz="2200" baseline="0" dirty="0" err="1">
                          <a:latin typeface="Arial" panose="020B0604020202020204" pitchFamily="34" charset="0"/>
                          <a:cs typeface="Arial" panose="020B0604020202020204" pitchFamily="34" charset="0"/>
                        </a:rPr>
                        <a:t>thời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hạn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triển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khai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nguồn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lực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thực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đầu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mối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chịu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trách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nhiệm</a:t>
                      </a:r>
                      <a:r>
                        <a:rPr lang="en-US" sz="2200" baseline="0" dirty="0">
                          <a:latin typeface="Arial" panose="020B0604020202020204" pitchFamily="34" charset="0"/>
                          <a:cs typeface="Arial" panose="020B0604020202020204" pitchFamily="34" charset="0"/>
                        </a:rPr>
                        <a:t>.</a:t>
                      </a:r>
                      <a:endParaRPr lang="en-US" sz="22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b="0">
                          <a:solidFill>
                            <a:schemeClr val="tx1"/>
                          </a:solidFill>
                          <a:latin typeface="Arial" panose="020B0604020202020204" pitchFamily="34" charset="0"/>
                          <a:cs typeface="Arial" panose="020B0604020202020204" pitchFamily="34" charset="0"/>
                        </a:rPr>
                        <a:t>Bộ</a:t>
                      </a:r>
                      <a:r>
                        <a:rPr lang="en-US" sz="2200" b="0" baseline="0">
                          <a:solidFill>
                            <a:schemeClr val="tx1"/>
                          </a:solidFill>
                          <a:latin typeface="Arial" panose="020B0604020202020204" pitchFamily="34" charset="0"/>
                          <a:cs typeface="Arial" panose="020B0604020202020204" pitchFamily="34" charset="0"/>
                        </a:rPr>
                        <a:t> KHHĐ xử lý rủi ro</a:t>
                      </a:r>
                      <a:endParaRPr lang="en-US" sz="2200" b="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a:latin typeface="Arial" panose="020B0604020202020204" pitchFamily="34" charset="0"/>
                          <a:cs typeface="Arial" panose="020B0604020202020204" pitchFamily="34" charset="0"/>
                        </a:rPr>
                        <a:t>P.</a:t>
                      </a:r>
                      <a:r>
                        <a:rPr lang="en-US" sz="2200" baseline="0">
                          <a:latin typeface="Arial" panose="020B0604020202020204" pitchFamily="34" charset="0"/>
                          <a:cs typeface="Arial" panose="020B0604020202020204" pitchFamily="34" charset="0"/>
                        </a:rPr>
                        <a:t> QTRR</a:t>
                      </a:r>
                      <a:endParaRPr lang="en-US" sz="220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latin typeface="Arial" panose="020B0604020202020204" pitchFamily="34" charset="0"/>
                          <a:cs typeface="Arial" panose="020B0604020202020204" pitchFamily="34" charset="0"/>
                        </a:rPr>
                        <a:t>Các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phòng</a:t>
                      </a:r>
                      <a:r>
                        <a:rPr lang="en-US" sz="2200" baseline="0" dirty="0">
                          <a:latin typeface="Arial" panose="020B0604020202020204" pitchFamily="34" charset="0"/>
                          <a:cs typeface="Arial" panose="020B0604020202020204" pitchFamily="34" charset="0"/>
                        </a:rPr>
                        <a:t> ban/ </a:t>
                      </a:r>
                      <a:r>
                        <a:rPr lang="en-US" sz="2200" baseline="0" dirty="0" err="1">
                          <a:latin typeface="Arial" panose="020B0604020202020204" pitchFamily="34" charset="0"/>
                          <a:cs typeface="Arial" panose="020B0604020202020204" pitchFamily="34" charset="0"/>
                        </a:rPr>
                        <a:t>đơn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vị</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toàn</a:t>
                      </a:r>
                      <a:r>
                        <a:rPr lang="en-US" sz="2200" baseline="0" dirty="0">
                          <a:latin typeface="Arial" panose="020B0604020202020204" pitchFamily="34" charset="0"/>
                          <a:cs typeface="Arial" panose="020B0604020202020204" pitchFamily="34" charset="0"/>
                        </a:rPr>
                        <a:t> TCT</a:t>
                      </a:r>
                      <a:endParaRPr lang="en-US" sz="22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Arial" panose="020B0604020202020204" pitchFamily="34" charset="0"/>
                          <a:cs typeface="Arial" panose="020B0604020202020204" pitchFamily="34" charset="0"/>
                        </a:rPr>
                        <a:t>T9-T10</a:t>
                      </a:r>
                      <a:endParaRPr lang="en-US" sz="22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891769588"/>
                  </a:ext>
                </a:extLst>
              </a:tr>
              <a:tr h="2271050">
                <a:tc>
                  <a:txBody>
                    <a:bodyPr/>
                    <a:lstStyle/>
                    <a:p>
                      <a:pPr algn="ctr"/>
                      <a:r>
                        <a:rPr lang="en-US" sz="2200">
                          <a:latin typeface="Arial" panose="020B0604020202020204" pitchFamily="34" charset="0"/>
                          <a:cs typeface="Arial" panose="020B0604020202020204" pitchFamily="34" charset="0"/>
                        </a:rPr>
                        <a:t>11</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algn="just" defTabSz="914400" rtl="0" eaLnBrk="1" latinLnBrk="0" hangingPunct="1"/>
                      <a:r>
                        <a:rPr lang="en-US" sz="2200" b="1" kern="1200" dirty="0">
                          <a:solidFill>
                            <a:schemeClr val="tx1"/>
                          </a:solidFill>
                          <a:latin typeface="Arial" panose="020B0604020202020204" pitchFamily="34" charset="0"/>
                          <a:ea typeface="+mn-ea"/>
                          <a:cs typeface="Arial" panose="020B0604020202020204" pitchFamily="34" charset="0"/>
                        </a:rPr>
                        <a:t>Xây </a:t>
                      </a:r>
                      <a:r>
                        <a:rPr lang="en-US" sz="2200" b="1" kern="1200" dirty="0" err="1">
                          <a:solidFill>
                            <a:schemeClr val="tx1"/>
                          </a:solidFill>
                          <a:latin typeface="Arial" panose="020B0604020202020204" pitchFamily="34" charset="0"/>
                          <a:ea typeface="+mn-ea"/>
                          <a:cs typeface="Arial" panose="020B0604020202020204" pitchFamily="34" charset="0"/>
                        </a:rPr>
                        <a:t>dựng</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bộ</a:t>
                      </a:r>
                      <a:r>
                        <a:rPr lang="en-US" sz="2200" b="1" kern="1200" dirty="0">
                          <a:solidFill>
                            <a:schemeClr val="tx1"/>
                          </a:solidFill>
                          <a:latin typeface="Arial" panose="020B0604020202020204" pitchFamily="34" charset="0"/>
                          <a:ea typeface="+mn-ea"/>
                          <a:cs typeface="Arial" panose="020B0604020202020204" pitchFamily="34" charset="0"/>
                        </a:rPr>
                        <a:t> KRI </a:t>
                      </a:r>
                      <a:r>
                        <a:rPr lang="en-US" sz="2200" b="1" kern="1200" dirty="0" err="1">
                          <a:solidFill>
                            <a:schemeClr val="tx1"/>
                          </a:solidFill>
                          <a:latin typeface="Arial" panose="020B0604020202020204" pitchFamily="34" charset="0"/>
                          <a:ea typeface="+mn-ea"/>
                          <a:cs typeface="Arial" panose="020B0604020202020204" pitchFamily="34" charset="0"/>
                        </a:rPr>
                        <a:t>cấp</a:t>
                      </a:r>
                      <a:r>
                        <a:rPr lang="en-US" sz="2200" b="1" kern="1200" dirty="0">
                          <a:solidFill>
                            <a:schemeClr val="tx1"/>
                          </a:solidFill>
                          <a:latin typeface="Arial" panose="020B0604020202020204" pitchFamily="34" charset="0"/>
                          <a:ea typeface="+mn-ea"/>
                          <a:cs typeface="Arial" panose="020B0604020202020204" pitchFamily="34" charset="0"/>
                        </a:rPr>
                        <a:t> TCT </a:t>
                      </a:r>
                      <a:r>
                        <a:rPr lang="en-US" sz="2200" b="1" kern="1200" dirty="0" err="1">
                          <a:solidFill>
                            <a:schemeClr val="tx1"/>
                          </a:solidFill>
                          <a:latin typeface="Arial" panose="020B0604020202020204" pitchFamily="34" charset="0"/>
                          <a:ea typeface="+mn-ea"/>
                          <a:cs typeface="Arial" panose="020B0604020202020204" pitchFamily="34" charset="0"/>
                        </a:rPr>
                        <a:t>và</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xây</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dựng</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cơ</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chế</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thu</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thập</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dữ</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liệu</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sự</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kiện</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tổn</a:t>
                      </a:r>
                      <a:r>
                        <a:rPr lang="en-US" sz="2200" b="1" kern="1200" dirty="0">
                          <a:solidFill>
                            <a:schemeClr val="tx1"/>
                          </a:solidFill>
                          <a:latin typeface="Arial" panose="020B0604020202020204" pitchFamily="34" charset="0"/>
                          <a:ea typeface="+mn-ea"/>
                          <a:cs typeface="Arial" panose="020B0604020202020204" pitchFamily="34" charset="0"/>
                        </a:rPr>
                        <a:t> </a:t>
                      </a:r>
                      <a:r>
                        <a:rPr lang="en-US" sz="2200" b="1" kern="1200" dirty="0" err="1">
                          <a:solidFill>
                            <a:schemeClr val="tx1"/>
                          </a:solidFill>
                          <a:latin typeface="Arial" panose="020B0604020202020204" pitchFamily="34" charset="0"/>
                          <a:ea typeface="+mn-ea"/>
                          <a:cs typeface="Arial" panose="020B0604020202020204" pitchFamily="34" charset="0"/>
                        </a:rPr>
                        <a:t>thất</a:t>
                      </a:r>
                      <a:endParaRPr lang="en-US" sz="2200" b="1" kern="120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dirty="0" err="1">
                          <a:latin typeface="Arial" panose="020B0604020202020204" pitchFamily="34" charset="0"/>
                          <a:cs typeface="Arial" panose="020B0604020202020204" pitchFamily="34" charset="0"/>
                        </a:rPr>
                        <a:t>Bộ</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chỉ</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số</a:t>
                      </a:r>
                      <a:r>
                        <a:rPr lang="en-US" sz="2200" baseline="0" dirty="0">
                          <a:latin typeface="Arial" panose="020B0604020202020204" pitchFamily="34" charset="0"/>
                          <a:cs typeface="Arial" panose="020B0604020202020204" pitchFamily="34" charset="0"/>
                        </a:rPr>
                        <a:t> KRI </a:t>
                      </a:r>
                      <a:r>
                        <a:rPr lang="en-US" sz="2200" baseline="0" dirty="0" err="1">
                          <a:latin typeface="Arial" panose="020B0604020202020204" pitchFamily="34" charset="0"/>
                          <a:cs typeface="Arial" panose="020B0604020202020204" pitchFamily="34" charset="0"/>
                        </a:rPr>
                        <a:t>đối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với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các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rủi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ro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trọng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yếu</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được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xây</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dựng</a:t>
                      </a:r>
                      <a:r>
                        <a:rPr lang="en-US" sz="2200" baseline="0" dirty="0">
                          <a:latin typeface="Arial" panose="020B0604020202020204" pitchFamily="34" charset="0"/>
                          <a:cs typeface="Arial" panose="020B0604020202020204" pitchFamily="34" charset="0"/>
                        </a:rPr>
                        <a:t>.</a:t>
                      </a:r>
                    </a:p>
                    <a:p>
                      <a:pPr marL="342900" indent="-342900" algn="just">
                        <a:buFontTx/>
                        <a:buChar char="-"/>
                      </a:pPr>
                      <a:r>
                        <a:rPr lang="en-US" sz="2200" baseline="0" dirty="0">
                          <a:latin typeface="Arial" panose="020B0604020202020204" pitchFamily="34" charset="0"/>
                          <a:cs typeface="Arial" panose="020B0604020202020204" pitchFamily="34" charset="0"/>
                        </a:rPr>
                        <a:t>Xây </a:t>
                      </a:r>
                      <a:r>
                        <a:rPr lang="en-US" sz="2200" baseline="0" dirty="0" err="1">
                          <a:latin typeface="Arial" panose="020B0604020202020204" pitchFamily="34" charset="0"/>
                          <a:cs typeface="Arial" panose="020B0604020202020204" pitchFamily="34" charset="0"/>
                        </a:rPr>
                        <a:t>dựng</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quy</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định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thiết</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lập</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quản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lý</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chỉ</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số</a:t>
                      </a:r>
                      <a:r>
                        <a:rPr lang="en-US" sz="2200" baseline="0" dirty="0">
                          <a:latin typeface="Arial" panose="020B0604020202020204" pitchFamily="34" charset="0"/>
                          <a:cs typeface="Arial" panose="020B0604020202020204" pitchFamily="34" charset="0"/>
                        </a:rPr>
                        <a:t> KRI, </a:t>
                      </a:r>
                      <a:r>
                        <a:rPr lang="en-US" sz="2200" baseline="0" dirty="0" err="1">
                          <a:latin typeface="Arial" panose="020B0604020202020204" pitchFamily="34" charset="0"/>
                          <a:cs typeface="Arial" panose="020B0604020202020204" pitchFamily="34" charset="0"/>
                        </a:rPr>
                        <a:t>quy</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trình</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theo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dõi</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sự</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cố</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và</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cơ</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chế</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báo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cáo</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sự</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cố</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sự</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kiện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tổn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thất</a:t>
                      </a:r>
                      <a:r>
                        <a:rPr lang="en-US" sz="2200" baseline="0" dirty="0">
                          <a:latin typeface="Arial" panose="020B0604020202020204" pitchFamily="34" charset="0"/>
                          <a:cs typeface="Arial" panose="020B0604020202020204" pitchFamily="34" charset="0"/>
                        </a:rPr>
                        <a: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a:buFontTx/>
                        <a:buChar char="-"/>
                      </a:pPr>
                      <a:r>
                        <a:rPr lang="en-US" sz="2200" b="0" dirty="0" err="1">
                          <a:solidFill>
                            <a:schemeClr val="tx1"/>
                          </a:solidFill>
                          <a:latin typeface="Arial" panose="020B0604020202020204" pitchFamily="34" charset="0"/>
                          <a:cs typeface="Arial" panose="020B0604020202020204" pitchFamily="34" charset="0"/>
                        </a:rPr>
                        <a:t>Bộ</a:t>
                      </a:r>
                      <a:r>
                        <a:rPr lang="en-US" sz="2200" b="0" baseline="0" dirty="0">
                          <a:solidFill>
                            <a:schemeClr val="tx1"/>
                          </a:solidFill>
                          <a:latin typeface="Arial" panose="020B0604020202020204" pitchFamily="34" charset="0"/>
                          <a:cs typeface="Arial" panose="020B0604020202020204" pitchFamily="34" charset="0"/>
                        </a:rPr>
                        <a:t> KRI </a:t>
                      </a:r>
                      <a:r>
                        <a:rPr lang="en-US" sz="2200" b="0" baseline="0" dirty="0" err="1">
                          <a:solidFill>
                            <a:schemeClr val="tx1"/>
                          </a:solidFill>
                          <a:latin typeface="Arial" panose="020B0604020202020204" pitchFamily="34" charset="0"/>
                          <a:cs typeface="Arial" panose="020B0604020202020204" pitchFamily="34" charset="0"/>
                        </a:rPr>
                        <a:t>cấp</a:t>
                      </a:r>
                      <a:r>
                        <a:rPr lang="en-US" sz="2200" b="0" baseline="0" dirty="0">
                          <a:solidFill>
                            <a:schemeClr val="tx1"/>
                          </a:solidFill>
                          <a:latin typeface="Arial" panose="020B0604020202020204" pitchFamily="34" charset="0"/>
                          <a:cs typeface="Arial" panose="020B0604020202020204" pitchFamily="34" charset="0"/>
                        </a:rPr>
                        <a:t> TCT</a:t>
                      </a:r>
                    </a:p>
                    <a:p>
                      <a:pPr marL="342900" indent="-342900" algn="just">
                        <a:buFontTx/>
                        <a:buChar char="-"/>
                      </a:pPr>
                      <a:r>
                        <a:rPr lang="en-US" sz="2200" b="0" baseline="0" dirty="0">
                          <a:solidFill>
                            <a:schemeClr val="tx1"/>
                          </a:solidFill>
                          <a:latin typeface="Arial" panose="020B0604020202020204" pitchFamily="34" charset="0"/>
                          <a:cs typeface="Arial" panose="020B0604020202020204" pitchFamily="34" charset="0"/>
                        </a:rPr>
                        <a:t>Cơ </a:t>
                      </a:r>
                      <a:r>
                        <a:rPr lang="en-US" sz="2200" b="0" baseline="0" dirty="0" err="1">
                          <a:solidFill>
                            <a:schemeClr val="tx1"/>
                          </a:solidFill>
                          <a:latin typeface="Arial" panose="020B0604020202020204" pitchFamily="34" charset="0"/>
                          <a:cs typeface="Arial" panose="020B0604020202020204" pitchFamily="34" charset="0"/>
                        </a:rPr>
                        <a:t>chế</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thu</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thập</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báo</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cáo</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dữ</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liệu</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sự</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kiện</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tổn</a:t>
                      </a:r>
                      <a:r>
                        <a:rPr lang="en-US" sz="2200" b="0" baseline="0" dirty="0">
                          <a:solidFill>
                            <a:schemeClr val="tx1"/>
                          </a:solidFill>
                          <a:latin typeface="Arial" panose="020B0604020202020204" pitchFamily="34" charset="0"/>
                          <a:cs typeface="Arial" panose="020B0604020202020204" pitchFamily="34" charset="0"/>
                        </a:rPr>
                        <a:t> </a:t>
                      </a:r>
                      <a:r>
                        <a:rPr lang="en-US" sz="2200" b="0" baseline="0" dirty="0" err="1">
                          <a:solidFill>
                            <a:schemeClr val="tx1"/>
                          </a:solidFill>
                          <a:latin typeface="Arial" panose="020B0604020202020204" pitchFamily="34" charset="0"/>
                          <a:cs typeface="Arial" panose="020B0604020202020204" pitchFamily="34" charset="0"/>
                        </a:rPr>
                        <a:t>thất</a:t>
                      </a:r>
                      <a:endParaRPr lang="en-US" sz="2200" b="0" dirty="0">
                        <a:solidFill>
                          <a:schemeClr val="tx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a:latin typeface="Arial" panose="020B0604020202020204" pitchFamily="34" charset="0"/>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200" dirty="0">
                          <a:latin typeface="Arial" panose="020B0604020202020204" pitchFamily="34" charset="0"/>
                          <a:cs typeface="Arial" panose="020B0604020202020204" pitchFamily="34" charset="0"/>
                        </a:rPr>
                        <a:t>Các</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phòng</a:t>
                      </a:r>
                      <a:r>
                        <a:rPr lang="en-US" sz="2200" baseline="0" dirty="0">
                          <a:latin typeface="Arial" panose="020B0604020202020204" pitchFamily="34" charset="0"/>
                          <a:cs typeface="Arial" panose="020B0604020202020204" pitchFamily="34" charset="0"/>
                        </a:rPr>
                        <a:t> ban/ </a:t>
                      </a:r>
                      <a:r>
                        <a:rPr lang="en-US" sz="2200" baseline="0" dirty="0" err="1">
                          <a:latin typeface="Arial" panose="020B0604020202020204" pitchFamily="34" charset="0"/>
                          <a:cs typeface="Arial" panose="020B0604020202020204" pitchFamily="34" charset="0"/>
                        </a:rPr>
                        <a:t>đơn</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vị</a:t>
                      </a:r>
                      <a:r>
                        <a:rPr lang="en-US" sz="2200" baseline="0" dirty="0">
                          <a:latin typeface="Arial" panose="020B0604020202020204" pitchFamily="34" charset="0"/>
                          <a:cs typeface="Arial" panose="020B0604020202020204" pitchFamily="34" charset="0"/>
                        </a:rPr>
                        <a:t> </a:t>
                      </a:r>
                      <a:r>
                        <a:rPr lang="en-US" sz="2200" baseline="0" dirty="0" err="1">
                          <a:latin typeface="Arial" panose="020B0604020202020204" pitchFamily="34" charset="0"/>
                          <a:cs typeface="Arial" panose="020B0604020202020204" pitchFamily="34" charset="0"/>
                        </a:rPr>
                        <a:t>toàn</a:t>
                      </a:r>
                      <a:r>
                        <a:rPr lang="en-US" sz="2200" baseline="0" dirty="0">
                          <a:latin typeface="Arial" panose="020B0604020202020204" pitchFamily="34" charset="0"/>
                          <a:cs typeface="Arial" panose="020B0604020202020204" pitchFamily="34" charset="0"/>
                        </a:rPr>
                        <a:t> TCT</a:t>
                      </a:r>
                      <a:endParaRPr lang="en-US" sz="22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Arial" panose="020B0604020202020204" pitchFamily="34" charset="0"/>
                          <a:cs typeface="Arial" panose="020B0604020202020204" pitchFamily="34" charset="0"/>
                        </a:rPr>
                        <a:t>T11-T12</a:t>
                      </a:r>
                      <a:endParaRPr lang="en-US" sz="22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118171118"/>
                  </a:ext>
                </a:extLst>
              </a:tr>
            </a:tbl>
          </a:graphicData>
        </a:graphic>
      </p:graphicFrame>
      <p:grpSp>
        <p:nvGrpSpPr>
          <p:cNvPr id="8" name="Group 1089"/>
          <p:cNvGrpSpPr>
            <a:grpSpLocks noChangeAspect="1"/>
          </p:cNvGrpSpPr>
          <p:nvPr/>
        </p:nvGrpSpPr>
        <p:grpSpPr bwMode="auto">
          <a:xfrm>
            <a:off x="239553" y="2705100"/>
            <a:ext cx="457200" cy="457200"/>
            <a:chOff x="5756" y="2047"/>
            <a:chExt cx="227" cy="226"/>
          </a:xfrm>
          <a:solidFill>
            <a:srgbClr val="EE0033"/>
          </a:solidFill>
        </p:grpSpPr>
        <p:sp>
          <p:nvSpPr>
            <p:cNvPr id="9" name="Freeform 1090"/>
            <p:cNvSpPr>
              <a:spLocks/>
            </p:cNvSpPr>
            <p:nvPr/>
          </p:nvSpPr>
          <p:spPr bwMode="auto">
            <a:xfrm>
              <a:off x="5808" y="2103"/>
              <a:ext cx="114" cy="115"/>
            </a:xfrm>
            <a:custGeom>
              <a:avLst/>
              <a:gdLst>
                <a:gd name="T0" fmla="*/ 613 w 762"/>
                <a:gd name="T1" fmla="*/ 464 h 763"/>
                <a:gd name="T2" fmla="*/ 497 w 762"/>
                <a:gd name="T3" fmla="*/ 518 h 763"/>
                <a:gd name="T4" fmla="*/ 477 w 762"/>
                <a:gd name="T5" fmla="*/ 522 h 763"/>
                <a:gd name="T6" fmla="*/ 304 w 762"/>
                <a:gd name="T7" fmla="*/ 429 h 763"/>
                <a:gd name="T8" fmla="*/ 295 w 762"/>
                <a:gd name="T9" fmla="*/ 412 h 763"/>
                <a:gd name="T10" fmla="*/ 299 w 762"/>
                <a:gd name="T11" fmla="*/ 381 h 763"/>
                <a:gd name="T12" fmla="*/ 293 w 762"/>
                <a:gd name="T13" fmla="*/ 342 h 763"/>
                <a:gd name="T14" fmla="*/ 300 w 762"/>
                <a:gd name="T15" fmla="*/ 324 h 763"/>
                <a:gd name="T16" fmla="*/ 490 w 762"/>
                <a:gd name="T17" fmla="*/ 207 h 763"/>
                <a:gd name="T18" fmla="*/ 508 w 762"/>
                <a:gd name="T19" fmla="*/ 208 h 763"/>
                <a:gd name="T20" fmla="*/ 580 w 762"/>
                <a:gd name="T21" fmla="*/ 233 h 763"/>
                <a:gd name="T22" fmla="*/ 696 w 762"/>
                <a:gd name="T23" fmla="*/ 116 h 763"/>
                <a:gd name="T24" fmla="*/ 580 w 762"/>
                <a:gd name="T25" fmla="*/ 0 h 763"/>
                <a:gd name="T26" fmla="*/ 463 w 762"/>
                <a:gd name="T27" fmla="*/ 116 h 763"/>
                <a:gd name="T28" fmla="*/ 465 w 762"/>
                <a:gd name="T29" fmla="*/ 139 h 763"/>
                <a:gd name="T30" fmla="*/ 458 w 762"/>
                <a:gd name="T31" fmla="*/ 156 h 763"/>
                <a:gd name="T32" fmla="*/ 269 w 762"/>
                <a:gd name="T33" fmla="*/ 272 h 763"/>
                <a:gd name="T34" fmla="*/ 249 w 762"/>
                <a:gd name="T35" fmla="*/ 271 h 763"/>
                <a:gd name="T36" fmla="*/ 149 w 762"/>
                <a:gd name="T37" fmla="*/ 232 h 763"/>
                <a:gd name="T38" fmla="*/ 0 w 762"/>
                <a:gd name="T39" fmla="*/ 381 h 763"/>
                <a:gd name="T40" fmla="*/ 149 w 762"/>
                <a:gd name="T41" fmla="*/ 531 h 763"/>
                <a:gd name="T42" fmla="*/ 256 w 762"/>
                <a:gd name="T43" fmla="*/ 486 h 763"/>
                <a:gd name="T44" fmla="*/ 267 w 762"/>
                <a:gd name="T45" fmla="*/ 481 h 763"/>
                <a:gd name="T46" fmla="*/ 275 w 762"/>
                <a:gd name="T47" fmla="*/ 483 h 763"/>
                <a:gd name="T48" fmla="*/ 456 w 762"/>
                <a:gd name="T49" fmla="*/ 579 h 763"/>
                <a:gd name="T50" fmla="*/ 464 w 762"/>
                <a:gd name="T51" fmla="*/ 595 h 763"/>
                <a:gd name="T52" fmla="*/ 463 w 762"/>
                <a:gd name="T53" fmla="*/ 613 h 763"/>
                <a:gd name="T54" fmla="*/ 613 w 762"/>
                <a:gd name="T55" fmla="*/ 763 h 763"/>
                <a:gd name="T56" fmla="*/ 762 w 762"/>
                <a:gd name="T57" fmla="*/ 613 h 763"/>
                <a:gd name="T58" fmla="*/ 613 w 762"/>
                <a:gd name="T59" fmla="*/ 464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62" h="763">
                  <a:moveTo>
                    <a:pt x="613" y="464"/>
                  </a:moveTo>
                  <a:cubicBezTo>
                    <a:pt x="568" y="464"/>
                    <a:pt x="526" y="484"/>
                    <a:pt x="497" y="518"/>
                  </a:cubicBezTo>
                  <a:cubicBezTo>
                    <a:pt x="492" y="524"/>
                    <a:pt x="484" y="526"/>
                    <a:pt x="477" y="522"/>
                  </a:cubicBezTo>
                  <a:cubicBezTo>
                    <a:pt x="304" y="429"/>
                    <a:pt x="304" y="429"/>
                    <a:pt x="304" y="429"/>
                  </a:cubicBezTo>
                  <a:cubicBezTo>
                    <a:pt x="297" y="426"/>
                    <a:pt x="294" y="419"/>
                    <a:pt x="295" y="412"/>
                  </a:cubicBezTo>
                  <a:cubicBezTo>
                    <a:pt x="298" y="402"/>
                    <a:pt x="299" y="391"/>
                    <a:pt x="299" y="381"/>
                  </a:cubicBezTo>
                  <a:cubicBezTo>
                    <a:pt x="299" y="368"/>
                    <a:pt x="297" y="355"/>
                    <a:pt x="293" y="342"/>
                  </a:cubicBezTo>
                  <a:cubicBezTo>
                    <a:pt x="291" y="335"/>
                    <a:pt x="294" y="328"/>
                    <a:pt x="300" y="324"/>
                  </a:cubicBezTo>
                  <a:cubicBezTo>
                    <a:pt x="490" y="207"/>
                    <a:pt x="490" y="207"/>
                    <a:pt x="490" y="207"/>
                  </a:cubicBezTo>
                  <a:cubicBezTo>
                    <a:pt x="496" y="204"/>
                    <a:pt x="503" y="204"/>
                    <a:pt x="508" y="208"/>
                  </a:cubicBezTo>
                  <a:cubicBezTo>
                    <a:pt x="529" y="224"/>
                    <a:pt x="553" y="233"/>
                    <a:pt x="580" y="233"/>
                  </a:cubicBezTo>
                  <a:cubicBezTo>
                    <a:pt x="644" y="233"/>
                    <a:pt x="696" y="181"/>
                    <a:pt x="696" y="116"/>
                  </a:cubicBezTo>
                  <a:cubicBezTo>
                    <a:pt x="696" y="52"/>
                    <a:pt x="644" y="0"/>
                    <a:pt x="580" y="0"/>
                  </a:cubicBezTo>
                  <a:cubicBezTo>
                    <a:pt x="515" y="0"/>
                    <a:pt x="463" y="52"/>
                    <a:pt x="463" y="116"/>
                  </a:cubicBezTo>
                  <a:cubicBezTo>
                    <a:pt x="463" y="124"/>
                    <a:pt x="464" y="132"/>
                    <a:pt x="465" y="139"/>
                  </a:cubicBezTo>
                  <a:cubicBezTo>
                    <a:pt x="467" y="145"/>
                    <a:pt x="464" y="152"/>
                    <a:pt x="458" y="156"/>
                  </a:cubicBezTo>
                  <a:cubicBezTo>
                    <a:pt x="269" y="272"/>
                    <a:pt x="269" y="272"/>
                    <a:pt x="269" y="272"/>
                  </a:cubicBezTo>
                  <a:cubicBezTo>
                    <a:pt x="263" y="276"/>
                    <a:pt x="255" y="275"/>
                    <a:pt x="249" y="271"/>
                  </a:cubicBezTo>
                  <a:cubicBezTo>
                    <a:pt x="222" y="246"/>
                    <a:pt x="186" y="232"/>
                    <a:pt x="149" y="232"/>
                  </a:cubicBezTo>
                  <a:cubicBezTo>
                    <a:pt x="67" y="232"/>
                    <a:pt x="0" y="299"/>
                    <a:pt x="0" y="381"/>
                  </a:cubicBezTo>
                  <a:cubicBezTo>
                    <a:pt x="0" y="464"/>
                    <a:pt x="67" y="531"/>
                    <a:pt x="149" y="531"/>
                  </a:cubicBezTo>
                  <a:cubicBezTo>
                    <a:pt x="190" y="531"/>
                    <a:pt x="228" y="515"/>
                    <a:pt x="256" y="486"/>
                  </a:cubicBezTo>
                  <a:cubicBezTo>
                    <a:pt x="259" y="483"/>
                    <a:pt x="263" y="481"/>
                    <a:pt x="267" y="481"/>
                  </a:cubicBezTo>
                  <a:cubicBezTo>
                    <a:pt x="270" y="481"/>
                    <a:pt x="273" y="482"/>
                    <a:pt x="275" y="483"/>
                  </a:cubicBezTo>
                  <a:cubicBezTo>
                    <a:pt x="456" y="579"/>
                    <a:pt x="456" y="579"/>
                    <a:pt x="456" y="579"/>
                  </a:cubicBezTo>
                  <a:cubicBezTo>
                    <a:pt x="462" y="582"/>
                    <a:pt x="465" y="589"/>
                    <a:pt x="464" y="595"/>
                  </a:cubicBezTo>
                  <a:cubicBezTo>
                    <a:pt x="464" y="601"/>
                    <a:pt x="463" y="607"/>
                    <a:pt x="463" y="613"/>
                  </a:cubicBezTo>
                  <a:cubicBezTo>
                    <a:pt x="463" y="696"/>
                    <a:pt x="530" y="763"/>
                    <a:pt x="613" y="763"/>
                  </a:cubicBezTo>
                  <a:cubicBezTo>
                    <a:pt x="695" y="763"/>
                    <a:pt x="762" y="696"/>
                    <a:pt x="762" y="613"/>
                  </a:cubicBezTo>
                  <a:cubicBezTo>
                    <a:pt x="762" y="531"/>
                    <a:pt x="695" y="464"/>
                    <a:pt x="613" y="46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10" name="Freeform 1091"/>
            <p:cNvSpPr>
              <a:spLocks noEditPoints="1"/>
            </p:cNvSpPr>
            <p:nvPr/>
          </p:nvSpPr>
          <p:spPr bwMode="auto">
            <a:xfrm>
              <a:off x="5756" y="2047"/>
              <a:ext cx="227" cy="226"/>
            </a:xfrm>
            <a:custGeom>
              <a:avLst/>
              <a:gdLst>
                <a:gd name="T0" fmla="*/ 753 w 1506"/>
                <a:gd name="T1" fmla="*/ 0 h 1506"/>
                <a:gd name="T2" fmla="*/ 0 w 1506"/>
                <a:gd name="T3" fmla="*/ 753 h 1506"/>
                <a:gd name="T4" fmla="*/ 753 w 1506"/>
                <a:gd name="T5" fmla="*/ 1506 h 1506"/>
                <a:gd name="T6" fmla="*/ 1506 w 1506"/>
                <a:gd name="T7" fmla="*/ 753 h 1506"/>
                <a:gd name="T8" fmla="*/ 753 w 1506"/>
                <a:gd name="T9" fmla="*/ 0 h 1506"/>
                <a:gd name="T10" fmla="*/ 955 w 1506"/>
                <a:gd name="T11" fmla="*/ 1169 h 1506"/>
                <a:gd name="T12" fmla="*/ 773 w 1506"/>
                <a:gd name="T13" fmla="*/ 987 h 1506"/>
                <a:gd name="T14" fmla="*/ 773 w 1506"/>
                <a:gd name="T15" fmla="*/ 977 h 1506"/>
                <a:gd name="T16" fmla="*/ 612 w 1506"/>
                <a:gd name="T17" fmla="*/ 891 h 1506"/>
                <a:gd name="T18" fmla="*/ 491 w 1506"/>
                <a:gd name="T19" fmla="*/ 937 h 1506"/>
                <a:gd name="T20" fmla="*/ 309 w 1506"/>
                <a:gd name="T21" fmla="*/ 755 h 1506"/>
                <a:gd name="T22" fmla="*/ 491 w 1506"/>
                <a:gd name="T23" fmla="*/ 574 h 1506"/>
                <a:gd name="T24" fmla="*/ 604 w 1506"/>
                <a:gd name="T25" fmla="*/ 613 h 1506"/>
                <a:gd name="T26" fmla="*/ 774 w 1506"/>
                <a:gd name="T27" fmla="*/ 508 h 1506"/>
                <a:gd name="T28" fmla="*/ 773 w 1506"/>
                <a:gd name="T29" fmla="*/ 490 h 1506"/>
                <a:gd name="T30" fmla="*/ 922 w 1506"/>
                <a:gd name="T31" fmla="*/ 342 h 1506"/>
                <a:gd name="T32" fmla="*/ 1070 w 1506"/>
                <a:gd name="T33" fmla="*/ 490 h 1506"/>
                <a:gd name="T34" fmla="*/ 922 w 1506"/>
                <a:gd name="T35" fmla="*/ 639 h 1506"/>
                <a:gd name="T36" fmla="*/ 840 w 1506"/>
                <a:gd name="T37" fmla="*/ 614 h 1506"/>
                <a:gd name="T38" fmla="*/ 669 w 1506"/>
                <a:gd name="T39" fmla="*/ 719 h 1506"/>
                <a:gd name="T40" fmla="*/ 673 w 1506"/>
                <a:gd name="T41" fmla="*/ 755 h 1506"/>
                <a:gd name="T42" fmla="*/ 671 w 1506"/>
                <a:gd name="T43" fmla="*/ 781 h 1506"/>
                <a:gd name="T44" fmla="*/ 823 w 1506"/>
                <a:gd name="T45" fmla="*/ 862 h 1506"/>
                <a:gd name="T46" fmla="*/ 955 w 1506"/>
                <a:gd name="T47" fmla="*/ 805 h 1506"/>
                <a:gd name="T48" fmla="*/ 1136 w 1506"/>
                <a:gd name="T49" fmla="*/ 987 h 1506"/>
                <a:gd name="T50" fmla="*/ 955 w 1506"/>
                <a:gd name="T51" fmla="*/ 1169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06" h="1506">
                  <a:moveTo>
                    <a:pt x="753" y="0"/>
                  </a:moveTo>
                  <a:cubicBezTo>
                    <a:pt x="337" y="0"/>
                    <a:pt x="0" y="337"/>
                    <a:pt x="0" y="753"/>
                  </a:cubicBezTo>
                  <a:cubicBezTo>
                    <a:pt x="0" y="1169"/>
                    <a:pt x="337" y="1506"/>
                    <a:pt x="753" y="1506"/>
                  </a:cubicBezTo>
                  <a:cubicBezTo>
                    <a:pt x="1169" y="1506"/>
                    <a:pt x="1506" y="1169"/>
                    <a:pt x="1506" y="753"/>
                  </a:cubicBezTo>
                  <a:cubicBezTo>
                    <a:pt x="1506" y="337"/>
                    <a:pt x="1169" y="0"/>
                    <a:pt x="753" y="0"/>
                  </a:cubicBezTo>
                  <a:close/>
                  <a:moveTo>
                    <a:pt x="955" y="1169"/>
                  </a:moveTo>
                  <a:cubicBezTo>
                    <a:pt x="854" y="1169"/>
                    <a:pt x="773" y="1087"/>
                    <a:pt x="773" y="987"/>
                  </a:cubicBezTo>
                  <a:cubicBezTo>
                    <a:pt x="773" y="984"/>
                    <a:pt x="773" y="980"/>
                    <a:pt x="773" y="977"/>
                  </a:cubicBezTo>
                  <a:cubicBezTo>
                    <a:pt x="612" y="891"/>
                    <a:pt x="612" y="891"/>
                    <a:pt x="612" y="891"/>
                  </a:cubicBezTo>
                  <a:cubicBezTo>
                    <a:pt x="579" y="921"/>
                    <a:pt x="536" y="937"/>
                    <a:pt x="491" y="937"/>
                  </a:cubicBezTo>
                  <a:cubicBezTo>
                    <a:pt x="391" y="937"/>
                    <a:pt x="309" y="856"/>
                    <a:pt x="309" y="755"/>
                  </a:cubicBezTo>
                  <a:cubicBezTo>
                    <a:pt x="309" y="655"/>
                    <a:pt x="391" y="574"/>
                    <a:pt x="491" y="574"/>
                  </a:cubicBezTo>
                  <a:cubicBezTo>
                    <a:pt x="532" y="574"/>
                    <a:pt x="572" y="587"/>
                    <a:pt x="604" y="613"/>
                  </a:cubicBezTo>
                  <a:cubicBezTo>
                    <a:pt x="774" y="508"/>
                    <a:pt x="774" y="508"/>
                    <a:pt x="774" y="508"/>
                  </a:cubicBezTo>
                  <a:cubicBezTo>
                    <a:pt x="773" y="502"/>
                    <a:pt x="773" y="496"/>
                    <a:pt x="773" y="490"/>
                  </a:cubicBezTo>
                  <a:cubicBezTo>
                    <a:pt x="773" y="409"/>
                    <a:pt x="840" y="342"/>
                    <a:pt x="922" y="342"/>
                  </a:cubicBezTo>
                  <a:cubicBezTo>
                    <a:pt x="1004" y="342"/>
                    <a:pt x="1070" y="409"/>
                    <a:pt x="1070" y="490"/>
                  </a:cubicBezTo>
                  <a:cubicBezTo>
                    <a:pt x="1070" y="572"/>
                    <a:pt x="1004" y="639"/>
                    <a:pt x="922" y="639"/>
                  </a:cubicBezTo>
                  <a:cubicBezTo>
                    <a:pt x="892" y="639"/>
                    <a:pt x="864" y="630"/>
                    <a:pt x="840" y="614"/>
                  </a:cubicBezTo>
                  <a:cubicBezTo>
                    <a:pt x="669" y="719"/>
                    <a:pt x="669" y="719"/>
                    <a:pt x="669" y="719"/>
                  </a:cubicBezTo>
                  <a:cubicBezTo>
                    <a:pt x="672" y="731"/>
                    <a:pt x="673" y="743"/>
                    <a:pt x="673" y="755"/>
                  </a:cubicBezTo>
                  <a:cubicBezTo>
                    <a:pt x="673" y="764"/>
                    <a:pt x="672" y="772"/>
                    <a:pt x="671" y="781"/>
                  </a:cubicBezTo>
                  <a:cubicBezTo>
                    <a:pt x="823" y="862"/>
                    <a:pt x="823" y="862"/>
                    <a:pt x="823" y="862"/>
                  </a:cubicBezTo>
                  <a:cubicBezTo>
                    <a:pt x="858" y="826"/>
                    <a:pt x="905" y="805"/>
                    <a:pt x="955" y="805"/>
                  </a:cubicBezTo>
                  <a:cubicBezTo>
                    <a:pt x="1055" y="805"/>
                    <a:pt x="1136" y="887"/>
                    <a:pt x="1136" y="987"/>
                  </a:cubicBezTo>
                  <a:cubicBezTo>
                    <a:pt x="1136" y="1087"/>
                    <a:pt x="1055" y="1169"/>
                    <a:pt x="955" y="11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1130269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
          <p:cNvGrpSpPr/>
          <p:nvPr/>
        </p:nvGrpSpPr>
        <p:grpSpPr>
          <a:xfrm>
            <a:off x="0" y="114300"/>
            <a:ext cx="10744200" cy="1024391"/>
            <a:chOff x="0" y="0"/>
            <a:chExt cx="17492870" cy="1554226"/>
          </a:xfrm>
          <a:solidFill>
            <a:schemeClr val="bg1">
              <a:lumMod val="95000"/>
            </a:schemeClr>
          </a:solidFill>
        </p:grpSpPr>
        <p:sp>
          <p:nvSpPr>
            <p:cNvPr id="31" name="Freeform 3"/>
            <p:cNvSpPr/>
            <p:nvPr/>
          </p:nvSpPr>
          <p:spPr>
            <a:xfrm>
              <a:off x="0" y="0"/>
              <a:ext cx="17492870" cy="1554226"/>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lstStyle/>
            <a:p>
              <a:endParaRPr lang="en-US"/>
            </a:p>
          </p:txBody>
        </p:sp>
      </p:grpSp>
      <p:grpSp>
        <p:nvGrpSpPr>
          <p:cNvPr id="32" name="Group 4"/>
          <p:cNvGrpSpPr/>
          <p:nvPr/>
        </p:nvGrpSpPr>
        <p:grpSpPr>
          <a:xfrm>
            <a:off x="0" y="114300"/>
            <a:ext cx="936307" cy="1024391"/>
            <a:chOff x="0" y="0"/>
            <a:chExt cx="1248410" cy="1554290"/>
          </a:xfrm>
        </p:grpSpPr>
        <p:sp>
          <p:nvSpPr>
            <p:cNvPr id="33"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34" name="TextBox 34"/>
          <p:cNvSpPr txBox="1"/>
          <p:nvPr/>
        </p:nvSpPr>
        <p:spPr>
          <a:xfrm>
            <a:off x="1066800" y="164830"/>
            <a:ext cx="10614184" cy="923330"/>
          </a:xfrm>
          <a:prstGeom prst="rect">
            <a:avLst/>
          </a:prstGeom>
        </p:spPr>
        <p:txBody>
          <a:bodyPr wrap="square" lIns="0" tIns="0" rIns="0" bIns="0" rtlCol="0" anchor="t">
            <a:spAutoFit/>
          </a:bodyPr>
          <a:lstStyle/>
          <a:p>
            <a:pPr algn="l"/>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3. Kế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hoạch</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triển</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khai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QTRRDN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tại</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VDS</a:t>
            </a:r>
          </a:p>
          <a:p>
            <a:pPr algn="l"/>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Kế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hoạch</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chi </a:t>
            </a:r>
            <a:r>
              <a:rPr lang="en-US" sz="2400" b="1" dirty="0" err="1">
                <a:solidFill>
                  <a:srgbClr val="000000"/>
                </a:solidFill>
                <a:latin typeface="Arial" panose="020B0604020202020204" pitchFamily="34" charset="0"/>
                <a:ea typeface="Futura Ultra-Bold"/>
                <a:cs typeface="Arial" panose="020B0604020202020204" pitchFamily="34" charset="0"/>
                <a:sym typeface="Futura Ultra-Bold"/>
              </a:rPr>
              <a:t>tiết</a:t>
            </a:r>
            <a:r>
              <a:rPr lang="en-US" sz="2400" b="1" dirty="0">
                <a:solidFill>
                  <a:srgbClr val="000000"/>
                </a:solidFill>
                <a:latin typeface="Arial" panose="020B0604020202020204" pitchFamily="34" charset="0"/>
                <a:ea typeface="Futura Ultra-Bold"/>
                <a:cs typeface="Arial" panose="020B0604020202020204" pitchFamily="34" charset="0"/>
                <a:sym typeface="Futura Ultra-Bold"/>
              </a:rPr>
              <a:t> (4/4)</a:t>
            </a:r>
          </a:p>
        </p:txBody>
      </p:sp>
      <p:graphicFrame>
        <p:nvGraphicFramePr>
          <p:cNvPr id="3" name="Table 2"/>
          <p:cNvGraphicFramePr>
            <a:graphicFrameLocks noGrp="1"/>
          </p:cNvGraphicFramePr>
          <p:nvPr>
            <p:extLst>
              <p:ext uri="{D42A27DB-BD31-4B8C-83A1-F6EECF244321}">
                <p14:modId xmlns:p14="http://schemas.microsoft.com/office/powerpoint/2010/main" val="387674508"/>
              </p:ext>
            </p:extLst>
          </p:nvPr>
        </p:nvGraphicFramePr>
        <p:xfrm>
          <a:off x="36786" y="1214183"/>
          <a:ext cx="17983196" cy="9022080"/>
        </p:xfrm>
        <a:graphic>
          <a:graphicData uri="http://schemas.openxmlformats.org/drawingml/2006/table">
            <a:tbl>
              <a:tblPr firstRow="1" bandRow="1">
                <a:tableStyleId>{72833802-FEF1-4C79-8D5D-14CF1EAF98D9}</a:tableStyleId>
              </a:tblPr>
              <a:tblGrid>
                <a:gridCol w="685799">
                  <a:extLst>
                    <a:ext uri="{9D8B030D-6E8A-4147-A177-3AD203B41FA5}">
                      <a16:colId xmlns:a16="http://schemas.microsoft.com/office/drawing/2014/main" val="354232345"/>
                    </a:ext>
                  </a:extLst>
                </a:gridCol>
                <a:gridCol w="2971800">
                  <a:extLst>
                    <a:ext uri="{9D8B030D-6E8A-4147-A177-3AD203B41FA5}">
                      <a16:colId xmlns:a16="http://schemas.microsoft.com/office/drawing/2014/main" val="599980580"/>
                    </a:ext>
                  </a:extLst>
                </a:gridCol>
                <a:gridCol w="5105400">
                  <a:extLst>
                    <a:ext uri="{9D8B030D-6E8A-4147-A177-3AD203B41FA5}">
                      <a16:colId xmlns:a16="http://schemas.microsoft.com/office/drawing/2014/main" val="354563642"/>
                    </a:ext>
                  </a:extLst>
                </a:gridCol>
                <a:gridCol w="3352800">
                  <a:extLst>
                    <a:ext uri="{9D8B030D-6E8A-4147-A177-3AD203B41FA5}">
                      <a16:colId xmlns:a16="http://schemas.microsoft.com/office/drawing/2014/main" val="3226650757"/>
                    </a:ext>
                  </a:extLst>
                </a:gridCol>
                <a:gridCol w="2209800">
                  <a:extLst>
                    <a:ext uri="{9D8B030D-6E8A-4147-A177-3AD203B41FA5}">
                      <a16:colId xmlns:a16="http://schemas.microsoft.com/office/drawing/2014/main" val="1764408370"/>
                    </a:ext>
                  </a:extLst>
                </a:gridCol>
                <a:gridCol w="1828800">
                  <a:extLst>
                    <a:ext uri="{9D8B030D-6E8A-4147-A177-3AD203B41FA5}">
                      <a16:colId xmlns:a16="http://schemas.microsoft.com/office/drawing/2014/main" val="1725199942"/>
                    </a:ext>
                  </a:extLst>
                </a:gridCol>
                <a:gridCol w="1828797">
                  <a:extLst>
                    <a:ext uri="{9D8B030D-6E8A-4147-A177-3AD203B41FA5}">
                      <a16:colId xmlns:a16="http://schemas.microsoft.com/office/drawing/2014/main" val="4266279641"/>
                    </a:ext>
                  </a:extLst>
                </a:gridCol>
              </a:tblGrid>
              <a:tr h="1140529">
                <a:tc>
                  <a:txBody>
                    <a:bodyPr/>
                    <a:lstStyle/>
                    <a:p>
                      <a:pPr algn="ctr"/>
                      <a:r>
                        <a:rPr lang="en-US" sz="2400" dirty="0">
                          <a:latin typeface="Arial" panose="020B0604020202020204" pitchFamily="34" charset="0"/>
                          <a:cs typeface="Arial" panose="020B0604020202020204" pitchFamily="34" charset="0"/>
                        </a:rPr>
                        <a:t>STT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CÔNG</a:t>
                      </a:r>
                      <a:r>
                        <a:rPr lang="en-US" sz="2400" baseline="0" dirty="0">
                          <a:latin typeface="Arial" panose="020B0604020202020204" pitchFamily="34" charset="0"/>
                          <a:cs typeface="Arial" panose="020B0604020202020204" pitchFamily="34" charset="0"/>
                        </a:rPr>
                        <a:t> VIỆC/HÀNH ĐỘNG</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CHI TIẾT</a:t>
                      </a:r>
                      <a:r>
                        <a:rPr lang="en-US" sz="2400" baseline="0" dirty="0">
                          <a:latin typeface="Arial" panose="020B0604020202020204" pitchFamily="34" charset="0"/>
                          <a:cs typeface="Arial" panose="020B0604020202020204" pitchFamily="34" charset="0"/>
                        </a:rPr>
                        <a:t> CÔNG VIỆC</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SẢN PHẨM ĐẦU RA / </a:t>
                      </a:r>
                    </a:p>
                    <a:p>
                      <a:pPr algn="ctr"/>
                      <a:r>
                        <a:rPr lang="en-US" sz="2400" dirty="0">
                          <a:latin typeface="Arial" panose="020B0604020202020204" pitchFamily="34" charset="0"/>
                          <a:cs typeface="Arial" panose="020B0604020202020204" pitchFamily="34" charset="0"/>
                        </a:rPr>
                        <a:t>VĂN BẢN TRÌNH BTGĐ</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CHỦ TRÌ</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PHỐI</a:t>
                      </a:r>
                      <a:r>
                        <a:rPr lang="en-US" sz="2400" baseline="0" dirty="0">
                          <a:latin typeface="Arial" panose="020B0604020202020204" pitchFamily="34" charset="0"/>
                          <a:cs typeface="Arial" panose="020B0604020202020204" pitchFamily="34" charset="0"/>
                        </a:rPr>
                        <a:t> HỢP</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tc>
                  <a:txBody>
                    <a:bodyPr/>
                    <a:lstStyle/>
                    <a:p>
                      <a:pPr algn="ctr"/>
                      <a:r>
                        <a:rPr lang="en-US" sz="2400" dirty="0">
                          <a:latin typeface="Arial" panose="020B0604020202020204" pitchFamily="34" charset="0"/>
                          <a:cs typeface="Arial" panose="020B0604020202020204" pitchFamily="34" charset="0"/>
                        </a:rPr>
                        <a:t>THỜI</a:t>
                      </a:r>
                      <a:r>
                        <a:rPr lang="en-US" sz="2400" baseline="0" dirty="0">
                          <a:latin typeface="Arial" panose="020B0604020202020204" pitchFamily="34" charset="0"/>
                          <a:cs typeface="Arial" panose="020B0604020202020204" pitchFamily="34" charset="0"/>
                        </a:rPr>
                        <a:t> GIAN</a:t>
                      </a:r>
                      <a:endParaRPr lang="en-US" sz="2400" dirty="0">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solidFill>
                      <a:srgbClr val="C00000"/>
                    </a:solidFill>
                  </a:tcPr>
                </a:tc>
                <a:extLst>
                  <a:ext uri="{0D108BD9-81ED-4DB2-BD59-A6C34878D82A}">
                    <a16:rowId xmlns:a16="http://schemas.microsoft.com/office/drawing/2014/main" val="459785028"/>
                  </a:ext>
                </a:extLst>
              </a:tr>
              <a:tr h="497154">
                <a:tc gridSpan="7">
                  <a:txBody>
                    <a:bodyPr/>
                    <a:lstStyle/>
                    <a:p>
                      <a:r>
                        <a:rPr lang="en-US" sz="2800" b="1" dirty="0">
                          <a:solidFill>
                            <a:srgbClr val="C00000"/>
                          </a:solidFill>
                          <a:latin typeface="Arial" panose="020B0604020202020204" pitchFamily="34" charset="0"/>
                          <a:cs typeface="Arial" panose="020B0604020202020204" pitchFamily="34" charset="0"/>
                        </a:rPr>
                        <a:t>      GIAI</a:t>
                      </a:r>
                      <a:r>
                        <a:rPr lang="en-US" sz="2800" b="1" baseline="0" dirty="0">
                          <a:solidFill>
                            <a:srgbClr val="C00000"/>
                          </a:solidFill>
                          <a:latin typeface="Arial" panose="020B0604020202020204" pitchFamily="34" charset="0"/>
                          <a:cs typeface="Arial" panose="020B0604020202020204" pitchFamily="34" charset="0"/>
                        </a:rPr>
                        <a:t> ĐOẠN C – TRIỂN KHAI THÍ ĐIỂM TẠI TT VHKT VÀ XÂY DỰNG HỆ THỐNG</a:t>
                      </a:r>
                      <a:endParaRPr lang="en-US" sz="2800" b="1" dirty="0">
                        <a:solidFill>
                          <a:srgbClr val="C00000"/>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a:p>
                  </a:txBody>
                  <a:tcPr/>
                </a:tc>
                <a:tc hMerge="1">
                  <a:txBody>
                    <a:bodyPr/>
                    <a:lstStyle/>
                    <a:p>
                      <a:endParaRPr lang="en-US" sz="2000">
                        <a:latin typeface="Arial" panose="020B0604020202020204" pitchFamily="34" charset="0"/>
                        <a:cs typeface="Arial" panose="020B0604020202020204" pitchFamily="34" charset="0"/>
                      </a:endParaRPr>
                    </a:p>
                  </a:txBody>
                  <a:tcPr/>
                </a:tc>
                <a:tc hMerge="1">
                  <a:txBody>
                    <a:bodyPr/>
                    <a:lstStyle/>
                    <a:p>
                      <a:endParaRPr lang="en-US" sz="2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599000646"/>
                  </a:ext>
                </a:extLst>
              </a:tr>
              <a:tr h="1374483">
                <a:tc>
                  <a:txBody>
                    <a:bodyPr/>
                    <a:lstStyle/>
                    <a:p>
                      <a:pPr algn="ctr"/>
                      <a:r>
                        <a:rPr lang="en-US" sz="2200">
                          <a:latin typeface="Arial" panose="020B0604020202020204" pitchFamily="34" charset="0"/>
                          <a:cs typeface="Arial" panose="020B0604020202020204" pitchFamily="34" charset="0"/>
                        </a:rPr>
                        <a:t>12</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algn="just" defTabSz="914400" rtl="0" eaLnBrk="1" latinLnBrk="0" hangingPunct="1"/>
                      <a:r>
                        <a:rPr lang="vi-VN" sz="2200" b="1" kern="1200">
                          <a:solidFill>
                            <a:schemeClr val="tx1"/>
                          </a:solidFill>
                          <a:latin typeface="Arial" panose="020B0604020202020204" pitchFamily="34" charset="0"/>
                          <a:ea typeface="+mn-ea"/>
                          <a:cs typeface="Arial" panose="020B0604020202020204" pitchFamily="34" charset="0"/>
                        </a:rPr>
                        <a:t>Thí điểm triển khai KRI và các KHHĐ</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kern="1200" baseline="0">
                          <a:solidFill>
                            <a:schemeClr val="tx1"/>
                          </a:solidFill>
                          <a:latin typeface="Arial" panose="020B0604020202020204" pitchFamily="34" charset="0"/>
                          <a:ea typeface="+mn-ea"/>
                          <a:cs typeface="Arial" panose="020B0604020202020204" pitchFamily="34" charset="0"/>
                        </a:rPr>
                        <a:t>KRI và KHHĐ được thử nghiệm, điều chỉnh và nhận diện các khó khăn/ vướng mắc trong quá trình triển khai.</a:t>
                      </a:r>
                      <a:endParaRPr lang="en-US" sz="2200" kern="1200" baseline="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kern="1200" baseline="0">
                          <a:solidFill>
                            <a:schemeClr val="tx1"/>
                          </a:solidFill>
                          <a:latin typeface="Arial" panose="020B0604020202020204" pitchFamily="34" charset="0"/>
                          <a:ea typeface="+mn-ea"/>
                          <a:cs typeface="Arial" panose="020B0604020202020204" pitchFamily="34" charset="0"/>
                        </a:rPr>
                        <a:t>Báo cáo triển khai KRI và KHHĐ</a:t>
                      </a:r>
                      <a:endParaRPr lang="en-US" sz="2200" kern="1200" baseline="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defTabSz="914400" rtl="0" eaLnBrk="1" latinLnBrk="0" hangingPunct="1">
                        <a:buFontTx/>
                        <a:buNone/>
                      </a:pPr>
                      <a:r>
                        <a:rPr lang="en-US" sz="2200" kern="1200" baseline="0">
                          <a:solidFill>
                            <a:schemeClr val="tx1"/>
                          </a:solidFill>
                          <a:latin typeface="Arial" panose="020B0604020202020204" pitchFamily="34" charset="0"/>
                          <a:ea typeface="+mn-ea"/>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defTabSz="914400" rtl="0" eaLnBrk="1" latinLnBrk="0" hangingPunct="1">
                        <a:buFontTx/>
                        <a:buNone/>
                      </a:pPr>
                      <a:r>
                        <a:rPr lang="vi-VN" sz="2200" kern="1200" baseline="0">
                          <a:solidFill>
                            <a:schemeClr val="tx1"/>
                          </a:solidFill>
                          <a:latin typeface="+mn-lt"/>
                          <a:ea typeface="+mn-ea"/>
                          <a:cs typeface="Arial" panose="020B0604020202020204" pitchFamily="34" charset="0"/>
                        </a:rPr>
                        <a:t>Các phòng ban/ đơn vị toàn TCT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mn-lt"/>
                          <a:cs typeface="Arial" panose="020B0604020202020204" pitchFamily="34" charset="0"/>
                        </a:rPr>
                        <a:t>T13</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2254545400"/>
                  </a:ext>
                </a:extLst>
              </a:tr>
              <a:tr h="3304609">
                <a:tc>
                  <a:txBody>
                    <a:bodyPr/>
                    <a:lstStyle/>
                    <a:p>
                      <a:pPr algn="ctr"/>
                      <a:r>
                        <a:rPr lang="en-US" sz="2200">
                          <a:latin typeface="Arial" panose="020B0604020202020204" pitchFamily="34" charset="0"/>
                          <a:cs typeface="Arial" panose="020B0604020202020204" pitchFamily="34" charset="0"/>
                        </a:rPr>
                        <a:t>13</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algn="just" defTabSz="914400" rtl="0" eaLnBrk="1" latinLnBrk="0" hangingPunct="1"/>
                      <a:r>
                        <a:rPr lang="vi-VN" sz="2200" b="1" kern="1200">
                          <a:solidFill>
                            <a:schemeClr val="tx1"/>
                          </a:solidFill>
                          <a:latin typeface="Arial" panose="020B0604020202020204" pitchFamily="34" charset="0"/>
                          <a:ea typeface="+mn-ea"/>
                          <a:cs typeface="Arial" panose="020B0604020202020204" pitchFamily="34" charset="0"/>
                        </a:rPr>
                        <a:t>Xây dựng cơ chế báo cáo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vi-VN" sz="2200" kern="1200" baseline="0">
                          <a:solidFill>
                            <a:schemeClr val="tx1"/>
                          </a:solidFill>
                          <a:latin typeface="Arial" panose="020B0604020202020204" pitchFamily="34" charset="0"/>
                          <a:ea typeface="+mn-ea"/>
                          <a:cs typeface="Arial" panose="020B0604020202020204" pitchFamily="34" charset="0"/>
                        </a:rPr>
                        <a:t>Đưa nội dung QTRR (rủi ro trọng yếu, các KRI vượt ngưỡng ở mức cao, KHHĐ trễ hạn</a:t>
                      </a:r>
                      <a:r>
                        <a:rPr lang="en-US" sz="2200" kern="1200" baseline="0">
                          <a:solidFill>
                            <a:schemeClr val="tx1"/>
                          </a:solidFill>
                          <a:latin typeface="Arial" panose="020B0604020202020204" pitchFamily="34" charset="0"/>
                          <a:ea typeface="+mn-ea"/>
                          <a:cs typeface="Arial" panose="020B0604020202020204" pitchFamily="34" charset="0"/>
                        </a:rPr>
                        <a:t>,…</a:t>
                      </a:r>
                      <a:r>
                        <a:rPr lang="vi-VN" sz="2200" kern="1200" baseline="0">
                          <a:solidFill>
                            <a:schemeClr val="tx1"/>
                          </a:solidFill>
                          <a:latin typeface="Arial" panose="020B0604020202020204" pitchFamily="34" charset="0"/>
                          <a:ea typeface="+mn-ea"/>
                          <a:cs typeface="Arial" panose="020B0604020202020204" pitchFamily="34" charset="0"/>
                        </a:rPr>
                        <a:t>) vào họp giao ban/quản trị định kỳ của BTGĐ để đánh giá bức tranh rủi ro trên toàn TCT và đưa ra phương án xử lý rủi ro.</a:t>
                      </a:r>
                    </a:p>
                    <a:p>
                      <a:pPr marL="342900" indent="-342900" algn="just" defTabSz="914400" rtl="0" eaLnBrk="1" latinLnBrk="0" hangingPunct="1">
                        <a:buFontTx/>
                        <a:buChar char="-"/>
                      </a:pPr>
                      <a:r>
                        <a:rPr lang="vi-VN" sz="2200" kern="1200" baseline="0">
                          <a:solidFill>
                            <a:schemeClr val="tx1"/>
                          </a:solidFill>
                          <a:latin typeface="Arial" panose="020B0604020202020204" pitchFamily="34" charset="0"/>
                          <a:ea typeface="+mn-ea"/>
                          <a:cs typeface="Arial" panose="020B0604020202020204" pitchFamily="34" charset="0"/>
                        </a:rPr>
                        <a:t>Các báo cáo được thực hiện theo template chuẩn hóa và có thể so sánh, đối chiếu giữa các kỳ báo cáo</a:t>
                      </a:r>
                      <a:endParaRPr lang="en-US" sz="2200" kern="1200" baseline="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kern="1200" baseline="0" dirty="0">
                          <a:solidFill>
                            <a:schemeClr val="tx1"/>
                          </a:solidFill>
                          <a:latin typeface="Arial" panose="020B0604020202020204" pitchFamily="34" charset="0"/>
                          <a:ea typeface="+mn-ea"/>
                          <a:cs typeface="Arial" panose="020B0604020202020204" pitchFamily="34" charset="0"/>
                        </a:rPr>
                        <a:t>Cơ </a:t>
                      </a:r>
                      <a:r>
                        <a:rPr lang="en-US" sz="2200" kern="1200" baseline="0" dirty="0" err="1">
                          <a:solidFill>
                            <a:schemeClr val="tx1"/>
                          </a:solidFill>
                          <a:latin typeface="Arial" panose="020B0604020202020204" pitchFamily="34" charset="0"/>
                          <a:ea typeface="+mn-ea"/>
                          <a:cs typeface="Arial" panose="020B0604020202020204" pitchFamily="34" charset="0"/>
                        </a:rPr>
                        <a:t>chế</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báo</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cáo</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và</a:t>
                      </a:r>
                      <a:r>
                        <a:rPr lang="en-US" sz="2200" kern="1200" baseline="0" dirty="0">
                          <a:solidFill>
                            <a:schemeClr val="tx1"/>
                          </a:solidFill>
                          <a:latin typeface="Arial" panose="020B0604020202020204" pitchFamily="34" charset="0"/>
                          <a:ea typeface="+mn-ea"/>
                          <a:cs typeface="Arial" panose="020B0604020202020204" pitchFamily="34" charset="0"/>
                        </a:rPr>
                        <a:t> template </a:t>
                      </a:r>
                      <a:r>
                        <a:rPr lang="en-US" sz="2200" kern="1200" baseline="0" dirty="0" err="1">
                          <a:solidFill>
                            <a:schemeClr val="tx1"/>
                          </a:solidFill>
                          <a:latin typeface="Arial" panose="020B0604020202020204" pitchFamily="34" charset="0"/>
                          <a:ea typeface="+mn-ea"/>
                          <a:cs typeface="Arial" panose="020B0604020202020204" pitchFamily="34" charset="0"/>
                        </a:rPr>
                        <a:t>báo</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cáo</a:t>
                      </a:r>
                      <a:r>
                        <a:rPr lang="en-US" sz="2200" kern="1200" baseline="0" dirty="0">
                          <a:solidFill>
                            <a:schemeClr val="tx1"/>
                          </a:solidFill>
                          <a:latin typeface="Arial" panose="020B0604020202020204" pitchFamily="34" charset="0"/>
                          <a:ea typeface="+mn-ea"/>
                          <a:cs typeface="Arial" panose="020B0604020202020204" pitchFamily="34" charset="0"/>
                        </a:rPr>
                        <a:t>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indent="0" algn="ctr" defTabSz="914400" rtl="0" eaLnBrk="1" latinLnBrk="0" hangingPunct="1">
                        <a:buFontTx/>
                        <a:buNone/>
                      </a:pPr>
                      <a:r>
                        <a:rPr lang="en-US" sz="2200" kern="1200" baseline="0">
                          <a:solidFill>
                            <a:schemeClr val="tx1"/>
                          </a:solidFill>
                          <a:latin typeface="Arial" panose="020B0604020202020204" pitchFamily="34" charset="0"/>
                          <a:ea typeface="+mn-ea"/>
                          <a:cs typeface="Arial" panose="020B0604020202020204" pitchFamily="34" charset="0"/>
                        </a:rPr>
                        <a:t>N/A</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mn-lt"/>
                          <a:cs typeface="Arial" panose="020B0604020202020204" pitchFamily="34" charset="0"/>
                        </a:rPr>
                        <a:t>T13-T14</a:t>
                      </a:r>
                      <a:endParaRPr lang="en-US" sz="2200" b="1" dirty="0">
                        <a:solidFill>
                          <a:srgbClr val="C00000"/>
                        </a:solidFill>
                        <a:latin typeface="+mn-lt"/>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891769588"/>
                  </a:ext>
                </a:extLst>
              </a:tr>
              <a:tr h="2339546">
                <a:tc>
                  <a:txBody>
                    <a:bodyPr/>
                    <a:lstStyle/>
                    <a:p>
                      <a:pPr algn="ctr"/>
                      <a:r>
                        <a:rPr lang="en-US" sz="2200">
                          <a:latin typeface="Arial" panose="020B0604020202020204" pitchFamily="34" charset="0"/>
                          <a:cs typeface="Arial" panose="020B0604020202020204" pitchFamily="34" charset="0"/>
                        </a:rPr>
                        <a:t>14</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algn="just" defTabSz="914400" rtl="0" eaLnBrk="1" latinLnBrk="0" hangingPunct="1"/>
                      <a:r>
                        <a:rPr lang="vi-VN" sz="2200" b="1" kern="1200">
                          <a:solidFill>
                            <a:schemeClr val="tx1"/>
                          </a:solidFill>
                          <a:latin typeface="Arial" panose="020B0604020202020204" pitchFamily="34" charset="0"/>
                          <a:ea typeface="+mn-ea"/>
                          <a:cs typeface="Arial" panose="020B0604020202020204" pitchFamily="34" charset="0"/>
                        </a:rPr>
                        <a:t>Đánh giá hiệu quả triển khai và mức độ trưởng thành QTRR của TCT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vi-VN" sz="2200" kern="1200" baseline="0">
                          <a:solidFill>
                            <a:schemeClr val="tx1"/>
                          </a:solidFill>
                          <a:latin typeface="Arial" panose="020B0604020202020204" pitchFamily="34" charset="0"/>
                          <a:ea typeface="+mn-ea"/>
                          <a:cs typeface="Arial" panose="020B0604020202020204" pitchFamily="34" charset="0"/>
                        </a:rPr>
                        <a:t>Đánh giá mức độ trưởng thành QTRRDN tại TCT sau </a:t>
                      </a:r>
                      <a:r>
                        <a:rPr lang="en-US" sz="2200" kern="1200" baseline="0">
                          <a:solidFill>
                            <a:schemeClr val="tx1"/>
                          </a:solidFill>
                          <a:latin typeface="Arial" panose="020B0604020202020204" pitchFamily="34" charset="0"/>
                          <a:ea typeface="+mn-ea"/>
                          <a:cs typeface="Arial" panose="020B0604020202020204" pitchFamily="34" charset="0"/>
                        </a:rPr>
                        <a:t>triển khai</a:t>
                      </a:r>
                      <a:endParaRPr lang="vi-VN" sz="2200" kern="1200" baseline="0">
                        <a:solidFill>
                          <a:schemeClr val="tx1"/>
                        </a:solidFill>
                        <a:latin typeface="Arial" panose="020B0604020202020204" pitchFamily="34" charset="0"/>
                        <a:ea typeface="+mn-ea"/>
                        <a:cs typeface="Arial" panose="020B0604020202020204" pitchFamily="34" charset="0"/>
                      </a:endParaRPr>
                    </a:p>
                    <a:p>
                      <a:pPr marL="342900" indent="-342900" algn="just" defTabSz="914400" rtl="0" eaLnBrk="1" latinLnBrk="0" hangingPunct="1">
                        <a:buFontTx/>
                        <a:buChar char="-"/>
                      </a:pPr>
                      <a:r>
                        <a:rPr lang="vi-VN" sz="2200" kern="1200" baseline="0">
                          <a:solidFill>
                            <a:schemeClr val="tx1"/>
                          </a:solidFill>
                          <a:latin typeface="Arial" panose="020B0604020202020204" pitchFamily="34" charset="0"/>
                          <a:ea typeface="+mn-ea"/>
                          <a:cs typeface="Arial" panose="020B0604020202020204" pitchFamily="34" charset="0"/>
                        </a:rPr>
                        <a:t>Báo cáo BTGĐ kết qu</a:t>
                      </a:r>
                      <a:r>
                        <a:rPr lang="en-US" sz="2200" kern="1200" baseline="0">
                          <a:solidFill>
                            <a:schemeClr val="tx1"/>
                          </a:solidFill>
                          <a:latin typeface="Arial" panose="020B0604020202020204" pitchFamily="34" charset="0"/>
                          <a:ea typeface="+mn-ea"/>
                          <a:cs typeface="Arial" panose="020B0604020202020204" pitchFamily="34" charset="0"/>
                        </a:rPr>
                        <a:t>ả, </a:t>
                      </a:r>
                      <a:r>
                        <a:rPr lang="vi-VN" sz="2200" kern="1200" baseline="0">
                          <a:solidFill>
                            <a:schemeClr val="tx1"/>
                          </a:solidFill>
                          <a:latin typeface="Arial" panose="020B0604020202020204" pitchFamily="34" charset="0"/>
                          <a:ea typeface="+mn-ea"/>
                          <a:cs typeface="Arial" panose="020B0604020202020204" pitchFamily="34" charset="0"/>
                        </a:rPr>
                        <a:t>đề xuất lộ trình giai đoạn tiếp theo</a:t>
                      </a:r>
                    </a:p>
                    <a:p>
                      <a:pPr marL="342900" indent="-342900" algn="just" defTabSz="914400" rtl="0" eaLnBrk="1" latinLnBrk="0" hangingPunct="1">
                        <a:buFontTx/>
                        <a:buChar char="-"/>
                      </a:pPr>
                      <a:r>
                        <a:rPr lang="vi-VN" sz="2200" kern="1200" baseline="0">
                          <a:solidFill>
                            <a:schemeClr val="tx1"/>
                          </a:solidFill>
                          <a:latin typeface="Arial" panose="020B0604020202020204" pitchFamily="34" charset="0"/>
                          <a:ea typeface="+mn-ea"/>
                          <a:cs typeface="Arial" panose="020B0604020202020204" pitchFamily="34" charset="0"/>
                        </a:rPr>
                        <a:t>Tổ chức đào tạo &amp; kiểm tra định kỳ để nâng cao văn hóa rủi ro với Tuyến 1</a:t>
                      </a:r>
                      <a:endParaRPr lang="en-US" sz="2200" kern="1200" baseline="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342900" indent="-342900" algn="just" defTabSz="914400" rtl="0" eaLnBrk="1" latinLnBrk="0" hangingPunct="1">
                        <a:buFontTx/>
                        <a:buChar char="-"/>
                      </a:pPr>
                      <a:r>
                        <a:rPr lang="en-US" sz="2200" kern="1200" baseline="0" dirty="0">
                          <a:solidFill>
                            <a:schemeClr val="tx1"/>
                          </a:solidFill>
                          <a:latin typeface="Arial" panose="020B0604020202020204" pitchFamily="34" charset="0"/>
                          <a:ea typeface="+mn-ea"/>
                          <a:cs typeface="Arial" panose="020B0604020202020204" pitchFamily="34" charset="0"/>
                        </a:rPr>
                        <a:t>Báo </a:t>
                      </a:r>
                      <a:r>
                        <a:rPr lang="en-US" sz="2200" kern="1200" baseline="0" dirty="0" err="1">
                          <a:solidFill>
                            <a:schemeClr val="tx1"/>
                          </a:solidFill>
                          <a:latin typeface="Arial" panose="020B0604020202020204" pitchFamily="34" charset="0"/>
                          <a:ea typeface="+mn-ea"/>
                          <a:cs typeface="Arial" panose="020B0604020202020204" pitchFamily="34" charset="0"/>
                        </a:rPr>
                        <a:t>cáo</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đánh</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giá</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mức</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độ</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trưởng</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thành</a:t>
                      </a:r>
                      <a:r>
                        <a:rPr lang="en-US" sz="2200" kern="1200" baseline="0" dirty="0">
                          <a:solidFill>
                            <a:schemeClr val="tx1"/>
                          </a:solidFill>
                          <a:latin typeface="Arial" panose="020B0604020202020204" pitchFamily="34" charset="0"/>
                          <a:ea typeface="+mn-ea"/>
                          <a:cs typeface="Arial" panose="020B0604020202020204" pitchFamily="34" charset="0"/>
                        </a:rPr>
                        <a:t> QTRR </a:t>
                      </a:r>
                      <a:r>
                        <a:rPr lang="en-US" sz="2200" kern="1200" baseline="0" dirty="0" err="1">
                          <a:solidFill>
                            <a:schemeClr val="tx1"/>
                          </a:solidFill>
                          <a:latin typeface="Arial" panose="020B0604020202020204" pitchFamily="34" charset="0"/>
                          <a:ea typeface="+mn-ea"/>
                          <a:cs typeface="Arial" panose="020B0604020202020204" pitchFamily="34" charset="0"/>
                        </a:rPr>
                        <a:t>sau</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triển</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khai</a:t>
                      </a:r>
                      <a:endParaRPr lang="en-US" sz="2200" kern="1200" baseline="0" dirty="0">
                        <a:solidFill>
                          <a:schemeClr val="tx1"/>
                        </a:solidFill>
                        <a:latin typeface="Arial" panose="020B0604020202020204" pitchFamily="34" charset="0"/>
                        <a:ea typeface="+mn-ea"/>
                        <a:cs typeface="Arial" panose="020B0604020202020204" pitchFamily="34" charset="0"/>
                      </a:endParaRPr>
                    </a:p>
                    <a:p>
                      <a:pPr marL="342900" indent="-342900" algn="just" defTabSz="914400" rtl="0" eaLnBrk="1" latinLnBrk="0" hangingPunct="1">
                        <a:buFontTx/>
                        <a:buChar char="-"/>
                      </a:pPr>
                      <a:r>
                        <a:rPr lang="en-US" sz="2200" kern="1200" baseline="0" dirty="0">
                          <a:solidFill>
                            <a:schemeClr val="tx1"/>
                          </a:solidFill>
                          <a:latin typeface="Arial" panose="020B0604020202020204" pitchFamily="34" charset="0"/>
                          <a:ea typeface="+mn-ea"/>
                          <a:cs typeface="Arial" panose="020B0604020202020204" pitchFamily="34" charset="0"/>
                        </a:rPr>
                        <a:t>Tài </a:t>
                      </a:r>
                      <a:r>
                        <a:rPr lang="en-US" sz="2200" kern="1200" baseline="0" dirty="0" err="1">
                          <a:solidFill>
                            <a:schemeClr val="tx1"/>
                          </a:solidFill>
                          <a:latin typeface="Arial" panose="020B0604020202020204" pitchFamily="34" charset="0"/>
                          <a:ea typeface="+mn-ea"/>
                          <a:cs typeface="Arial" panose="020B0604020202020204" pitchFamily="34" charset="0"/>
                        </a:rPr>
                        <a:t>liệu</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đào</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tạo</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định</a:t>
                      </a:r>
                      <a:r>
                        <a:rPr lang="en-US" sz="2200" kern="1200" baseline="0" dirty="0">
                          <a:solidFill>
                            <a:schemeClr val="tx1"/>
                          </a:solidFill>
                          <a:latin typeface="Arial" panose="020B0604020202020204" pitchFamily="34" charset="0"/>
                          <a:ea typeface="+mn-ea"/>
                          <a:cs typeface="Arial" panose="020B0604020202020204" pitchFamily="34" charset="0"/>
                        </a:rPr>
                        <a:t> </a:t>
                      </a:r>
                      <a:r>
                        <a:rPr lang="en-US" sz="2200" kern="1200" baseline="0" dirty="0" err="1">
                          <a:solidFill>
                            <a:schemeClr val="tx1"/>
                          </a:solidFill>
                          <a:latin typeface="Arial" panose="020B0604020202020204" pitchFamily="34" charset="0"/>
                          <a:ea typeface="+mn-ea"/>
                          <a:cs typeface="Arial" panose="020B0604020202020204" pitchFamily="34" charset="0"/>
                        </a:rPr>
                        <a:t>kỳ</a:t>
                      </a:r>
                      <a:endParaRPr lang="en-US" sz="2200" kern="1200" baseline="0" dirty="0">
                        <a:solidFill>
                          <a:schemeClr val="tx1"/>
                        </a:solidFill>
                        <a:latin typeface="Arial" panose="020B0604020202020204" pitchFamily="34" charset="0"/>
                        <a:ea typeface="+mn-ea"/>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P. QTRR</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vi-VN" sz="2200" kern="1200" baseline="0">
                          <a:solidFill>
                            <a:schemeClr val="tx1"/>
                          </a:solidFill>
                          <a:latin typeface="+mn-lt"/>
                          <a:ea typeface="+mn-ea"/>
                          <a:cs typeface="Arial" panose="020B0604020202020204" pitchFamily="34" charset="0"/>
                        </a:rPr>
                        <a:t>Các phòng ban/ đơn vị toàn TCT</a:t>
                      </a: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tc>
                  <a:txBody>
                    <a:bodyPr/>
                    <a:lstStyle/>
                    <a:p>
                      <a:pPr algn="ctr"/>
                      <a:r>
                        <a:rPr lang="en-US" sz="2200" b="1">
                          <a:solidFill>
                            <a:srgbClr val="C00000"/>
                          </a:solidFill>
                          <a:latin typeface="+mn-lt"/>
                          <a:cs typeface="Arial" panose="020B0604020202020204" pitchFamily="34" charset="0"/>
                        </a:rPr>
                        <a:t>T14</a:t>
                      </a:r>
                      <a:endParaRPr lang="en-US" sz="2200" b="1" dirty="0">
                        <a:solidFill>
                          <a:srgbClr val="C00000"/>
                        </a:solidFill>
                        <a:latin typeface="+mn-lt"/>
                        <a:cs typeface="Arial" panose="020B0604020202020204" pitchFamily="34" charset="0"/>
                      </a:endParaRPr>
                    </a:p>
                  </a:txBody>
                  <a:tcPr anchor="ctr">
                    <a:lnL w="12700" cap="flat" cmpd="sng" algn="ctr">
                      <a:solidFill>
                        <a:schemeClr val="tx1"/>
                      </a:solidFill>
                      <a:prstDash val="sysDashDot"/>
                      <a:round/>
                      <a:headEnd type="none" w="med" len="med"/>
                      <a:tailEnd type="none" w="med" len="med"/>
                    </a:lnL>
                    <a:lnR w="12700" cap="flat" cmpd="sng" algn="ctr">
                      <a:solidFill>
                        <a:schemeClr val="tx1"/>
                      </a:solidFill>
                      <a:prstDash val="sysDashDot"/>
                      <a:round/>
                      <a:headEnd type="none" w="med" len="med"/>
                      <a:tailEnd type="none" w="med" len="med"/>
                    </a:lnR>
                    <a:lnT w="12700" cap="flat" cmpd="sng" algn="ctr">
                      <a:solidFill>
                        <a:schemeClr val="tx1"/>
                      </a:solidFill>
                      <a:prstDash val="sysDashDot"/>
                      <a:round/>
                      <a:headEnd type="none" w="med" len="med"/>
                      <a:tailEnd type="none" w="med" len="med"/>
                    </a:lnT>
                    <a:lnB w="12700" cap="flat" cmpd="sng" algn="ctr">
                      <a:solidFill>
                        <a:schemeClr val="tx1"/>
                      </a:solidFill>
                      <a:prstDash val="sysDashDot"/>
                      <a:round/>
                      <a:headEnd type="none" w="med" len="med"/>
                      <a:tailEnd type="none" w="med" len="med"/>
                    </a:lnB>
                  </a:tcPr>
                </a:tc>
                <a:extLst>
                  <a:ext uri="{0D108BD9-81ED-4DB2-BD59-A6C34878D82A}">
                    <a16:rowId xmlns:a16="http://schemas.microsoft.com/office/drawing/2014/main" val="1118171118"/>
                  </a:ext>
                </a:extLst>
              </a:tr>
            </a:tbl>
          </a:graphicData>
        </a:graphic>
      </p:graphicFrame>
      <p:grpSp>
        <p:nvGrpSpPr>
          <p:cNvPr id="8" name="Group 1089"/>
          <p:cNvGrpSpPr>
            <a:grpSpLocks noChangeAspect="1"/>
          </p:cNvGrpSpPr>
          <p:nvPr/>
        </p:nvGrpSpPr>
        <p:grpSpPr bwMode="auto">
          <a:xfrm>
            <a:off x="239553" y="2400300"/>
            <a:ext cx="457200" cy="457200"/>
            <a:chOff x="5756" y="2047"/>
            <a:chExt cx="227" cy="226"/>
          </a:xfrm>
          <a:solidFill>
            <a:srgbClr val="EE0033"/>
          </a:solidFill>
        </p:grpSpPr>
        <p:sp>
          <p:nvSpPr>
            <p:cNvPr id="9" name="Freeform 1090"/>
            <p:cNvSpPr>
              <a:spLocks/>
            </p:cNvSpPr>
            <p:nvPr/>
          </p:nvSpPr>
          <p:spPr bwMode="auto">
            <a:xfrm>
              <a:off x="5808" y="2103"/>
              <a:ext cx="114" cy="115"/>
            </a:xfrm>
            <a:custGeom>
              <a:avLst/>
              <a:gdLst>
                <a:gd name="T0" fmla="*/ 613 w 762"/>
                <a:gd name="T1" fmla="*/ 464 h 763"/>
                <a:gd name="T2" fmla="*/ 497 w 762"/>
                <a:gd name="T3" fmla="*/ 518 h 763"/>
                <a:gd name="T4" fmla="*/ 477 w 762"/>
                <a:gd name="T5" fmla="*/ 522 h 763"/>
                <a:gd name="T6" fmla="*/ 304 w 762"/>
                <a:gd name="T7" fmla="*/ 429 h 763"/>
                <a:gd name="T8" fmla="*/ 295 w 762"/>
                <a:gd name="T9" fmla="*/ 412 h 763"/>
                <a:gd name="T10" fmla="*/ 299 w 762"/>
                <a:gd name="T11" fmla="*/ 381 h 763"/>
                <a:gd name="T12" fmla="*/ 293 w 762"/>
                <a:gd name="T13" fmla="*/ 342 h 763"/>
                <a:gd name="T14" fmla="*/ 300 w 762"/>
                <a:gd name="T15" fmla="*/ 324 h 763"/>
                <a:gd name="T16" fmla="*/ 490 w 762"/>
                <a:gd name="T17" fmla="*/ 207 h 763"/>
                <a:gd name="T18" fmla="*/ 508 w 762"/>
                <a:gd name="T19" fmla="*/ 208 h 763"/>
                <a:gd name="T20" fmla="*/ 580 w 762"/>
                <a:gd name="T21" fmla="*/ 233 h 763"/>
                <a:gd name="T22" fmla="*/ 696 w 762"/>
                <a:gd name="T23" fmla="*/ 116 h 763"/>
                <a:gd name="T24" fmla="*/ 580 w 762"/>
                <a:gd name="T25" fmla="*/ 0 h 763"/>
                <a:gd name="T26" fmla="*/ 463 w 762"/>
                <a:gd name="T27" fmla="*/ 116 h 763"/>
                <a:gd name="T28" fmla="*/ 465 w 762"/>
                <a:gd name="T29" fmla="*/ 139 h 763"/>
                <a:gd name="T30" fmla="*/ 458 w 762"/>
                <a:gd name="T31" fmla="*/ 156 h 763"/>
                <a:gd name="T32" fmla="*/ 269 w 762"/>
                <a:gd name="T33" fmla="*/ 272 h 763"/>
                <a:gd name="T34" fmla="*/ 249 w 762"/>
                <a:gd name="T35" fmla="*/ 271 h 763"/>
                <a:gd name="T36" fmla="*/ 149 w 762"/>
                <a:gd name="T37" fmla="*/ 232 h 763"/>
                <a:gd name="T38" fmla="*/ 0 w 762"/>
                <a:gd name="T39" fmla="*/ 381 h 763"/>
                <a:gd name="T40" fmla="*/ 149 w 762"/>
                <a:gd name="T41" fmla="*/ 531 h 763"/>
                <a:gd name="T42" fmla="*/ 256 w 762"/>
                <a:gd name="T43" fmla="*/ 486 h 763"/>
                <a:gd name="T44" fmla="*/ 267 w 762"/>
                <a:gd name="T45" fmla="*/ 481 h 763"/>
                <a:gd name="T46" fmla="*/ 275 w 762"/>
                <a:gd name="T47" fmla="*/ 483 h 763"/>
                <a:gd name="T48" fmla="*/ 456 w 762"/>
                <a:gd name="T49" fmla="*/ 579 h 763"/>
                <a:gd name="T50" fmla="*/ 464 w 762"/>
                <a:gd name="T51" fmla="*/ 595 h 763"/>
                <a:gd name="T52" fmla="*/ 463 w 762"/>
                <a:gd name="T53" fmla="*/ 613 h 763"/>
                <a:gd name="T54" fmla="*/ 613 w 762"/>
                <a:gd name="T55" fmla="*/ 763 h 763"/>
                <a:gd name="T56" fmla="*/ 762 w 762"/>
                <a:gd name="T57" fmla="*/ 613 h 763"/>
                <a:gd name="T58" fmla="*/ 613 w 762"/>
                <a:gd name="T59" fmla="*/ 464 h 7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62" h="763">
                  <a:moveTo>
                    <a:pt x="613" y="464"/>
                  </a:moveTo>
                  <a:cubicBezTo>
                    <a:pt x="568" y="464"/>
                    <a:pt x="526" y="484"/>
                    <a:pt x="497" y="518"/>
                  </a:cubicBezTo>
                  <a:cubicBezTo>
                    <a:pt x="492" y="524"/>
                    <a:pt x="484" y="526"/>
                    <a:pt x="477" y="522"/>
                  </a:cubicBezTo>
                  <a:cubicBezTo>
                    <a:pt x="304" y="429"/>
                    <a:pt x="304" y="429"/>
                    <a:pt x="304" y="429"/>
                  </a:cubicBezTo>
                  <a:cubicBezTo>
                    <a:pt x="297" y="426"/>
                    <a:pt x="294" y="419"/>
                    <a:pt x="295" y="412"/>
                  </a:cubicBezTo>
                  <a:cubicBezTo>
                    <a:pt x="298" y="402"/>
                    <a:pt x="299" y="391"/>
                    <a:pt x="299" y="381"/>
                  </a:cubicBezTo>
                  <a:cubicBezTo>
                    <a:pt x="299" y="368"/>
                    <a:pt x="297" y="355"/>
                    <a:pt x="293" y="342"/>
                  </a:cubicBezTo>
                  <a:cubicBezTo>
                    <a:pt x="291" y="335"/>
                    <a:pt x="294" y="328"/>
                    <a:pt x="300" y="324"/>
                  </a:cubicBezTo>
                  <a:cubicBezTo>
                    <a:pt x="490" y="207"/>
                    <a:pt x="490" y="207"/>
                    <a:pt x="490" y="207"/>
                  </a:cubicBezTo>
                  <a:cubicBezTo>
                    <a:pt x="496" y="204"/>
                    <a:pt x="503" y="204"/>
                    <a:pt x="508" y="208"/>
                  </a:cubicBezTo>
                  <a:cubicBezTo>
                    <a:pt x="529" y="224"/>
                    <a:pt x="553" y="233"/>
                    <a:pt x="580" y="233"/>
                  </a:cubicBezTo>
                  <a:cubicBezTo>
                    <a:pt x="644" y="233"/>
                    <a:pt x="696" y="181"/>
                    <a:pt x="696" y="116"/>
                  </a:cubicBezTo>
                  <a:cubicBezTo>
                    <a:pt x="696" y="52"/>
                    <a:pt x="644" y="0"/>
                    <a:pt x="580" y="0"/>
                  </a:cubicBezTo>
                  <a:cubicBezTo>
                    <a:pt x="515" y="0"/>
                    <a:pt x="463" y="52"/>
                    <a:pt x="463" y="116"/>
                  </a:cubicBezTo>
                  <a:cubicBezTo>
                    <a:pt x="463" y="124"/>
                    <a:pt x="464" y="132"/>
                    <a:pt x="465" y="139"/>
                  </a:cubicBezTo>
                  <a:cubicBezTo>
                    <a:pt x="467" y="145"/>
                    <a:pt x="464" y="152"/>
                    <a:pt x="458" y="156"/>
                  </a:cubicBezTo>
                  <a:cubicBezTo>
                    <a:pt x="269" y="272"/>
                    <a:pt x="269" y="272"/>
                    <a:pt x="269" y="272"/>
                  </a:cubicBezTo>
                  <a:cubicBezTo>
                    <a:pt x="263" y="276"/>
                    <a:pt x="255" y="275"/>
                    <a:pt x="249" y="271"/>
                  </a:cubicBezTo>
                  <a:cubicBezTo>
                    <a:pt x="222" y="246"/>
                    <a:pt x="186" y="232"/>
                    <a:pt x="149" y="232"/>
                  </a:cubicBezTo>
                  <a:cubicBezTo>
                    <a:pt x="67" y="232"/>
                    <a:pt x="0" y="299"/>
                    <a:pt x="0" y="381"/>
                  </a:cubicBezTo>
                  <a:cubicBezTo>
                    <a:pt x="0" y="464"/>
                    <a:pt x="67" y="531"/>
                    <a:pt x="149" y="531"/>
                  </a:cubicBezTo>
                  <a:cubicBezTo>
                    <a:pt x="190" y="531"/>
                    <a:pt x="228" y="515"/>
                    <a:pt x="256" y="486"/>
                  </a:cubicBezTo>
                  <a:cubicBezTo>
                    <a:pt x="259" y="483"/>
                    <a:pt x="263" y="481"/>
                    <a:pt x="267" y="481"/>
                  </a:cubicBezTo>
                  <a:cubicBezTo>
                    <a:pt x="270" y="481"/>
                    <a:pt x="273" y="482"/>
                    <a:pt x="275" y="483"/>
                  </a:cubicBezTo>
                  <a:cubicBezTo>
                    <a:pt x="456" y="579"/>
                    <a:pt x="456" y="579"/>
                    <a:pt x="456" y="579"/>
                  </a:cubicBezTo>
                  <a:cubicBezTo>
                    <a:pt x="462" y="582"/>
                    <a:pt x="465" y="589"/>
                    <a:pt x="464" y="595"/>
                  </a:cubicBezTo>
                  <a:cubicBezTo>
                    <a:pt x="464" y="601"/>
                    <a:pt x="463" y="607"/>
                    <a:pt x="463" y="613"/>
                  </a:cubicBezTo>
                  <a:cubicBezTo>
                    <a:pt x="463" y="696"/>
                    <a:pt x="530" y="763"/>
                    <a:pt x="613" y="763"/>
                  </a:cubicBezTo>
                  <a:cubicBezTo>
                    <a:pt x="695" y="763"/>
                    <a:pt x="762" y="696"/>
                    <a:pt x="762" y="613"/>
                  </a:cubicBezTo>
                  <a:cubicBezTo>
                    <a:pt x="762" y="531"/>
                    <a:pt x="695" y="464"/>
                    <a:pt x="613" y="46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sp>
          <p:nvSpPr>
            <p:cNvPr id="10" name="Freeform 1091"/>
            <p:cNvSpPr>
              <a:spLocks noEditPoints="1"/>
            </p:cNvSpPr>
            <p:nvPr/>
          </p:nvSpPr>
          <p:spPr bwMode="auto">
            <a:xfrm>
              <a:off x="5756" y="2047"/>
              <a:ext cx="227" cy="226"/>
            </a:xfrm>
            <a:custGeom>
              <a:avLst/>
              <a:gdLst>
                <a:gd name="T0" fmla="*/ 753 w 1506"/>
                <a:gd name="T1" fmla="*/ 0 h 1506"/>
                <a:gd name="T2" fmla="*/ 0 w 1506"/>
                <a:gd name="T3" fmla="*/ 753 h 1506"/>
                <a:gd name="T4" fmla="*/ 753 w 1506"/>
                <a:gd name="T5" fmla="*/ 1506 h 1506"/>
                <a:gd name="T6" fmla="*/ 1506 w 1506"/>
                <a:gd name="T7" fmla="*/ 753 h 1506"/>
                <a:gd name="T8" fmla="*/ 753 w 1506"/>
                <a:gd name="T9" fmla="*/ 0 h 1506"/>
                <a:gd name="T10" fmla="*/ 955 w 1506"/>
                <a:gd name="T11" fmla="*/ 1169 h 1506"/>
                <a:gd name="T12" fmla="*/ 773 w 1506"/>
                <a:gd name="T13" fmla="*/ 987 h 1506"/>
                <a:gd name="T14" fmla="*/ 773 w 1506"/>
                <a:gd name="T15" fmla="*/ 977 h 1506"/>
                <a:gd name="T16" fmla="*/ 612 w 1506"/>
                <a:gd name="T17" fmla="*/ 891 h 1506"/>
                <a:gd name="T18" fmla="*/ 491 w 1506"/>
                <a:gd name="T19" fmla="*/ 937 h 1506"/>
                <a:gd name="T20" fmla="*/ 309 w 1506"/>
                <a:gd name="T21" fmla="*/ 755 h 1506"/>
                <a:gd name="T22" fmla="*/ 491 w 1506"/>
                <a:gd name="T23" fmla="*/ 574 h 1506"/>
                <a:gd name="T24" fmla="*/ 604 w 1506"/>
                <a:gd name="T25" fmla="*/ 613 h 1506"/>
                <a:gd name="T26" fmla="*/ 774 w 1506"/>
                <a:gd name="T27" fmla="*/ 508 h 1506"/>
                <a:gd name="T28" fmla="*/ 773 w 1506"/>
                <a:gd name="T29" fmla="*/ 490 h 1506"/>
                <a:gd name="T30" fmla="*/ 922 w 1506"/>
                <a:gd name="T31" fmla="*/ 342 h 1506"/>
                <a:gd name="T32" fmla="*/ 1070 w 1506"/>
                <a:gd name="T33" fmla="*/ 490 h 1506"/>
                <a:gd name="T34" fmla="*/ 922 w 1506"/>
                <a:gd name="T35" fmla="*/ 639 h 1506"/>
                <a:gd name="T36" fmla="*/ 840 w 1506"/>
                <a:gd name="T37" fmla="*/ 614 h 1506"/>
                <a:gd name="T38" fmla="*/ 669 w 1506"/>
                <a:gd name="T39" fmla="*/ 719 h 1506"/>
                <a:gd name="T40" fmla="*/ 673 w 1506"/>
                <a:gd name="T41" fmla="*/ 755 h 1506"/>
                <a:gd name="T42" fmla="*/ 671 w 1506"/>
                <a:gd name="T43" fmla="*/ 781 h 1506"/>
                <a:gd name="T44" fmla="*/ 823 w 1506"/>
                <a:gd name="T45" fmla="*/ 862 h 1506"/>
                <a:gd name="T46" fmla="*/ 955 w 1506"/>
                <a:gd name="T47" fmla="*/ 805 h 1506"/>
                <a:gd name="T48" fmla="*/ 1136 w 1506"/>
                <a:gd name="T49" fmla="*/ 987 h 1506"/>
                <a:gd name="T50" fmla="*/ 955 w 1506"/>
                <a:gd name="T51" fmla="*/ 1169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506" h="1506">
                  <a:moveTo>
                    <a:pt x="753" y="0"/>
                  </a:moveTo>
                  <a:cubicBezTo>
                    <a:pt x="337" y="0"/>
                    <a:pt x="0" y="337"/>
                    <a:pt x="0" y="753"/>
                  </a:cubicBezTo>
                  <a:cubicBezTo>
                    <a:pt x="0" y="1169"/>
                    <a:pt x="337" y="1506"/>
                    <a:pt x="753" y="1506"/>
                  </a:cubicBezTo>
                  <a:cubicBezTo>
                    <a:pt x="1169" y="1506"/>
                    <a:pt x="1506" y="1169"/>
                    <a:pt x="1506" y="753"/>
                  </a:cubicBezTo>
                  <a:cubicBezTo>
                    <a:pt x="1506" y="337"/>
                    <a:pt x="1169" y="0"/>
                    <a:pt x="753" y="0"/>
                  </a:cubicBezTo>
                  <a:close/>
                  <a:moveTo>
                    <a:pt x="955" y="1169"/>
                  </a:moveTo>
                  <a:cubicBezTo>
                    <a:pt x="854" y="1169"/>
                    <a:pt x="773" y="1087"/>
                    <a:pt x="773" y="987"/>
                  </a:cubicBezTo>
                  <a:cubicBezTo>
                    <a:pt x="773" y="984"/>
                    <a:pt x="773" y="980"/>
                    <a:pt x="773" y="977"/>
                  </a:cubicBezTo>
                  <a:cubicBezTo>
                    <a:pt x="612" y="891"/>
                    <a:pt x="612" y="891"/>
                    <a:pt x="612" y="891"/>
                  </a:cubicBezTo>
                  <a:cubicBezTo>
                    <a:pt x="579" y="921"/>
                    <a:pt x="536" y="937"/>
                    <a:pt x="491" y="937"/>
                  </a:cubicBezTo>
                  <a:cubicBezTo>
                    <a:pt x="391" y="937"/>
                    <a:pt x="309" y="856"/>
                    <a:pt x="309" y="755"/>
                  </a:cubicBezTo>
                  <a:cubicBezTo>
                    <a:pt x="309" y="655"/>
                    <a:pt x="391" y="574"/>
                    <a:pt x="491" y="574"/>
                  </a:cubicBezTo>
                  <a:cubicBezTo>
                    <a:pt x="532" y="574"/>
                    <a:pt x="572" y="587"/>
                    <a:pt x="604" y="613"/>
                  </a:cubicBezTo>
                  <a:cubicBezTo>
                    <a:pt x="774" y="508"/>
                    <a:pt x="774" y="508"/>
                    <a:pt x="774" y="508"/>
                  </a:cubicBezTo>
                  <a:cubicBezTo>
                    <a:pt x="773" y="502"/>
                    <a:pt x="773" y="496"/>
                    <a:pt x="773" y="490"/>
                  </a:cubicBezTo>
                  <a:cubicBezTo>
                    <a:pt x="773" y="409"/>
                    <a:pt x="840" y="342"/>
                    <a:pt x="922" y="342"/>
                  </a:cubicBezTo>
                  <a:cubicBezTo>
                    <a:pt x="1004" y="342"/>
                    <a:pt x="1070" y="409"/>
                    <a:pt x="1070" y="490"/>
                  </a:cubicBezTo>
                  <a:cubicBezTo>
                    <a:pt x="1070" y="572"/>
                    <a:pt x="1004" y="639"/>
                    <a:pt x="922" y="639"/>
                  </a:cubicBezTo>
                  <a:cubicBezTo>
                    <a:pt x="892" y="639"/>
                    <a:pt x="864" y="630"/>
                    <a:pt x="840" y="614"/>
                  </a:cubicBezTo>
                  <a:cubicBezTo>
                    <a:pt x="669" y="719"/>
                    <a:pt x="669" y="719"/>
                    <a:pt x="669" y="719"/>
                  </a:cubicBezTo>
                  <a:cubicBezTo>
                    <a:pt x="672" y="731"/>
                    <a:pt x="673" y="743"/>
                    <a:pt x="673" y="755"/>
                  </a:cubicBezTo>
                  <a:cubicBezTo>
                    <a:pt x="673" y="764"/>
                    <a:pt x="672" y="772"/>
                    <a:pt x="671" y="781"/>
                  </a:cubicBezTo>
                  <a:cubicBezTo>
                    <a:pt x="823" y="862"/>
                    <a:pt x="823" y="862"/>
                    <a:pt x="823" y="862"/>
                  </a:cubicBezTo>
                  <a:cubicBezTo>
                    <a:pt x="858" y="826"/>
                    <a:pt x="905" y="805"/>
                    <a:pt x="955" y="805"/>
                  </a:cubicBezTo>
                  <a:cubicBezTo>
                    <a:pt x="1055" y="805"/>
                    <a:pt x="1136" y="887"/>
                    <a:pt x="1136" y="987"/>
                  </a:cubicBezTo>
                  <a:cubicBezTo>
                    <a:pt x="1136" y="1087"/>
                    <a:pt x="1055" y="1169"/>
                    <a:pt x="955" y="11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endParaRPr lang="en-GB">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41373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Arc 23"/>
          <p:cNvSpPr/>
          <p:nvPr/>
        </p:nvSpPr>
        <p:spPr>
          <a:xfrm>
            <a:off x="304800" y="114299"/>
            <a:ext cx="45719"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atin typeface="Arial" panose="020B0604020202020204" pitchFamily="34" charset="0"/>
            </a:endParaRPr>
          </a:p>
        </p:txBody>
      </p:sp>
      <p:sp>
        <p:nvSpPr>
          <p:cNvPr id="3" name="Trapezoid 2"/>
          <p:cNvSpPr/>
          <p:nvPr/>
        </p:nvSpPr>
        <p:spPr>
          <a:xfrm flipV="1">
            <a:off x="3200400" y="1866900"/>
            <a:ext cx="14859000" cy="2240323"/>
          </a:xfrm>
          <a:prstGeom prst="trapezoid">
            <a:avLst/>
          </a:prstGeom>
          <a:solidFill>
            <a:schemeClr val="accent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4" name="Rectangle 3"/>
          <p:cNvSpPr/>
          <p:nvPr/>
        </p:nvSpPr>
        <p:spPr>
          <a:xfrm>
            <a:off x="3802900" y="2256948"/>
            <a:ext cx="4389120" cy="1524000"/>
          </a:xfrm>
          <a:prstGeom prst="rect">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dirty="0" err="1">
                <a:solidFill>
                  <a:schemeClr val="tx1"/>
                </a:solidFill>
                <a:latin typeface="Arial" panose="020B0604020202020204" pitchFamily="34" charset="0"/>
                <a:cs typeface="Arial" panose="020B0604020202020204" pitchFamily="34" charset="0"/>
              </a:rPr>
              <a:t>Sự</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kiện</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rủi</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ro</a:t>
            </a:r>
            <a:endParaRPr lang="en-US" b="1" dirty="0">
              <a:solidFill>
                <a:schemeClr val="tx1"/>
              </a:solidFill>
              <a:latin typeface="Arial" panose="020B0604020202020204" pitchFamily="34" charset="0"/>
              <a:cs typeface="Arial" panose="020B0604020202020204" pitchFamily="34" charset="0"/>
            </a:endParaRPr>
          </a:p>
          <a:p>
            <a:pPr marL="914400" algn="just"/>
            <a:r>
              <a:rPr lang="en-US" dirty="0" err="1">
                <a:solidFill>
                  <a:schemeClr val="tx1"/>
                </a:solidFill>
                <a:latin typeface="Arial" panose="020B0604020202020204" pitchFamily="34" charset="0"/>
                <a:cs typeface="Arial" panose="020B0604020202020204" pitchFamily="34" charset="0"/>
              </a:rPr>
              <a:t>Phát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sinh</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từ</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hoạt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động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vận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hành</a:t>
            </a:r>
            <a:r>
              <a:rPr lang="en-US" dirty="0">
                <a:solidFill>
                  <a:schemeClr val="tx1"/>
                </a:solidFill>
                <a:latin typeface="Arial" panose="020B0604020202020204" pitchFamily="34" charset="0"/>
                <a:cs typeface="Arial" panose="020B0604020202020204" pitchFamily="34" charset="0"/>
              </a:rPr>
              <a:t> &amp; </a:t>
            </a:r>
            <a:r>
              <a:rPr lang="en-US" dirty="0" err="1">
                <a:solidFill>
                  <a:schemeClr val="tx1"/>
                </a:solidFill>
                <a:latin typeface="Arial" panose="020B0604020202020204" pitchFamily="34" charset="0"/>
                <a:cs typeface="Arial" panose="020B0604020202020204" pitchFamily="34" charset="0"/>
              </a:rPr>
              <a:t>lỗ</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hổng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trong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quy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trình</a:t>
            </a:r>
            <a:r>
              <a:rPr lang="en-US" dirty="0">
                <a:solidFill>
                  <a:schemeClr val="tx1"/>
                </a:solidFill>
                <a:latin typeface="Arial" panose="020B0604020202020204" pitchFamily="34" charset="0"/>
                <a:cs typeface="Arial" panose="020B0604020202020204" pitchFamily="34" charset="0"/>
              </a:rPr>
              <a:t> (VD: </a:t>
            </a:r>
            <a:r>
              <a:rPr lang="en-US" dirty="0" err="1">
                <a:solidFill>
                  <a:schemeClr val="tx1"/>
                </a:solidFill>
                <a:latin typeface="Arial" panose="020B0604020202020204" pitchFamily="34" charset="0"/>
                <a:cs typeface="Arial" panose="020B0604020202020204" pitchFamily="34" charset="0"/>
              </a:rPr>
              <a:t>gián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đoạn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hệ</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thống</a:t>
            </a:r>
            <a:r>
              <a:rPr lang="en-US" dirty="0">
                <a:solidFill>
                  <a:schemeClr val="tx1"/>
                </a:solidFill>
                <a:latin typeface="Arial" panose="020B0604020202020204" pitchFamily="34" charset="0"/>
                <a:cs typeface="Arial" panose="020B0604020202020204" pitchFamily="34" charset="0"/>
              </a:rPr>
              <a:t> CNTT, </a:t>
            </a:r>
            <a:r>
              <a:rPr lang="en-US" dirty="0" err="1">
                <a:solidFill>
                  <a:schemeClr val="tx1"/>
                </a:solidFill>
                <a:latin typeface="Arial" panose="020B0604020202020204" pitchFamily="34" charset="0"/>
                <a:cs typeface="Arial" panose="020B0604020202020204" pitchFamily="34" charset="0"/>
              </a:rPr>
              <a:t>gian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lận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nội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bộ</a:t>
            </a:r>
            <a:r>
              <a:rPr lang="en-US" dirty="0">
                <a:solidFill>
                  <a:schemeClr val="tx1"/>
                </a:solidFill>
                <a:latin typeface="Arial" panose="020B0604020202020204" pitchFamily="34" charset="0"/>
                <a:cs typeface="Arial" panose="020B0604020202020204" pitchFamily="34" charset="0"/>
              </a:rPr>
              <a:t>,…)</a:t>
            </a:r>
          </a:p>
        </p:txBody>
      </p:sp>
      <p:sp>
        <p:nvSpPr>
          <p:cNvPr id="60" name="Rectangle 59"/>
          <p:cNvSpPr/>
          <p:nvPr/>
        </p:nvSpPr>
        <p:spPr>
          <a:xfrm>
            <a:off x="8439150" y="2256948"/>
            <a:ext cx="4389120" cy="1524000"/>
          </a:xfrm>
          <a:prstGeom prst="rect">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dirty="0" err="1">
                <a:solidFill>
                  <a:schemeClr val="tx1"/>
                </a:solidFill>
                <a:latin typeface="Arial" panose="020B0604020202020204" pitchFamily="34" charset="0"/>
                <a:cs typeface="Arial" panose="020B0604020202020204" pitchFamily="34" charset="0"/>
              </a:rPr>
              <a:t>Rủi</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ro</a:t>
            </a:r>
            <a:r>
              <a:rPr lang="en-US" b="1" dirty="0">
                <a:solidFill>
                  <a:schemeClr val="tx1"/>
                </a:solidFill>
                <a:latin typeface="Arial" panose="020B0604020202020204" pitchFamily="34" charset="0"/>
                <a:cs typeface="Arial" panose="020B0604020202020204" pitchFamily="34" charset="0"/>
              </a:rPr>
              <a:t> do </a:t>
            </a:r>
            <a:r>
              <a:rPr lang="en-US" b="1" dirty="0" err="1">
                <a:solidFill>
                  <a:schemeClr val="tx1"/>
                </a:solidFill>
                <a:latin typeface="Arial" panose="020B0604020202020204" pitchFamily="34" charset="0"/>
                <a:cs typeface="Arial" panose="020B0604020202020204" pitchFamily="34" charset="0"/>
              </a:rPr>
              <a:t>đơn</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vị</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nhận</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diện</a:t>
            </a:r>
            <a:endParaRPr lang="en-US" b="1" dirty="0">
              <a:solidFill>
                <a:schemeClr val="tx1"/>
              </a:solidFill>
              <a:latin typeface="Arial" panose="020B0604020202020204" pitchFamily="34" charset="0"/>
              <a:cs typeface="Arial" panose="020B0604020202020204" pitchFamily="34" charset="0"/>
            </a:endParaRPr>
          </a:p>
          <a:p>
            <a:pPr marL="914400" algn="just"/>
            <a:r>
              <a:rPr lang="en-US" dirty="0" err="1">
                <a:solidFill>
                  <a:schemeClr val="tx1"/>
                </a:solidFill>
                <a:latin typeface="Arial" panose="020B0604020202020204" pitchFamily="34" charset="0"/>
                <a:cs typeface="Arial" panose="020B0604020202020204" pitchFamily="34" charset="0"/>
              </a:rPr>
              <a:t>Đơn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vị</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tự</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nhận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diện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đánh</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giá</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mức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độ</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trọng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yếu</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của</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rủi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ro</a:t>
            </a:r>
            <a:endParaRPr lang="en-US" dirty="0">
              <a:solidFill>
                <a:schemeClr val="tx1"/>
              </a:solidFill>
              <a:latin typeface="Arial" panose="020B0604020202020204" pitchFamily="34" charset="0"/>
              <a:cs typeface="Arial" panose="020B0604020202020204" pitchFamily="34" charset="0"/>
            </a:endParaRPr>
          </a:p>
        </p:txBody>
      </p:sp>
      <p:sp>
        <p:nvSpPr>
          <p:cNvPr id="67" name="Rectangle 66"/>
          <p:cNvSpPr/>
          <p:nvPr/>
        </p:nvSpPr>
        <p:spPr>
          <a:xfrm>
            <a:off x="13075400" y="2256948"/>
            <a:ext cx="4389120" cy="1524000"/>
          </a:xfrm>
          <a:prstGeom prst="rect">
            <a:avLst/>
          </a:prstGeom>
          <a:solidFill>
            <a:schemeClr val="accent6">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dirty="0" err="1">
                <a:solidFill>
                  <a:schemeClr val="tx1"/>
                </a:solidFill>
                <a:latin typeface="Arial" panose="020B0604020202020204" pitchFamily="34" charset="0"/>
                <a:cs typeface="Arial" panose="020B0604020202020204" pitchFamily="34" charset="0"/>
              </a:rPr>
              <a:t>Dữ</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liệu</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tổn</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thất</a:t>
            </a:r>
            <a:endParaRPr lang="en-US" b="1" dirty="0">
              <a:solidFill>
                <a:schemeClr val="tx1"/>
              </a:solidFill>
              <a:latin typeface="Arial" panose="020B0604020202020204" pitchFamily="34" charset="0"/>
              <a:cs typeface="Arial" panose="020B0604020202020204" pitchFamily="34" charset="0"/>
            </a:endParaRPr>
          </a:p>
          <a:p>
            <a:pPr marL="914400" algn="just"/>
            <a:r>
              <a:rPr lang="en-US" dirty="0" err="1">
                <a:solidFill>
                  <a:schemeClr val="tx1"/>
                </a:solidFill>
                <a:latin typeface="Arial" panose="020B0604020202020204" pitchFamily="34" charset="0"/>
                <a:cs typeface="Arial" panose="020B0604020202020204" pitchFamily="34" charset="0"/>
              </a:rPr>
              <a:t>Ảnh</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hưởng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tới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lợi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nhuận</a:t>
            </a:r>
            <a:r>
              <a:rPr lang="en-US" dirty="0">
                <a:solidFill>
                  <a:schemeClr val="tx1"/>
                </a:solidFill>
                <a:latin typeface="Arial" panose="020B0604020202020204" pitchFamily="34" charset="0"/>
                <a:cs typeface="Arial" panose="020B0604020202020204" pitchFamily="34" charset="0"/>
              </a:rPr>
              <a:t>, chi </a:t>
            </a:r>
            <a:r>
              <a:rPr lang="en-US" dirty="0" err="1">
                <a:solidFill>
                  <a:schemeClr val="tx1"/>
                </a:solidFill>
                <a:latin typeface="Arial" panose="020B0604020202020204" pitchFamily="34" charset="0"/>
                <a:cs typeface="Arial" panose="020B0604020202020204" pitchFamily="34" charset="0"/>
              </a:rPr>
              <a:t>phí</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tuân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thủ</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phát</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sinh</a:t>
            </a:r>
            <a:endParaRPr lang="en-US" dirty="0">
              <a:solidFill>
                <a:schemeClr val="tx1"/>
              </a:solidFill>
              <a:latin typeface="Arial" panose="020B0604020202020204" pitchFamily="34" charset="0"/>
              <a:cs typeface="Arial" panose="020B0604020202020204" pitchFamily="34" charset="0"/>
            </a:endParaRPr>
          </a:p>
        </p:txBody>
      </p:sp>
      <p:pic>
        <p:nvPicPr>
          <p:cNvPr id="68" name="Image 0" descr="preencoded.png"/>
          <p:cNvPicPr>
            <a:picLocks noChangeAspect="1"/>
          </p:cNvPicPr>
          <p:nvPr/>
        </p:nvPicPr>
        <p:blipFill>
          <a:blip r:embed="rId3"/>
          <a:stretch>
            <a:fillRect/>
          </a:stretch>
        </p:blipFill>
        <p:spPr>
          <a:xfrm>
            <a:off x="8686800" y="2727864"/>
            <a:ext cx="582168" cy="582168"/>
          </a:xfrm>
          <a:prstGeom prst="rect">
            <a:avLst/>
          </a:prstGeom>
        </p:spPr>
      </p:pic>
      <p:sp>
        <p:nvSpPr>
          <p:cNvPr id="69" name="Trapezoid 68"/>
          <p:cNvSpPr/>
          <p:nvPr/>
        </p:nvSpPr>
        <p:spPr>
          <a:xfrm flipV="1">
            <a:off x="3802900" y="4490948"/>
            <a:ext cx="13661620" cy="2240323"/>
          </a:xfrm>
          <a:prstGeom prst="trapezoid">
            <a:avLst/>
          </a:prstGeom>
          <a:solidFill>
            <a:schemeClr val="accent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71" name="Trapezoid 70"/>
          <p:cNvSpPr/>
          <p:nvPr/>
        </p:nvSpPr>
        <p:spPr>
          <a:xfrm flipV="1">
            <a:off x="4419600" y="7114996"/>
            <a:ext cx="12420600" cy="2240323"/>
          </a:xfrm>
          <a:prstGeom prst="trapezoid">
            <a:avLst/>
          </a:prstGeom>
          <a:solidFill>
            <a:schemeClr val="tx2">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pic>
        <p:nvPicPr>
          <p:cNvPr id="72" name="Image 1" descr="preencoded.png"/>
          <p:cNvPicPr>
            <a:picLocks noChangeAspect="1"/>
          </p:cNvPicPr>
          <p:nvPr/>
        </p:nvPicPr>
        <p:blipFill>
          <a:blip r:embed="rId4"/>
          <a:stretch>
            <a:fillRect/>
          </a:stretch>
        </p:blipFill>
        <p:spPr>
          <a:xfrm>
            <a:off x="3962400" y="2727864"/>
            <a:ext cx="585216" cy="585216"/>
          </a:xfrm>
          <a:prstGeom prst="rect">
            <a:avLst/>
          </a:prstGeom>
        </p:spPr>
      </p:pic>
      <p:pic>
        <p:nvPicPr>
          <p:cNvPr id="73" name="Image 2" descr="preencoded.png"/>
          <p:cNvPicPr>
            <a:picLocks noChangeAspect="1"/>
          </p:cNvPicPr>
          <p:nvPr/>
        </p:nvPicPr>
        <p:blipFill>
          <a:blip r:embed="rId5"/>
          <a:stretch>
            <a:fillRect/>
          </a:stretch>
        </p:blipFill>
        <p:spPr>
          <a:xfrm>
            <a:off x="13258800" y="2726340"/>
            <a:ext cx="585216" cy="585216"/>
          </a:xfrm>
          <a:prstGeom prst="rect">
            <a:avLst/>
          </a:prstGeom>
        </p:spPr>
      </p:pic>
      <p:sp>
        <p:nvSpPr>
          <p:cNvPr id="74" name="Rectangle 73"/>
          <p:cNvSpPr/>
          <p:nvPr/>
        </p:nvSpPr>
        <p:spPr>
          <a:xfrm>
            <a:off x="4534420" y="4923948"/>
            <a:ext cx="3657600" cy="1524000"/>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dirty="0" err="1">
                <a:solidFill>
                  <a:schemeClr val="tx1"/>
                </a:solidFill>
                <a:latin typeface="Arial" panose="020B0604020202020204" pitchFamily="34" charset="0"/>
                <a:cs typeface="Arial" panose="020B0604020202020204" pitchFamily="34" charset="0"/>
              </a:rPr>
              <a:t>Chắt</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lọc</a:t>
            </a:r>
            <a:endParaRPr lang="en-US" b="1" dirty="0">
              <a:solidFill>
                <a:schemeClr val="tx1"/>
              </a:solidFill>
              <a:latin typeface="Arial" panose="020B0604020202020204" pitchFamily="34" charset="0"/>
              <a:cs typeface="Arial" panose="020B0604020202020204" pitchFamily="34" charset="0"/>
            </a:endParaRPr>
          </a:p>
          <a:p>
            <a:pPr marL="914400" algn="just"/>
            <a:r>
              <a:rPr lang="en-US" dirty="0" err="1">
                <a:solidFill>
                  <a:schemeClr val="tx1"/>
                </a:solidFill>
                <a:latin typeface="Arial" panose="020B0604020202020204" pitchFamily="34" charset="0"/>
                <a:cs typeface="Arial" panose="020B0604020202020204" pitchFamily="34" charset="0"/>
              </a:rPr>
              <a:t>Phân</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loại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đánh</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giá</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loại</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bỏ</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các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thông</a:t>
            </a:r>
            <a:r>
              <a:rPr lang="en-US" dirty="0">
                <a:solidFill>
                  <a:schemeClr val="tx1"/>
                </a:solidFill>
                <a:latin typeface="Arial" panose="020B0604020202020204" pitchFamily="34" charset="0"/>
                <a:cs typeface="Arial" panose="020B0604020202020204" pitchFamily="34" charset="0"/>
              </a:rPr>
              <a:t> tin </a:t>
            </a:r>
            <a:r>
              <a:rPr lang="en-US" dirty="0" err="1">
                <a:solidFill>
                  <a:schemeClr val="tx1"/>
                </a:solidFill>
                <a:latin typeface="Arial" panose="020B0604020202020204" pitchFamily="34" charset="0"/>
                <a:cs typeface="Arial" panose="020B0604020202020204" pitchFamily="34" charset="0"/>
              </a:rPr>
              <a:t>gây</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nhiễu</a:t>
            </a:r>
            <a:endParaRPr lang="en-US" dirty="0">
              <a:solidFill>
                <a:schemeClr val="tx1"/>
              </a:solidFill>
              <a:latin typeface="Arial" panose="020B0604020202020204" pitchFamily="34" charset="0"/>
              <a:cs typeface="Arial" panose="020B0604020202020204" pitchFamily="34" charset="0"/>
            </a:endParaRPr>
          </a:p>
        </p:txBody>
      </p:sp>
      <p:sp>
        <p:nvSpPr>
          <p:cNvPr id="75" name="Rectangle 74"/>
          <p:cNvSpPr/>
          <p:nvPr/>
        </p:nvSpPr>
        <p:spPr>
          <a:xfrm>
            <a:off x="8858510" y="4923948"/>
            <a:ext cx="3657600" cy="1524000"/>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dirty="0" err="1">
                <a:solidFill>
                  <a:schemeClr val="tx1"/>
                </a:solidFill>
                <a:latin typeface="Arial" panose="020B0604020202020204" pitchFamily="34" charset="0"/>
                <a:cs typeface="Arial" panose="020B0604020202020204" pitchFamily="34" charset="0"/>
              </a:rPr>
              <a:t>Phân</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tích</a:t>
            </a:r>
            <a:endParaRPr lang="en-US" b="1" dirty="0">
              <a:solidFill>
                <a:schemeClr val="tx1"/>
              </a:solidFill>
              <a:latin typeface="Arial" panose="020B0604020202020204" pitchFamily="34" charset="0"/>
              <a:cs typeface="Arial" panose="020B0604020202020204" pitchFamily="34" charset="0"/>
            </a:endParaRPr>
          </a:p>
          <a:p>
            <a:pPr marL="914400" algn="just"/>
            <a:r>
              <a:rPr lang="en-US" dirty="0">
                <a:solidFill>
                  <a:schemeClr val="tx1"/>
                </a:solidFill>
                <a:latin typeface="Arial" panose="020B0604020202020204" pitchFamily="34" charset="0"/>
                <a:cs typeface="Arial" panose="020B0604020202020204" pitchFamily="34" charset="0"/>
              </a:rPr>
              <a:t>Đánh </a:t>
            </a:r>
            <a:r>
              <a:rPr lang="en-US" dirty="0" err="1">
                <a:solidFill>
                  <a:schemeClr val="tx1"/>
                </a:solidFill>
                <a:latin typeface="Arial" panose="020B0604020202020204" pitchFamily="34" charset="0"/>
                <a:cs typeface="Arial" panose="020B0604020202020204" pitchFamily="34" charset="0"/>
              </a:rPr>
              <a:t>giá</a:t>
            </a:r>
            <a:r>
              <a:rPr lang="en-US" dirty="0">
                <a:solidFill>
                  <a:schemeClr val="tx1"/>
                </a:solidFill>
                <a:latin typeface="Arial" panose="020B0604020202020204" pitchFamily="34" charset="0"/>
                <a:cs typeface="Arial" panose="020B0604020202020204" pitchFamily="34" charset="0"/>
              </a:rPr>
              <a:t> xu </a:t>
            </a:r>
            <a:r>
              <a:rPr lang="en-US" dirty="0" err="1">
                <a:solidFill>
                  <a:schemeClr val="tx1"/>
                </a:solidFill>
                <a:latin typeface="Arial" panose="020B0604020202020204" pitchFamily="34" charset="0"/>
                <a:cs typeface="Arial" panose="020B0604020202020204" pitchFamily="34" charset="0"/>
              </a:rPr>
              <a:t>hướng</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và</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đưa</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ra</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các</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cảnh</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báo</a:t>
            </a:r>
            <a:r>
              <a:rPr lang="en-US" dirty="0">
                <a:solidFill>
                  <a:schemeClr val="tx1"/>
                </a:solidFill>
                <a:latin typeface="Arial" panose="020B0604020202020204" pitchFamily="34" charset="0"/>
                <a:cs typeface="Arial" panose="020B0604020202020204" pitchFamily="34" charset="0"/>
              </a:rPr>
              <a:t> </a:t>
            </a:r>
            <a:r>
              <a:rPr lang="en-US" dirty="0" err="1">
                <a:solidFill>
                  <a:schemeClr val="tx1"/>
                </a:solidFill>
                <a:latin typeface="Arial" panose="020B0604020202020204" pitchFamily="34" charset="0"/>
                <a:cs typeface="Arial" panose="020B0604020202020204" pitchFamily="34" charset="0"/>
              </a:rPr>
              <a:t>sớm</a:t>
            </a:r>
            <a:endParaRPr lang="en-US" dirty="0">
              <a:solidFill>
                <a:schemeClr val="tx1"/>
              </a:solidFill>
              <a:latin typeface="Arial" panose="020B0604020202020204" pitchFamily="34" charset="0"/>
              <a:cs typeface="Arial" panose="020B0604020202020204" pitchFamily="34" charset="0"/>
            </a:endParaRPr>
          </a:p>
        </p:txBody>
      </p:sp>
      <p:sp>
        <p:nvSpPr>
          <p:cNvPr id="76" name="Rectangle 75"/>
          <p:cNvSpPr/>
          <p:nvPr/>
        </p:nvSpPr>
        <p:spPr>
          <a:xfrm>
            <a:off x="13182600" y="4923948"/>
            <a:ext cx="3657600" cy="1524000"/>
          </a:xfrm>
          <a:prstGeom prst="rect">
            <a:avLst/>
          </a:prstGeom>
          <a:solidFill>
            <a:schemeClr val="accent3">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a:solidFill>
                  <a:schemeClr val="tx1"/>
                </a:solidFill>
                <a:latin typeface="Arial" panose="020B0604020202020204" pitchFamily="34" charset="0"/>
                <a:cs typeface="Arial" panose="020B0604020202020204" pitchFamily="34" charset="0"/>
              </a:rPr>
              <a:t>Tổng hợp &amp; báo cáo</a:t>
            </a:r>
            <a:endParaRPr lang="en-US" b="1" dirty="0">
              <a:solidFill>
                <a:schemeClr val="tx1"/>
              </a:solidFill>
              <a:latin typeface="Arial" panose="020B0604020202020204" pitchFamily="34" charset="0"/>
              <a:cs typeface="Arial" panose="020B0604020202020204" pitchFamily="34" charset="0"/>
            </a:endParaRPr>
          </a:p>
          <a:p>
            <a:pPr marL="914400" algn="just"/>
            <a:r>
              <a:rPr lang="en-US">
                <a:solidFill>
                  <a:schemeClr val="tx1"/>
                </a:solidFill>
                <a:latin typeface="Arial" panose="020B0604020202020204" pitchFamily="34" charset="0"/>
                <a:cs typeface="Arial" panose="020B0604020202020204" pitchFamily="34" charset="0"/>
              </a:rPr>
              <a:t>Đưa ra các báo cáo tổng quan về QTRR tại TCT</a:t>
            </a:r>
            <a:endParaRPr lang="en-US" dirty="0">
              <a:solidFill>
                <a:schemeClr val="tx1"/>
              </a:solidFill>
              <a:latin typeface="Arial" panose="020B0604020202020204" pitchFamily="34" charset="0"/>
              <a:cs typeface="Arial" panose="020B0604020202020204" pitchFamily="34" charset="0"/>
            </a:endParaRPr>
          </a:p>
        </p:txBody>
      </p:sp>
      <p:pic>
        <p:nvPicPr>
          <p:cNvPr id="77" name="Image 3" descr="preencoded.png"/>
          <p:cNvPicPr>
            <a:picLocks noChangeAspect="1"/>
          </p:cNvPicPr>
          <p:nvPr/>
        </p:nvPicPr>
        <p:blipFill>
          <a:blip r:embed="rId6"/>
          <a:stretch>
            <a:fillRect/>
          </a:stretch>
        </p:blipFill>
        <p:spPr>
          <a:xfrm>
            <a:off x="4724400" y="5393340"/>
            <a:ext cx="585216" cy="585216"/>
          </a:xfrm>
          <a:prstGeom prst="rect">
            <a:avLst/>
          </a:prstGeom>
        </p:spPr>
      </p:pic>
      <p:pic>
        <p:nvPicPr>
          <p:cNvPr id="78" name="Image 4" descr="preencoded.png"/>
          <p:cNvPicPr>
            <a:picLocks noChangeAspect="1"/>
          </p:cNvPicPr>
          <p:nvPr/>
        </p:nvPicPr>
        <p:blipFill>
          <a:blip r:embed="rId7"/>
          <a:stretch>
            <a:fillRect/>
          </a:stretch>
        </p:blipFill>
        <p:spPr>
          <a:xfrm>
            <a:off x="9048006" y="5393340"/>
            <a:ext cx="585216" cy="585216"/>
          </a:xfrm>
          <a:prstGeom prst="rect">
            <a:avLst/>
          </a:prstGeom>
        </p:spPr>
      </p:pic>
      <p:pic>
        <p:nvPicPr>
          <p:cNvPr id="79" name="Image 5" descr="preencoded.png"/>
          <p:cNvPicPr>
            <a:picLocks noChangeAspect="1"/>
          </p:cNvPicPr>
          <p:nvPr/>
        </p:nvPicPr>
        <p:blipFill>
          <a:blip r:embed="rId8"/>
          <a:stretch>
            <a:fillRect/>
          </a:stretch>
        </p:blipFill>
        <p:spPr>
          <a:xfrm>
            <a:off x="13372338" y="5393340"/>
            <a:ext cx="585216" cy="585216"/>
          </a:xfrm>
          <a:prstGeom prst="rect">
            <a:avLst/>
          </a:prstGeom>
        </p:spPr>
      </p:pic>
      <p:sp>
        <p:nvSpPr>
          <p:cNvPr id="5" name="Left Brace 4"/>
          <p:cNvSpPr/>
          <p:nvPr/>
        </p:nvSpPr>
        <p:spPr>
          <a:xfrm>
            <a:off x="2362200" y="1866900"/>
            <a:ext cx="591070" cy="2240323"/>
          </a:xfrm>
          <a:prstGeom prst="leftBrace">
            <a:avLst/>
          </a:prstGeom>
          <a:ln w="28575">
            <a:solidFill>
              <a:srgbClr val="F7964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panose="020B0604020202020204" pitchFamily="34" charset="0"/>
            </a:endParaRPr>
          </a:p>
        </p:txBody>
      </p:sp>
      <p:sp>
        <p:nvSpPr>
          <p:cNvPr id="6" name="Rectangle 5"/>
          <p:cNvSpPr/>
          <p:nvPr/>
        </p:nvSpPr>
        <p:spPr>
          <a:xfrm>
            <a:off x="152399" y="1866900"/>
            <a:ext cx="2155075" cy="224032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err="1">
                <a:solidFill>
                  <a:schemeClr val="tx1"/>
                </a:solidFill>
                <a:latin typeface="Arial" panose="020B0604020202020204" pitchFamily="34" charset="0"/>
                <a:cs typeface="Arial" panose="020B0604020202020204" pitchFamily="34" charset="0"/>
              </a:rPr>
              <a:t>Tuyến</a:t>
            </a:r>
            <a:r>
              <a:rPr lang="en-US" sz="2000" b="1" dirty="0">
                <a:solidFill>
                  <a:schemeClr val="tx1"/>
                </a:solidFill>
                <a:latin typeface="Arial" panose="020B0604020202020204" pitchFamily="34" charset="0"/>
                <a:cs typeface="Arial" panose="020B0604020202020204" pitchFamily="34" charset="0"/>
              </a:rPr>
              <a:t> 1 </a:t>
            </a:r>
            <a:r>
              <a:rPr lang="en-US" sz="2000" dirty="0" err="1">
                <a:solidFill>
                  <a:schemeClr val="tx1"/>
                </a:solidFill>
                <a:latin typeface="Arial" panose="020B0604020202020204" pitchFamily="34" charset="0"/>
                <a:cs typeface="Arial" panose="020B0604020202020204" pitchFamily="34" charset="0"/>
              </a:rPr>
              <a:t>cung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cấp</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thông</a:t>
            </a:r>
            <a:r>
              <a:rPr lang="en-US" sz="2000" dirty="0">
                <a:solidFill>
                  <a:schemeClr val="tx1"/>
                </a:solidFill>
                <a:latin typeface="Arial" panose="020B0604020202020204" pitchFamily="34" charset="0"/>
                <a:cs typeface="Arial" panose="020B0604020202020204" pitchFamily="34" charset="0"/>
              </a:rPr>
              <a:t> tin </a:t>
            </a:r>
            <a:r>
              <a:rPr lang="en-US" sz="2000" dirty="0" err="1">
                <a:solidFill>
                  <a:schemeClr val="tx1"/>
                </a:solidFill>
                <a:latin typeface="Arial" panose="020B0604020202020204" pitchFamily="34" charset="0"/>
                <a:cs typeface="Arial" panose="020B0604020202020204" pitchFamily="34" charset="0"/>
              </a:rPr>
              <a:t>đầu</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vào</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về</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rủi</a:t>
            </a:r>
            <a:r>
              <a:rPr lang="en-US" sz="2000" dirty="0">
                <a:solidFill>
                  <a:schemeClr val="tx1"/>
                </a:solidFill>
                <a:latin typeface="Arial" panose="020B0604020202020204" pitchFamily="34" charset="0"/>
                <a:cs typeface="Arial" panose="020B0604020202020204" pitchFamily="34" charset="0"/>
              </a:rPr>
              <a:t> ro. </a:t>
            </a:r>
            <a:r>
              <a:rPr lang="en-US" sz="2000" dirty="0" err="1">
                <a:solidFill>
                  <a:schemeClr val="tx1"/>
                </a:solidFill>
                <a:latin typeface="Arial" panose="020B0604020202020204" pitchFamily="34" charset="0"/>
                <a:cs typeface="Arial" panose="020B0604020202020204" pitchFamily="34" charset="0"/>
              </a:rPr>
              <a:t>Thông</a:t>
            </a:r>
            <a:r>
              <a:rPr lang="en-US" sz="2000" dirty="0">
                <a:solidFill>
                  <a:schemeClr val="tx1"/>
                </a:solidFill>
                <a:latin typeface="Arial" panose="020B0604020202020204" pitchFamily="34" charset="0"/>
                <a:cs typeface="Arial" panose="020B0604020202020204" pitchFamily="34" charset="0"/>
              </a:rPr>
              <a:t> tin </a:t>
            </a:r>
            <a:r>
              <a:rPr lang="en-US" sz="2000" dirty="0" err="1">
                <a:solidFill>
                  <a:schemeClr val="tx1"/>
                </a:solidFill>
                <a:latin typeface="Arial" panose="020B0604020202020204" pitchFamily="34" charset="0"/>
                <a:cs typeface="Arial" panose="020B0604020202020204" pitchFamily="34" charset="0"/>
              </a:rPr>
              <a:t>còn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phân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mảnh</a:t>
            </a:r>
            <a:r>
              <a:rPr lang="en-US" sz="2000">
                <a:solidFill>
                  <a:schemeClr val="tx1"/>
                </a:solidFill>
                <a:latin typeface="Arial" panose="020B0604020202020204" pitchFamily="34" charset="0"/>
                <a:cs typeface="Arial" panose="020B0604020202020204" pitchFamily="34" charset="0"/>
              </a:rPr>
              <a:t>, chưa tạo thành bức tranh tổng quan về rủi ro</a:t>
            </a:r>
            <a:endParaRPr lang="en-US" sz="2000" dirty="0">
              <a:solidFill>
                <a:schemeClr val="tx1"/>
              </a:solidFill>
              <a:latin typeface="Arial" panose="020B0604020202020204" pitchFamily="34" charset="0"/>
              <a:cs typeface="Arial" panose="020B0604020202020204" pitchFamily="34" charset="0"/>
            </a:endParaRPr>
          </a:p>
        </p:txBody>
      </p:sp>
      <p:sp>
        <p:nvSpPr>
          <p:cNvPr id="80" name="Rectangle 79"/>
          <p:cNvSpPr/>
          <p:nvPr/>
        </p:nvSpPr>
        <p:spPr>
          <a:xfrm>
            <a:off x="5017008" y="7514748"/>
            <a:ext cx="3383280" cy="1524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dirty="0" err="1">
                <a:solidFill>
                  <a:schemeClr val="tx1"/>
                </a:solidFill>
                <a:latin typeface="Arial" panose="020B0604020202020204" pitchFamily="34" charset="0"/>
                <a:cs typeface="Arial" panose="020B0604020202020204" pitchFamily="34" charset="0"/>
              </a:rPr>
              <a:t>Bức</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tranh</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rủi</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ro</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toàn</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cảnh</a:t>
            </a:r>
            <a:endParaRPr lang="en-US" dirty="0">
              <a:solidFill>
                <a:schemeClr val="tx1"/>
              </a:solidFill>
              <a:latin typeface="Arial" panose="020B0604020202020204" pitchFamily="34" charset="0"/>
              <a:cs typeface="Arial" panose="020B0604020202020204" pitchFamily="34" charset="0"/>
            </a:endParaRPr>
          </a:p>
        </p:txBody>
      </p:sp>
      <p:sp>
        <p:nvSpPr>
          <p:cNvPr id="81" name="Rectangle 80"/>
          <p:cNvSpPr/>
          <p:nvPr/>
        </p:nvSpPr>
        <p:spPr>
          <a:xfrm>
            <a:off x="8930410" y="7514748"/>
            <a:ext cx="3383280" cy="1524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dirty="0" err="1">
                <a:solidFill>
                  <a:schemeClr val="tx1"/>
                </a:solidFill>
                <a:latin typeface="Arial" panose="020B0604020202020204" pitchFamily="34" charset="0"/>
                <a:cs typeface="Arial" panose="020B0604020202020204" pitchFamily="34" charset="0"/>
              </a:rPr>
              <a:t>Các</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cảnh</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báo</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sớm</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về</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rủi</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ro</a:t>
            </a:r>
            <a:endParaRPr lang="en-US" dirty="0">
              <a:solidFill>
                <a:schemeClr val="tx1"/>
              </a:solidFill>
              <a:latin typeface="Arial" panose="020B0604020202020204" pitchFamily="34" charset="0"/>
              <a:cs typeface="Arial" panose="020B0604020202020204" pitchFamily="34" charset="0"/>
            </a:endParaRPr>
          </a:p>
        </p:txBody>
      </p:sp>
      <p:sp>
        <p:nvSpPr>
          <p:cNvPr id="82" name="Rectangle 81"/>
          <p:cNvSpPr/>
          <p:nvPr/>
        </p:nvSpPr>
        <p:spPr>
          <a:xfrm>
            <a:off x="12843813" y="7514748"/>
            <a:ext cx="3383280" cy="1524000"/>
          </a:xfrm>
          <a:prstGeom prst="rect">
            <a:avLst/>
          </a:prstGeom>
          <a:solidFill>
            <a:schemeClr val="accent1">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914400" algn="just"/>
            <a:r>
              <a:rPr lang="en-US" b="1" dirty="0">
                <a:solidFill>
                  <a:schemeClr val="tx1"/>
                </a:solidFill>
                <a:latin typeface="Arial" panose="020B0604020202020204" pitchFamily="34" charset="0"/>
                <a:cs typeface="Arial" panose="020B0604020202020204" pitchFamily="34" charset="0"/>
              </a:rPr>
              <a:t>Kế </a:t>
            </a:r>
            <a:r>
              <a:rPr lang="en-US" b="1" dirty="0" err="1">
                <a:solidFill>
                  <a:schemeClr val="tx1"/>
                </a:solidFill>
                <a:latin typeface="Arial" panose="020B0604020202020204" pitchFamily="34" charset="0"/>
                <a:cs typeface="Arial" panose="020B0604020202020204" pitchFamily="34" charset="0"/>
              </a:rPr>
              <a:t>hoạch</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hành</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động</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xử</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lý</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rủi</a:t>
            </a:r>
            <a:r>
              <a:rPr lang="en-US" b="1" dirty="0">
                <a:solidFill>
                  <a:schemeClr val="tx1"/>
                </a:solidFill>
                <a:latin typeface="Arial" panose="020B0604020202020204" pitchFamily="34" charset="0"/>
                <a:cs typeface="Arial" panose="020B0604020202020204" pitchFamily="34" charset="0"/>
              </a:rPr>
              <a:t> </a:t>
            </a:r>
            <a:r>
              <a:rPr lang="en-US" b="1" dirty="0" err="1">
                <a:solidFill>
                  <a:schemeClr val="tx1"/>
                </a:solidFill>
                <a:latin typeface="Arial" panose="020B0604020202020204" pitchFamily="34" charset="0"/>
                <a:cs typeface="Arial" panose="020B0604020202020204" pitchFamily="34" charset="0"/>
              </a:rPr>
              <a:t>ro</a:t>
            </a:r>
            <a:endParaRPr lang="en-US" dirty="0">
              <a:solidFill>
                <a:schemeClr val="tx1"/>
              </a:solidFill>
              <a:latin typeface="Arial" panose="020B0604020202020204" pitchFamily="34" charset="0"/>
              <a:cs typeface="Arial" panose="020B0604020202020204" pitchFamily="34" charset="0"/>
            </a:endParaRPr>
          </a:p>
        </p:txBody>
      </p:sp>
      <p:sp>
        <p:nvSpPr>
          <p:cNvPr id="83" name="Left Brace 82"/>
          <p:cNvSpPr/>
          <p:nvPr/>
        </p:nvSpPr>
        <p:spPr>
          <a:xfrm>
            <a:off x="2307475" y="4490948"/>
            <a:ext cx="591070" cy="2240323"/>
          </a:xfrm>
          <a:prstGeom prst="leftBrace">
            <a:avLst/>
          </a:prstGeom>
          <a:ln w="28575">
            <a:solidFill>
              <a:srgbClr val="9BBB5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panose="020B0604020202020204" pitchFamily="34" charset="0"/>
            </a:endParaRPr>
          </a:p>
        </p:txBody>
      </p:sp>
      <p:sp>
        <p:nvSpPr>
          <p:cNvPr id="84" name="Rectangle 83"/>
          <p:cNvSpPr/>
          <p:nvPr/>
        </p:nvSpPr>
        <p:spPr>
          <a:xfrm>
            <a:off x="97674" y="4490948"/>
            <a:ext cx="2155075" cy="224032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chemeClr val="tx1"/>
                </a:solidFill>
                <a:latin typeface="Arial" panose="020B0604020202020204" pitchFamily="34" charset="0"/>
                <a:cs typeface="Arial" panose="020B0604020202020204" pitchFamily="34" charset="0"/>
              </a:rPr>
              <a:t>BP. QTRR </a:t>
            </a:r>
            <a:r>
              <a:rPr lang="en-US" sz="2000" dirty="0" err="1">
                <a:solidFill>
                  <a:schemeClr val="tx1"/>
                </a:solidFill>
                <a:latin typeface="Arial" panose="020B0604020202020204" pitchFamily="34" charset="0"/>
                <a:cs typeface="Arial" panose="020B0604020202020204" pitchFamily="34" charset="0"/>
              </a:rPr>
              <a:t>tại</a:t>
            </a:r>
            <a:r>
              <a:rPr lang="en-US" sz="2000"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tuyến</a:t>
            </a:r>
            <a:r>
              <a:rPr lang="en-US" sz="2000" b="1" dirty="0">
                <a:solidFill>
                  <a:schemeClr val="tx1"/>
                </a:solidFill>
                <a:latin typeface="Arial" panose="020B0604020202020204" pitchFamily="34" charset="0"/>
                <a:cs typeface="Arial" panose="020B0604020202020204" pitchFamily="34" charset="0"/>
              </a:rPr>
              <a:t> 2 </a:t>
            </a:r>
            <a:r>
              <a:rPr lang="en-US" sz="2000" dirty="0" err="1">
                <a:solidFill>
                  <a:schemeClr val="tx1"/>
                </a:solidFill>
                <a:latin typeface="Arial" panose="020B0604020202020204" pitchFamily="34" charset="0"/>
                <a:cs typeface="Arial" panose="020B0604020202020204" pitchFamily="34" charset="0"/>
              </a:rPr>
              <a:t>thực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hiện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đánh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giá</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chắt</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lọc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thông</a:t>
            </a:r>
            <a:r>
              <a:rPr lang="en-US" sz="2000" dirty="0">
                <a:solidFill>
                  <a:schemeClr val="tx1"/>
                </a:solidFill>
                <a:latin typeface="Arial" panose="020B0604020202020204" pitchFamily="34" charset="0"/>
                <a:cs typeface="Arial" panose="020B0604020202020204" pitchFamily="34" charset="0"/>
              </a:rPr>
              <a:t> tin </a:t>
            </a:r>
            <a:r>
              <a:rPr lang="en-US" sz="2000" dirty="0" err="1">
                <a:solidFill>
                  <a:schemeClr val="tx1"/>
                </a:solidFill>
                <a:latin typeface="Arial" panose="020B0604020202020204" pitchFamily="34" charset="0"/>
                <a:cs typeface="Arial" panose="020B0604020202020204" pitchFamily="34" charset="0"/>
              </a:rPr>
              <a:t>nhằm</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đưa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ra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bức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tranh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tổng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quan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về</a:t>
            </a:r>
            <a:r>
              <a:rPr lang="en-US" sz="2000" dirty="0">
                <a:solidFill>
                  <a:schemeClr val="tx1"/>
                </a:solidFill>
                <a:latin typeface="Arial" panose="020B0604020202020204" pitchFamily="34" charset="0"/>
                <a:cs typeface="Arial" panose="020B0604020202020204" pitchFamily="34" charset="0"/>
              </a:rPr>
              <a:t> QTRR</a:t>
            </a:r>
          </a:p>
        </p:txBody>
      </p:sp>
      <p:sp>
        <p:nvSpPr>
          <p:cNvPr id="85" name="Left Brace 84"/>
          <p:cNvSpPr/>
          <p:nvPr/>
        </p:nvSpPr>
        <p:spPr>
          <a:xfrm>
            <a:off x="2362200" y="7114996"/>
            <a:ext cx="591070" cy="2240323"/>
          </a:xfrm>
          <a:prstGeom prst="leftBrace">
            <a:avLst/>
          </a:prstGeom>
          <a:ln w="28575">
            <a:solidFill>
              <a:srgbClr val="95B3D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latin typeface="Arial" panose="020B0604020202020204" pitchFamily="34" charset="0"/>
            </a:endParaRPr>
          </a:p>
        </p:txBody>
      </p:sp>
      <p:sp>
        <p:nvSpPr>
          <p:cNvPr id="86" name="Rectangle 85"/>
          <p:cNvSpPr/>
          <p:nvPr/>
        </p:nvSpPr>
        <p:spPr>
          <a:xfrm>
            <a:off x="152399" y="7114996"/>
            <a:ext cx="2155075" cy="224032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err="1">
                <a:solidFill>
                  <a:schemeClr val="tx1"/>
                </a:solidFill>
                <a:latin typeface="Arial" panose="020B0604020202020204" pitchFamily="34" charset="0"/>
                <a:cs typeface="Arial" panose="020B0604020202020204" pitchFamily="34" charset="0"/>
              </a:rPr>
              <a:t>Lãnh</a:t>
            </a:r>
            <a:r>
              <a:rPr lang="en-US" sz="2000" b="1" dirty="0">
                <a:solidFill>
                  <a:schemeClr val="tx1"/>
                </a:solidFill>
                <a:latin typeface="Arial" panose="020B0604020202020204" pitchFamily="34" charset="0"/>
                <a:cs typeface="Arial" panose="020B0604020202020204" pitchFamily="34" charset="0"/>
              </a:rPr>
              <a:t> </a:t>
            </a:r>
            <a:r>
              <a:rPr lang="en-US" sz="2000" b="1" dirty="0" err="1">
                <a:solidFill>
                  <a:schemeClr val="tx1"/>
                </a:solidFill>
                <a:latin typeface="Arial" panose="020B0604020202020204" pitchFamily="34" charset="0"/>
                <a:cs typeface="Arial" panose="020B0604020202020204" pitchFamily="34" charset="0"/>
              </a:rPr>
              <a:t>đạo</a:t>
            </a:r>
            <a:r>
              <a:rPr lang="en-US" sz="2000" b="1"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nhận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được</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thông</a:t>
            </a:r>
            <a:r>
              <a:rPr lang="en-US" sz="2000" dirty="0">
                <a:solidFill>
                  <a:schemeClr val="tx1"/>
                </a:solidFill>
                <a:latin typeface="Arial" panose="020B0604020202020204" pitchFamily="34" charset="0"/>
                <a:cs typeface="Arial" panose="020B0604020202020204" pitchFamily="34" charset="0"/>
              </a:rPr>
              <a:t> tin </a:t>
            </a:r>
            <a:r>
              <a:rPr lang="en-US" sz="2000" dirty="0" err="1">
                <a:solidFill>
                  <a:schemeClr val="tx1"/>
                </a:solidFill>
                <a:latin typeface="Arial" panose="020B0604020202020204" pitchFamily="34" charset="0"/>
                <a:cs typeface="Arial" panose="020B0604020202020204" pitchFamily="34" charset="0"/>
              </a:rPr>
              <a:t>tổng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quan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tinh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gọn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và</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có</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thể</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đưa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ra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hành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động</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dựa</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trên</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đánh</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giá</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rủi</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ro</a:t>
            </a:r>
            <a:r>
              <a:rPr lang="en-US" sz="2000" dirty="0">
                <a:solidFill>
                  <a:schemeClr val="tx1"/>
                </a:solidFill>
                <a:latin typeface="Arial" panose="020B0604020202020204" pitchFamily="34" charset="0"/>
                <a:cs typeface="Arial" panose="020B0604020202020204" pitchFamily="34" charset="0"/>
              </a:rPr>
              <a:t> </a:t>
            </a:r>
          </a:p>
        </p:txBody>
      </p:sp>
      <p:pic>
        <p:nvPicPr>
          <p:cNvPr id="8" name="Picture 7"/>
          <p:cNvPicPr>
            <a:picLocks noChangeAspect="1"/>
          </p:cNvPicPr>
          <p:nvPr/>
        </p:nvPicPr>
        <p:blipFill>
          <a:blip r:embed="rId9"/>
          <a:stretch>
            <a:fillRect/>
          </a:stretch>
        </p:blipFill>
        <p:spPr>
          <a:xfrm>
            <a:off x="5262281" y="7984140"/>
            <a:ext cx="585216" cy="585216"/>
          </a:xfrm>
          <a:prstGeom prst="rect">
            <a:avLst/>
          </a:prstGeom>
        </p:spPr>
      </p:pic>
      <p:pic>
        <p:nvPicPr>
          <p:cNvPr id="10" name="Picture 9"/>
          <p:cNvPicPr>
            <a:picLocks noChangeAspect="1"/>
          </p:cNvPicPr>
          <p:nvPr/>
        </p:nvPicPr>
        <p:blipFill>
          <a:blip r:embed="rId10"/>
          <a:stretch>
            <a:fillRect/>
          </a:stretch>
        </p:blipFill>
        <p:spPr>
          <a:xfrm>
            <a:off x="13075400" y="7993884"/>
            <a:ext cx="585216" cy="585216"/>
          </a:xfrm>
          <a:prstGeom prst="rect">
            <a:avLst/>
          </a:prstGeom>
        </p:spPr>
      </p:pic>
      <p:pic>
        <p:nvPicPr>
          <p:cNvPr id="12" name="Picture 11"/>
          <p:cNvPicPr>
            <a:picLocks noChangeAspect="1"/>
          </p:cNvPicPr>
          <p:nvPr/>
        </p:nvPicPr>
        <p:blipFill>
          <a:blip r:embed="rId11"/>
          <a:stretch>
            <a:fillRect/>
          </a:stretch>
        </p:blipFill>
        <p:spPr>
          <a:xfrm>
            <a:off x="9111651" y="7993884"/>
            <a:ext cx="585216" cy="585216"/>
          </a:xfrm>
          <a:prstGeom prst="rect">
            <a:avLst/>
          </a:prstGeom>
        </p:spPr>
      </p:pic>
      <p:grpSp>
        <p:nvGrpSpPr>
          <p:cNvPr id="35" name="Group 2"/>
          <p:cNvGrpSpPr/>
          <p:nvPr/>
        </p:nvGrpSpPr>
        <p:grpSpPr>
          <a:xfrm>
            <a:off x="0" y="114300"/>
            <a:ext cx="10744200" cy="1024391"/>
            <a:chOff x="0" y="0"/>
            <a:chExt cx="17492870" cy="1554226"/>
          </a:xfrm>
          <a:solidFill>
            <a:schemeClr val="bg1">
              <a:lumMod val="95000"/>
            </a:schemeClr>
          </a:solidFill>
        </p:grpSpPr>
        <p:sp>
          <p:nvSpPr>
            <p:cNvPr id="36" name="Freeform 3"/>
            <p:cNvSpPr/>
            <p:nvPr/>
          </p:nvSpPr>
          <p:spPr>
            <a:xfrm>
              <a:off x="0" y="0"/>
              <a:ext cx="17492870" cy="1554226"/>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lstStyle/>
            <a:p>
              <a:endParaRPr lang="en-US"/>
            </a:p>
          </p:txBody>
        </p:sp>
      </p:grpSp>
      <p:grpSp>
        <p:nvGrpSpPr>
          <p:cNvPr id="37" name="Group 4"/>
          <p:cNvGrpSpPr/>
          <p:nvPr/>
        </p:nvGrpSpPr>
        <p:grpSpPr>
          <a:xfrm>
            <a:off x="0" y="114300"/>
            <a:ext cx="936307" cy="1024391"/>
            <a:chOff x="0" y="0"/>
            <a:chExt cx="1248410" cy="1554290"/>
          </a:xfrm>
        </p:grpSpPr>
        <p:sp>
          <p:nvSpPr>
            <p:cNvPr id="38"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39" name="TextBox 34"/>
          <p:cNvSpPr txBox="1"/>
          <p:nvPr/>
        </p:nvSpPr>
        <p:spPr>
          <a:xfrm>
            <a:off x="1056128" y="286028"/>
            <a:ext cx="10614184" cy="553998"/>
          </a:xfrm>
          <a:prstGeom prst="rect">
            <a:avLst/>
          </a:prstGeom>
        </p:spPr>
        <p:txBody>
          <a:bodyPr wrap="square" lIns="0" tIns="0" rIns="0" bIns="0" rtlCol="0" anchor="t">
            <a:spAutoFit/>
          </a:bodyPr>
          <a:lstStyle/>
          <a:p>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Luồng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thông</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tin QTRR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giữa</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các</a:t>
            </a:r>
            <a:r>
              <a:rPr lang="en-US" sz="3600" b="1" dirty="0">
                <a:solidFill>
                  <a:srgbClr val="000000"/>
                </a:solidFill>
                <a:latin typeface="Arial" panose="020B0604020202020204" pitchFamily="34" charset="0"/>
                <a:ea typeface="Futura Ultra-Bold"/>
                <a:cs typeface="Arial" panose="020B0604020202020204" pitchFamily="34" charset="0"/>
                <a:sym typeface="Futura Ultra-Bold"/>
              </a:rPr>
              <a:t> </a:t>
            </a:r>
            <a:r>
              <a:rPr lang="en-US" sz="3600" b="1" dirty="0" err="1">
                <a:solidFill>
                  <a:srgbClr val="000000"/>
                </a:solidFill>
                <a:latin typeface="Arial" panose="020B0604020202020204" pitchFamily="34" charset="0"/>
                <a:ea typeface="Futura Ultra-Bold"/>
                <a:cs typeface="Arial" panose="020B0604020202020204" pitchFamily="34" charset="0"/>
                <a:sym typeface="Futura Ultra-Bold"/>
              </a:rPr>
              <a:t>tuyến</a:t>
            </a:r>
            <a:endParaRPr lang="en-US" sz="3600" b="1" dirty="0">
              <a:solidFill>
                <a:srgbClr val="000000"/>
              </a:solidFill>
              <a:latin typeface="Arial" panose="020B0604020202020204" pitchFamily="34" charset="0"/>
              <a:ea typeface="Futura Ultra-Bold"/>
              <a:cs typeface="Arial" panose="020B0604020202020204" pitchFamily="34" charset="0"/>
              <a:sym typeface="Futura Ultra-Bold"/>
            </a:endParaRPr>
          </a:p>
        </p:txBody>
      </p:sp>
    </p:spTree>
    <p:extLst>
      <p:ext uri="{BB962C8B-B14F-4D97-AF65-F5344CB8AC3E}">
        <p14:creationId xmlns:p14="http://schemas.microsoft.com/office/powerpoint/2010/main" val="3774562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nvGraphicFramePr>
        <p:xfrm>
          <a:off x="228600" y="1485900"/>
          <a:ext cx="17830799" cy="8596944"/>
        </p:xfrm>
        <a:graphic>
          <a:graphicData uri="http://schemas.openxmlformats.org/drawingml/2006/table">
            <a:tbl>
              <a:tblPr firstRow="1" bandRow="1">
                <a:tableStyleId>{5C22544A-7EE6-4342-B048-85BDC9FD1C3A}</a:tableStyleId>
              </a:tblPr>
              <a:tblGrid>
                <a:gridCol w="2547257">
                  <a:extLst>
                    <a:ext uri="{9D8B030D-6E8A-4147-A177-3AD203B41FA5}">
                      <a16:colId xmlns:a16="http://schemas.microsoft.com/office/drawing/2014/main" val="896889628"/>
                    </a:ext>
                  </a:extLst>
                </a:gridCol>
                <a:gridCol w="2547257">
                  <a:extLst>
                    <a:ext uri="{9D8B030D-6E8A-4147-A177-3AD203B41FA5}">
                      <a16:colId xmlns:a16="http://schemas.microsoft.com/office/drawing/2014/main" val="3547129387"/>
                    </a:ext>
                  </a:extLst>
                </a:gridCol>
                <a:gridCol w="2547257">
                  <a:extLst>
                    <a:ext uri="{9D8B030D-6E8A-4147-A177-3AD203B41FA5}">
                      <a16:colId xmlns:a16="http://schemas.microsoft.com/office/drawing/2014/main" val="1477445836"/>
                    </a:ext>
                  </a:extLst>
                </a:gridCol>
                <a:gridCol w="2547257">
                  <a:extLst>
                    <a:ext uri="{9D8B030D-6E8A-4147-A177-3AD203B41FA5}">
                      <a16:colId xmlns:a16="http://schemas.microsoft.com/office/drawing/2014/main" val="4122683577"/>
                    </a:ext>
                  </a:extLst>
                </a:gridCol>
                <a:gridCol w="2547257">
                  <a:extLst>
                    <a:ext uri="{9D8B030D-6E8A-4147-A177-3AD203B41FA5}">
                      <a16:colId xmlns:a16="http://schemas.microsoft.com/office/drawing/2014/main" val="526560651"/>
                    </a:ext>
                  </a:extLst>
                </a:gridCol>
                <a:gridCol w="2547257">
                  <a:extLst>
                    <a:ext uri="{9D8B030D-6E8A-4147-A177-3AD203B41FA5}">
                      <a16:colId xmlns:a16="http://schemas.microsoft.com/office/drawing/2014/main" val="1447873406"/>
                    </a:ext>
                  </a:extLst>
                </a:gridCol>
                <a:gridCol w="2547257">
                  <a:extLst>
                    <a:ext uri="{9D8B030D-6E8A-4147-A177-3AD203B41FA5}">
                      <a16:colId xmlns:a16="http://schemas.microsoft.com/office/drawing/2014/main" val="3979638237"/>
                    </a:ext>
                  </a:extLst>
                </a:gridCol>
              </a:tblGrid>
              <a:tr h="639026">
                <a:tc>
                  <a:txBody>
                    <a:bodyPr/>
                    <a:lstStyle/>
                    <a:p>
                      <a:pPr algn="ctr"/>
                      <a:r>
                        <a:rPr lang="en-US" b="1" dirty="0" err="1">
                          <a:solidFill>
                            <a:schemeClr val="bg1"/>
                          </a:solidFill>
                          <a:latin typeface="Arial" panose="020B0604020202020204" pitchFamily="34" charset="0"/>
                          <a:cs typeface="Arial" panose="020B0604020202020204" pitchFamily="34" charset="0"/>
                        </a:rPr>
                        <a:t>Loại</a:t>
                      </a:r>
                      <a:r>
                        <a:rPr lang="en-US" b="1" baseline="0" dirty="0">
                          <a:solidFill>
                            <a:schemeClr val="bg1"/>
                          </a:solidFill>
                          <a:latin typeface="Arial" panose="020B0604020202020204" pitchFamily="34" charset="0"/>
                          <a:cs typeface="Arial" panose="020B0604020202020204" pitchFamily="34" charset="0"/>
                        </a:rPr>
                        <a:t> </a:t>
                      </a:r>
                      <a:endParaRPr lang="en-US"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b="1" dirty="0" err="1">
                          <a:solidFill>
                            <a:schemeClr val="bg1"/>
                          </a:solidFill>
                          <a:latin typeface="Arial" panose="020B0604020202020204" pitchFamily="34" charset="0"/>
                          <a:cs typeface="Arial" panose="020B0604020202020204" pitchFamily="34" charset="0"/>
                        </a:rPr>
                        <a:t>Tên</a:t>
                      </a:r>
                      <a:r>
                        <a:rPr lang="en-US" b="1" baseline="0" dirty="0">
                          <a:solidFill>
                            <a:schemeClr val="bg1"/>
                          </a:solidFill>
                          <a:latin typeface="Arial" panose="020B0604020202020204" pitchFamily="34" charset="0"/>
                          <a:cs typeface="Arial" panose="020B0604020202020204" pitchFamily="34" charset="0"/>
                        </a:rPr>
                        <a:t> KRI</a:t>
                      </a:r>
                      <a:endParaRPr lang="en-US"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b="1" dirty="0" err="1">
                          <a:solidFill>
                            <a:schemeClr val="bg1"/>
                          </a:solidFill>
                          <a:latin typeface="Arial" panose="020B0604020202020204" pitchFamily="34" charset="0"/>
                          <a:cs typeface="Arial" panose="020B0604020202020204" pitchFamily="34" charset="0"/>
                        </a:rPr>
                        <a:t>Công</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thức</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tính</a:t>
                      </a:r>
                      <a:endParaRPr lang="en-US"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b="1" dirty="0" err="1">
                          <a:solidFill>
                            <a:schemeClr val="bg1"/>
                          </a:solidFill>
                          <a:latin typeface="Arial" panose="020B0604020202020204" pitchFamily="34" charset="0"/>
                          <a:cs typeface="Arial" panose="020B0604020202020204" pitchFamily="34" charset="0"/>
                        </a:rPr>
                        <a:t>Nguồn</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dữ</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liệu</a:t>
                      </a:r>
                      <a:endParaRPr lang="en-US"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b="1" dirty="0" err="1">
                          <a:solidFill>
                            <a:schemeClr val="bg1"/>
                          </a:solidFill>
                          <a:latin typeface="Arial" panose="020B0604020202020204" pitchFamily="34" charset="0"/>
                          <a:cs typeface="Arial" panose="020B0604020202020204" pitchFamily="34" charset="0"/>
                        </a:rPr>
                        <a:t>Ngưỡng</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xanh</a:t>
                      </a:r>
                      <a:r>
                        <a:rPr lang="en-US" b="1" baseline="0" dirty="0">
                          <a:solidFill>
                            <a:schemeClr val="bg1"/>
                          </a:solidFill>
                          <a:latin typeface="Arial" panose="020B0604020202020204" pitchFamily="34" charset="0"/>
                          <a:cs typeface="Arial" panose="020B0604020202020204" pitchFamily="34" charset="0"/>
                        </a:rPr>
                        <a:t> (An </a:t>
                      </a:r>
                      <a:r>
                        <a:rPr lang="en-US" b="1" baseline="0" dirty="0" err="1">
                          <a:solidFill>
                            <a:schemeClr val="bg1"/>
                          </a:solidFill>
                          <a:latin typeface="Arial" panose="020B0604020202020204" pitchFamily="34" charset="0"/>
                          <a:cs typeface="Arial" panose="020B0604020202020204" pitchFamily="34" charset="0"/>
                        </a:rPr>
                        <a:t>toàn</a:t>
                      </a:r>
                      <a:r>
                        <a:rPr lang="en-US" b="1" baseline="0" dirty="0">
                          <a:solidFill>
                            <a:schemeClr val="bg1"/>
                          </a:solidFill>
                          <a:latin typeface="Arial" panose="020B0604020202020204" pitchFamily="34" charset="0"/>
                          <a:cs typeface="Arial" panose="020B0604020202020204" pitchFamily="34" charset="0"/>
                        </a:rPr>
                        <a:t>)</a:t>
                      </a:r>
                      <a:endParaRPr lang="en-US"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b="1" dirty="0" err="1">
                          <a:solidFill>
                            <a:schemeClr val="bg1"/>
                          </a:solidFill>
                          <a:latin typeface="Arial" panose="020B0604020202020204" pitchFamily="34" charset="0"/>
                          <a:cs typeface="Arial" panose="020B0604020202020204" pitchFamily="34" charset="0"/>
                        </a:rPr>
                        <a:t>Ngưỡng</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vàng</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Cảnh</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báo</a:t>
                      </a:r>
                      <a:r>
                        <a:rPr lang="en-US" b="1" baseline="0" dirty="0">
                          <a:solidFill>
                            <a:schemeClr val="bg1"/>
                          </a:solidFill>
                          <a:latin typeface="Arial" panose="020B0604020202020204" pitchFamily="34" charset="0"/>
                          <a:cs typeface="Arial" panose="020B0604020202020204" pitchFamily="34" charset="0"/>
                        </a:rPr>
                        <a:t>)</a:t>
                      </a:r>
                      <a:endParaRPr lang="en-US"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en-US" b="1" dirty="0" err="1">
                          <a:solidFill>
                            <a:schemeClr val="bg1"/>
                          </a:solidFill>
                          <a:latin typeface="Arial" panose="020B0604020202020204" pitchFamily="34" charset="0"/>
                          <a:cs typeface="Arial" panose="020B0604020202020204" pitchFamily="34" charset="0"/>
                        </a:rPr>
                        <a:t>Ngưỡng</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đỏ</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Nghiêm</a:t>
                      </a:r>
                      <a:r>
                        <a:rPr lang="en-US" b="1" baseline="0" dirty="0">
                          <a:solidFill>
                            <a:schemeClr val="bg1"/>
                          </a:solidFill>
                          <a:latin typeface="Arial" panose="020B0604020202020204" pitchFamily="34" charset="0"/>
                          <a:cs typeface="Arial" panose="020B0604020202020204" pitchFamily="34" charset="0"/>
                        </a:rPr>
                        <a:t> </a:t>
                      </a:r>
                      <a:r>
                        <a:rPr lang="en-US" b="1" baseline="0" dirty="0" err="1">
                          <a:solidFill>
                            <a:schemeClr val="bg1"/>
                          </a:solidFill>
                          <a:latin typeface="Arial" panose="020B0604020202020204" pitchFamily="34" charset="0"/>
                          <a:cs typeface="Arial" panose="020B0604020202020204" pitchFamily="34" charset="0"/>
                        </a:rPr>
                        <a:t>trọng</a:t>
                      </a:r>
                      <a:r>
                        <a:rPr lang="en-US" b="1" baseline="0" dirty="0">
                          <a:solidFill>
                            <a:schemeClr val="bg1"/>
                          </a:solidFill>
                          <a:latin typeface="Arial" panose="020B0604020202020204" pitchFamily="34" charset="0"/>
                          <a:cs typeface="Arial" panose="020B0604020202020204" pitchFamily="34" charset="0"/>
                        </a:rPr>
                        <a:t>)</a:t>
                      </a:r>
                      <a:endParaRPr lang="en-US" b="1" dirty="0">
                        <a:solidFill>
                          <a:schemeClr val="bg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18520756"/>
                  </a:ext>
                </a:extLst>
              </a:tr>
              <a:tr h="1326144">
                <a:tc>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Tỷ</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lệ</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giao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dịch</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không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thành</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công</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dịch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thất</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bại</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Tổng</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số</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giao</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dịch</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đã</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thực</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hiện</a:t>
                      </a:r>
                      <a:r>
                        <a:rPr lang="en-US" dirty="0">
                          <a:latin typeface="Arial" panose="020B0604020202020204" pitchFamily="34" charset="0"/>
                          <a:cs typeface="Arial" panose="020B0604020202020204" pitchFamily="34" charset="0"/>
                        </a:rPr>
                        <a:t>) * 100%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Dữ</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liệu</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vận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hành</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hệ</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thống</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208571"/>
                  </a:ext>
                </a:extLst>
              </a:tr>
              <a:tr h="1326144">
                <a:tc>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vụ</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xâm</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nhập</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hệ</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thống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trái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phép</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sự</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vụ</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xâm</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nhập</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trái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phép</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vào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hệ</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thống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của</a:t>
                      </a:r>
                      <a:r>
                        <a:rPr lang="en-US" baseline="0" dirty="0">
                          <a:latin typeface="Arial" panose="020B0604020202020204" pitchFamily="34" charset="0"/>
                          <a:cs typeface="Arial" panose="020B0604020202020204" pitchFamily="34" charset="0"/>
                        </a:rPr>
                        <a:t> VDS</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sự</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vụ</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phát</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sinh</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65077885"/>
                  </a:ext>
                </a:extLst>
              </a:tr>
              <a:tr h="1326144">
                <a:tc>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báo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cáo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gửi</a:t>
                      </a:r>
                      <a:r>
                        <a:rPr lang="en-US" baseline="0" dirty="0">
                          <a:latin typeface="Arial" panose="020B0604020202020204" pitchFamily="34" charset="0"/>
                          <a:cs typeface="Arial" panose="020B0604020202020204" pitchFamily="34" charset="0"/>
                        </a:rPr>
                        <a:t> NHNN </a:t>
                      </a:r>
                      <a:r>
                        <a:rPr lang="en-US" baseline="0" dirty="0" err="1">
                          <a:latin typeface="Arial" panose="020B0604020202020204" pitchFamily="34" charset="0"/>
                          <a:cs typeface="Arial" panose="020B0604020202020204" pitchFamily="34" charset="0"/>
                        </a:rPr>
                        <a:t>quá</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hạn</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lượng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báo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cáo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bắt</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buộc</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gửi</a:t>
                      </a:r>
                      <a:r>
                        <a:rPr lang="en-US" baseline="0" dirty="0">
                          <a:latin typeface="Arial" panose="020B0604020202020204" pitchFamily="34" charset="0"/>
                          <a:cs typeface="Arial" panose="020B0604020202020204" pitchFamily="34" charset="0"/>
                        </a:rPr>
                        <a:t> NHNN </a:t>
                      </a:r>
                      <a:r>
                        <a:rPr lang="en-US" baseline="0" dirty="0" err="1">
                          <a:latin typeface="Arial" panose="020B0604020202020204" pitchFamily="34" charset="0"/>
                          <a:cs typeface="Arial" panose="020B0604020202020204" pitchFamily="34" charset="0"/>
                        </a:rPr>
                        <a:t>đã</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quá</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hạn</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lượng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thống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kê</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713731935"/>
                  </a:ext>
                </a:extLst>
              </a:tr>
              <a:tr h="1326144">
                <a:tc>
                  <a:txBody>
                    <a:bodyPr/>
                    <a:lstStyle/>
                    <a:p>
                      <a:endParaRPr lang="en-US" dirty="0">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giao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dịch</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nghi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ngờ</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gian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lận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giả</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mạo</a:t>
                      </a:r>
                      <a:r>
                        <a:rPr lang="en-US" baseline="0" dirty="0">
                          <a:latin typeface="Arial" panose="020B0604020202020204" pitchFamily="34" charset="0"/>
                          <a:cs typeface="Arial" panose="020B0604020202020204" pitchFamily="34" charset="0"/>
                        </a:rPr>
                        <a:t> (GLGM) so </a:t>
                      </a:r>
                      <a:r>
                        <a:rPr lang="en-US" baseline="0" dirty="0" err="1">
                          <a:latin typeface="Arial" panose="020B0604020202020204" pitchFamily="34" charset="0"/>
                          <a:cs typeface="Arial" panose="020B0604020202020204" pitchFamily="34" charset="0"/>
                        </a:rPr>
                        <a:t>với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cùng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kỳ</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giao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dịch</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nghi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ngờ</a:t>
                      </a:r>
                      <a:r>
                        <a:rPr lang="en-US" baseline="0" dirty="0">
                          <a:latin typeface="Arial" panose="020B0604020202020204" pitchFamily="34" charset="0"/>
                          <a:cs typeface="Arial" panose="020B0604020202020204" pitchFamily="34" charset="0"/>
                        </a:rPr>
                        <a:t> GLGM </a:t>
                      </a:r>
                      <a:r>
                        <a:rPr lang="en-US" baseline="0" dirty="0" err="1">
                          <a:latin typeface="Arial" panose="020B0604020202020204" pitchFamily="34" charset="0"/>
                          <a:cs typeface="Arial" panose="020B0604020202020204" pitchFamily="34" charset="0"/>
                        </a:rPr>
                        <a:t>kỳ</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này</a:t>
                      </a:r>
                      <a:r>
                        <a:rPr lang="en-US" baseline="0" dirty="0">
                          <a:latin typeface="Arial" panose="020B0604020202020204" pitchFamily="34" charset="0"/>
                          <a:cs typeface="Arial" panose="020B0604020202020204" pitchFamily="34" charset="0"/>
                        </a:rPr>
                        <a:t>/</a:t>
                      </a:r>
                      <a:r>
                        <a:rPr lang="en-US" baseline="0"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giao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dịch</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nghi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ngờ</a:t>
                      </a:r>
                      <a:r>
                        <a:rPr lang="en-US" baseline="0" dirty="0">
                          <a:latin typeface="Arial" panose="020B0604020202020204" pitchFamily="34" charset="0"/>
                          <a:cs typeface="Arial" panose="020B0604020202020204" pitchFamily="34" charset="0"/>
                        </a:rPr>
                        <a:t> GLGM </a:t>
                      </a:r>
                      <a:r>
                        <a:rPr lang="en-US" baseline="0" dirty="0" err="1">
                          <a:latin typeface="Arial" panose="020B0604020202020204" pitchFamily="34" charset="0"/>
                          <a:cs typeface="Arial" panose="020B0604020202020204" pitchFamily="34" charset="0"/>
                        </a:rPr>
                        <a:t>kỳ</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trước</a:t>
                      </a:r>
                      <a:r>
                        <a:rPr lang="en-US" baseline="0" dirty="0">
                          <a:latin typeface="Arial" panose="020B0604020202020204" pitchFamily="34" charset="0"/>
                          <a:cs typeface="Arial" panose="020B0604020202020204" pitchFamily="34" charset="0"/>
                        </a:rPr>
                        <a:t>) * 100%</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lượng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thu</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thập</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từ</a:t>
                      </a:r>
                      <a:r>
                        <a:rPr lang="en-US" baseline="0" dirty="0">
                          <a:latin typeface="Arial" panose="020B0604020202020204" pitchFamily="34" charset="0"/>
                          <a:cs typeface="Arial" panose="020B0604020202020204" pitchFamily="34" charset="0"/>
                        </a:rPr>
                        <a:t> BP QTRR</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97681992"/>
                  </a:ext>
                </a:extLst>
              </a:tr>
              <a:tr h="1326144">
                <a:tc>
                  <a:txBody>
                    <a:bodyPr/>
                    <a:lstStyle/>
                    <a:p>
                      <a:endParaRPr lang="en-US">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lượng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sự</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cố</a:t>
                      </a:r>
                      <a:r>
                        <a:rPr lang="en-US" baseline="0" dirty="0">
                          <a:latin typeface="Arial" panose="020B0604020202020204" pitchFamily="34" charset="0"/>
                          <a:cs typeface="Arial" panose="020B0604020202020204" pitchFamily="34" charset="0"/>
                        </a:rPr>
                        <a:t> do </a:t>
                      </a:r>
                      <a:r>
                        <a:rPr lang="en-US" baseline="0" dirty="0" err="1">
                          <a:latin typeface="Arial" panose="020B0604020202020204" pitchFamily="34" charset="0"/>
                          <a:cs typeface="Arial" panose="020B0604020202020204" pitchFamily="34" charset="0"/>
                        </a:rPr>
                        <a:t>nhà</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cung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cấp</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bên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thứ</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ba</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sự</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nghiêm</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trọng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mức</a:t>
                      </a:r>
                      <a:r>
                        <a:rPr lang="en-US" baseline="0" dirty="0">
                          <a:latin typeface="Arial" panose="020B0604020202020204" pitchFamily="34" charset="0"/>
                          <a:cs typeface="Arial" panose="020B0604020202020204" pitchFamily="34" charset="0"/>
                        </a:rPr>
                        <a:t> Cao do </a:t>
                      </a:r>
                      <a:r>
                        <a:rPr lang="en-US" baseline="0" dirty="0" err="1">
                          <a:latin typeface="Arial" panose="020B0604020202020204" pitchFamily="34" charset="0"/>
                          <a:cs typeface="Arial" panose="020B0604020202020204" pitchFamily="34" charset="0"/>
                        </a:rPr>
                        <a:t>nhà</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cung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cấp</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bên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thứ</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ba</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gây</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ra</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Số</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sự</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vụ</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phát</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sinh</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03849439"/>
                  </a:ext>
                </a:extLst>
              </a:tr>
              <a:tr h="1326144">
                <a:tc>
                  <a:txBody>
                    <a:bodyPr/>
                    <a:lstStyle/>
                    <a:p>
                      <a:endParaRPr lang="en-US">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Thời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gian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khắc</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phục</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lỗ</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hổng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bảo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mật</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l"/>
                      <a:r>
                        <a:rPr lang="en-US" dirty="0" err="1">
                          <a:latin typeface="Arial" panose="020B0604020202020204" pitchFamily="34" charset="0"/>
                          <a:cs typeface="Arial" panose="020B0604020202020204" pitchFamily="34" charset="0"/>
                        </a:rPr>
                        <a:t>Thờ</a:t>
                      </a:r>
                      <a:r>
                        <a:rPr lang="en-US" baseline="0" dirty="0" err="1">
                          <a:latin typeface="Arial" panose="020B0604020202020204" pitchFamily="34" charset="0"/>
                          <a:cs typeface="Arial" panose="020B0604020202020204" pitchFamily="34" charset="0"/>
                        </a:rPr>
                        <a:t>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gian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trung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bình</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từ</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khi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nhận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diện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đến</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khi</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khắc</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phục</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lỗ</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hổng</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bảo</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mật</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r>
                        <a:rPr lang="en-US" dirty="0" err="1">
                          <a:latin typeface="Arial" panose="020B0604020202020204" pitchFamily="34" charset="0"/>
                          <a:cs typeface="Arial" panose="020B0604020202020204" pitchFamily="34" charset="0"/>
                        </a:rPr>
                        <a:t>Hệ</a:t>
                      </a:r>
                      <a:r>
                        <a:rPr lang="en-US" baseline="0" dirty="0">
                          <a:latin typeface="Arial" panose="020B0604020202020204" pitchFamily="34" charset="0"/>
                          <a:cs typeface="Arial" panose="020B0604020202020204" pitchFamily="34" charset="0"/>
                        </a:rPr>
                        <a:t> </a:t>
                      </a:r>
                      <a:r>
                        <a:rPr lang="en-US" baseline="0" dirty="0" err="1">
                          <a:latin typeface="Arial" panose="020B0604020202020204" pitchFamily="34" charset="0"/>
                          <a:cs typeface="Arial" panose="020B0604020202020204" pitchFamily="34" charset="0"/>
                        </a:rPr>
                        <a:t>thống</a:t>
                      </a:r>
                      <a:r>
                        <a:rPr lang="en-US" baseline="0" dirty="0">
                          <a:latin typeface="Arial" panose="020B0604020202020204" pitchFamily="34" charset="0"/>
                          <a:cs typeface="Arial" panose="020B0604020202020204" pitchFamily="34" charset="0"/>
                        </a:rPr>
                        <a:t> Jira</a:t>
                      </a: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a:endParaRPr lang="en-US" dirty="0">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536573900"/>
                  </a:ext>
                </a:extLst>
              </a:tr>
            </a:tbl>
          </a:graphicData>
        </a:graphic>
      </p:graphicFrame>
      <p:sp>
        <p:nvSpPr>
          <p:cNvPr id="5" name="Rectangle 4"/>
          <p:cNvSpPr/>
          <p:nvPr/>
        </p:nvSpPr>
        <p:spPr>
          <a:xfrm>
            <a:off x="457200" y="2476500"/>
            <a:ext cx="2057400" cy="6096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Hoạt</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 name="Rectangle 42"/>
          <p:cNvSpPr/>
          <p:nvPr/>
        </p:nvSpPr>
        <p:spPr>
          <a:xfrm>
            <a:off x="10668000" y="2476500"/>
            <a:ext cx="2057400" cy="609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&lt; 0.5%</a:t>
            </a:r>
          </a:p>
        </p:txBody>
      </p:sp>
      <p:sp>
        <p:nvSpPr>
          <p:cNvPr id="45" name="Rectangle 44"/>
          <p:cNvSpPr/>
          <p:nvPr/>
        </p:nvSpPr>
        <p:spPr>
          <a:xfrm>
            <a:off x="13182600" y="2476500"/>
            <a:ext cx="2057400" cy="6096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0.5% - 1%</a:t>
            </a:r>
          </a:p>
        </p:txBody>
      </p:sp>
      <p:sp>
        <p:nvSpPr>
          <p:cNvPr id="46" name="Rectangle 45"/>
          <p:cNvSpPr/>
          <p:nvPr/>
        </p:nvSpPr>
        <p:spPr>
          <a:xfrm>
            <a:off x="15697200" y="2476500"/>
            <a:ext cx="2057400" cy="609600"/>
          </a:xfrm>
          <a:prstGeom prst="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&gt; 1%</a:t>
            </a:r>
          </a:p>
        </p:txBody>
      </p:sp>
      <p:sp>
        <p:nvSpPr>
          <p:cNvPr id="48" name="Rectangle 47"/>
          <p:cNvSpPr/>
          <p:nvPr/>
        </p:nvSpPr>
        <p:spPr>
          <a:xfrm>
            <a:off x="10668000" y="3792088"/>
            <a:ext cx="2057400" cy="609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71" name="Rectangle 70"/>
          <p:cNvSpPr/>
          <p:nvPr/>
        </p:nvSpPr>
        <p:spPr>
          <a:xfrm>
            <a:off x="15697200" y="3792088"/>
            <a:ext cx="2057400" cy="609600"/>
          </a:xfrm>
          <a:prstGeom prst="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&gt; 1</a:t>
            </a:r>
          </a:p>
        </p:txBody>
      </p:sp>
      <p:sp>
        <p:nvSpPr>
          <p:cNvPr id="72" name="Rectangle 71"/>
          <p:cNvSpPr/>
          <p:nvPr/>
        </p:nvSpPr>
        <p:spPr>
          <a:xfrm>
            <a:off x="10630593" y="5107676"/>
            <a:ext cx="2057400" cy="609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73" name="Rectangle 72"/>
          <p:cNvSpPr/>
          <p:nvPr/>
        </p:nvSpPr>
        <p:spPr>
          <a:xfrm>
            <a:off x="13145193" y="5107676"/>
            <a:ext cx="2057400" cy="6096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a:t>
            </a:r>
          </a:p>
        </p:txBody>
      </p:sp>
      <p:sp>
        <p:nvSpPr>
          <p:cNvPr id="74" name="Rectangle 73"/>
          <p:cNvSpPr/>
          <p:nvPr/>
        </p:nvSpPr>
        <p:spPr>
          <a:xfrm>
            <a:off x="15659793" y="5107676"/>
            <a:ext cx="2057400" cy="609600"/>
          </a:xfrm>
          <a:prstGeom prst="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&gt; 2</a:t>
            </a:r>
          </a:p>
        </p:txBody>
      </p:sp>
      <p:sp>
        <p:nvSpPr>
          <p:cNvPr id="79" name="Rectangle 78"/>
          <p:cNvSpPr/>
          <p:nvPr/>
        </p:nvSpPr>
        <p:spPr>
          <a:xfrm>
            <a:off x="10630593" y="6423264"/>
            <a:ext cx="2057400" cy="609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&lt; 3%</a:t>
            </a:r>
          </a:p>
        </p:txBody>
      </p:sp>
      <p:sp>
        <p:nvSpPr>
          <p:cNvPr id="80" name="Rectangle 79"/>
          <p:cNvSpPr/>
          <p:nvPr/>
        </p:nvSpPr>
        <p:spPr>
          <a:xfrm>
            <a:off x="13145193" y="6423264"/>
            <a:ext cx="2057400" cy="6096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 - 5%</a:t>
            </a:r>
          </a:p>
        </p:txBody>
      </p:sp>
      <p:sp>
        <p:nvSpPr>
          <p:cNvPr id="81" name="Rectangle 80"/>
          <p:cNvSpPr/>
          <p:nvPr/>
        </p:nvSpPr>
        <p:spPr>
          <a:xfrm>
            <a:off x="15659793" y="6423264"/>
            <a:ext cx="2057400" cy="609600"/>
          </a:xfrm>
          <a:prstGeom prst="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&gt; 5%</a:t>
            </a:r>
          </a:p>
        </p:txBody>
      </p:sp>
      <p:sp>
        <p:nvSpPr>
          <p:cNvPr id="82" name="Rectangle 81"/>
          <p:cNvSpPr/>
          <p:nvPr/>
        </p:nvSpPr>
        <p:spPr>
          <a:xfrm>
            <a:off x="10630593" y="7772400"/>
            <a:ext cx="2057400" cy="609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0</a:t>
            </a:r>
          </a:p>
        </p:txBody>
      </p:sp>
      <p:sp>
        <p:nvSpPr>
          <p:cNvPr id="83" name="Rectangle 82"/>
          <p:cNvSpPr/>
          <p:nvPr/>
        </p:nvSpPr>
        <p:spPr>
          <a:xfrm>
            <a:off x="13145193" y="7772400"/>
            <a:ext cx="2057400" cy="6096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1 - 2</a:t>
            </a:r>
          </a:p>
        </p:txBody>
      </p:sp>
      <p:sp>
        <p:nvSpPr>
          <p:cNvPr id="84" name="Rectangle 83"/>
          <p:cNvSpPr/>
          <p:nvPr/>
        </p:nvSpPr>
        <p:spPr>
          <a:xfrm>
            <a:off x="15659793" y="7772400"/>
            <a:ext cx="2057400" cy="609600"/>
          </a:xfrm>
          <a:prstGeom prst="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&gt; 2</a:t>
            </a:r>
          </a:p>
        </p:txBody>
      </p:sp>
      <p:sp>
        <p:nvSpPr>
          <p:cNvPr id="85" name="Rectangle 84"/>
          <p:cNvSpPr/>
          <p:nvPr/>
        </p:nvSpPr>
        <p:spPr>
          <a:xfrm>
            <a:off x="10630593" y="9121536"/>
            <a:ext cx="2057400" cy="6096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&lt; 30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phút</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sp>
        <p:nvSpPr>
          <p:cNvPr id="86" name="Rectangle 85"/>
          <p:cNvSpPr/>
          <p:nvPr/>
        </p:nvSpPr>
        <p:spPr>
          <a:xfrm>
            <a:off x="13145193" y="9121536"/>
            <a:ext cx="2057400" cy="609600"/>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30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phút</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01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giờ</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Rectangle 86"/>
          <p:cNvSpPr/>
          <p:nvPr/>
        </p:nvSpPr>
        <p:spPr>
          <a:xfrm>
            <a:off x="15659793" y="9121536"/>
            <a:ext cx="2057400" cy="609600"/>
          </a:xfrm>
          <a:prstGeom prst="rect">
            <a:avLst/>
          </a:prstGeom>
          <a:solidFill>
            <a:srgbClr val="EF23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&gt; 1 </a:t>
            </a:r>
            <a:r>
              <a:rPr kumimoji="0" lang="en-US" sz="1800" b="1"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giờ</a:t>
            </a:r>
            <a:endParaRPr kumimoji="0" lang="en-US" sz="18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88" name="Rectangle 87"/>
          <p:cNvSpPr/>
          <p:nvPr/>
        </p:nvSpPr>
        <p:spPr>
          <a:xfrm>
            <a:off x="457200" y="5107676"/>
            <a:ext cx="2057400" cy="6096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Tuân</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thủ</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9" name="Rectangle 88"/>
          <p:cNvSpPr/>
          <p:nvPr/>
        </p:nvSpPr>
        <p:spPr>
          <a:xfrm>
            <a:off x="457200" y="6415645"/>
            <a:ext cx="2057400" cy="60960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Gian</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lận</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0" name="Rectangle 89"/>
          <p:cNvSpPr/>
          <p:nvPr/>
        </p:nvSpPr>
        <p:spPr>
          <a:xfrm>
            <a:off x="457200" y="7772400"/>
            <a:ext cx="2057400" cy="6096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Hoạt</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1" name="Rectangle 90"/>
          <p:cNvSpPr/>
          <p:nvPr/>
        </p:nvSpPr>
        <p:spPr>
          <a:xfrm>
            <a:off x="457200" y="9121536"/>
            <a:ext cx="2057400" cy="6096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Hoạt</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Rectangle 91"/>
          <p:cNvSpPr/>
          <p:nvPr/>
        </p:nvSpPr>
        <p:spPr>
          <a:xfrm>
            <a:off x="457200" y="3825636"/>
            <a:ext cx="2057400" cy="6096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Hoạt</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động</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93" name="Group 2"/>
          <p:cNvGrpSpPr/>
          <p:nvPr/>
        </p:nvGrpSpPr>
        <p:grpSpPr>
          <a:xfrm>
            <a:off x="0" y="114300"/>
            <a:ext cx="13258800" cy="1024391"/>
            <a:chOff x="0" y="0"/>
            <a:chExt cx="12481919" cy="1554226"/>
          </a:xfrm>
          <a:solidFill>
            <a:schemeClr val="bg1">
              <a:lumMod val="95000"/>
            </a:schemeClr>
          </a:solidFill>
        </p:grpSpPr>
        <p:sp>
          <p:nvSpPr>
            <p:cNvPr id="94" name="Freeform 3"/>
            <p:cNvSpPr/>
            <p:nvPr/>
          </p:nvSpPr>
          <p:spPr>
            <a:xfrm>
              <a:off x="0" y="0"/>
              <a:ext cx="12481919" cy="1554226"/>
            </a:xfrm>
            <a:custGeom>
              <a:avLst/>
              <a:gdLst/>
              <a:ahLst/>
              <a:cxnLst/>
              <a:rect l="l" t="t" r="r" b="b"/>
              <a:pathLst>
                <a:path w="12192000" h="1554226">
                  <a:moveTo>
                    <a:pt x="0" y="0"/>
                  </a:moveTo>
                  <a:lnTo>
                    <a:pt x="2458720" y="0"/>
                  </a:lnTo>
                  <a:lnTo>
                    <a:pt x="2600960" y="0"/>
                  </a:lnTo>
                  <a:lnTo>
                    <a:pt x="4871720" y="0"/>
                  </a:lnTo>
                  <a:lnTo>
                    <a:pt x="5059680" y="0"/>
                  </a:lnTo>
                  <a:lnTo>
                    <a:pt x="5603367" y="0"/>
                  </a:lnTo>
                  <a:lnTo>
                    <a:pt x="5623560" y="0"/>
                  </a:lnTo>
                  <a:lnTo>
                    <a:pt x="6355207" y="0"/>
                  </a:lnTo>
                  <a:lnTo>
                    <a:pt x="7330440" y="0"/>
                  </a:lnTo>
                  <a:lnTo>
                    <a:pt x="7472680" y="0"/>
                  </a:lnTo>
                  <a:lnTo>
                    <a:pt x="8062087" y="0"/>
                  </a:lnTo>
                  <a:lnTo>
                    <a:pt x="8082280" y="0"/>
                  </a:lnTo>
                  <a:lnTo>
                    <a:pt x="8204327" y="0"/>
                  </a:lnTo>
                  <a:lnTo>
                    <a:pt x="8224520" y="0"/>
                  </a:lnTo>
                  <a:lnTo>
                    <a:pt x="8813927" y="0"/>
                  </a:lnTo>
                  <a:lnTo>
                    <a:pt x="8956167" y="0"/>
                  </a:lnTo>
                  <a:lnTo>
                    <a:pt x="9931400" y="0"/>
                  </a:lnTo>
                  <a:lnTo>
                    <a:pt x="10663047" y="0"/>
                  </a:lnTo>
                  <a:lnTo>
                    <a:pt x="10683240" y="0"/>
                  </a:lnTo>
                  <a:lnTo>
                    <a:pt x="11414887" y="0"/>
                  </a:lnTo>
                  <a:lnTo>
                    <a:pt x="12192000" y="777113"/>
                  </a:lnTo>
                  <a:lnTo>
                    <a:pt x="11414887" y="1554226"/>
                  </a:lnTo>
                  <a:lnTo>
                    <a:pt x="10683240" y="1554226"/>
                  </a:lnTo>
                  <a:lnTo>
                    <a:pt x="10663047" y="1554226"/>
                  </a:lnTo>
                  <a:lnTo>
                    <a:pt x="9931400" y="1554226"/>
                  </a:lnTo>
                  <a:lnTo>
                    <a:pt x="8956167" y="1554226"/>
                  </a:lnTo>
                  <a:lnTo>
                    <a:pt x="8813927" y="1554226"/>
                  </a:lnTo>
                  <a:lnTo>
                    <a:pt x="8224520" y="1554226"/>
                  </a:lnTo>
                  <a:lnTo>
                    <a:pt x="8204326" y="1554226"/>
                  </a:lnTo>
                  <a:lnTo>
                    <a:pt x="8082280" y="1554226"/>
                  </a:lnTo>
                  <a:lnTo>
                    <a:pt x="8062087" y="1554226"/>
                  </a:lnTo>
                  <a:lnTo>
                    <a:pt x="7472680" y="1554226"/>
                  </a:lnTo>
                  <a:lnTo>
                    <a:pt x="7330440" y="1554226"/>
                  </a:lnTo>
                  <a:lnTo>
                    <a:pt x="6355207" y="1554226"/>
                  </a:lnTo>
                  <a:lnTo>
                    <a:pt x="5623560" y="1554226"/>
                  </a:lnTo>
                  <a:lnTo>
                    <a:pt x="5603367" y="1554226"/>
                  </a:lnTo>
                  <a:lnTo>
                    <a:pt x="5059680" y="1554226"/>
                  </a:lnTo>
                  <a:lnTo>
                    <a:pt x="4871720" y="1554226"/>
                  </a:lnTo>
                  <a:lnTo>
                    <a:pt x="2600960" y="1554226"/>
                  </a:lnTo>
                  <a:lnTo>
                    <a:pt x="2458720" y="1554226"/>
                  </a:lnTo>
                  <a:lnTo>
                    <a:pt x="0" y="1554226"/>
                  </a:lnTo>
                  <a:close/>
                </a:path>
              </a:pathLst>
            </a:custGeom>
            <a:grpFill/>
          </p:spPr>
          <p:txBody>
            <a:bodyPr/>
            <a:lstStyle/>
            <a:p>
              <a:endParaRPr lang="en-US"/>
            </a:p>
          </p:txBody>
        </p:sp>
      </p:grpSp>
      <p:grpSp>
        <p:nvGrpSpPr>
          <p:cNvPr id="95" name="Group 4"/>
          <p:cNvGrpSpPr/>
          <p:nvPr/>
        </p:nvGrpSpPr>
        <p:grpSpPr>
          <a:xfrm>
            <a:off x="0" y="114300"/>
            <a:ext cx="936307" cy="1024391"/>
            <a:chOff x="0" y="0"/>
            <a:chExt cx="1248410" cy="1554290"/>
          </a:xfrm>
        </p:grpSpPr>
        <p:sp>
          <p:nvSpPr>
            <p:cNvPr id="96" name="Freeform 5"/>
            <p:cNvSpPr/>
            <p:nvPr/>
          </p:nvSpPr>
          <p:spPr>
            <a:xfrm>
              <a:off x="0" y="0"/>
              <a:ext cx="1248410" cy="1554353"/>
            </a:xfrm>
            <a:custGeom>
              <a:avLst/>
              <a:gdLst/>
              <a:ahLst/>
              <a:cxnLst/>
              <a:rect l="l" t="t" r="r" b="b"/>
              <a:pathLst>
                <a:path w="1248410" h="1554353">
                  <a:moveTo>
                    <a:pt x="0" y="0"/>
                  </a:moveTo>
                  <a:lnTo>
                    <a:pt x="471297" y="0"/>
                  </a:lnTo>
                  <a:lnTo>
                    <a:pt x="1248410" y="777113"/>
                  </a:lnTo>
                  <a:lnTo>
                    <a:pt x="471297" y="1554353"/>
                  </a:lnTo>
                  <a:lnTo>
                    <a:pt x="0" y="1554353"/>
                  </a:lnTo>
                  <a:lnTo>
                    <a:pt x="0" y="0"/>
                  </a:lnTo>
                  <a:close/>
                </a:path>
              </a:pathLst>
            </a:custGeom>
            <a:solidFill>
              <a:srgbClr val="E72929"/>
            </a:solidFill>
          </p:spPr>
          <p:txBody>
            <a:bodyPr/>
            <a:lstStyle/>
            <a:p>
              <a:endParaRPr lang="en-US"/>
            </a:p>
          </p:txBody>
        </p:sp>
      </p:grpSp>
      <p:sp>
        <p:nvSpPr>
          <p:cNvPr id="97" name="TextBox 34"/>
          <p:cNvSpPr txBox="1"/>
          <p:nvPr/>
        </p:nvSpPr>
        <p:spPr>
          <a:xfrm>
            <a:off x="1044416" y="351520"/>
            <a:ext cx="13395412" cy="551433"/>
          </a:xfrm>
          <a:prstGeom prst="rect">
            <a:avLst/>
          </a:prstGeom>
        </p:spPr>
        <p:txBody>
          <a:bodyPr wrap="square" lIns="0" tIns="0" rIns="0" bIns="0" rtlCol="0" anchor="t">
            <a:spAutoFit/>
          </a:bodyPr>
          <a:lstStyle/>
          <a:p>
            <a:pPr marL="0" marR="0" lvl="0" indent="0" algn="l" defTabSz="914400" rtl="0" eaLnBrk="1" fontAlgn="auto" latinLnBrk="0" hangingPunct="1">
              <a:lnSpc>
                <a:spcPts val="432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00000"/>
                </a:solidFill>
                <a:effectLst/>
                <a:uLnTx/>
                <a:uFillTx/>
                <a:latin typeface="Arial" panose="020B0604020202020204" pitchFamily="34" charset="0"/>
                <a:ea typeface="Futura Ultra-Bold"/>
                <a:cs typeface="Arial" panose="020B0604020202020204" pitchFamily="34" charset="0"/>
                <a:sym typeface="Futura Ultra-Bold"/>
              </a:rPr>
              <a:t>Minh </a:t>
            </a:r>
            <a:r>
              <a:rPr kumimoji="0" lang="en-US" sz="3600" b="1" i="0" u="none" strike="noStrike" kern="1200" cap="none" spc="0" normalizeH="0" baseline="0" noProof="0" dirty="0" err="1">
                <a:ln>
                  <a:noFill/>
                </a:ln>
                <a:solidFill>
                  <a:srgbClr val="000000"/>
                </a:solidFill>
                <a:effectLst/>
                <a:uLnTx/>
                <a:uFillTx/>
                <a:latin typeface="Arial" panose="020B0604020202020204" pitchFamily="34" charset="0"/>
                <a:ea typeface="Futura Ultra-Bold"/>
                <a:cs typeface="Arial" panose="020B0604020202020204" pitchFamily="34" charset="0"/>
                <a:sym typeface="Futura Ultra-Bold"/>
              </a:rPr>
              <a:t>họa</a:t>
            </a:r>
            <a:r>
              <a:rPr kumimoji="0" lang="en-US" sz="3600" b="1" i="0" u="none" strike="noStrike" kern="1200" cap="none" spc="0" normalizeH="0" baseline="0" noProof="0" dirty="0">
                <a:ln>
                  <a:noFill/>
                </a:ln>
                <a:solidFill>
                  <a:srgbClr val="000000"/>
                </a:solidFill>
                <a:effectLst/>
                <a:uLnTx/>
                <a:uFillTx/>
                <a:latin typeface="Arial" panose="020B0604020202020204" pitchFamily="34" charset="0"/>
                <a:ea typeface="Futura Ultra-Bold"/>
                <a:cs typeface="Arial" panose="020B0604020202020204" pitchFamily="34" charset="0"/>
                <a:sym typeface="Futura Ultra-Bold"/>
              </a:rPr>
              <a:t>: </a:t>
            </a:r>
            <a:r>
              <a:rPr kumimoji="0" lang="en-US" sz="3600" b="1" i="0" u="none" strike="noStrike" kern="1200" cap="none" spc="0" normalizeH="0" baseline="0" noProof="0" dirty="0" err="1">
                <a:ln>
                  <a:noFill/>
                </a:ln>
                <a:solidFill>
                  <a:srgbClr val="000000"/>
                </a:solidFill>
                <a:effectLst/>
                <a:uLnTx/>
                <a:uFillTx/>
                <a:latin typeface="Arial" panose="020B0604020202020204" pitchFamily="34" charset="0"/>
                <a:ea typeface="Futura Ultra-Bold"/>
                <a:cs typeface="Arial" panose="020B0604020202020204" pitchFamily="34" charset="0"/>
                <a:sym typeface="Futura Ultra-Bold"/>
              </a:rPr>
              <a:t>Thư</a:t>
            </a:r>
            <a:r>
              <a:rPr kumimoji="0" lang="en-US" sz="3600" b="1" i="0" u="none" strike="noStrike" kern="1200" cap="none" spc="0" normalizeH="0" baseline="0" noProof="0" dirty="0">
                <a:ln>
                  <a:noFill/>
                </a:ln>
                <a:solidFill>
                  <a:srgbClr val="000000"/>
                </a:solidFill>
                <a:effectLst/>
                <a:uLnTx/>
                <a:uFillTx/>
                <a:latin typeface="Arial" panose="020B0604020202020204" pitchFamily="34" charset="0"/>
                <a:ea typeface="Futura Ultra-Bold"/>
                <a:cs typeface="Arial" panose="020B0604020202020204" pitchFamily="34" charset="0"/>
                <a:sym typeface="Futura Ultra-Bold"/>
              </a:rPr>
              <a:t> </a:t>
            </a:r>
            <a:r>
              <a:rPr kumimoji="0" lang="en-US" sz="3600" b="1" i="0" u="none" strike="noStrike" kern="1200" cap="none" spc="0" normalizeH="0" baseline="0" noProof="0" dirty="0" err="1">
                <a:ln>
                  <a:noFill/>
                </a:ln>
                <a:solidFill>
                  <a:srgbClr val="000000"/>
                </a:solidFill>
                <a:effectLst/>
                <a:uLnTx/>
                <a:uFillTx/>
                <a:latin typeface="Arial" panose="020B0604020202020204" pitchFamily="34" charset="0"/>
                <a:ea typeface="Futura Ultra-Bold"/>
                <a:cs typeface="Arial" panose="020B0604020202020204" pitchFamily="34" charset="0"/>
                <a:sym typeface="Futura Ultra-Bold"/>
              </a:rPr>
              <a:t>viện</a:t>
            </a:r>
            <a:r>
              <a:rPr kumimoji="0" lang="en-US" sz="3600" b="1" i="0" u="none" strike="noStrike" kern="1200" cap="none" spc="0" normalizeH="0" baseline="0" noProof="0" dirty="0">
                <a:ln>
                  <a:noFill/>
                </a:ln>
                <a:solidFill>
                  <a:srgbClr val="000000"/>
                </a:solidFill>
                <a:effectLst/>
                <a:uLnTx/>
                <a:uFillTx/>
                <a:latin typeface="Arial" panose="020B0604020202020204" pitchFamily="34" charset="0"/>
                <a:ea typeface="Futura Ultra-Bold"/>
                <a:cs typeface="Arial" panose="020B0604020202020204" pitchFamily="34" charset="0"/>
                <a:sym typeface="Futura Ultra-Bold"/>
              </a:rPr>
              <a:t> KRI</a:t>
            </a:r>
          </a:p>
        </p:txBody>
      </p:sp>
    </p:spTree>
    <p:extLst>
      <p:ext uri="{BB962C8B-B14F-4D97-AF65-F5344CB8AC3E}">
        <p14:creationId xmlns:p14="http://schemas.microsoft.com/office/powerpoint/2010/main" val="30656432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42280" cy="713232"/>
          </a:xfrm>
          <a:prstGeom prst="rect">
            <a:avLst/>
          </a:prstGeom>
          <a:solidFill>
            <a:srgbClr val="1A2540"/>
          </a:solidFill>
          <a:ln w="12700">
            <a:solidFill>
              <a:srgbClr val="1A2540"/>
            </a:solidFill>
            <a:prstDash val="solid"/>
          </a:ln>
        </p:spPr>
        <p:txBody>
          <a:bodyPr/>
          <a:lstStyle/>
          <a:p>
            <a:endParaRPr lang="en-US"/>
          </a:p>
        </p:txBody>
      </p:sp>
      <p:sp>
        <p:nvSpPr>
          <p:cNvPr id="4" name="Text 2"/>
          <p:cNvSpPr/>
          <p:nvPr/>
        </p:nvSpPr>
        <p:spPr>
          <a:xfrm>
            <a:off x="356616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Tổng</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quan</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Text 3"/>
          <p:cNvSpPr/>
          <p:nvPr/>
        </p:nvSpPr>
        <p:spPr>
          <a:xfrm>
            <a:off x="589788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Tìm</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kiếm</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 name="Text 4"/>
          <p:cNvSpPr/>
          <p:nvPr/>
        </p:nvSpPr>
        <p:spPr>
          <a:xfrm>
            <a:off x="822960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Tổng</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quan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thất</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Text 5"/>
          <p:cNvSpPr/>
          <p:nvPr/>
        </p:nvSpPr>
        <p:spPr>
          <a:xfrm>
            <a:off x="1056132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Ghi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nhận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sự</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kiện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rủi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ro</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Text 6"/>
          <p:cNvSpPr/>
          <p:nvPr/>
        </p:nvSpPr>
        <p:spPr>
          <a:xfrm>
            <a:off x="1289304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Thư</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viện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KRI</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7"/>
          <p:cNvSpPr/>
          <p:nvPr/>
        </p:nvSpPr>
        <p:spPr>
          <a:xfrm>
            <a:off x="1522476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Thư</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viện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rủi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ro</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Text 8"/>
          <p:cNvSpPr/>
          <p:nvPr/>
        </p:nvSpPr>
        <p:spPr>
          <a:xfrm>
            <a:off x="411480" y="850392"/>
            <a:ext cx="9601200" cy="4800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Minh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họa</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Dashboard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theo</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dõi</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rủi</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ro</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&amp;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hiệu</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quả</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của</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các</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chốt</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kiểm</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soát</a:t>
            </a:r>
            <a:endParaRPr kumimoji="0" lang="en-US" sz="2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Shape 9"/>
          <p:cNvSpPr/>
          <p:nvPr/>
        </p:nvSpPr>
        <p:spPr>
          <a:xfrm>
            <a:off x="301752" y="1508760"/>
            <a:ext cx="2880360" cy="1303020"/>
          </a:xfrm>
          <a:prstGeom prst="roundRect">
            <a:avLst>
              <a:gd name="adj" fmla="val 8421"/>
            </a:avLst>
          </a:prstGeom>
          <a:solidFill>
            <a:srgbClr val="EBF3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12" name="Text 10"/>
          <p:cNvSpPr/>
          <p:nvPr/>
        </p:nvSpPr>
        <p:spPr>
          <a:xfrm>
            <a:off x="301752" y="1673352"/>
            <a:ext cx="2880360" cy="5212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2563A8"/>
                </a:solidFill>
                <a:effectLst/>
                <a:uLnTx/>
                <a:uFillTx/>
                <a:latin typeface="Arial" panose="020B0604020202020204" pitchFamily="34" charset="0"/>
                <a:ea typeface="+mn-ea"/>
                <a:cs typeface="Arial" panose="020B0604020202020204" pitchFamily="34" charset="0"/>
              </a:rPr>
              <a:t>46</a:t>
            </a:r>
            <a:endPar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 name="Text 11"/>
          <p:cNvSpPr/>
          <p:nvPr/>
        </p:nvSpPr>
        <p:spPr>
          <a:xfrm>
            <a:off x="301752" y="2221992"/>
            <a:ext cx="288036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Rủi</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ro</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đang</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mở</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12"/>
          <p:cNvSpPr/>
          <p:nvPr/>
        </p:nvSpPr>
        <p:spPr>
          <a:xfrm>
            <a:off x="301752" y="2496312"/>
            <a:ext cx="288036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theo</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dõi</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 name="Shape 13"/>
          <p:cNvSpPr/>
          <p:nvPr/>
        </p:nvSpPr>
        <p:spPr>
          <a:xfrm>
            <a:off x="3305556" y="1508760"/>
            <a:ext cx="2880360" cy="1303020"/>
          </a:xfrm>
          <a:prstGeom prst="roundRect">
            <a:avLst>
              <a:gd name="adj" fmla="val 8421"/>
            </a:avLst>
          </a:prstGeom>
          <a:solidFill>
            <a:srgbClr val="E8F8EE"/>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16" name="Text 14"/>
          <p:cNvSpPr/>
          <p:nvPr/>
        </p:nvSpPr>
        <p:spPr>
          <a:xfrm>
            <a:off x="3305556" y="1673352"/>
            <a:ext cx="2880360" cy="5212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E8C5A"/>
                </a:solidFill>
                <a:effectLst/>
                <a:uLnTx/>
                <a:uFillTx/>
                <a:latin typeface="Arial" panose="020B0604020202020204" pitchFamily="34" charset="0"/>
                <a:ea typeface="+mn-ea"/>
                <a:cs typeface="Arial" panose="020B0604020202020204" pitchFamily="34" charset="0"/>
              </a:rPr>
              <a:t>8</a:t>
            </a:r>
            <a:endPar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Text 15"/>
          <p:cNvSpPr/>
          <p:nvPr/>
        </p:nvSpPr>
        <p:spPr>
          <a:xfrm>
            <a:off x="3305556" y="2221992"/>
            <a:ext cx="288036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Chốt</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kiểm</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soát</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đã</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đánh</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giá</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Text 16"/>
          <p:cNvSpPr/>
          <p:nvPr/>
        </p:nvSpPr>
        <p:spPr>
          <a:xfrm>
            <a:off x="3305556" y="2496312"/>
            <a:ext cx="288036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Q4 2025</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Shape 17"/>
          <p:cNvSpPr/>
          <p:nvPr/>
        </p:nvSpPr>
        <p:spPr>
          <a:xfrm>
            <a:off x="6309360" y="1508760"/>
            <a:ext cx="2880360" cy="1303020"/>
          </a:xfrm>
          <a:prstGeom prst="roundRect">
            <a:avLst>
              <a:gd name="adj" fmla="val 8421"/>
            </a:avLst>
          </a:prstGeom>
          <a:solidFill>
            <a:srgbClr val="E8F8EE"/>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20" name="Text 18"/>
          <p:cNvSpPr/>
          <p:nvPr/>
        </p:nvSpPr>
        <p:spPr>
          <a:xfrm>
            <a:off x="6309360" y="1673352"/>
            <a:ext cx="2880360" cy="5212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E8C5A"/>
                </a:solidFill>
                <a:effectLst/>
                <a:uLnTx/>
                <a:uFillTx/>
                <a:latin typeface="Arial" panose="020B0604020202020204" pitchFamily="34" charset="0"/>
                <a:ea typeface="+mn-ea"/>
                <a:cs typeface="Arial" panose="020B0604020202020204" pitchFamily="34" charset="0"/>
              </a:rPr>
              <a:t>0</a:t>
            </a:r>
            <a:endPar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1" name="Text 19"/>
          <p:cNvSpPr/>
          <p:nvPr/>
        </p:nvSpPr>
        <p:spPr>
          <a:xfrm>
            <a:off x="6309360" y="2221992"/>
            <a:ext cx="288036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Lỗ</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hổng</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nghiêm</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trọng</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2" name="Text 20"/>
          <p:cNvSpPr/>
          <p:nvPr/>
        </p:nvSpPr>
        <p:spPr>
          <a:xfrm>
            <a:off x="6309360" y="2496312"/>
            <a:ext cx="288036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Không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có</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lỗ</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hổng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nghiêm</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trọng</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3" name="Shape 21"/>
          <p:cNvSpPr/>
          <p:nvPr/>
        </p:nvSpPr>
        <p:spPr>
          <a:xfrm>
            <a:off x="9313164" y="1508760"/>
            <a:ext cx="2880360" cy="1303020"/>
          </a:xfrm>
          <a:prstGeom prst="roundRect">
            <a:avLst>
              <a:gd name="adj" fmla="val 8421"/>
            </a:avLst>
          </a:prstGeom>
          <a:solidFill>
            <a:srgbClr val="FFF3E5"/>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24" name="Text 22"/>
          <p:cNvSpPr/>
          <p:nvPr/>
        </p:nvSpPr>
        <p:spPr>
          <a:xfrm>
            <a:off x="9313164" y="1673352"/>
            <a:ext cx="2880360" cy="5212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E07B2E"/>
                </a:solidFill>
                <a:effectLst/>
                <a:uLnTx/>
                <a:uFillTx/>
                <a:latin typeface="Arial" panose="020B0604020202020204" pitchFamily="34" charset="0"/>
                <a:ea typeface="+mn-ea"/>
                <a:cs typeface="Arial" panose="020B0604020202020204" pitchFamily="34" charset="0"/>
              </a:rPr>
              <a:t>62</a:t>
            </a:r>
            <a:endPar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5" name="Text 23"/>
          <p:cNvSpPr/>
          <p:nvPr/>
        </p:nvSpPr>
        <p:spPr>
          <a:xfrm>
            <a:off x="9313164" y="2221992"/>
            <a:ext cx="288036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Sự</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kiện</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tổn</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thất</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6" name="Text 24"/>
          <p:cNvSpPr/>
          <p:nvPr/>
        </p:nvSpPr>
        <p:spPr>
          <a:xfrm>
            <a:off x="9313164" y="2496312"/>
            <a:ext cx="288036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YTD</a:t>
            </a:r>
          </a:p>
        </p:txBody>
      </p:sp>
      <p:sp>
        <p:nvSpPr>
          <p:cNvPr id="27" name="Shape 25"/>
          <p:cNvSpPr/>
          <p:nvPr/>
        </p:nvSpPr>
        <p:spPr>
          <a:xfrm>
            <a:off x="12316968" y="1508760"/>
            <a:ext cx="2880360" cy="1303020"/>
          </a:xfrm>
          <a:prstGeom prst="roundRect">
            <a:avLst>
              <a:gd name="adj" fmla="val 8421"/>
            </a:avLst>
          </a:prstGeom>
          <a:solidFill>
            <a:srgbClr val="FFE8E5"/>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28" name="Text 26"/>
          <p:cNvSpPr/>
          <p:nvPr/>
        </p:nvSpPr>
        <p:spPr>
          <a:xfrm>
            <a:off x="12316968" y="1673352"/>
            <a:ext cx="2880360" cy="5212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0392B"/>
                </a:solidFill>
                <a:effectLst/>
                <a:uLnTx/>
                <a:uFillTx/>
                <a:latin typeface="Arial" panose="020B0604020202020204" pitchFamily="34" charset="0"/>
                <a:ea typeface="+mn-ea"/>
                <a:cs typeface="Arial" panose="020B0604020202020204" pitchFamily="34" charset="0"/>
              </a:rPr>
              <a:t>4</a:t>
            </a:r>
            <a:endPar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Text 27"/>
          <p:cNvSpPr/>
          <p:nvPr/>
        </p:nvSpPr>
        <p:spPr>
          <a:xfrm>
            <a:off x="12316968" y="2221992"/>
            <a:ext cx="288036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Đánh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giá</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chờ</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xử</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lý</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0" name="Text 28"/>
          <p:cNvSpPr/>
          <p:nvPr/>
        </p:nvSpPr>
        <p:spPr>
          <a:xfrm>
            <a:off x="12316968" y="2496312"/>
            <a:ext cx="288036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Chờ</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phê</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duyệt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Shape 29"/>
          <p:cNvSpPr/>
          <p:nvPr/>
        </p:nvSpPr>
        <p:spPr>
          <a:xfrm>
            <a:off x="15320772" y="1508760"/>
            <a:ext cx="2880360" cy="1303020"/>
          </a:xfrm>
          <a:prstGeom prst="roundRect">
            <a:avLst>
              <a:gd name="adj" fmla="val 8421"/>
            </a:avLst>
          </a:prstGeom>
          <a:solidFill>
            <a:srgbClr val="E5F7F8"/>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32" name="Text 30"/>
          <p:cNvSpPr/>
          <p:nvPr/>
        </p:nvSpPr>
        <p:spPr>
          <a:xfrm>
            <a:off x="15320772" y="1673352"/>
            <a:ext cx="2880360" cy="5212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D7C8C"/>
                </a:solidFill>
                <a:effectLst/>
                <a:uLnTx/>
                <a:uFillTx/>
                <a:latin typeface="Arial" panose="020B0604020202020204" pitchFamily="34" charset="0"/>
                <a:ea typeface="+mn-ea"/>
                <a:cs typeface="Arial" panose="020B0604020202020204" pitchFamily="34" charset="0"/>
              </a:rPr>
              <a:t>95%</a:t>
            </a:r>
            <a:endParaRPr kumimoji="0" lang="en-US" sz="3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3" name="Text 31"/>
          <p:cNvSpPr/>
          <p:nvPr/>
        </p:nvSpPr>
        <p:spPr>
          <a:xfrm>
            <a:off x="15320772" y="2221992"/>
            <a:ext cx="288036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Hiệu</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quả</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chốt</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kiểm</a:t>
            </a:r>
            <a:r>
              <a:rPr kumimoji="0" lang="en-US" sz="16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soát</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4" name="Text 32"/>
          <p:cNvSpPr/>
          <p:nvPr/>
        </p:nvSpPr>
        <p:spPr>
          <a:xfrm>
            <a:off x="15320772" y="2496312"/>
            <a:ext cx="288036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Điểm</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trung</a:t>
            </a:r>
            <a:r>
              <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2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bình</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5" name="Shape 33"/>
          <p:cNvSpPr/>
          <p:nvPr/>
        </p:nvSpPr>
        <p:spPr>
          <a:xfrm>
            <a:off x="301752" y="3017520"/>
            <a:ext cx="5486400" cy="4389120"/>
          </a:xfrm>
          <a:prstGeom prst="roundRect">
            <a:avLst>
              <a:gd name="adj" fmla="val 250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36" name="Text 34"/>
          <p:cNvSpPr/>
          <p:nvPr/>
        </p:nvSpPr>
        <p:spPr>
          <a:xfrm>
            <a:off x="576072" y="3182112"/>
            <a:ext cx="48006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Đánh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giá</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hiệu</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quả</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chốt</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kiểm</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soát</a:t>
            </a:r>
            <a:endParaRPr kumimoji="0" lang="en-US" sz="1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37" name="Chart 0"/>
          <p:cNvGraphicFramePr/>
          <p:nvPr/>
        </p:nvGraphicFramePr>
        <p:xfrm>
          <a:off x="438912" y="3621024"/>
          <a:ext cx="5212080" cy="3655314"/>
        </p:xfrm>
        <a:graphic>
          <a:graphicData uri="http://schemas.openxmlformats.org/drawingml/2006/chart">
            <c:chart xmlns:c="http://schemas.openxmlformats.org/drawingml/2006/chart" xmlns:r="http://schemas.openxmlformats.org/officeDocument/2006/relationships" r:id="rId3"/>
          </a:graphicData>
        </a:graphic>
      </p:graphicFrame>
      <p:sp>
        <p:nvSpPr>
          <p:cNvPr id="38" name="Shape 35"/>
          <p:cNvSpPr/>
          <p:nvPr/>
        </p:nvSpPr>
        <p:spPr>
          <a:xfrm>
            <a:off x="6062472" y="3017520"/>
            <a:ext cx="6377940" cy="4389120"/>
          </a:xfrm>
          <a:prstGeom prst="roundRect">
            <a:avLst>
              <a:gd name="adj" fmla="val 250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39" name="Text 36"/>
          <p:cNvSpPr/>
          <p:nvPr/>
        </p:nvSpPr>
        <p:spPr>
          <a:xfrm>
            <a:off x="6336792" y="3182112"/>
            <a:ext cx="48006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Tổng</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hợp</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sự</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kiện</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rủi</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ro</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theo</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tháng</a:t>
            </a:r>
            <a:endParaRPr kumimoji="0" lang="en-US" sz="1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0" name="Text 37"/>
          <p:cNvSpPr/>
          <p:nvPr/>
        </p:nvSpPr>
        <p:spPr>
          <a:xfrm>
            <a:off x="10657332" y="3182112"/>
            <a:ext cx="1508760" cy="3429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563A8"/>
                </a:solidFill>
                <a:effectLst/>
                <a:uLnTx/>
                <a:uFillTx/>
                <a:latin typeface="Arial" panose="020B0604020202020204" pitchFamily="34" charset="0"/>
                <a:ea typeface="+mn-ea"/>
                <a:cs typeface="Arial" panose="020B0604020202020204" pitchFamily="34" charset="0"/>
              </a:rPr>
              <a:t>2025  ▼</a:t>
            </a:r>
            <a:endParaRPr kumimoji="0" lang="en-US" sz="13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41" name="Chart 1"/>
          <p:cNvGraphicFramePr/>
          <p:nvPr/>
        </p:nvGraphicFramePr>
        <p:xfrm>
          <a:off x="6199632" y="3675888"/>
          <a:ext cx="6103620" cy="3497580"/>
        </p:xfrm>
        <a:graphic>
          <a:graphicData uri="http://schemas.openxmlformats.org/drawingml/2006/chart">
            <c:chart xmlns:c="http://schemas.openxmlformats.org/drawingml/2006/chart" xmlns:r="http://schemas.openxmlformats.org/officeDocument/2006/relationships" r:id="rId4"/>
          </a:graphicData>
        </a:graphic>
      </p:graphicFrame>
      <p:sp>
        <p:nvSpPr>
          <p:cNvPr id="42" name="Shape 38"/>
          <p:cNvSpPr/>
          <p:nvPr/>
        </p:nvSpPr>
        <p:spPr>
          <a:xfrm>
            <a:off x="12714732" y="3017520"/>
            <a:ext cx="5212080" cy="4389120"/>
          </a:xfrm>
          <a:prstGeom prst="roundRect">
            <a:avLst>
              <a:gd name="adj" fmla="val 250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43" name="Text 39"/>
          <p:cNvSpPr/>
          <p:nvPr/>
        </p:nvSpPr>
        <p:spPr>
          <a:xfrm>
            <a:off x="12989052" y="3182112"/>
            <a:ext cx="34290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Sự</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cố</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đang</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mở</a:t>
            </a:r>
            <a:endParaRPr kumimoji="0" lang="en-US" sz="1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4" name="Text 40"/>
          <p:cNvSpPr/>
          <p:nvPr/>
        </p:nvSpPr>
        <p:spPr>
          <a:xfrm>
            <a:off x="16143732" y="3209544"/>
            <a:ext cx="1508760" cy="329184"/>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75" b="0" i="0" u="none" strike="noStrike" kern="1200" cap="none" spc="0" normalizeH="0" baseline="0" noProof="0" dirty="0" err="1">
                <a:ln>
                  <a:noFill/>
                </a:ln>
                <a:solidFill>
                  <a:srgbClr val="2563A8"/>
                </a:solidFill>
                <a:effectLst/>
                <a:uLnTx/>
                <a:uFillTx/>
                <a:latin typeface="Arial" panose="020B0604020202020204" pitchFamily="34" charset="0"/>
                <a:ea typeface="+mn-ea"/>
                <a:cs typeface="Arial" panose="020B0604020202020204" pitchFamily="34" charset="0"/>
              </a:rPr>
              <a:t>Xem</a:t>
            </a:r>
            <a:r>
              <a:rPr kumimoji="0" lang="en-US" sz="1275" b="0" i="0" u="none" strike="noStrike" kern="1200" cap="none" spc="0" normalizeH="0" baseline="0" noProof="0" dirty="0">
                <a:ln>
                  <a:noFill/>
                </a:ln>
                <a:solidFill>
                  <a:srgbClr val="2563A8"/>
                </a:solidFill>
                <a:effectLst/>
                <a:uLnTx/>
                <a:uFillTx/>
                <a:latin typeface="Arial" panose="020B0604020202020204" pitchFamily="34" charset="0"/>
                <a:ea typeface="+mn-ea"/>
                <a:cs typeface="Arial" panose="020B0604020202020204" pitchFamily="34" charset="0"/>
              </a:rPr>
              <a:t> </a:t>
            </a:r>
            <a:r>
              <a:rPr kumimoji="0" lang="en-US" sz="1275" b="0" i="0" u="none" strike="noStrike" kern="1200" cap="none" spc="0" normalizeH="0" baseline="0" noProof="0" dirty="0" err="1">
                <a:ln>
                  <a:noFill/>
                </a:ln>
                <a:solidFill>
                  <a:srgbClr val="2563A8"/>
                </a:solidFill>
                <a:effectLst/>
                <a:uLnTx/>
                <a:uFillTx/>
                <a:latin typeface="Arial" panose="020B0604020202020204" pitchFamily="34" charset="0"/>
                <a:ea typeface="+mn-ea"/>
                <a:cs typeface="Arial" panose="020B0604020202020204" pitchFamily="34" charset="0"/>
              </a:rPr>
              <a:t>thêm</a:t>
            </a:r>
            <a:r>
              <a:rPr kumimoji="0" lang="en-US" sz="1275" b="0" i="0" u="none" strike="noStrike" kern="1200" cap="none" spc="0" normalizeH="0" baseline="0" noProof="0" dirty="0">
                <a:ln>
                  <a:noFill/>
                </a:ln>
                <a:solidFill>
                  <a:srgbClr val="2563A8"/>
                </a:solidFill>
                <a:effectLst/>
                <a:uLnTx/>
                <a:uFillTx/>
                <a:latin typeface="Arial" panose="020B0604020202020204" pitchFamily="34" charset="0"/>
                <a:ea typeface="+mn-ea"/>
                <a:cs typeface="Arial" panose="020B0604020202020204" pitchFamily="34" charset="0"/>
              </a:rPr>
              <a:t>  →</a:t>
            </a:r>
            <a:endParaRPr kumimoji="0" lang="en-US" sz="12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5" name="Shape 41"/>
          <p:cNvSpPr/>
          <p:nvPr/>
        </p:nvSpPr>
        <p:spPr>
          <a:xfrm>
            <a:off x="12851892" y="3662172"/>
            <a:ext cx="4937760" cy="315468"/>
          </a:xfrm>
          <a:prstGeom prst="rect">
            <a:avLst/>
          </a:prstGeom>
          <a:solidFill>
            <a:srgbClr val="EBF0F8"/>
          </a:solidFill>
          <a:ln w="12700">
            <a:solidFill>
              <a:srgbClr val="EBF0F8"/>
            </a:solidFill>
            <a:prstDash val="solid"/>
          </a:ln>
        </p:spPr>
        <p:txBody>
          <a:bodyPr/>
          <a:lstStyle/>
          <a:p>
            <a:endParaRPr lang="en-US"/>
          </a:p>
        </p:txBody>
      </p:sp>
      <p:sp>
        <p:nvSpPr>
          <p:cNvPr id="46" name="Text 42"/>
          <p:cNvSpPr/>
          <p:nvPr/>
        </p:nvSpPr>
        <p:spPr>
          <a:xfrm>
            <a:off x="12920472" y="3675888"/>
            <a:ext cx="2194560" cy="2880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Sự</a:t>
            </a:r>
            <a:r>
              <a:rPr kumimoji="0" lang="en-US" sz="1050" b="1"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a:t>
            </a:r>
            <a:r>
              <a:rPr kumimoji="0" lang="en-US" sz="1050" b="1"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cố</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7" name="Text 43"/>
          <p:cNvSpPr/>
          <p:nvPr/>
        </p:nvSpPr>
        <p:spPr>
          <a:xfrm>
            <a:off x="15183612" y="3675888"/>
            <a:ext cx="1165860" cy="2880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Mức</a:t>
            </a:r>
            <a:r>
              <a:rPr kumimoji="0" lang="en-US" sz="1050" b="1"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a:t>
            </a:r>
            <a:r>
              <a:rPr kumimoji="0" lang="en-US" sz="1050" b="1"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trọng</a:t>
            </a:r>
            <a:r>
              <a:rPr kumimoji="0" lang="en-US" sz="1050" b="1"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a:t>
            </a:r>
            <a:r>
              <a:rPr kumimoji="0" lang="en-US" sz="1050" b="1"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yếu</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8" name="Text 44"/>
          <p:cNvSpPr/>
          <p:nvPr/>
        </p:nvSpPr>
        <p:spPr>
          <a:xfrm>
            <a:off x="16445484" y="3675888"/>
            <a:ext cx="1207008" cy="28803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Hạn</a:t>
            </a:r>
            <a:r>
              <a:rPr kumimoji="0" lang="en-US" sz="1050" b="1"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a:t>
            </a:r>
            <a:r>
              <a:rPr kumimoji="0" lang="en-US" sz="1050" b="1"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xử</a:t>
            </a:r>
            <a:r>
              <a:rPr kumimoji="0" lang="en-US" sz="1050" b="1"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a:t>
            </a:r>
            <a:r>
              <a:rPr kumimoji="0" lang="en-US" sz="1050" b="1"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lý</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9" name="Shape 45"/>
          <p:cNvSpPr/>
          <p:nvPr/>
        </p:nvSpPr>
        <p:spPr>
          <a:xfrm>
            <a:off x="12851892" y="3991356"/>
            <a:ext cx="4937760" cy="397764"/>
          </a:xfrm>
          <a:prstGeom prst="rect">
            <a:avLst/>
          </a:prstGeom>
          <a:solidFill>
            <a:srgbClr val="F8FAFD"/>
          </a:solidFill>
          <a:ln w="12700">
            <a:solidFill>
              <a:srgbClr val="F8FAFD"/>
            </a:solidFill>
            <a:prstDash val="solid"/>
          </a:ln>
        </p:spPr>
        <p:txBody>
          <a:bodyPr/>
          <a:lstStyle/>
          <a:p>
            <a:endParaRPr lang="en-US"/>
          </a:p>
        </p:txBody>
      </p:sp>
      <p:sp>
        <p:nvSpPr>
          <p:cNvPr id="50" name="Text 46"/>
          <p:cNvSpPr/>
          <p:nvPr/>
        </p:nvSpPr>
        <p:spPr>
          <a:xfrm>
            <a:off x="12920472" y="4018788"/>
            <a:ext cx="216712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Lỗ</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hổng</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hệ</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thống</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 ATTT</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1" name="Shape 47"/>
          <p:cNvSpPr/>
          <p:nvPr/>
        </p:nvSpPr>
        <p:spPr>
          <a:xfrm>
            <a:off x="15211044" y="4032504"/>
            <a:ext cx="1028700" cy="301752"/>
          </a:xfrm>
          <a:prstGeom prst="roundRect">
            <a:avLst>
              <a:gd name="adj" fmla="val 22727"/>
            </a:avLst>
          </a:prstGeom>
          <a:solidFill>
            <a:srgbClr val="C0392B"/>
          </a:solidFill>
          <a:ln w="12700">
            <a:solidFill>
              <a:srgbClr val="C0392B"/>
            </a:solidFill>
            <a:prstDash val="solid"/>
          </a:ln>
        </p:spPr>
        <p:txBody>
          <a:bodyPr/>
          <a:lstStyle/>
          <a:p>
            <a:endParaRPr lang="en-US"/>
          </a:p>
        </p:txBody>
      </p:sp>
      <p:sp>
        <p:nvSpPr>
          <p:cNvPr id="52" name="Text 48"/>
          <p:cNvSpPr/>
          <p:nvPr/>
        </p:nvSpPr>
        <p:spPr>
          <a:xfrm>
            <a:off x="15211044" y="4032504"/>
            <a:ext cx="102870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Rất</a:t>
            </a:r>
            <a:r>
              <a:rPr kumimoji="0" lang="en-US" sz="975"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Cao</a:t>
            </a:r>
            <a:endParaRPr kumimoji="0" lang="en-US" sz="9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Text 49"/>
          <p:cNvSpPr/>
          <p:nvPr/>
        </p:nvSpPr>
        <p:spPr>
          <a:xfrm>
            <a:off x="16472916" y="4018788"/>
            <a:ext cx="1179576"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15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Tháng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1</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4" name="Text 50"/>
          <p:cNvSpPr/>
          <p:nvPr/>
        </p:nvSpPr>
        <p:spPr>
          <a:xfrm>
            <a:off x="12920472" y="4437126"/>
            <a:ext cx="216712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Đánh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giá</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chính</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sách</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 Tài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chính</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5" name="Shape 51"/>
          <p:cNvSpPr/>
          <p:nvPr/>
        </p:nvSpPr>
        <p:spPr>
          <a:xfrm>
            <a:off x="15211044" y="4450842"/>
            <a:ext cx="1028700" cy="301752"/>
          </a:xfrm>
          <a:prstGeom prst="roundRect">
            <a:avLst>
              <a:gd name="adj" fmla="val 22727"/>
            </a:avLst>
          </a:prstGeom>
          <a:solidFill>
            <a:srgbClr val="E07B2E"/>
          </a:solidFill>
          <a:ln w="12700">
            <a:solidFill>
              <a:srgbClr val="E07B2E"/>
            </a:solidFill>
            <a:prstDash val="solid"/>
          </a:ln>
        </p:spPr>
        <p:txBody>
          <a:bodyPr/>
          <a:lstStyle/>
          <a:p>
            <a:endParaRPr lang="en-US"/>
          </a:p>
        </p:txBody>
      </p:sp>
      <p:sp>
        <p:nvSpPr>
          <p:cNvPr id="56" name="Text 52"/>
          <p:cNvSpPr/>
          <p:nvPr/>
        </p:nvSpPr>
        <p:spPr>
          <a:xfrm>
            <a:off x="15211044" y="4450842"/>
            <a:ext cx="102870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Cao</a:t>
            </a:r>
            <a:endParaRPr kumimoji="0" lang="en-US" sz="9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7" name="Text 53"/>
          <p:cNvSpPr/>
          <p:nvPr/>
        </p:nvSpPr>
        <p:spPr>
          <a:xfrm>
            <a:off x="16472916" y="4437126"/>
            <a:ext cx="1179576"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22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Tháng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1</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8" name="Shape 54"/>
          <p:cNvSpPr/>
          <p:nvPr/>
        </p:nvSpPr>
        <p:spPr>
          <a:xfrm>
            <a:off x="12851892" y="4828032"/>
            <a:ext cx="4937760" cy="397764"/>
          </a:xfrm>
          <a:prstGeom prst="rect">
            <a:avLst/>
          </a:prstGeom>
          <a:solidFill>
            <a:srgbClr val="F8FAFD"/>
          </a:solidFill>
          <a:ln w="12700">
            <a:solidFill>
              <a:srgbClr val="F8FAFD"/>
            </a:solidFill>
            <a:prstDash val="solid"/>
          </a:ln>
        </p:spPr>
        <p:txBody>
          <a:bodyPr/>
          <a:lstStyle/>
          <a:p>
            <a:endParaRPr lang="en-US"/>
          </a:p>
        </p:txBody>
      </p:sp>
      <p:sp>
        <p:nvSpPr>
          <p:cNvPr id="59" name="Text 55"/>
          <p:cNvSpPr/>
          <p:nvPr/>
        </p:nvSpPr>
        <p:spPr>
          <a:xfrm>
            <a:off x="12920472" y="4855464"/>
            <a:ext cx="216712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Khuyến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nghị</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kiểm</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toán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Vận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hành</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0" name="Shape 56"/>
          <p:cNvSpPr/>
          <p:nvPr/>
        </p:nvSpPr>
        <p:spPr>
          <a:xfrm>
            <a:off x="15211044" y="4869180"/>
            <a:ext cx="1028700" cy="301752"/>
          </a:xfrm>
          <a:prstGeom prst="roundRect">
            <a:avLst>
              <a:gd name="adj" fmla="val 22727"/>
            </a:avLst>
          </a:prstGeom>
          <a:solidFill>
            <a:srgbClr val="E07B2E"/>
          </a:solidFill>
          <a:ln w="12700">
            <a:solidFill>
              <a:srgbClr val="E07B2E"/>
            </a:solidFill>
            <a:prstDash val="solid"/>
          </a:ln>
        </p:spPr>
        <p:txBody>
          <a:bodyPr/>
          <a:lstStyle/>
          <a:p>
            <a:endParaRPr lang="en-US"/>
          </a:p>
        </p:txBody>
      </p:sp>
      <p:sp>
        <p:nvSpPr>
          <p:cNvPr id="61" name="Text 57"/>
          <p:cNvSpPr/>
          <p:nvPr/>
        </p:nvSpPr>
        <p:spPr>
          <a:xfrm>
            <a:off x="15211044" y="4869180"/>
            <a:ext cx="102870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Cao</a:t>
            </a:r>
            <a:endParaRPr kumimoji="0" lang="en-US" sz="9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2" name="Text 58"/>
          <p:cNvSpPr/>
          <p:nvPr/>
        </p:nvSpPr>
        <p:spPr>
          <a:xfrm>
            <a:off x="16472916" y="4855464"/>
            <a:ext cx="1179576"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28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Tháng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1</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3" name="Text 59"/>
          <p:cNvSpPr/>
          <p:nvPr/>
        </p:nvSpPr>
        <p:spPr>
          <a:xfrm>
            <a:off x="12920472" y="5273802"/>
            <a:ext cx="216712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Vi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phạm</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tuân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thủ</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Tuân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thủ</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4" name="Shape 60"/>
          <p:cNvSpPr/>
          <p:nvPr/>
        </p:nvSpPr>
        <p:spPr>
          <a:xfrm>
            <a:off x="15211044" y="5287518"/>
            <a:ext cx="1028700" cy="301752"/>
          </a:xfrm>
          <a:prstGeom prst="roundRect">
            <a:avLst>
              <a:gd name="adj" fmla="val 22727"/>
            </a:avLst>
          </a:prstGeom>
          <a:solidFill>
            <a:srgbClr val="E8B84B"/>
          </a:solidFill>
          <a:ln w="12700">
            <a:solidFill>
              <a:srgbClr val="E8B84B"/>
            </a:solidFill>
            <a:prstDash val="solid"/>
          </a:ln>
        </p:spPr>
        <p:txBody>
          <a:bodyPr/>
          <a:lstStyle/>
          <a:p>
            <a:endParaRPr lang="en-US"/>
          </a:p>
        </p:txBody>
      </p:sp>
      <p:sp>
        <p:nvSpPr>
          <p:cNvPr id="65" name="Text 61"/>
          <p:cNvSpPr/>
          <p:nvPr/>
        </p:nvSpPr>
        <p:spPr>
          <a:xfrm>
            <a:off x="15211044" y="5287518"/>
            <a:ext cx="102870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Trung</a:t>
            </a:r>
            <a:r>
              <a:rPr kumimoji="0" lang="en-US" sz="975"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975" b="1"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Bình</a:t>
            </a:r>
            <a:endParaRPr kumimoji="0" lang="en-US" sz="9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6" name="Text 62"/>
          <p:cNvSpPr/>
          <p:nvPr/>
        </p:nvSpPr>
        <p:spPr>
          <a:xfrm>
            <a:off x="16472916" y="5273802"/>
            <a:ext cx="1179576"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05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Tháng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2</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7" name="Shape 63"/>
          <p:cNvSpPr/>
          <p:nvPr/>
        </p:nvSpPr>
        <p:spPr>
          <a:xfrm>
            <a:off x="12851892" y="5664708"/>
            <a:ext cx="4937760" cy="397764"/>
          </a:xfrm>
          <a:prstGeom prst="rect">
            <a:avLst/>
          </a:prstGeom>
          <a:solidFill>
            <a:srgbClr val="F8FAFD"/>
          </a:solidFill>
          <a:ln w="12700">
            <a:solidFill>
              <a:srgbClr val="F8FAFD"/>
            </a:solidFill>
            <a:prstDash val="solid"/>
          </a:ln>
        </p:spPr>
        <p:txBody>
          <a:bodyPr/>
          <a:lstStyle/>
          <a:p>
            <a:endParaRPr lang="en-US"/>
          </a:p>
        </p:txBody>
      </p:sp>
      <p:sp>
        <p:nvSpPr>
          <p:cNvPr id="68" name="Text 64"/>
          <p:cNvSpPr/>
          <p:nvPr/>
        </p:nvSpPr>
        <p:spPr>
          <a:xfrm>
            <a:off x="12920472" y="5692140"/>
            <a:ext cx="216712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Lỗ</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hổng</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quy</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trình</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Vận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hành</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9" name="Shape 65"/>
          <p:cNvSpPr/>
          <p:nvPr/>
        </p:nvSpPr>
        <p:spPr>
          <a:xfrm>
            <a:off x="15211044" y="5705856"/>
            <a:ext cx="1028700" cy="301752"/>
          </a:xfrm>
          <a:prstGeom prst="roundRect">
            <a:avLst>
              <a:gd name="adj" fmla="val 22727"/>
            </a:avLst>
          </a:prstGeom>
          <a:solidFill>
            <a:srgbClr val="E8B84B"/>
          </a:solidFill>
          <a:ln w="12700">
            <a:solidFill>
              <a:srgbClr val="E8B84B"/>
            </a:solidFill>
            <a:prstDash val="solid"/>
          </a:ln>
        </p:spPr>
        <p:txBody>
          <a:bodyPr/>
          <a:lstStyle/>
          <a:p>
            <a:endParaRPr lang="en-US"/>
          </a:p>
        </p:txBody>
      </p:sp>
      <p:sp>
        <p:nvSpPr>
          <p:cNvPr id="70" name="Text 66"/>
          <p:cNvSpPr/>
          <p:nvPr/>
        </p:nvSpPr>
        <p:spPr>
          <a:xfrm>
            <a:off x="15211044" y="5705856"/>
            <a:ext cx="102870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Trung</a:t>
            </a:r>
            <a:r>
              <a:rPr kumimoji="0" lang="en-US" sz="975"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975" b="1"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Bình</a:t>
            </a:r>
            <a:endParaRPr kumimoji="0" lang="en-US" sz="9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1" name="Text 67"/>
          <p:cNvSpPr/>
          <p:nvPr/>
        </p:nvSpPr>
        <p:spPr>
          <a:xfrm>
            <a:off x="16472916" y="5692140"/>
            <a:ext cx="1179576"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12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Tháng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2</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2" name="Text 68"/>
          <p:cNvSpPr/>
          <p:nvPr/>
        </p:nvSpPr>
        <p:spPr>
          <a:xfrm>
            <a:off x="12920472" y="6110478"/>
            <a:ext cx="216712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Chất</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lượng</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dữ</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liệu</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Báo</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cáo</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Shape 69"/>
          <p:cNvSpPr/>
          <p:nvPr/>
        </p:nvSpPr>
        <p:spPr>
          <a:xfrm>
            <a:off x="15211044" y="6124194"/>
            <a:ext cx="1028700" cy="301752"/>
          </a:xfrm>
          <a:prstGeom prst="roundRect">
            <a:avLst>
              <a:gd name="adj" fmla="val 22727"/>
            </a:avLst>
          </a:prstGeom>
          <a:solidFill>
            <a:srgbClr val="0D7C8C"/>
          </a:solidFill>
          <a:ln w="12700">
            <a:solidFill>
              <a:srgbClr val="0D7C8C"/>
            </a:solidFill>
            <a:prstDash val="solid"/>
          </a:ln>
        </p:spPr>
        <p:txBody>
          <a:bodyPr/>
          <a:lstStyle/>
          <a:p>
            <a:endParaRPr lang="en-US"/>
          </a:p>
        </p:txBody>
      </p:sp>
      <p:sp>
        <p:nvSpPr>
          <p:cNvPr id="74" name="Text 70"/>
          <p:cNvSpPr/>
          <p:nvPr/>
        </p:nvSpPr>
        <p:spPr>
          <a:xfrm>
            <a:off x="15211044" y="6124194"/>
            <a:ext cx="102870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Thấp</a:t>
            </a:r>
            <a:endParaRPr kumimoji="0" lang="en-US" sz="9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5" name="Text 71"/>
          <p:cNvSpPr/>
          <p:nvPr/>
        </p:nvSpPr>
        <p:spPr>
          <a:xfrm>
            <a:off x="16472916" y="6110478"/>
            <a:ext cx="1179576"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20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Tháng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2</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6" name="Shape 72"/>
          <p:cNvSpPr/>
          <p:nvPr/>
        </p:nvSpPr>
        <p:spPr>
          <a:xfrm>
            <a:off x="12851892" y="6501384"/>
            <a:ext cx="4937760" cy="397764"/>
          </a:xfrm>
          <a:prstGeom prst="rect">
            <a:avLst/>
          </a:prstGeom>
          <a:solidFill>
            <a:srgbClr val="F8FAFD"/>
          </a:solidFill>
          <a:ln w="12700">
            <a:solidFill>
              <a:srgbClr val="F8FAFD"/>
            </a:solidFill>
            <a:prstDash val="solid"/>
          </a:ln>
        </p:spPr>
        <p:txBody>
          <a:bodyPr/>
          <a:lstStyle/>
          <a:p>
            <a:endParaRPr lang="en-US"/>
          </a:p>
        </p:txBody>
      </p:sp>
      <p:sp>
        <p:nvSpPr>
          <p:cNvPr id="77" name="Text 73"/>
          <p:cNvSpPr/>
          <p:nvPr/>
        </p:nvSpPr>
        <p:spPr>
          <a:xfrm>
            <a:off x="12920472" y="6528816"/>
            <a:ext cx="216712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Rủi</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ro</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bên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thứ</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ba</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Mảng</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rủi</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ro</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8" name="Shape 74"/>
          <p:cNvSpPr/>
          <p:nvPr/>
        </p:nvSpPr>
        <p:spPr>
          <a:xfrm>
            <a:off x="15211044" y="6542532"/>
            <a:ext cx="1028700" cy="301752"/>
          </a:xfrm>
          <a:prstGeom prst="roundRect">
            <a:avLst>
              <a:gd name="adj" fmla="val 22727"/>
            </a:avLst>
          </a:prstGeom>
          <a:solidFill>
            <a:srgbClr val="E07B2E"/>
          </a:solidFill>
          <a:ln w="12700">
            <a:solidFill>
              <a:srgbClr val="E07B2E"/>
            </a:solidFill>
            <a:prstDash val="solid"/>
          </a:ln>
        </p:spPr>
        <p:txBody>
          <a:bodyPr/>
          <a:lstStyle/>
          <a:p>
            <a:endParaRPr lang="en-US"/>
          </a:p>
        </p:txBody>
      </p:sp>
      <p:sp>
        <p:nvSpPr>
          <p:cNvPr id="79" name="Text 75"/>
          <p:cNvSpPr/>
          <p:nvPr/>
        </p:nvSpPr>
        <p:spPr>
          <a:xfrm>
            <a:off x="15211044" y="6542532"/>
            <a:ext cx="102870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Cao</a:t>
            </a:r>
            <a:endParaRPr kumimoji="0" lang="en-US" sz="9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0" name="Text 76"/>
          <p:cNvSpPr/>
          <p:nvPr/>
        </p:nvSpPr>
        <p:spPr>
          <a:xfrm>
            <a:off x="16472916" y="6528816"/>
            <a:ext cx="1179576"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01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Tháng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3</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1" name="Text 77"/>
          <p:cNvSpPr/>
          <p:nvPr/>
        </p:nvSpPr>
        <p:spPr>
          <a:xfrm>
            <a:off x="12920472" y="6947154"/>
            <a:ext cx="216712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Phân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quyền</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hệ</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thống</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Hệ</a:t>
            </a:r>
            <a:r>
              <a:rPr kumimoji="0" lang="en-US" sz="1050" b="0"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050" b="0"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thống</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2" name="Shape 78"/>
          <p:cNvSpPr/>
          <p:nvPr/>
        </p:nvSpPr>
        <p:spPr>
          <a:xfrm>
            <a:off x="15211044" y="6960870"/>
            <a:ext cx="1028700" cy="301752"/>
          </a:xfrm>
          <a:prstGeom prst="roundRect">
            <a:avLst>
              <a:gd name="adj" fmla="val 22727"/>
            </a:avLst>
          </a:prstGeom>
          <a:solidFill>
            <a:srgbClr val="E8B84B"/>
          </a:solidFill>
          <a:ln w="12700">
            <a:solidFill>
              <a:srgbClr val="E8B84B"/>
            </a:solidFill>
            <a:prstDash val="solid"/>
          </a:ln>
        </p:spPr>
        <p:txBody>
          <a:bodyPr/>
          <a:lstStyle/>
          <a:p>
            <a:endParaRPr lang="en-US"/>
          </a:p>
        </p:txBody>
      </p:sp>
      <p:sp>
        <p:nvSpPr>
          <p:cNvPr id="83" name="Text 79"/>
          <p:cNvSpPr/>
          <p:nvPr/>
        </p:nvSpPr>
        <p:spPr>
          <a:xfrm>
            <a:off x="15211044" y="6960870"/>
            <a:ext cx="1028700" cy="30175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75" b="1"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Trung</a:t>
            </a:r>
            <a:r>
              <a:rPr kumimoji="0" lang="en-US" sz="975"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975" b="1"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Bình</a:t>
            </a:r>
            <a:endParaRPr kumimoji="0" lang="en-US" sz="975"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4" name="Text 80"/>
          <p:cNvSpPr/>
          <p:nvPr/>
        </p:nvSpPr>
        <p:spPr>
          <a:xfrm>
            <a:off x="16472916" y="6947154"/>
            <a:ext cx="1179576"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10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Tháng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3</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5" name="Shape 81"/>
          <p:cNvSpPr/>
          <p:nvPr/>
        </p:nvSpPr>
        <p:spPr>
          <a:xfrm>
            <a:off x="301752" y="7626096"/>
            <a:ext cx="17638776" cy="2331720"/>
          </a:xfrm>
          <a:prstGeom prst="roundRect">
            <a:avLst>
              <a:gd name="adj" fmla="val 4706"/>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86" name="Text 82"/>
          <p:cNvSpPr/>
          <p:nvPr/>
        </p:nvSpPr>
        <p:spPr>
          <a:xfrm>
            <a:off x="576072" y="7763256"/>
            <a:ext cx="68580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Tiến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độ</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khắc</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phục</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sự</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kiện</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rủi</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ro</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theo</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phòng</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/ban</a:t>
            </a:r>
            <a:endParaRPr kumimoji="0" lang="en-US" sz="165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Text 83"/>
          <p:cNvSpPr/>
          <p:nvPr/>
        </p:nvSpPr>
        <p:spPr>
          <a:xfrm>
            <a:off x="644652" y="8202168"/>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Phòng CNTT</a:t>
            </a:r>
          </a:p>
        </p:txBody>
      </p:sp>
      <p:sp>
        <p:nvSpPr>
          <p:cNvPr id="88" name="Shape 84"/>
          <p:cNvSpPr/>
          <p:nvPr/>
        </p:nvSpPr>
        <p:spPr>
          <a:xfrm>
            <a:off x="781812" y="8503920"/>
            <a:ext cx="2331720" cy="246888"/>
          </a:xfrm>
          <a:prstGeom prst="roundRect">
            <a:avLst>
              <a:gd name="adj" fmla="val 22222"/>
            </a:avLst>
          </a:prstGeom>
          <a:solidFill>
            <a:srgbClr val="EBF0F8"/>
          </a:solidFill>
          <a:ln w="12700">
            <a:solidFill>
              <a:srgbClr val="EBF0F8"/>
            </a:solidFill>
            <a:prstDash val="solid"/>
          </a:ln>
        </p:spPr>
        <p:txBody>
          <a:bodyPr/>
          <a:lstStyle/>
          <a:p>
            <a:endParaRPr lang="en-US"/>
          </a:p>
        </p:txBody>
      </p:sp>
      <p:sp>
        <p:nvSpPr>
          <p:cNvPr id="89" name="Shape 85"/>
          <p:cNvSpPr/>
          <p:nvPr/>
        </p:nvSpPr>
        <p:spPr>
          <a:xfrm>
            <a:off x="781813" y="8503920"/>
            <a:ext cx="1723445" cy="246888"/>
          </a:xfrm>
          <a:prstGeom prst="roundRect">
            <a:avLst>
              <a:gd name="adj" fmla="val 22222"/>
            </a:avLst>
          </a:prstGeom>
          <a:solidFill>
            <a:srgbClr val="1E8C5A"/>
          </a:solidFill>
          <a:ln w="12700">
            <a:solidFill>
              <a:srgbClr val="1E8C5A"/>
            </a:solidFill>
            <a:prstDash val="solid"/>
          </a:ln>
        </p:spPr>
        <p:txBody>
          <a:bodyPr/>
          <a:lstStyle/>
          <a:p>
            <a:endParaRPr lang="en-US"/>
          </a:p>
        </p:txBody>
      </p:sp>
      <p:sp>
        <p:nvSpPr>
          <p:cNvPr id="90" name="Text 86"/>
          <p:cNvSpPr/>
          <p:nvPr/>
        </p:nvSpPr>
        <p:spPr>
          <a:xfrm>
            <a:off x="644652" y="8833104"/>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8C5A"/>
                </a:solidFill>
                <a:effectLst/>
                <a:uLnTx/>
                <a:uFillTx/>
                <a:latin typeface="Arial" panose="020B0604020202020204" pitchFamily="34" charset="0"/>
                <a:ea typeface="+mn-ea"/>
                <a:cs typeface="Arial" panose="020B0604020202020204" pitchFamily="34" charset="0"/>
              </a:rPr>
              <a:t>74%</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1" name="Text 87"/>
          <p:cNvSpPr/>
          <p:nvPr/>
        </p:nvSpPr>
        <p:spPr>
          <a:xfrm>
            <a:off x="644652" y="9107424"/>
            <a:ext cx="260604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34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đóng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12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mở</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Text 88"/>
          <p:cNvSpPr/>
          <p:nvPr/>
        </p:nvSpPr>
        <p:spPr>
          <a:xfrm>
            <a:off x="3525012" y="8202168"/>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Phòng Tài </a:t>
            </a:r>
            <a:r>
              <a:rPr kumimoji="0" lang="en-US"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chính</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Kế </a:t>
            </a:r>
            <a:r>
              <a:rPr kumimoji="0" lang="en-US"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toán</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3" name="Shape 89"/>
          <p:cNvSpPr/>
          <p:nvPr/>
        </p:nvSpPr>
        <p:spPr>
          <a:xfrm>
            <a:off x="3662172" y="8503920"/>
            <a:ext cx="2331720" cy="246888"/>
          </a:xfrm>
          <a:prstGeom prst="roundRect">
            <a:avLst>
              <a:gd name="adj" fmla="val 22222"/>
            </a:avLst>
          </a:prstGeom>
          <a:solidFill>
            <a:srgbClr val="EBF0F8"/>
          </a:solidFill>
          <a:ln w="12700">
            <a:solidFill>
              <a:srgbClr val="EBF0F8"/>
            </a:solidFill>
            <a:prstDash val="solid"/>
          </a:ln>
        </p:spPr>
        <p:txBody>
          <a:bodyPr/>
          <a:lstStyle/>
          <a:p>
            <a:endParaRPr lang="en-US"/>
          </a:p>
        </p:txBody>
      </p:sp>
      <p:sp>
        <p:nvSpPr>
          <p:cNvPr id="94" name="Shape 90"/>
          <p:cNvSpPr/>
          <p:nvPr/>
        </p:nvSpPr>
        <p:spPr>
          <a:xfrm>
            <a:off x="3662172" y="8503920"/>
            <a:ext cx="1813560" cy="246888"/>
          </a:xfrm>
          <a:prstGeom prst="roundRect">
            <a:avLst>
              <a:gd name="adj" fmla="val 22222"/>
            </a:avLst>
          </a:prstGeom>
          <a:solidFill>
            <a:srgbClr val="1E8C5A"/>
          </a:solidFill>
          <a:ln w="12700">
            <a:solidFill>
              <a:srgbClr val="1E8C5A"/>
            </a:solidFill>
            <a:prstDash val="solid"/>
          </a:ln>
        </p:spPr>
        <p:txBody>
          <a:bodyPr/>
          <a:lstStyle/>
          <a:p>
            <a:endParaRPr lang="en-US"/>
          </a:p>
        </p:txBody>
      </p:sp>
      <p:sp>
        <p:nvSpPr>
          <p:cNvPr id="95" name="Text 91"/>
          <p:cNvSpPr/>
          <p:nvPr/>
        </p:nvSpPr>
        <p:spPr>
          <a:xfrm>
            <a:off x="3525012" y="8833104"/>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8C5A"/>
                </a:solidFill>
                <a:effectLst/>
                <a:uLnTx/>
                <a:uFillTx/>
                <a:latin typeface="Arial" panose="020B0604020202020204" pitchFamily="34" charset="0"/>
                <a:ea typeface="+mn-ea"/>
                <a:cs typeface="Arial" panose="020B0604020202020204" pitchFamily="34" charset="0"/>
              </a:rPr>
              <a:t>78%</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Text 92"/>
          <p:cNvSpPr/>
          <p:nvPr/>
        </p:nvSpPr>
        <p:spPr>
          <a:xfrm>
            <a:off x="3525012" y="9107424"/>
            <a:ext cx="260604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28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đóng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8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mở</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7" name="Text 93"/>
          <p:cNvSpPr/>
          <p:nvPr/>
        </p:nvSpPr>
        <p:spPr>
          <a:xfrm>
            <a:off x="6405372" y="8202168"/>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Phòng </a:t>
            </a:r>
            <a:r>
              <a:rPr kumimoji="0" lang="en-US"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Nhân</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8" name="Shape 94"/>
          <p:cNvSpPr/>
          <p:nvPr/>
        </p:nvSpPr>
        <p:spPr>
          <a:xfrm>
            <a:off x="6542532" y="8503920"/>
            <a:ext cx="2331720" cy="246888"/>
          </a:xfrm>
          <a:prstGeom prst="roundRect">
            <a:avLst>
              <a:gd name="adj" fmla="val 22222"/>
            </a:avLst>
          </a:prstGeom>
          <a:solidFill>
            <a:srgbClr val="EBF0F8"/>
          </a:solidFill>
          <a:ln w="12700">
            <a:solidFill>
              <a:srgbClr val="EBF0F8"/>
            </a:solidFill>
            <a:prstDash val="solid"/>
          </a:ln>
        </p:spPr>
        <p:txBody>
          <a:bodyPr/>
          <a:lstStyle/>
          <a:p>
            <a:endParaRPr lang="en-US"/>
          </a:p>
        </p:txBody>
      </p:sp>
      <p:sp>
        <p:nvSpPr>
          <p:cNvPr id="99" name="Shape 95"/>
          <p:cNvSpPr/>
          <p:nvPr/>
        </p:nvSpPr>
        <p:spPr>
          <a:xfrm>
            <a:off x="6542532" y="8503920"/>
            <a:ext cx="1303020" cy="246888"/>
          </a:xfrm>
          <a:prstGeom prst="roundRect">
            <a:avLst>
              <a:gd name="adj" fmla="val 22222"/>
            </a:avLst>
          </a:prstGeom>
          <a:solidFill>
            <a:srgbClr val="1E8C5A"/>
          </a:solidFill>
          <a:ln w="12700">
            <a:solidFill>
              <a:srgbClr val="1E8C5A"/>
            </a:solidFill>
            <a:prstDash val="solid"/>
          </a:ln>
        </p:spPr>
        <p:txBody>
          <a:bodyPr/>
          <a:lstStyle/>
          <a:p>
            <a:endParaRPr lang="en-US"/>
          </a:p>
        </p:txBody>
      </p:sp>
      <p:sp>
        <p:nvSpPr>
          <p:cNvPr id="100" name="Text 96"/>
          <p:cNvSpPr/>
          <p:nvPr/>
        </p:nvSpPr>
        <p:spPr>
          <a:xfrm>
            <a:off x="6405372" y="8833104"/>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8C5A"/>
                </a:solidFill>
                <a:effectLst/>
                <a:uLnTx/>
                <a:uFillTx/>
                <a:latin typeface="Arial" panose="020B0604020202020204" pitchFamily="34" charset="0"/>
                <a:ea typeface="+mn-ea"/>
                <a:cs typeface="Arial" panose="020B0604020202020204" pitchFamily="34" charset="0"/>
              </a:rPr>
              <a:t>56%</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1" name="Text 97"/>
          <p:cNvSpPr/>
          <p:nvPr/>
        </p:nvSpPr>
        <p:spPr>
          <a:xfrm>
            <a:off x="6405372" y="9107424"/>
            <a:ext cx="260604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19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đóng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15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mở</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2" name="Text 98"/>
          <p:cNvSpPr/>
          <p:nvPr/>
        </p:nvSpPr>
        <p:spPr>
          <a:xfrm>
            <a:off x="9285732" y="8202168"/>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Phòng PC &amp; QTRR</a:t>
            </a:r>
          </a:p>
        </p:txBody>
      </p:sp>
      <p:sp>
        <p:nvSpPr>
          <p:cNvPr id="103" name="Shape 99"/>
          <p:cNvSpPr/>
          <p:nvPr/>
        </p:nvSpPr>
        <p:spPr>
          <a:xfrm>
            <a:off x="9422892" y="8503920"/>
            <a:ext cx="2331720" cy="246888"/>
          </a:xfrm>
          <a:prstGeom prst="roundRect">
            <a:avLst>
              <a:gd name="adj" fmla="val 22222"/>
            </a:avLst>
          </a:prstGeom>
          <a:solidFill>
            <a:srgbClr val="EBF0F8"/>
          </a:solidFill>
          <a:ln w="12700">
            <a:solidFill>
              <a:srgbClr val="EBF0F8"/>
            </a:solidFill>
            <a:prstDash val="solid"/>
          </a:ln>
        </p:spPr>
        <p:txBody>
          <a:bodyPr/>
          <a:lstStyle/>
          <a:p>
            <a:endParaRPr lang="en-US"/>
          </a:p>
        </p:txBody>
      </p:sp>
      <p:sp>
        <p:nvSpPr>
          <p:cNvPr id="104" name="Shape 100"/>
          <p:cNvSpPr/>
          <p:nvPr/>
        </p:nvSpPr>
        <p:spPr>
          <a:xfrm>
            <a:off x="9422893" y="8503920"/>
            <a:ext cx="1832066" cy="246888"/>
          </a:xfrm>
          <a:prstGeom prst="roundRect">
            <a:avLst>
              <a:gd name="adj" fmla="val 22222"/>
            </a:avLst>
          </a:prstGeom>
          <a:solidFill>
            <a:srgbClr val="1E8C5A"/>
          </a:solidFill>
          <a:ln w="12700">
            <a:solidFill>
              <a:srgbClr val="1E8C5A"/>
            </a:solidFill>
            <a:prstDash val="solid"/>
          </a:ln>
        </p:spPr>
        <p:txBody>
          <a:bodyPr/>
          <a:lstStyle/>
          <a:p>
            <a:endParaRPr lang="en-US"/>
          </a:p>
        </p:txBody>
      </p:sp>
      <p:sp>
        <p:nvSpPr>
          <p:cNvPr id="105" name="Text 101"/>
          <p:cNvSpPr/>
          <p:nvPr/>
        </p:nvSpPr>
        <p:spPr>
          <a:xfrm>
            <a:off x="9285732" y="8833104"/>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8C5A"/>
                </a:solidFill>
                <a:effectLst/>
                <a:uLnTx/>
                <a:uFillTx/>
                <a:latin typeface="Arial" panose="020B0604020202020204" pitchFamily="34" charset="0"/>
                <a:ea typeface="+mn-ea"/>
                <a:cs typeface="Arial" panose="020B0604020202020204" pitchFamily="34" charset="0"/>
              </a:rPr>
              <a:t>79%</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6" name="Text 102"/>
          <p:cNvSpPr/>
          <p:nvPr/>
        </p:nvSpPr>
        <p:spPr>
          <a:xfrm>
            <a:off x="9285732" y="9107424"/>
            <a:ext cx="260604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22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đóng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6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mở</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7" name="Text 103"/>
          <p:cNvSpPr/>
          <p:nvPr/>
        </p:nvSpPr>
        <p:spPr>
          <a:xfrm>
            <a:off x="12166092" y="8202168"/>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Trung</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tâm</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TTS</a:t>
            </a:r>
          </a:p>
        </p:txBody>
      </p:sp>
      <p:sp>
        <p:nvSpPr>
          <p:cNvPr id="108" name="Shape 104"/>
          <p:cNvSpPr/>
          <p:nvPr/>
        </p:nvSpPr>
        <p:spPr>
          <a:xfrm>
            <a:off x="12303252" y="8503920"/>
            <a:ext cx="2331720" cy="246888"/>
          </a:xfrm>
          <a:prstGeom prst="roundRect">
            <a:avLst>
              <a:gd name="adj" fmla="val 22222"/>
            </a:avLst>
          </a:prstGeom>
          <a:solidFill>
            <a:srgbClr val="EBF0F8"/>
          </a:solidFill>
          <a:ln w="12700">
            <a:solidFill>
              <a:srgbClr val="EBF0F8"/>
            </a:solidFill>
            <a:prstDash val="solid"/>
          </a:ln>
        </p:spPr>
        <p:txBody>
          <a:bodyPr/>
          <a:lstStyle/>
          <a:p>
            <a:endParaRPr lang="en-US"/>
          </a:p>
        </p:txBody>
      </p:sp>
      <p:sp>
        <p:nvSpPr>
          <p:cNvPr id="109" name="Shape 105"/>
          <p:cNvSpPr/>
          <p:nvPr/>
        </p:nvSpPr>
        <p:spPr>
          <a:xfrm>
            <a:off x="12303253" y="8503920"/>
            <a:ext cx="1907771" cy="246888"/>
          </a:xfrm>
          <a:prstGeom prst="roundRect">
            <a:avLst>
              <a:gd name="adj" fmla="val 22222"/>
            </a:avLst>
          </a:prstGeom>
          <a:solidFill>
            <a:srgbClr val="1E8C5A"/>
          </a:solidFill>
          <a:ln w="12700">
            <a:solidFill>
              <a:srgbClr val="1E8C5A"/>
            </a:solidFill>
            <a:prstDash val="solid"/>
          </a:ln>
        </p:spPr>
        <p:txBody>
          <a:bodyPr/>
          <a:lstStyle/>
          <a:p>
            <a:endParaRPr lang="en-US"/>
          </a:p>
        </p:txBody>
      </p:sp>
      <p:sp>
        <p:nvSpPr>
          <p:cNvPr id="110" name="Text 106"/>
          <p:cNvSpPr/>
          <p:nvPr/>
        </p:nvSpPr>
        <p:spPr>
          <a:xfrm>
            <a:off x="12166092" y="8833104"/>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8C5A"/>
                </a:solidFill>
                <a:effectLst/>
                <a:uLnTx/>
                <a:uFillTx/>
                <a:latin typeface="Arial" panose="020B0604020202020204" pitchFamily="34" charset="0"/>
                <a:ea typeface="+mn-ea"/>
                <a:cs typeface="Arial" panose="020B0604020202020204" pitchFamily="34" charset="0"/>
              </a:rPr>
              <a:t>82%</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1" name="Text 107"/>
          <p:cNvSpPr/>
          <p:nvPr/>
        </p:nvSpPr>
        <p:spPr>
          <a:xfrm>
            <a:off x="12166092" y="9107424"/>
            <a:ext cx="260604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18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đóng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4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mở</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2" name="Text 108"/>
          <p:cNvSpPr/>
          <p:nvPr/>
        </p:nvSpPr>
        <p:spPr>
          <a:xfrm>
            <a:off x="15046452" y="8202168"/>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Trung</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tâm</a:t>
            </a:r>
            <a:r>
              <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TCS</a:t>
            </a:r>
          </a:p>
        </p:txBody>
      </p:sp>
      <p:sp>
        <p:nvSpPr>
          <p:cNvPr id="113" name="Shape 109"/>
          <p:cNvSpPr/>
          <p:nvPr/>
        </p:nvSpPr>
        <p:spPr>
          <a:xfrm>
            <a:off x="15183612" y="8503920"/>
            <a:ext cx="2331720" cy="246888"/>
          </a:xfrm>
          <a:prstGeom prst="roundRect">
            <a:avLst>
              <a:gd name="adj" fmla="val 22222"/>
            </a:avLst>
          </a:prstGeom>
          <a:solidFill>
            <a:srgbClr val="EBF0F8"/>
          </a:solidFill>
          <a:ln w="12700">
            <a:solidFill>
              <a:srgbClr val="EBF0F8"/>
            </a:solidFill>
            <a:prstDash val="solid"/>
          </a:ln>
        </p:spPr>
        <p:txBody>
          <a:bodyPr/>
          <a:lstStyle/>
          <a:p>
            <a:endParaRPr lang="en-US"/>
          </a:p>
        </p:txBody>
      </p:sp>
      <p:sp>
        <p:nvSpPr>
          <p:cNvPr id="114" name="Shape 110"/>
          <p:cNvSpPr/>
          <p:nvPr/>
        </p:nvSpPr>
        <p:spPr>
          <a:xfrm>
            <a:off x="15183613" y="8503920"/>
            <a:ext cx="1419308" cy="246888"/>
          </a:xfrm>
          <a:prstGeom prst="roundRect">
            <a:avLst>
              <a:gd name="adj" fmla="val 22222"/>
            </a:avLst>
          </a:prstGeom>
          <a:solidFill>
            <a:srgbClr val="1E8C5A"/>
          </a:solidFill>
          <a:ln w="12700">
            <a:solidFill>
              <a:srgbClr val="1E8C5A"/>
            </a:solidFill>
            <a:prstDash val="solid"/>
          </a:ln>
        </p:spPr>
        <p:txBody>
          <a:bodyPr/>
          <a:lstStyle/>
          <a:p>
            <a:endParaRPr lang="en-US"/>
          </a:p>
        </p:txBody>
      </p:sp>
      <p:sp>
        <p:nvSpPr>
          <p:cNvPr id="115" name="Text 111"/>
          <p:cNvSpPr/>
          <p:nvPr/>
        </p:nvSpPr>
        <p:spPr>
          <a:xfrm>
            <a:off x="15046452" y="8833104"/>
            <a:ext cx="2606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8C5A"/>
                </a:solidFill>
                <a:effectLst/>
                <a:uLnTx/>
                <a:uFillTx/>
                <a:latin typeface="Arial" panose="020B0604020202020204" pitchFamily="34" charset="0"/>
                <a:ea typeface="+mn-ea"/>
                <a:cs typeface="Arial" panose="020B0604020202020204" pitchFamily="34" charset="0"/>
              </a:rPr>
              <a:t>61%</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6" name="Text 112"/>
          <p:cNvSpPr/>
          <p:nvPr/>
        </p:nvSpPr>
        <p:spPr>
          <a:xfrm>
            <a:off x="15046452" y="9107424"/>
            <a:ext cx="2606040"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14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đã</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đóng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 9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Sự</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kiện</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đang</a:t>
            </a:r>
            <a:r>
              <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US" sz="1100" b="0" i="0" u="none" strike="noStrike" kern="1200" cap="none" spc="0" normalizeH="0" baseline="0" noProof="0" dirty="0" err="1">
                <a:ln>
                  <a:noFill/>
                </a:ln>
                <a:solidFill>
                  <a:prstClr val="black"/>
                </a:solidFill>
                <a:effectLst/>
                <a:uLnTx/>
                <a:uFillTx/>
                <a:latin typeface="Arial" panose="020B0604020202020204" pitchFamily="34" charset="0"/>
                <a:ea typeface="+mn-ea"/>
                <a:cs typeface="Arial" panose="020B0604020202020204" pitchFamily="34" charset="0"/>
              </a:rPr>
              <a:t>mở</a:t>
            </a:r>
            <a:endParaRPr kumimoji="0" lang="en-US" sz="1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1026" name="Picture 2" descr="cid:image001.png@01DCE1E8.B169695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4336"/>
            <a:ext cx="1321179" cy="744665"/>
          </a:xfrm>
          <a:prstGeom prst="rect">
            <a:avLst/>
          </a:prstGeom>
          <a:solidFill>
            <a:schemeClr val="bg1"/>
          </a:solidFill>
          <a:ln>
            <a:noFill/>
          </a:ln>
        </p:spPr>
      </p:pic>
    </p:spTree>
    <p:extLst>
      <p:ext uri="{BB962C8B-B14F-4D97-AF65-F5344CB8AC3E}">
        <p14:creationId xmlns:p14="http://schemas.microsoft.com/office/powerpoint/2010/main" val="38039011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Shape 33"/>
          <p:cNvSpPr/>
          <p:nvPr/>
        </p:nvSpPr>
        <p:spPr>
          <a:xfrm>
            <a:off x="251546" y="3723132"/>
            <a:ext cx="9560771" cy="6373368"/>
          </a:xfrm>
          <a:prstGeom prst="roundRect">
            <a:avLst>
              <a:gd name="adj" fmla="val 250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115" name="Shape 45"/>
          <p:cNvSpPr/>
          <p:nvPr/>
        </p:nvSpPr>
        <p:spPr>
          <a:xfrm>
            <a:off x="302558" y="4576953"/>
            <a:ext cx="9326879" cy="413766"/>
          </a:xfrm>
          <a:prstGeom prst="rect">
            <a:avLst/>
          </a:prstGeom>
          <a:solidFill>
            <a:srgbClr val="F8FAFD"/>
          </a:solidFill>
          <a:ln w="12700">
            <a:solidFill>
              <a:srgbClr val="F8FAFD"/>
            </a:solidFill>
            <a:prstDash val="solid"/>
          </a:ln>
        </p:spPr>
        <p:txBody>
          <a:bodyPr/>
          <a:lstStyle/>
          <a:p>
            <a:endParaRPr lang="en-US"/>
          </a:p>
        </p:txBody>
      </p:sp>
      <p:sp>
        <p:nvSpPr>
          <p:cNvPr id="127" name="Shape 45"/>
          <p:cNvSpPr/>
          <p:nvPr/>
        </p:nvSpPr>
        <p:spPr>
          <a:xfrm>
            <a:off x="337207" y="5815491"/>
            <a:ext cx="9292230" cy="413766"/>
          </a:xfrm>
          <a:prstGeom prst="rect">
            <a:avLst/>
          </a:prstGeom>
          <a:solidFill>
            <a:srgbClr val="F8FAFD"/>
          </a:solidFill>
          <a:ln w="12700">
            <a:solidFill>
              <a:srgbClr val="F8FAFD"/>
            </a:solidFill>
            <a:prstDash val="solid"/>
          </a:ln>
        </p:spPr>
        <p:txBody>
          <a:bodyPr/>
          <a:lstStyle/>
          <a:p>
            <a:endParaRPr lang="en-US"/>
          </a:p>
        </p:txBody>
      </p:sp>
      <p:sp>
        <p:nvSpPr>
          <p:cNvPr id="128" name="Shape 45"/>
          <p:cNvSpPr/>
          <p:nvPr/>
        </p:nvSpPr>
        <p:spPr>
          <a:xfrm>
            <a:off x="337207" y="7089267"/>
            <a:ext cx="9292230" cy="413766"/>
          </a:xfrm>
          <a:prstGeom prst="rect">
            <a:avLst/>
          </a:prstGeom>
          <a:solidFill>
            <a:srgbClr val="F8FAFD"/>
          </a:solidFill>
          <a:ln w="12700">
            <a:solidFill>
              <a:srgbClr val="F8FAFD"/>
            </a:solidFill>
            <a:prstDash val="solid"/>
          </a:ln>
        </p:spPr>
        <p:txBody>
          <a:bodyPr/>
          <a:lstStyle/>
          <a:p>
            <a:endParaRPr lang="en-US"/>
          </a:p>
        </p:txBody>
      </p:sp>
      <p:sp>
        <p:nvSpPr>
          <p:cNvPr id="129" name="Shape 45"/>
          <p:cNvSpPr/>
          <p:nvPr/>
        </p:nvSpPr>
        <p:spPr>
          <a:xfrm>
            <a:off x="337207" y="8314545"/>
            <a:ext cx="9292230" cy="413766"/>
          </a:xfrm>
          <a:prstGeom prst="rect">
            <a:avLst/>
          </a:prstGeom>
          <a:solidFill>
            <a:srgbClr val="F8FAFD"/>
          </a:solidFill>
          <a:ln w="12700">
            <a:solidFill>
              <a:srgbClr val="F8FAFD"/>
            </a:solidFill>
            <a:prstDash val="solid"/>
          </a:ln>
        </p:spPr>
        <p:txBody>
          <a:bodyPr/>
          <a:lstStyle/>
          <a:p>
            <a:endParaRPr lang="en-US"/>
          </a:p>
        </p:txBody>
      </p:sp>
      <p:sp>
        <p:nvSpPr>
          <p:cNvPr id="119" name="Shape 33"/>
          <p:cNvSpPr/>
          <p:nvPr/>
        </p:nvSpPr>
        <p:spPr>
          <a:xfrm>
            <a:off x="10009633" y="3714462"/>
            <a:ext cx="7973568" cy="6382038"/>
          </a:xfrm>
          <a:prstGeom prst="roundRect">
            <a:avLst>
              <a:gd name="adj" fmla="val 250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6" name="Shape 4"/>
          <p:cNvSpPr/>
          <p:nvPr/>
        </p:nvSpPr>
        <p:spPr>
          <a:xfrm>
            <a:off x="302557" y="1510284"/>
            <a:ext cx="4059936" cy="1920240"/>
          </a:xfrm>
          <a:prstGeom prst="rect">
            <a:avLst/>
          </a:prstGeom>
          <a:solidFill>
            <a:srgbClr val="F8FAFD"/>
          </a:solidFill>
          <a:ln/>
          <a:effectLst>
            <a:outerShdw blurRad="101600" dist="25400" dir="8100000" algn="bl" rotWithShape="0">
              <a:srgbClr val="000000">
                <a:alpha val="40000"/>
              </a:srgbClr>
            </a:outerShdw>
          </a:effectLst>
        </p:spPr>
        <p:txBody>
          <a:bodyPr/>
          <a:lstStyle/>
          <a:p>
            <a:endParaRPr lang="en-US"/>
          </a:p>
        </p:txBody>
      </p:sp>
      <p:sp>
        <p:nvSpPr>
          <p:cNvPr id="7" name="Shape 5"/>
          <p:cNvSpPr/>
          <p:nvPr/>
        </p:nvSpPr>
        <p:spPr>
          <a:xfrm>
            <a:off x="302557" y="1510284"/>
            <a:ext cx="128016" cy="1920240"/>
          </a:xfrm>
          <a:prstGeom prst="rect">
            <a:avLst/>
          </a:prstGeom>
          <a:solidFill>
            <a:srgbClr val="00A9C8"/>
          </a:solidFill>
          <a:ln/>
        </p:spPr>
        <p:txBody>
          <a:bodyPr/>
          <a:lstStyle/>
          <a:p>
            <a:endParaRPr lang="en-US"/>
          </a:p>
        </p:txBody>
      </p:sp>
      <p:sp>
        <p:nvSpPr>
          <p:cNvPr id="8" name="Text 6"/>
          <p:cNvSpPr/>
          <p:nvPr/>
        </p:nvSpPr>
        <p:spPr>
          <a:xfrm>
            <a:off x="631741" y="1565148"/>
            <a:ext cx="365760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00A9C8"/>
                </a:solidFill>
                <a:effectLst/>
                <a:uLnTx/>
                <a:uFillTx/>
                <a:latin typeface="Arial" panose="020B0604020202020204" pitchFamily="34" charset="0"/>
                <a:ea typeface="Calibri" pitchFamily="34" charset="-122"/>
                <a:cs typeface="Arial" panose="020B0604020202020204" pitchFamily="34" charset="0"/>
              </a:rPr>
              <a:t>18</a:t>
            </a:r>
            <a:endParaRPr kumimoji="0" lang="en-US" sz="6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 name="Text 7"/>
          <p:cNvSpPr/>
          <p:nvPr/>
        </p:nvSpPr>
        <p:spPr>
          <a:xfrm>
            <a:off x="1582717" y="1857756"/>
            <a:ext cx="3657600" cy="51206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chỉ số</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Text 8"/>
          <p:cNvSpPr/>
          <p:nvPr/>
        </p:nvSpPr>
        <p:spPr>
          <a:xfrm>
            <a:off x="560487" y="2598420"/>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Tổng KRI theo dõi</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1" name="Shape 9"/>
          <p:cNvSpPr/>
          <p:nvPr/>
        </p:nvSpPr>
        <p:spPr>
          <a:xfrm>
            <a:off x="4691677" y="1510284"/>
            <a:ext cx="4059936" cy="1920240"/>
          </a:xfrm>
          <a:prstGeom prst="rect">
            <a:avLst/>
          </a:prstGeom>
          <a:solidFill>
            <a:srgbClr val="F8FAFD"/>
          </a:solidFill>
          <a:ln/>
          <a:effectLst>
            <a:outerShdw blurRad="101600" dist="25400" dir="8100000" algn="bl" rotWithShape="0">
              <a:srgbClr val="000000">
                <a:alpha val="40000"/>
              </a:srgbClr>
            </a:outerShdw>
          </a:effectLst>
        </p:spPr>
        <p:txBody>
          <a:bodyPr/>
          <a:lstStyle/>
          <a:p>
            <a:endParaRPr lang="en-US"/>
          </a:p>
        </p:txBody>
      </p:sp>
      <p:sp>
        <p:nvSpPr>
          <p:cNvPr id="12" name="Shape 10"/>
          <p:cNvSpPr/>
          <p:nvPr/>
        </p:nvSpPr>
        <p:spPr>
          <a:xfrm>
            <a:off x="4691677" y="1510284"/>
            <a:ext cx="128016" cy="1920240"/>
          </a:xfrm>
          <a:prstGeom prst="rect">
            <a:avLst/>
          </a:prstGeom>
          <a:solidFill>
            <a:srgbClr val="1D7A4F"/>
          </a:solidFill>
          <a:ln/>
        </p:spPr>
        <p:txBody>
          <a:bodyPr/>
          <a:lstStyle/>
          <a:p>
            <a:endParaRPr lang="en-US"/>
          </a:p>
        </p:txBody>
      </p:sp>
      <p:sp>
        <p:nvSpPr>
          <p:cNvPr id="13" name="Text 11"/>
          <p:cNvSpPr/>
          <p:nvPr/>
        </p:nvSpPr>
        <p:spPr>
          <a:xfrm>
            <a:off x="5020861" y="1565148"/>
            <a:ext cx="365760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13</a:t>
            </a:r>
            <a:endParaRPr kumimoji="0" lang="en-US" sz="6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4" name="Text 12"/>
          <p:cNvSpPr/>
          <p:nvPr/>
        </p:nvSpPr>
        <p:spPr>
          <a:xfrm>
            <a:off x="5971837" y="1901147"/>
            <a:ext cx="3657600" cy="51206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KRI</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5" name="Text 13"/>
          <p:cNvSpPr/>
          <p:nvPr/>
        </p:nvSpPr>
        <p:spPr>
          <a:xfrm>
            <a:off x="4892845" y="2577803"/>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Ngưỡng</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20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An </a:t>
            </a:r>
            <a:r>
              <a:rPr kumimoji="0" lang="en-US" sz="2000" b="1" i="0" u="none" strike="noStrike" kern="1200" cap="none" spc="0" normalizeH="0" baseline="0" noProof="0" dirty="0" err="1">
                <a:ln>
                  <a:noFill/>
                </a:ln>
                <a:solidFill>
                  <a:srgbClr val="1D7A4F"/>
                </a:solidFill>
                <a:effectLst/>
                <a:uLnTx/>
                <a:uFillTx/>
                <a:latin typeface="Arial" panose="020B0604020202020204" pitchFamily="34" charset="0"/>
                <a:ea typeface="Calibri" pitchFamily="34" charset="-122"/>
                <a:cs typeface="Arial" panose="020B0604020202020204" pitchFamily="34" charset="0"/>
              </a:rPr>
              <a:t>toàn</a:t>
            </a:r>
            <a:endParaRPr kumimoji="0" lang="en-US" sz="2000" b="1" i="0" u="none" strike="noStrike" kern="1200" cap="none" spc="0" normalizeH="0" baseline="0" noProof="0" dirty="0">
              <a:ln>
                <a:noFill/>
              </a:ln>
              <a:solidFill>
                <a:srgbClr val="1D7A4F"/>
              </a:solidFill>
              <a:effectLst/>
              <a:uLnTx/>
              <a:uFillTx/>
              <a:latin typeface="Arial" panose="020B0604020202020204" pitchFamily="34" charset="0"/>
              <a:ea typeface="+mn-ea"/>
              <a:cs typeface="Arial" panose="020B0604020202020204" pitchFamily="34" charset="0"/>
            </a:endParaRPr>
          </a:p>
        </p:txBody>
      </p:sp>
      <p:sp>
        <p:nvSpPr>
          <p:cNvPr id="16" name="Shape 14"/>
          <p:cNvSpPr/>
          <p:nvPr/>
        </p:nvSpPr>
        <p:spPr>
          <a:xfrm>
            <a:off x="9080797" y="1510284"/>
            <a:ext cx="4059936" cy="1920240"/>
          </a:xfrm>
          <a:prstGeom prst="rect">
            <a:avLst/>
          </a:prstGeom>
          <a:solidFill>
            <a:srgbClr val="F8FAFD"/>
          </a:solidFill>
          <a:ln/>
          <a:effectLst>
            <a:outerShdw blurRad="101600" dist="25400" dir="8100000" algn="bl" rotWithShape="0">
              <a:srgbClr val="000000">
                <a:alpha val="40000"/>
              </a:srgbClr>
            </a:outerShdw>
          </a:effectLst>
        </p:spPr>
        <p:txBody>
          <a:bodyPr/>
          <a:lstStyle/>
          <a:p>
            <a:endParaRPr lang="en-US"/>
          </a:p>
        </p:txBody>
      </p:sp>
      <p:sp>
        <p:nvSpPr>
          <p:cNvPr id="17" name="Shape 15"/>
          <p:cNvSpPr/>
          <p:nvPr/>
        </p:nvSpPr>
        <p:spPr>
          <a:xfrm>
            <a:off x="9080797" y="1510284"/>
            <a:ext cx="128016" cy="1920240"/>
          </a:xfrm>
          <a:prstGeom prst="rect">
            <a:avLst/>
          </a:prstGeom>
          <a:solidFill>
            <a:srgbClr val="D4A017"/>
          </a:solidFill>
          <a:ln/>
        </p:spPr>
        <p:txBody>
          <a:bodyPr/>
          <a:lstStyle/>
          <a:p>
            <a:endParaRPr lang="en-US"/>
          </a:p>
        </p:txBody>
      </p:sp>
      <p:sp>
        <p:nvSpPr>
          <p:cNvPr id="18" name="Text 16"/>
          <p:cNvSpPr/>
          <p:nvPr/>
        </p:nvSpPr>
        <p:spPr>
          <a:xfrm>
            <a:off x="9409981" y="1565148"/>
            <a:ext cx="365760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D4A017"/>
                </a:solidFill>
                <a:effectLst/>
                <a:uLnTx/>
                <a:uFillTx/>
                <a:latin typeface="Arial" panose="020B0604020202020204" pitchFamily="34" charset="0"/>
                <a:ea typeface="Calibri" pitchFamily="34" charset="-122"/>
                <a:cs typeface="Arial" panose="020B0604020202020204" pitchFamily="34" charset="0"/>
              </a:rPr>
              <a:t>4</a:t>
            </a:r>
            <a:endParaRPr kumimoji="0" lang="en-US" sz="6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9" name="Text 17"/>
          <p:cNvSpPr/>
          <p:nvPr/>
        </p:nvSpPr>
        <p:spPr>
          <a:xfrm>
            <a:off x="10123213" y="1933295"/>
            <a:ext cx="3657600" cy="51206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KRI</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0" name="Text 18"/>
          <p:cNvSpPr/>
          <p:nvPr/>
        </p:nvSpPr>
        <p:spPr>
          <a:xfrm>
            <a:off x="9409981" y="2545943"/>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Ngưỡng</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2000" b="1" i="0" u="none" strike="noStrike" kern="1200" cap="none" spc="0" normalizeH="0" baseline="0" noProof="0" dirty="0" err="1">
                <a:ln>
                  <a:noFill/>
                </a:ln>
                <a:solidFill>
                  <a:srgbClr val="D4A017"/>
                </a:solidFill>
                <a:effectLst/>
                <a:uLnTx/>
                <a:uFillTx/>
                <a:latin typeface="Arial" panose="020B0604020202020204" pitchFamily="34" charset="0"/>
                <a:ea typeface="Calibri" pitchFamily="34" charset="-122"/>
                <a:cs typeface="Arial" panose="020B0604020202020204" pitchFamily="34" charset="0"/>
              </a:rPr>
              <a:t>Cảnh</a:t>
            </a:r>
            <a:r>
              <a:rPr kumimoji="0" lang="en-US" sz="2000" b="1" i="0" u="none" strike="noStrike" kern="1200" cap="none" spc="0" normalizeH="0" baseline="0" noProof="0" dirty="0">
                <a:ln>
                  <a:noFill/>
                </a:ln>
                <a:solidFill>
                  <a:srgbClr val="D4A017"/>
                </a:solidFill>
                <a:effectLst/>
                <a:uLnTx/>
                <a:uFillTx/>
                <a:latin typeface="Arial" panose="020B0604020202020204" pitchFamily="34" charset="0"/>
                <a:ea typeface="Calibri" pitchFamily="34" charset="-122"/>
                <a:cs typeface="Arial" panose="020B0604020202020204" pitchFamily="34" charset="0"/>
              </a:rPr>
              <a:t> </a:t>
            </a:r>
            <a:r>
              <a:rPr kumimoji="0" lang="en-US" sz="2000" b="1" i="0" u="none" strike="noStrike" kern="1200" cap="none" spc="0" normalizeH="0" baseline="0" noProof="0" dirty="0" err="1">
                <a:ln>
                  <a:noFill/>
                </a:ln>
                <a:solidFill>
                  <a:srgbClr val="D4A017"/>
                </a:solidFill>
                <a:effectLst/>
                <a:uLnTx/>
                <a:uFillTx/>
                <a:latin typeface="Arial" panose="020B0604020202020204" pitchFamily="34" charset="0"/>
                <a:ea typeface="Calibri" pitchFamily="34" charset="-122"/>
                <a:cs typeface="Arial" panose="020B0604020202020204" pitchFamily="34" charset="0"/>
              </a:rPr>
              <a:t>báo</a:t>
            </a:r>
            <a:endParaRPr kumimoji="0" lang="en-US" sz="2000" b="1" i="0" u="none" strike="noStrike" kern="1200" cap="none" spc="0" normalizeH="0" baseline="0" noProof="0" dirty="0">
              <a:ln>
                <a:noFill/>
              </a:ln>
              <a:solidFill>
                <a:srgbClr val="D4A017"/>
              </a:solidFill>
              <a:effectLst/>
              <a:uLnTx/>
              <a:uFillTx/>
              <a:latin typeface="Arial" panose="020B0604020202020204" pitchFamily="34" charset="0"/>
              <a:ea typeface="+mn-ea"/>
              <a:cs typeface="Arial" panose="020B0604020202020204" pitchFamily="34" charset="0"/>
            </a:endParaRPr>
          </a:p>
        </p:txBody>
      </p:sp>
      <p:sp>
        <p:nvSpPr>
          <p:cNvPr id="21" name="Shape 19"/>
          <p:cNvSpPr/>
          <p:nvPr/>
        </p:nvSpPr>
        <p:spPr>
          <a:xfrm>
            <a:off x="13469917" y="1510284"/>
            <a:ext cx="4059936" cy="1920240"/>
          </a:xfrm>
          <a:prstGeom prst="rect">
            <a:avLst/>
          </a:prstGeom>
          <a:solidFill>
            <a:srgbClr val="F8FAFD"/>
          </a:solidFill>
          <a:ln/>
          <a:effectLst>
            <a:outerShdw blurRad="101600" dist="25400" dir="8100000" algn="bl" rotWithShape="0">
              <a:srgbClr val="000000">
                <a:alpha val="40000"/>
              </a:srgbClr>
            </a:outerShdw>
          </a:effectLst>
        </p:spPr>
        <p:txBody>
          <a:bodyPr/>
          <a:lstStyle/>
          <a:p>
            <a:endParaRPr lang="en-US"/>
          </a:p>
        </p:txBody>
      </p:sp>
      <p:sp>
        <p:nvSpPr>
          <p:cNvPr id="22" name="Shape 20"/>
          <p:cNvSpPr/>
          <p:nvPr/>
        </p:nvSpPr>
        <p:spPr>
          <a:xfrm>
            <a:off x="13469917" y="1510284"/>
            <a:ext cx="128016" cy="1920240"/>
          </a:xfrm>
          <a:prstGeom prst="rect">
            <a:avLst/>
          </a:prstGeom>
          <a:solidFill>
            <a:srgbClr val="C0392B"/>
          </a:solidFill>
          <a:ln/>
        </p:spPr>
        <p:txBody>
          <a:bodyPr/>
          <a:lstStyle/>
          <a:p>
            <a:endParaRPr lang="en-US"/>
          </a:p>
        </p:txBody>
      </p:sp>
      <p:sp>
        <p:nvSpPr>
          <p:cNvPr id="23" name="Text 21"/>
          <p:cNvSpPr/>
          <p:nvPr/>
        </p:nvSpPr>
        <p:spPr>
          <a:xfrm>
            <a:off x="13799101" y="1565148"/>
            <a:ext cx="3657600" cy="109728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C0392B"/>
                </a:solidFill>
                <a:effectLst/>
                <a:uLnTx/>
                <a:uFillTx/>
                <a:latin typeface="Arial" panose="020B0604020202020204" pitchFamily="34" charset="0"/>
                <a:ea typeface="Calibri" pitchFamily="34" charset="-122"/>
                <a:cs typeface="Arial" panose="020B0604020202020204" pitchFamily="34" charset="0"/>
              </a:rPr>
              <a:t>1</a:t>
            </a:r>
            <a:endParaRPr kumimoji="0" lang="en-US" sz="6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4" name="Text 22"/>
          <p:cNvSpPr/>
          <p:nvPr/>
        </p:nvSpPr>
        <p:spPr>
          <a:xfrm>
            <a:off x="14494045" y="1895684"/>
            <a:ext cx="3657600" cy="51206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KRI </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5" name="Text 23"/>
          <p:cNvSpPr/>
          <p:nvPr/>
        </p:nvSpPr>
        <p:spPr>
          <a:xfrm>
            <a:off x="13782481" y="2577803"/>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7" name="Text 25"/>
          <p:cNvSpPr/>
          <p:nvPr/>
        </p:nvSpPr>
        <p:spPr>
          <a:xfrm>
            <a:off x="485437" y="3860292"/>
            <a:ext cx="9509760" cy="621792"/>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A9C8"/>
                </a:solidFill>
                <a:effectLst/>
                <a:uLnTx/>
                <a:uFillTx/>
                <a:latin typeface="Arial" panose="020B0604020202020204" pitchFamily="34" charset="0"/>
                <a:ea typeface="Calibri" pitchFamily="34" charset="-122"/>
                <a:cs typeface="Arial" panose="020B0604020202020204" pitchFamily="34" charset="0"/>
              </a:rPr>
              <a:t>CHỈ SỐ KRI THEO DÕI THÁNG NÀY</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9" name="Shape 27"/>
          <p:cNvSpPr/>
          <p:nvPr/>
        </p:nvSpPr>
        <p:spPr>
          <a:xfrm>
            <a:off x="448861" y="4610100"/>
            <a:ext cx="347472" cy="347472"/>
          </a:xfrm>
          <a:prstGeom prst="ellipse">
            <a:avLst/>
          </a:prstGeom>
          <a:solidFill>
            <a:srgbClr val="1D7A4F"/>
          </a:solidFill>
          <a:ln/>
        </p:spPr>
        <p:txBody>
          <a:bodyPr/>
          <a:lstStyle/>
          <a:p>
            <a:endParaRPr lang="en-US"/>
          </a:p>
        </p:txBody>
      </p:sp>
      <p:sp>
        <p:nvSpPr>
          <p:cNvPr id="30" name="Text 28"/>
          <p:cNvSpPr/>
          <p:nvPr/>
        </p:nvSpPr>
        <p:spPr>
          <a:xfrm>
            <a:off x="960925" y="4482084"/>
            <a:ext cx="5852160"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Thời</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gian</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uptime hệ thống</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1" name="Text 29"/>
          <p:cNvSpPr/>
          <p:nvPr/>
        </p:nvSpPr>
        <p:spPr>
          <a:xfrm>
            <a:off x="6886237" y="4482084"/>
            <a:ext cx="1828800" cy="60350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99.97%</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2" name="Text 30"/>
          <p:cNvSpPr/>
          <p:nvPr/>
        </p:nvSpPr>
        <p:spPr>
          <a:xfrm>
            <a:off x="8915242" y="4482084"/>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a:t>
            </a: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5" name="Shape 33"/>
          <p:cNvSpPr/>
          <p:nvPr/>
        </p:nvSpPr>
        <p:spPr>
          <a:xfrm>
            <a:off x="448861" y="5231892"/>
            <a:ext cx="347472" cy="347472"/>
          </a:xfrm>
          <a:prstGeom prst="ellipse">
            <a:avLst/>
          </a:prstGeom>
          <a:solidFill>
            <a:srgbClr val="1D7A4F"/>
          </a:solidFill>
          <a:ln/>
        </p:spPr>
        <p:txBody>
          <a:bodyPr/>
          <a:lstStyle/>
          <a:p>
            <a:endParaRPr lang="en-US"/>
          </a:p>
        </p:txBody>
      </p:sp>
      <p:sp>
        <p:nvSpPr>
          <p:cNvPr id="36" name="Text 34"/>
          <p:cNvSpPr/>
          <p:nvPr/>
        </p:nvSpPr>
        <p:spPr>
          <a:xfrm>
            <a:off x="960925" y="5103876"/>
            <a:ext cx="5852160"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Số</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sự</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cố</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CNTT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chưa</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xử lý</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7" name="Text 35"/>
          <p:cNvSpPr/>
          <p:nvPr/>
        </p:nvSpPr>
        <p:spPr>
          <a:xfrm>
            <a:off x="6886237" y="5103876"/>
            <a:ext cx="1828800" cy="60350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0</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38" name="Text 36"/>
          <p:cNvSpPr/>
          <p:nvPr/>
        </p:nvSpPr>
        <p:spPr>
          <a:xfrm>
            <a:off x="8897917" y="5103876"/>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8A9BB0"/>
                </a:solidFill>
                <a:effectLst/>
                <a:uLnTx/>
                <a:uFillTx/>
                <a:latin typeface="Arial" panose="020B0604020202020204" pitchFamily="34" charset="0"/>
                <a:ea typeface="Calibri" pitchFamily="34" charset="-122"/>
                <a:cs typeface="Arial" panose="020B0604020202020204" pitchFamily="34" charset="0"/>
              </a:rPr>
              <a:t>→</a:t>
            </a: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1" name="Shape 39"/>
          <p:cNvSpPr/>
          <p:nvPr/>
        </p:nvSpPr>
        <p:spPr>
          <a:xfrm>
            <a:off x="448861" y="5853684"/>
            <a:ext cx="347472" cy="347472"/>
          </a:xfrm>
          <a:prstGeom prst="ellipse">
            <a:avLst/>
          </a:prstGeom>
          <a:solidFill>
            <a:srgbClr val="D4A017"/>
          </a:solidFill>
          <a:ln/>
        </p:spPr>
        <p:txBody>
          <a:bodyPr/>
          <a:lstStyle/>
          <a:p>
            <a:endParaRPr lang="en-US"/>
          </a:p>
        </p:txBody>
      </p:sp>
      <p:sp>
        <p:nvSpPr>
          <p:cNvPr id="42" name="Text 40"/>
          <p:cNvSpPr/>
          <p:nvPr/>
        </p:nvSpPr>
        <p:spPr>
          <a:xfrm>
            <a:off x="960925" y="5725668"/>
            <a:ext cx="5852160"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Tỷ</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lệ</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giao</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dịch</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không</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thành</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công</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3" name="Text 41"/>
          <p:cNvSpPr/>
          <p:nvPr/>
        </p:nvSpPr>
        <p:spPr>
          <a:xfrm>
            <a:off x="6886237" y="5725668"/>
            <a:ext cx="1828800" cy="60350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4A017"/>
                </a:solidFill>
                <a:effectLst/>
                <a:uLnTx/>
                <a:uFillTx/>
                <a:latin typeface="Arial" panose="020B0604020202020204" pitchFamily="34" charset="0"/>
                <a:ea typeface="Calibri" pitchFamily="34" charset="-122"/>
                <a:cs typeface="Arial" panose="020B0604020202020204" pitchFamily="34" charset="0"/>
              </a:rPr>
              <a:t>0.07%</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7" name="Shape 45"/>
          <p:cNvSpPr/>
          <p:nvPr/>
        </p:nvSpPr>
        <p:spPr>
          <a:xfrm>
            <a:off x="448861" y="6475476"/>
            <a:ext cx="347472" cy="347472"/>
          </a:xfrm>
          <a:prstGeom prst="ellipse">
            <a:avLst/>
          </a:prstGeom>
          <a:solidFill>
            <a:srgbClr val="D4A017"/>
          </a:solidFill>
          <a:ln/>
        </p:spPr>
        <p:txBody>
          <a:bodyPr/>
          <a:lstStyle/>
          <a:p>
            <a:endParaRPr lang="en-US"/>
          </a:p>
        </p:txBody>
      </p:sp>
      <p:sp>
        <p:nvSpPr>
          <p:cNvPr id="48" name="Text 46"/>
          <p:cNvSpPr/>
          <p:nvPr/>
        </p:nvSpPr>
        <p:spPr>
          <a:xfrm>
            <a:off x="960925" y="6347460"/>
            <a:ext cx="5852160"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Thời gian tra soát</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49" name="Text 47"/>
          <p:cNvSpPr/>
          <p:nvPr/>
        </p:nvSpPr>
        <p:spPr>
          <a:xfrm>
            <a:off x="6886237" y="6347460"/>
            <a:ext cx="1828800" cy="60350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4A017"/>
                </a:solidFill>
                <a:effectLst/>
                <a:uLnTx/>
                <a:uFillTx/>
                <a:latin typeface="Arial" panose="020B0604020202020204" pitchFamily="34" charset="0"/>
                <a:ea typeface="Calibri" pitchFamily="34" charset="-122"/>
                <a:cs typeface="Arial" panose="020B0604020202020204" pitchFamily="34" charset="0"/>
              </a:rPr>
              <a:t>2.2 ngày</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0" name="Text 48"/>
          <p:cNvSpPr/>
          <p:nvPr/>
        </p:nvSpPr>
        <p:spPr>
          <a:xfrm>
            <a:off x="8915242" y="6347460"/>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3" name="Shape 51"/>
          <p:cNvSpPr/>
          <p:nvPr/>
        </p:nvSpPr>
        <p:spPr>
          <a:xfrm>
            <a:off x="448861" y="7097268"/>
            <a:ext cx="347472" cy="347472"/>
          </a:xfrm>
          <a:prstGeom prst="ellipse">
            <a:avLst/>
          </a:prstGeom>
          <a:solidFill>
            <a:srgbClr val="C0392B"/>
          </a:solidFill>
          <a:ln/>
        </p:spPr>
        <p:txBody>
          <a:bodyPr/>
          <a:lstStyle/>
          <a:p>
            <a:endParaRPr lang="en-US"/>
          </a:p>
        </p:txBody>
      </p:sp>
      <p:sp>
        <p:nvSpPr>
          <p:cNvPr id="54" name="Text 52"/>
          <p:cNvSpPr/>
          <p:nvPr/>
        </p:nvSpPr>
        <p:spPr>
          <a:xfrm>
            <a:off x="960924" y="6969252"/>
            <a:ext cx="6201875"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Số</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lượng</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giao</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dịch</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nghi</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ngờ</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GLGM so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với</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kỳ</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trước</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5" name="Text 53"/>
          <p:cNvSpPr/>
          <p:nvPr/>
        </p:nvSpPr>
        <p:spPr>
          <a:xfrm>
            <a:off x="6886237" y="6969252"/>
            <a:ext cx="1828800" cy="60350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C0392B"/>
                </a:solidFill>
                <a:effectLst/>
                <a:uLnTx/>
                <a:uFillTx/>
                <a:latin typeface="Arial" panose="020B0604020202020204" pitchFamily="34" charset="0"/>
                <a:ea typeface="Calibri" pitchFamily="34" charset="-122"/>
                <a:cs typeface="Arial" panose="020B0604020202020204" pitchFamily="34" charset="0"/>
              </a:rPr>
              <a:t>12%</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6" name="Text 54"/>
          <p:cNvSpPr/>
          <p:nvPr/>
        </p:nvSpPr>
        <p:spPr>
          <a:xfrm>
            <a:off x="8915242" y="6969252"/>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0392B"/>
                </a:solidFill>
                <a:effectLst/>
                <a:uLnTx/>
                <a:uFillTx/>
                <a:latin typeface="Arial" panose="020B0604020202020204" pitchFamily="34" charset="0"/>
                <a:ea typeface="Calibri" pitchFamily="34" charset="-122"/>
                <a:cs typeface="Arial" panose="020B0604020202020204" pitchFamily="34" charset="0"/>
              </a:rPr>
              <a:t>↑</a:t>
            </a: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9" name="Shape 57"/>
          <p:cNvSpPr/>
          <p:nvPr/>
        </p:nvSpPr>
        <p:spPr>
          <a:xfrm>
            <a:off x="448861" y="7719060"/>
            <a:ext cx="347472" cy="347472"/>
          </a:xfrm>
          <a:prstGeom prst="ellipse">
            <a:avLst/>
          </a:prstGeom>
          <a:solidFill>
            <a:srgbClr val="1D7A4F"/>
          </a:solidFill>
          <a:ln/>
        </p:spPr>
        <p:txBody>
          <a:bodyPr/>
          <a:lstStyle/>
          <a:p>
            <a:endParaRPr lang="en-US"/>
          </a:p>
        </p:txBody>
      </p:sp>
      <p:sp>
        <p:nvSpPr>
          <p:cNvPr id="60" name="Text 58"/>
          <p:cNvSpPr/>
          <p:nvPr/>
        </p:nvSpPr>
        <p:spPr>
          <a:xfrm>
            <a:off x="960925" y="7591044"/>
            <a:ext cx="5852160"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Số</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vụ</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xâm</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nhập</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hệ</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thống</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1" name="Text 59"/>
          <p:cNvSpPr/>
          <p:nvPr/>
        </p:nvSpPr>
        <p:spPr>
          <a:xfrm>
            <a:off x="6886237" y="7591044"/>
            <a:ext cx="1828800" cy="60350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0</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2" name="Text 60"/>
          <p:cNvSpPr/>
          <p:nvPr/>
        </p:nvSpPr>
        <p:spPr>
          <a:xfrm>
            <a:off x="8897917" y="7591044"/>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8A9BB0"/>
                </a:solidFill>
                <a:effectLst/>
                <a:uLnTx/>
                <a:uFillTx/>
                <a:latin typeface="Arial" panose="020B0604020202020204" pitchFamily="34" charset="0"/>
                <a:ea typeface="Calibri" pitchFamily="34" charset="-122"/>
                <a:cs typeface="Arial" panose="020B0604020202020204" pitchFamily="34" charset="0"/>
              </a:rPr>
              <a:t>→</a:t>
            </a: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5" name="Shape 63"/>
          <p:cNvSpPr/>
          <p:nvPr/>
        </p:nvSpPr>
        <p:spPr>
          <a:xfrm>
            <a:off x="448861" y="8340852"/>
            <a:ext cx="347472" cy="347472"/>
          </a:xfrm>
          <a:prstGeom prst="ellipse">
            <a:avLst/>
          </a:prstGeom>
          <a:solidFill>
            <a:srgbClr val="D4A017"/>
          </a:solidFill>
          <a:ln/>
        </p:spPr>
        <p:txBody>
          <a:bodyPr/>
          <a:lstStyle/>
          <a:p>
            <a:endParaRPr lang="en-US"/>
          </a:p>
        </p:txBody>
      </p:sp>
      <p:sp>
        <p:nvSpPr>
          <p:cNvPr id="66" name="Text 64"/>
          <p:cNvSpPr/>
          <p:nvPr/>
        </p:nvSpPr>
        <p:spPr>
          <a:xfrm>
            <a:off x="960925" y="8212836"/>
            <a:ext cx="5852160"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Tỷ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lệ</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khách</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hàng</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1800" b="1"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eKYC</a:t>
            </a: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thất bại</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7" name="Text 65"/>
          <p:cNvSpPr/>
          <p:nvPr/>
        </p:nvSpPr>
        <p:spPr>
          <a:xfrm>
            <a:off x="6886237" y="8212836"/>
            <a:ext cx="1828800" cy="60350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D4A017"/>
                </a:solidFill>
                <a:effectLst/>
                <a:uLnTx/>
                <a:uFillTx/>
                <a:latin typeface="Arial" panose="020B0604020202020204" pitchFamily="34" charset="0"/>
                <a:ea typeface="Calibri" pitchFamily="34" charset="-122"/>
                <a:cs typeface="Arial" panose="020B0604020202020204" pitchFamily="34" charset="0"/>
              </a:rPr>
              <a:t>1.8%</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68" name="Text 66"/>
          <p:cNvSpPr/>
          <p:nvPr/>
        </p:nvSpPr>
        <p:spPr>
          <a:xfrm>
            <a:off x="8915242" y="8212836"/>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C0392B"/>
                </a:solidFill>
                <a:effectLst/>
                <a:uLnTx/>
                <a:uFillTx/>
                <a:latin typeface="Arial" panose="020B0604020202020204" pitchFamily="34" charset="0"/>
                <a:ea typeface="Calibri" pitchFamily="34" charset="-122"/>
                <a:cs typeface="Arial" panose="020B0604020202020204" pitchFamily="34" charset="0"/>
              </a:rPr>
              <a:t>↑</a:t>
            </a: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1" name="Shape 69"/>
          <p:cNvSpPr/>
          <p:nvPr/>
        </p:nvSpPr>
        <p:spPr>
          <a:xfrm>
            <a:off x="448861" y="8962644"/>
            <a:ext cx="347472" cy="347472"/>
          </a:xfrm>
          <a:prstGeom prst="ellipse">
            <a:avLst/>
          </a:prstGeom>
          <a:solidFill>
            <a:srgbClr val="1D7A4F"/>
          </a:solidFill>
          <a:ln/>
        </p:spPr>
        <p:txBody>
          <a:bodyPr/>
          <a:lstStyle/>
          <a:p>
            <a:endParaRPr lang="en-US"/>
          </a:p>
        </p:txBody>
      </p:sp>
      <p:sp>
        <p:nvSpPr>
          <p:cNvPr id="72" name="Text 70"/>
          <p:cNvSpPr/>
          <p:nvPr/>
        </p:nvSpPr>
        <p:spPr>
          <a:xfrm>
            <a:off x="960925" y="8834628"/>
            <a:ext cx="5852160" cy="603504"/>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Khiếu nại nghiêm trọng</a:t>
            </a:r>
            <a:endParaRPr kumimoji="0" lang="en-US" sz="18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3" name="Text 71"/>
          <p:cNvSpPr/>
          <p:nvPr/>
        </p:nvSpPr>
        <p:spPr>
          <a:xfrm>
            <a:off x="6886237" y="8834628"/>
            <a:ext cx="1828800" cy="603504"/>
          </a:xfrm>
          <a:prstGeom prst="rect">
            <a:avLst/>
          </a:prstGeom>
          <a:noFill/>
          <a:ln/>
        </p:spPr>
        <p:txBody>
          <a:bodyPr wrap="square"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3</a:t>
            </a:r>
            <a:endPar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4" name="Text 72"/>
          <p:cNvSpPr/>
          <p:nvPr/>
        </p:nvSpPr>
        <p:spPr>
          <a:xfrm>
            <a:off x="8915242" y="8834628"/>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a:t>
            </a: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6" name="Shape 74"/>
          <p:cNvSpPr/>
          <p:nvPr/>
        </p:nvSpPr>
        <p:spPr>
          <a:xfrm>
            <a:off x="10159789" y="3980543"/>
            <a:ext cx="7315200" cy="673609"/>
          </a:xfrm>
          <a:prstGeom prst="rect">
            <a:avLst/>
          </a:prstGeom>
          <a:no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DB8D2"/>
                </a:solidFill>
                <a:effectLst/>
                <a:uLnTx/>
                <a:uFillTx/>
                <a:latin typeface="Arial" panose="020B0604020202020204" pitchFamily="34" charset="0"/>
                <a:ea typeface="+mn-ea"/>
                <a:cs typeface="Arial" panose="020B0604020202020204" pitchFamily="34" charset="0"/>
              </a:rPr>
              <a:t>XU HƯỚNG KRI QUA CÁC THÁNG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2DB8D2"/>
                </a:solidFill>
                <a:effectLst/>
                <a:uLnTx/>
                <a:uFillTx/>
                <a:latin typeface="Arial" panose="020B0604020202020204" pitchFamily="34" charset="0"/>
                <a:ea typeface="+mn-ea"/>
                <a:cs typeface="Arial" panose="020B0604020202020204" pitchFamily="34" charset="0"/>
              </a:rPr>
              <a:t>KRI </a:t>
            </a:r>
          </a:p>
        </p:txBody>
      </p:sp>
      <p:sp>
        <p:nvSpPr>
          <p:cNvPr id="78" name="Shape 76"/>
          <p:cNvSpPr/>
          <p:nvPr/>
        </p:nvSpPr>
        <p:spPr>
          <a:xfrm>
            <a:off x="10818157" y="6834004"/>
            <a:ext cx="694944" cy="878959"/>
          </a:xfrm>
          <a:prstGeom prst="rect">
            <a:avLst/>
          </a:prstGeom>
          <a:solidFill>
            <a:srgbClr val="1D7A4F">
              <a:alpha val="80000"/>
            </a:srgbClr>
          </a:solidFill>
          <a:ln/>
        </p:spPr>
        <p:txBody>
          <a:bodyPr/>
          <a:lstStyle/>
          <a:p>
            <a:endParaRPr lang="en-US"/>
          </a:p>
        </p:txBody>
      </p:sp>
      <p:sp>
        <p:nvSpPr>
          <p:cNvPr id="79" name="Text 77"/>
          <p:cNvSpPr/>
          <p:nvPr/>
        </p:nvSpPr>
        <p:spPr>
          <a:xfrm>
            <a:off x="10818157" y="6438900"/>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5%</a:t>
            </a:r>
            <a:endParaRPr kumimoji="0" lang="en-US" sz="1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0" name="Text 78"/>
          <p:cNvSpPr/>
          <p:nvPr/>
        </p:nvSpPr>
        <p:spPr>
          <a:xfrm>
            <a:off x="10818157" y="7712964"/>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A9BB0"/>
                </a:solidFill>
                <a:effectLst/>
                <a:uLnTx/>
                <a:uFillTx/>
                <a:latin typeface="Arial" panose="020B0604020202020204" pitchFamily="34" charset="0"/>
                <a:ea typeface="Calibri" pitchFamily="34" charset="-122"/>
                <a:cs typeface="Arial" panose="020B0604020202020204" pitchFamily="34" charset="0"/>
              </a:rPr>
              <a:t>T12</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1" name="Shape 79"/>
          <p:cNvSpPr/>
          <p:nvPr/>
        </p:nvSpPr>
        <p:spPr>
          <a:xfrm>
            <a:off x="11952013" y="7097268"/>
            <a:ext cx="694944" cy="615696"/>
          </a:xfrm>
          <a:prstGeom prst="rect">
            <a:avLst/>
          </a:prstGeom>
          <a:solidFill>
            <a:srgbClr val="1D7A4F">
              <a:alpha val="80000"/>
            </a:srgbClr>
          </a:solidFill>
          <a:ln/>
        </p:spPr>
        <p:txBody>
          <a:bodyPr/>
          <a:lstStyle/>
          <a:p>
            <a:endParaRPr lang="en-US"/>
          </a:p>
        </p:txBody>
      </p:sp>
      <p:sp>
        <p:nvSpPr>
          <p:cNvPr id="82" name="Text 80"/>
          <p:cNvSpPr/>
          <p:nvPr/>
        </p:nvSpPr>
        <p:spPr>
          <a:xfrm>
            <a:off x="11952013" y="6706578"/>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3%</a:t>
            </a:r>
            <a:endParaRPr kumimoji="0" lang="en-US" sz="1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3" name="Text 81"/>
          <p:cNvSpPr/>
          <p:nvPr/>
        </p:nvSpPr>
        <p:spPr>
          <a:xfrm>
            <a:off x="11952013" y="7712964"/>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A9BB0"/>
                </a:solidFill>
                <a:effectLst/>
                <a:uLnTx/>
                <a:uFillTx/>
                <a:latin typeface="Arial" panose="020B0604020202020204" pitchFamily="34" charset="0"/>
                <a:ea typeface="Calibri" pitchFamily="34" charset="-122"/>
                <a:cs typeface="Arial" panose="020B0604020202020204" pitchFamily="34" charset="0"/>
              </a:rPr>
              <a:t>T1</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4" name="Shape 82"/>
          <p:cNvSpPr/>
          <p:nvPr/>
        </p:nvSpPr>
        <p:spPr>
          <a:xfrm>
            <a:off x="13085869" y="7020237"/>
            <a:ext cx="694944" cy="692726"/>
          </a:xfrm>
          <a:prstGeom prst="rect">
            <a:avLst/>
          </a:prstGeom>
          <a:solidFill>
            <a:srgbClr val="4A9572"/>
          </a:solidFill>
          <a:ln/>
        </p:spPr>
        <p:txBody>
          <a:bodyPr/>
          <a:lstStyle/>
          <a:p>
            <a:endParaRPr lang="en-US"/>
          </a:p>
        </p:txBody>
      </p:sp>
      <p:sp>
        <p:nvSpPr>
          <p:cNvPr id="85" name="Text 83"/>
          <p:cNvSpPr/>
          <p:nvPr/>
        </p:nvSpPr>
        <p:spPr>
          <a:xfrm>
            <a:off x="13085869" y="6652260"/>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4A9572"/>
                </a:solidFill>
                <a:effectLst/>
                <a:uLnTx/>
                <a:uFillTx/>
                <a:latin typeface="Arial" panose="020B0604020202020204" pitchFamily="34" charset="0"/>
                <a:ea typeface="Calibri" pitchFamily="34" charset="-122"/>
                <a:cs typeface="Arial" panose="020B0604020202020204" pitchFamily="34" charset="0"/>
              </a:rPr>
              <a:t>4%</a:t>
            </a:r>
            <a:endParaRPr kumimoji="0" lang="en-US" sz="1700" b="0" i="0" u="none" strike="noStrike" kern="1200" cap="none" spc="0" normalizeH="0" baseline="0" noProof="0" dirty="0">
              <a:ln>
                <a:noFill/>
              </a:ln>
              <a:solidFill>
                <a:srgbClr val="4A9572"/>
              </a:solidFill>
              <a:effectLst/>
              <a:uLnTx/>
              <a:uFillTx/>
              <a:latin typeface="Arial" panose="020B0604020202020204" pitchFamily="34" charset="0"/>
              <a:ea typeface="+mn-ea"/>
              <a:cs typeface="Arial" panose="020B0604020202020204" pitchFamily="34" charset="0"/>
            </a:endParaRPr>
          </a:p>
        </p:txBody>
      </p:sp>
      <p:sp>
        <p:nvSpPr>
          <p:cNvPr id="86" name="Text 84"/>
          <p:cNvSpPr/>
          <p:nvPr/>
        </p:nvSpPr>
        <p:spPr>
          <a:xfrm>
            <a:off x="13085869" y="7712964"/>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A9BB0"/>
                </a:solidFill>
                <a:effectLst/>
                <a:uLnTx/>
                <a:uFillTx/>
                <a:latin typeface="Arial" panose="020B0604020202020204" pitchFamily="34" charset="0"/>
                <a:ea typeface="Calibri" pitchFamily="34" charset="-122"/>
                <a:cs typeface="Arial" panose="020B0604020202020204" pitchFamily="34" charset="0"/>
              </a:rPr>
              <a:t>T2</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7" name="Shape 85"/>
          <p:cNvSpPr/>
          <p:nvPr/>
        </p:nvSpPr>
        <p:spPr>
          <a:xfrm>
            <a:off x="14219725" y="6969252"/>
            <a:ext cx="694944" cy="743711"/>
          </a:xfrm>
          <a:prstGeom prst="rect">
            <a:avLst/>
          </a:prstGeom>
          <a:solidFill>
            <a:srgbClr val="4A9572"/>
          </a:solidFill>
          <a:ln/>
        </p:spPr>
        <p:txBody>
          <a:bodyPr/>
          <a:lstStyle/>
          <a:p>
            <a:endParaRPr lang="en-US"/>
          </a:p>
        </p:txBody>
      </p:sp>
      <p:sp>
        <p:nvSpPr>
          <p:cNvPr id="88" name="Text 86"/>
          <p:cNvSpPr/>
          <p:nvPr/>
        </p:nvSpPr>
        <p:spPr>
          <a:xfrm>
            <a:off x="14219725" y="6569964"/>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4A9572"/>
                </a:solidFill>
                <a:effectLst/>
                <a:uLnTx/>
                <a:uFillTx/>
                <a:latin typeface="Arial" panose="020B0604020202020204" pitchFamily="34" charset="0"/>
                <a:ea typeface="Calibri" pitchFamily="34" charset="-122"/>
                <a:cs typeface="Arial" panose="020B0604020202020204" pitchFamily="34" charset="0"/>
              </a:rPr>
              <a:t>4.5%</a:t>
            </a:r>
            <a:endParaRPr kumimoji="0" lang="en-US" sz="1700" b="0" i="0" u="none" strike="noStrike" kern="1200" cap="none" spc="0" normalizeH="0" baseline="0" noProof="0" dirty="0">
              <a:ln>
                <a:noFill/>
              </a:ln>
              <a:solidFill>
                <a:srgbClr val="4A9572"/>
              </a:solidFill>
              <a:effectLst/>
              <a:uLnTx/>
              <a:uFillTx/>
              <a:latin typeface="Arial" panose="020B0604020202020204" pitchFamily="34" charset="0"/>
              <a:ea typeface="+mn-ea"/>
              <a:cs typeface="Arial" panose="020B0604020202020204" pitchFamily="34" charset="0"/>
            </a:endParaRPr>
          </a:p>
        </p:txBody>
      </p:sp>
      <p:sp>
        <p:nvSpPr>
          <p:cNvPr id="89" name="Text 87"/>
          <p:cNvSpPr/>
          <p:nvPr/>
        </p:nvSpPr>
        <p:spPr>
          <a:xfrm>
            <a:off x="14219725" y="7712964"/>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A9BB0"/>
                </a:solidFill>
                <a:effectLst/>
                <a:uLnTx/>
                <a:uFillTx/>
                <a:latin typeface="Arial" panose="020B0604020202020204" pitchFamily="34" charset="0"/>
                <a:ea typeface="Calibri" pitchFamily="34" charset="-122"/>
                <a:cs typeface="Arial" panose="020B0604020202020204" pitchFamily="34" charset="0"/>
              </a:rPr>
              <a:t>T3</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0" name="Shape 88"/>
          <p:cNvSpPr/>
          <p:nvPr/>
        </p:nvSpPr>
        <p:spPr>
          <a:xfrm>
            <a:off x="15353581" y="6438900"/>
            <a:ext cx="694944" cy="1274064"/>
          </a:xfrm>
          <a:prstGeom prst="rect">
            <a:avLst/>
          </a:prstGeom>
          <a:solidFill>
            <a:srgbClr val="D4A017">
              <a:alpha val="80000"/>
            </a:srgbClr>
          </a:solidFill>
          <a:ln/>
        </p:spPr>
        <p:txBody>
          <a:bodyPr/>
          <a:lstStyle/>
          <a:p>
            <a:endParaRPr lang="en-US"/>
          </a:p>
        </p:txBody>
      </p:sp>
      <p:sp>
        <p:nvSpPr>
          <p:cNvPr id="91" name="Text 89"/>
          <p:cNvSpPr/>
          <p:nvPr/>
        </p:nvSpPr>
        <p:spPr>
          <a:xfrm>
            <a:off x="15327472" y="5982648"/>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D4A017"/>
                </a:solidFill>
                <a:effectLst/>
                <a:uLnTx/>
                <a:uFillTx/>
                <a:latin typeface="Arial" panose="020B0604020202020204" pitchFamily="34" charset="0"/>
                <a:ea typeface="Calibri" pitchFamily="34" charset="-122"/>
                <a:cs typeface="Arial" panose="020B0604020202020204" pitchFamily="34" charset="0"/>
              </a:rPr>
              <a:t>7%</a:t>
            </a:r>
            <a:endParaRPr kumimoji="0" lang="en-US" sz="1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2" name="Text 90"/>
          <p:cNvSpPr/>
          <p:nvPr/>
        </p:nvSpPr>
        <p:spPr>
          <a:xfrm>
            <a:off x="15353581" y="7712964"/>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A9BB0"/>
                </a:solidFill>
                <a:effectLst/>
                <a:uLnTx/>
                <a:uFillTx/>
                <a:latin typeface="Arial" panose="020B0604020202020204" pitchFamily="34" charset="0"/>
                <a:ea typeface="Calibri" pitchFamily="34" charset="-122"/>
                <a:cs typeface="Arial" panose="020B0604020202020204" pitchFamily="34" charset="0"/>
              </a:rPr>
              <a:t>T4</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3" name="Shape 91"/>
          <p:cNvSpPr/>
          <p:nvPr/>
        </p:nvSpPr>
        <p:spPr>
          <a:xfrm>
            <a:off x="16487437" y="5579364"/>
            <a:ext cx="694944" cy="2133600"/>
          </a:xfrm>
          <a:prstGeom prst="rect">
            <a:avLst/>
          </a:prstGeom>
          <a:solidFill>
            <a:srgbClr val="C0392B">
              <a:alpha val="80000"/>
            </a:srgbClr>
          </a:solidFill>
          <a:ln/>
        </p:spPr>
        <p:txBody>
          <a:bodyPr/>
          <a:lstStyle/>
          <a:p>
            <a:endParaRPr lang="en-US"/>
          </a:p>
        </p:txBody>
      </p:sp>
      <p:sp>
        <p:nvSpPr>
          <p:cNvPr id="94" name="Text 92"/>
          <p:cNvSpPr/>
          <p:nvPr/>
        </p:nvSpPr>
        <p:spPr>
          <a:xfrm>
            <a:off x="16526256" y="5198364"/>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C0392B"/>
                </a:solidFill>
                <a:effectLst/>
                <a:uLnTx/>
                <a:uFillTx/>
                <a:latin typeface="Arial" panose="020B0604020202020204" pitchFamily="34" charset="0"/>
                <a:ea typeface="Calibri" pitchFamily="34" charset="-122"/>
                <a:cs typeface="Arial" panose="020B0604020202020204" pitchFamily="34" charset="0"/>
              </a:rPr>
              <a:t>12%</a:t>
            </a:r>
            <a:endParaRPr kumimoji="0" lang="en-US" sz="17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5" name="Text 93"/>
          <p:cNvSpPr/>
          <p:nvPr/>
        </p:nvSpPr>
        <p:spPr>
          <a:xfrm>
            <a:off x="16487437" y="7712964"/>
            <a:ext cx="694944" cy="402336"/>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8A9BB0"/>
                </a:solidFill>
                <a:effectLst/>
                <a:uLnTx/>
                <a:uFillTx/>
                <a:latin typeface="Arial" panose="020B0604020202020204" pitchFamily="34" charset="0"/>
                <a:ea typeface="Calibri" pitchFamily="34" charset="-122"/>
                <a:cs typeface="Arial" panose="020B0604020202020204" pitchFamily="34" charset="0"/>
              </a:rPr>
              <a:t>T5</a:t>
            </a:r>
            <a:endPar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96" name="Shape 94"/>
          <p:cNvSpPr/>
          <p:nvPr/>
        </p:nvSpPr>
        <p:spPr>
          <a:xfrm>
            <a:off x="10726717" y="7712964"/>
            <a:ext cx="6949440" cy="0"/>
          </a:xfrm>
          <a:prstGeom prst="line">
            <a:avLst/>
          </a:prstGeom>
          <a:noFill/>
          <a:ln w="12700">
            <a:solidFill>
              <a:srgbClr val="2A3A50"/>
            </a:solidFill>
            <a:prstDash val="solid"/>
          </a:ln>
        </p:spPr>
        <p:txBody>
          <a:bodyPr/>
          <a:lstStyle/>
          <a:p>
            <a:endParaRPr lang="en-US"/>
          </a:p>
        </p:txBody>
      </p:sp>
      <p:sp>
        <p:nvSpPr>
          <p:cNvPr id="98" name="Shape 96"/>
          <p:cNvSpPr/>
          <p:nvPr/>
        </p:nvSpPr>
        <p:spPr>
          <a:xfrm>
            <a:off x="10543837" y="8103108"/>
            <a:ext cx="7315200" cy="415476"/>
          </a:xfrm>
          <a:prstGeom prst="rect">
            <a:avLst/>
          </a:prstGeom>
          <a:solidFill>
            <a:srgbClr val="162030"/>
          </a:solidFill>
          <a:ln/>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KẾ HOẠCH HÀNH ĐỘNG</a:t>
            </a:r>
          </a:p>
        </p:txBody>
      </p:sp>
      <p:sp>
        <p:nvSpPr>
          <p:cNvPr id="105" name="Text 18"/>
          <p:cNvSpPr/>
          <p:nvPr/>
        </p:nvSpPr>
        <p:spPr>
          <a:xfrm>
            <a:off x="13685692" y="2491452"/>
            <a:ext cx="3657600" cy="3657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err="1">
                <a:ln>
                  <a:noFill/>
                </a:ln>
                <a:solidFill>
                  <a:prstClr val="black"/>
                </a:solidFill>
                <a:effectLst/>
                <a:uLnTx/>
                <a:uFillTx/>
                <a:latin typeface="Arial" panose="020B0604020202020204" pitchFamily="34" charset="0"/>
                <a:ea typeface="Calibri" pitchFamily="34" charset="-122"/>
                <a:cs typeface="Arial" panose="020B0604020202020204" pitchFamily="34" charset="0"/>
              </a:rPr>
              <a:t>Ngưỡng</a:t>
            </a:r>
            <a:r>
              <a:rPr kumimoji="0" lang="en-US" sz="2000" b="0" i="0" u="none" strike="noStrike" kern="1200" cap="none" spc="0" normalizeH="0" baseline="0" noProof="0" dirty="0">
                <a:ln>
                  <a:noFill/>
                </a:ln>
                <a:solidFill>
                  <a:prstClr val="black"/>
                </a:solidFill>
                <a:effectLst/>
                <a:uLnTx/>
                <a:uFillTx/>
                <a:latin typeface="Arial" panose="020B0604020202020204" pitchFamily="34" charset="0"/>
                <a:ea typeface="Calibri" pitchFamily="34" charset="-122"/>
                <a:cs typeface="Arial" panose="020B0604020202020204" pitchFamily="34" charset="0"/>
              </a:rPr>
              <a:t> </a:t>
            </a:r>
            <a:r>
              <a:rPr kumimoji="0" lang="en-US" sz="2000" b="1" i="0" u="none" strike="noStrike" kern="1200" cap="none" spc="0" normalizeH="0" baseline="0" noProof="0" dirty="0" err="1">
                <a:ln>
                  <a:noFill/>
                </a:ln>
                <a:solidFill>
                  <a:srgbClr val="C0392B"/>
                </a:solidFill>
                <a:effectLst/>
                <a:uLnTx/>
                <a:uFillTx/>
                <a:latin typeface="Arial" panose="020B0604020202020204" pitchFamily="34" charset="0"/>
                <a:ea typeface="Calibri" pitchFamily="34" charset="-122"/>
                <a:cs typeface="Arial" panose="020B0604020202020204" pitchFamily="34" charset="0"/>
              </a:rPr>
              <a:t>Nghiêm</a:t>
            </a:r>
            <a:r>
              <a:rPr kumimoji="0" lang="en-US" sz="2000" b="1" i="0" u="none" strike="noStrike" kern="1200" cap="none" spc="0" normalizeH="0" baseline="0" noProof="0" dirty="0">
                <a:ln>
                  <a:noFill/>
                </a:ln>
                <a:solidFill>
                  <a:srgbClr val="C0392B"/>
                </a:solidFill>
                <a:effectLst/>
                <a:uLnTx/>
                <a:uFillTx/>
                <a:latin typeface="Arial" panose="020B0604020202020204" pitchFamily="34" charset="0"/>
                <a:ea typeface="Calibri" pitchFamily="34" charset="-122"/>
                <a:cs typeface="Arial" panose="020B0604020202020204" pitchFamily="34" charset="0"/>
              </a:rPr>
              <a:t> </a:t>
            </a:r>
            <a:r>
              <a:rPr kumimoji="0" lang="en-US" sz="2000" b="1" i="0" u="none" strike="noStrike" kern="1200" cap="none" spc="0" normalizeH="0" baseline="0" noProof="0" dirty="0" err="1">
                <a:ln>
                  <a:noFill/>
                </a:ln>
                <a:solidFill>
                  <a:srgbClr val="C0392B"/>
                </a:solidFill>
                <a:effectLst/>
                <a:uLnTx/>
                <a:uFillTx/>
                <a:latin typeface="Arial" panose="020B0604020202020204" pitchFamily="34" charset="0"/>
                <a:ea typeface="Calibri" pitchFamily="34" charset="-122"/>
                <a:cs typeface="Arial" panose="020B0604020202020204" pitchFamily="34" charset="0"/>
              </a:rPr>
              <a:t>trọng</a:t>
            </a:r>
            <a:endParaRPr kumimoji="0" lang="en-US" sz="2000" b="1" i="0" u="none" strike="noStrike" kern="1200" cap="none" spc="0" normalizeH="0" baseline="0" noProof="0" dirty="0">
              <a:ln>
                <a:noFill/>
              </a:ln>
              <a:solidFill>
                <a:srgbClr val="C0392B"/>
              </a:solidFill>
              <a:effectLst/>
              <a:uLnTx/>
              <a:uFillTx/>
              <a:latin typeface="Arial" panose="020B0604020202020204" pitchFamily="34" charset="0"/>
              <a:ea typeface="+mn-ea"/>
              <a:cs typeface="Arial" panose="020B0604020202020204" pitchFamily="34" charset="0"/>
            </a:endParaRPr>
          </a:p>
        </p:txBody>
      </p:sp>
      <p:sp>
        <p:nvSpPr>
          <p:cNvPr id="106" name="Shape 0"/>
          <p:cNvSpPr/>
          <p:nvPr/>
        </p:nvSpPr>
        <p:spPr>
          <a:xfrm>
            <a:off x="0" y="0"/>
            <a:ext cx="18242280" cy="713232"/>
          </a:xfrm>
          <a:prstGeom prst="rect">
            <a:avLst/>
          </a:prstGeom>
          <a:solidFill>
            <a:srgbClr val="1A2540"/>
          </a:solidFill>
          <a:ln w="12700">
            <a:solidFill>
              <a:srgbClr val="1A2540"/>
            </a:solidFill>
            <a:prstDash val="solid"/>
          </a:ln>
        </p:spPr>
        <p:txBody>
          <a:bodyPr/>
          <a:lstStyle/>
          <a:p>
            <a:endParaRPr lang="en-US"/>
          </a:p>
        </p:txBody>
      </p:sp>
      <p:pic>
        <p:nvPicPr>
          <p:cNvPr id="116" name="Picture 2" descr="cid:image001.png@01DCE1E8.B16969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336"/>
            <a:ext cx="1321179" cy="744665"/>
          </a:xfrm>
          <a:prstGeom prst="rect">
            <a:avLst/>
          </a:prstGeom>
          <a:solidFill>
            <a:schemeClr val="bg1"/>
          </a:solidFill>
          <a:ln>
            <a:noFill/>
          </a:ln>
        </p:spPr>
      </p:pic>
      <p:sp>
        <p:nvSpPr>
          <p:cNvPr id="120" name="Text 8"/>
          <p:cNvSpPr/>
          <p:nvPr/>
        </p:nvSpPr>
        <p:spPr>
          <a:xfrm>
            <a:off x="411480" y="850392"/>
            <a:ext cx="9601200" cy="4800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Minh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họa</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Dashboard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theo</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dõi</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KRI</a:t>
            </a:r>
            <a:endParaRPr kumimoji="0" lang="en-US" sz="2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1" name="Text 2"/>
          <p:cNvSpPr/>
          <p:nvPr/>
        </p:nvSpPr>
        <p:spPr>
          <a:xfrm>
            <a:off x="356616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Tổng</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quan</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2" name="Text 3"/>
          <p:cNvSpPr/>
          <p:nvPr/>
        </p:nvSpPr>
        <p:spPr>
          <a:xfrm>
            <a:off x="589788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Tìm</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kiếm</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3" name="Text 4"/>
          <p:cNvSpPr/>
          <p:nvPr/>
        </p:nvSpPr>
        <p:spPr>
          <a:xfrm>
            <a:off x="822960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Tổng</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quan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thất</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4" name="Text 5"/>
          <p:cNvSpPr/>
          <p:nvPr/>
        </p:nvSpPr>
        <p:spPr>
          <a:xfrm>
            <a:off x="1056132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Ghi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nhận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sự</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kiện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rủi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ro</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5" name="Text 6"/>
          <p:cNvSpPr/>
          <p:nvPr/>
        </p:nvSpPr>
        <p:spPr>
          <a:xfrm>
            <a:off x="1289304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Thư</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viện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KRI</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6" name="Text 7"/>
          <p:cNvSpPr/>
          <p:nvPr/>
        </p:nvSpPr>
        <p:spPr>
          <a:xfrm>
            <a:off x="1522476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Thư</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viện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rủi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ro</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30" name="Text 30"/>
          <p:cNvSpPr/>
          <p:nvPr/>
        </p:nvSpPr>
        <p:spPr>
          <a:xfrm rot="10800000">
            <a:off x="8915242" y="5825583"/>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a:t>
            </a: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131" name="Table 130"/>
          <p:cNvGraphicFramePr>
            <a:graphicFrameLocks noGrp="1"/>
          </p:cNvGraphicFramePr>
          <p:nvPr/>
        </p:nvGraphicFramePr>
        <p:xfrm>
          <a:off x="10561320" y="8515034"/>
          <a:ext cx="7297716" cy="152908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3691883982"/>
                    </a:ext>
                  </a:extLst>
                </a:gridCol>
                <a:gridCol w="1939064">
                  <a:extLst>
                    <a:ext uri="{9D8B030D-6E8A-4147-A177-3AD203B41FA5}">
                      <a16:colId xmlns:a16="http://schemas.microsoft.com/office/drawing/2014/main" val="3877645947"/>
                    </a:ext>
                  </a:extLst>
                </a:gridCol>
                <a:gridCol w="2432572">
                  <a:extLst>
                    <a:ext uri="{9D8B030D-6E8A-4147-A177-3AD203B41FA5}">
                      <a16:colId xmlns:a16="http://schemas.microsoft.com/office/drawing/2014/main" val="1698716635"/>
                    </a:ext>
                  </a:extLst>
                </a:gridCol>
              </a:tblGrid>
              <a:tr h="370840">
                <a:tc>
                  <a:txBody>
                    <a:bodyPr/>
                    <a:lstStyle/>
                    <a:p>
                      <a:pPr algn="ctr"/>
                      <a:r>
                        <a:rPr lang="en-US" sz="1600" b="1" dirty="0" err="1">
                          <a:solidFill>
                            <a:schemeClr val="tx1"/>
                          </a:solidFill>
                          <a:latin typeface="Arial" panose="020B0604020202020204" pitchFamily="34" charset="0"/>
                          <a:cs typeface="Arial" panose="020B0604020202020204" pitchFamily="34" charset="0"/>
                        </a:rPr>
                        <a:t>Nội</a:t>
                      </a:r>
                      <a:r>
                        <a:rPr lang="en-US" sz="1600" b="1" baseline="0" dirty="0">
                          <a:solidFill>
                            <a:schemeClr val="tx1"/>
                          </a:solidFill>
                          <a:latin typeface="Arial" panose="020B0604020202020204" pitchFamily="34" charset="0"/>
                          <a:cs typeface="Arial" panose="020B0604020202020204" pitchFamily="34" charset="0"/>
                        </a:rPr>
                        <a:t> dung</a:t>
                      </a:r>
                      <a:endParaRPr lang="en-US" sz="1600" b="1" dirty="0">
                        <a:solidFill>
                          <a:schemeClr val="tx1"/>
                        </a:solidFill>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tc>
                  <a:txBody>
                    <a:bodyPr/>
                    <a:lstStyle/>
                    <a:p>
                      <a:pPr algn="ctr"/>
                      <a:r>
                        <a:rPr lang="en-US" sz="1600" b="1" dirty="0" err="1">
                          <a:solidFill>
                            <a:schemeClr val="tx1"/>
                          </a:solidFill>
                          <a:latin typeface="Arial" panose="020B0604020202020204" pitchFamily="34" charset="0"/>
                          <a:cs typeface="Arial" panose="020B0604020202020204" pitchFamily="34" charset="0"/>
                        </a:rPr>
                        <a:t>Chủ</a:t>
                      </a:r>
                      <a:r>
                        <a:rPr lang="en-US" sz="1600" b="1" baseline="0" dirty="0">
                          <a:solidFill>
                            <a:schemeClr val="tx1"/>
                          </a:solidFill>
                          <a:latin typeface="Arial" panose="020B0604020202020204" pitchFamily="34" charset="0"/>
                          <a:cs typeface="Arial" panose="020B0604020202020204" pitchFamily="34" charset="0"/>
                        </a:rPr>
                        <a:t> </a:t>
                      </a:r>
                      <a:r>
                        <a:rPr lang="en-US" sz="1600" b="1" baseline="0" dirty="0" err="1">
                          <a:solidFill>
                            <a:schemeClr val="tx1"/>
                          </a:solidFill>
                          <a:latin typeface="Arial" panose="020B0604020202020204" pitchFamily="34" charset="0"/>
                          <a:cs typeface="Arial" panose="020B0604020202020204" pitchFamily="34" charset="0"/>
                        </a:rPr>
                        <a:t>trì</a:t>
                      </a:r>
                      <a:endParaRPr lang="en-US" sz="1600" b="1" dirty="0">
                        <a:solidFill>
                          <a:schemeClr val="tx1"/>
                        </a:solidFill>
                        <a:latin typeface="Arial" panose="020B0604020202020204" pitchFamily="34" charset="0"/>
                        <a:cs typeface="Arial" panose="020B0604020202020204" pitchFamily="34" charset="0"/>
                      </a:endParaRP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tc>
                  <a:txBody>
                    <a:bodyPr/>
                    <a:lstStyle/>
                    <a:p>
                      <a:pPr algn="ctr"/>
                      <a:r>
                        <a:rPr lang="en-US" sz="1600" b="1" dirty="0">
                          <a:solidFill>
                            <a:schemeClr val="tx1"/>
                          </a:solidFill>
                          <a:latin typeface="Arial" panose="020B0604020202020204" pitchFamily="34" charset="0"/>
                          <a:cs typeface="Arial" panose="020B0604020202020204" pitchFamily="34" charset="0"/>
                        </a:rPr>
                        <a:t>Deadline</a:t>
                      </a:r>
                    </a:p>
                  </a:txBody>
                  <a:tcP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extLst>
                  <a:ext uri="{0D108BD9-81ED-4DB2-BD59-A6C34878D82A}">
                    <a16:rowId xmlns:a16="http://schemas.microsoft.com/office/drawing/2014/main" val="360028878"/>
                  </a:ext>
                </a:extLst>
              </a:tr>
              <a:tr h="370840">
                <a:tc>
                  <a:txBody>
                    <a:bodyPr/>
                    <a:lstStyle/>
                    <a:p>
                      <a:r>
                        <a:rPr lang="en-US" sz="1600" b="0" dirty="0" err="1">
                          <a:solidFill>
                            <a:schemeClr val="tx1"/>
                          </a:solidFill>
                          <a:latin typeface="Arial" panose="020B0604020202020204" pitchFamily="34" charset="0"/>
                          <a:cs typeface="Arial" panose="020B0604020202020204" pitchFamily="34" charset="0"/>
                        </a:rPr>
                        <a:t>Tăng</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cường</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thực</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hiện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tra</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soát</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giao</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dịch</a:t>
                      </a:r>
                      <a:endParaRPr lang="en-US" sz="1600" b="0"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BP.</a:t>
                      </a:r>
                      <a:r>
                        <a:rPr lang="en-US" sz="1600" b="0" baseline="0" dirty="0">
                          <a:solidFill>
                            <a:schemeClr val="tx1"/>
                          </a:solidFill>
                          <a:latin typeface="Arial" panose="020B0604020202020204" pitchFamily="34" charset="0"/>
                          <a:cs typeface="Arial" panose="020B0604020202020204" pitchFamily="34" charset="0"/>
                        </a:rPr>
                        <a:t> QTRR</a:t>
                      </a:r>
                      <a:endParaRPr lang="en-US" sz="1600" b="0"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30/05</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extLst>
                  <a:ext uri="{0D108BD9-81ED-4DB2-BD59-A6C34878D82A}">
                    <a16:rowId xmlns:a16="http://schemas.microsoft.com/office/drawing/2014/main" val="1090062609"/>
                  </a:ext>
                </a:extLst>
              </a:tr>
              <a:tr h="370840">
                <a:tc>
                  <a:txBody>
                    <a:bodyPr/>
                    <a:lstStyle/>
                    <a:p>
                      <a:r>
                        <a:rPr lang="en-US" sz="1600" b="0" dirty="0" err="1">
                          <a:solidFill>
                            <a:schemeClr val="tx1"/>
                          </a:solidFill>
                          <a:latin typeface="Arial" panose="020B0604020202020204" pitchFamily="34" charset="0"/>
                          <a:cs typeface="Arial" panose="020B0604020202020204" pitchFamily="34" charset="0"/>
                        </a:rPr>
                        <a:t>Cấu</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hình</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hệ</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thống</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tự</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động</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phân</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loại</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cảnh</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báo</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giao</a:t>
                      </a:r>
                      <a:r>
                        <a:rPr lang="en-US" sz="1600" b="0" baseline="0" dirty="0">
                          <a:solidFill>
                            <a:schemeClr val="tx1"/>
                          </a:solidFill>
                          <a:latin typeface="Arial" panose="020B0604020202020204" pitchFamily="34" charset="0"/>
                          <a:cs typeface="Arial" panose="020B0604020202020204" pitchFamily="34" charset="0"/>
                        </a:rPr>
                        <a:t> </a:t>
                      </a:r>
                      <a:r>
                        <a:rPr lang="en-US" sz="1600" b="0" baseline="0" dirty="0" err="1">
                          <a:solidFill>
                            <a:schemeClr val="tx1"/>
                          </a:solidFill>
                          <a:latin typeface="Arial" panose="020B0604020202020204" pitchFamily="34" charset="0"/>
                          <a:cs typeface="Arial" panose="020B0604020202020204" pitchFamily="34" charset="0"/>
                        </a:rPr>
                        <a:t>dịch</a:t>
                      </a:r>
                      <a:endParaRPr lang="en-US" sz="1600" b="0"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P.</a:t>
                      </a:r>
                      <a:r>
                        <a:rPr lang="en-US" sz="1600" b="0" baseline="0" dirty="0">
                          <a:solidFill>
                            <a:schemeClr val="tx1"/>
                          </a:solidFill>
                          <a:latin typeface="Arial" panose="020B0604020202020204" pitchFamily="34" charset="0"/>
                          <a:cs typeface="Arial" panose="020B0604020202020204" pitchFamily="34" charset="0"/>
                        </a:rPr>
                        <a:t> CNTT</a:t>
                      </a:r>
                      <a:endParaRPr lang="en-US" sz="1600" b="0" dirty="0">
                        <a:solidFill>
                          <a:schemeClr val="tx1"/>
                        </a:solidFill>
                        <a:latin typeface="Arial" panose="020B0604020202020204" pitchFamily="34" charset="0"/>
                        <a:cs typeface="Arial" panose="020B0604020202020204" pitchFamily="34" charset="0"/>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tc>
                  <a:txBody>
                    <a:bodyPr/>
                    <a:lstStyle/>
                    <a:p>
                      <a:pPr algn="ctr"/>
                      <a:r>
                        <a:rPr lang="en-US" sz="1600" b="0" dirty="0">
                          <a:solidFill>
                            <a:schemeClr val="tx1"/>
                          </a:solidFill>
                          <a:latin typeface="Arial" panose="020B0604020202020204" pitchFamily="34" charset="0"/>
                          <a:cs typeface="Arial" panose="020B0604020202020204" pitchFamily="34" charset="0"/>
                        </a:rPr>
                        <a:t>01/07</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8FAFD"/>
                    </a:solidFill>
                  </a:tcPr>
                </a:tc>
                <a:extLst>
                  <a:ext uri="{0D108BD9-81ED-4DB2-BD59-A6C34878D82A}">
                    <a16:rowId xmlns:a16="http://schemas.microsoft.com/office/drawing/2014/main" val="3090500600"/>
                  </a:ext>
                </a:extLst>
              </a:tr>
            </a:tbl>
          </a:graphicData>
        </a:graphic>
      </p:graphicFrame>
      <p:sp>
        <p:nvSpPr>
          <p:cNvPr id="132" name="Text 30"/>
          <p:cNvSpPr/>
          <p:nvPr/>
        </p:nvSpPr>
        <p:spPr>
          <a:xfrm rot="10800000">
            <a:off x="8912353" y="6444788"/>
            <a:ext cx="914400" cy="603504"/>
          </a:xfrm>
          <a:prstGeom prst="rect">
            <a:avLst/>
          </a:prstGeom>
          <a:noFill/>
          <a:ln/>
        </p:spPr>
        <p:txBody>
          <a:bodyPr wrap="squar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D7A4F"/>
                </a:solidFill>
                <a:effectLst/>
                <a:uLnTx/>
                <a:uFillTx/>
                <a:latin typeface="Arial" panose="020B0604020202020204" pitchFamily="34" charset="0"/>
                <a:ea typeface="Calibri" pitchFamily="34" charset="-122"/>
                <a:cs typeface="Arial" panose="020B0604020202020204" pitchFamily="34" charset="0"/>
              </a:rPr>
              <a:t>↑</a:t>
            </a:r>
            <a:endParaRPr kumimoji="0" lang="en-US" sz="32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7464854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8242280" cy="713232"/>
          </a:xfrm>
          <a:prstGeom prst="rect">
            <a:avLst/>
          </a:prstGeom>
          <a:solidFill>
            <a:srgbClr val="1A2540"/>
          </a:solidFill>
          <a:ln w="12700">
            <a:solidFill>
              <a:srgbClr val="1A2540"/>
            </a:solidFill>
            <a:prstDash val="solid"/>
          </a:ln>
        </p:spPr>
        <p:txBody>
          <a:bodyPr/>
          <a:lstStyle/>
          <a:p>
            <a:endParaRPr lang="en-US"/>
          </a:p>
        </p:txBody>
      </p:sp>
      <p:sp>
        <p:nvSpPr>
          <p:cNvPr id="12" name="Shape 10"/>
          <p:cNvSpPr/>
          <p:nvPr/>
        </p:nvSpPr>
        <p:spPr>
          <a:xfrm>
            <a:off x="301752" y="1645920"/>
            <a:ext cx="17638776" cy="521208"/>
          </a:xfrm>
          <a:prstGeom prst="roundRect">
            <a:avLst>
              <a:gd name="adj" fmla="val 15789"/>
            </a:avLst>
          </a:prstGeom>
          <a:solidFill>
            <a:srgbClr val="FFFFFF"/>
          </a:solidFill>
          <a:ln w="12700">
            <a:solidFill>
              <a:srgbClr val="D1D9E6"/>
            </a:solidFill>
            <a:prstDash val="solid"/>
          </a:ln>
        </p:spPr>
        <p:txBody>
          <a:bodyPr/>
          <a:lstStyle/>
          <a:p>
            <a:endParaRPr lang="en-US"/>
          </a:p>
        </p:txBody>
      </p:sp>
      <p:sp>
        <p:nvSpPr>
          <p:cNvPr id="13" name="Shape 11"/>
          <p:cNvSpPr/>
          <p:nvPr/>
        </p:nvSpPr>
        <p:spPr>
          <a:xfrm>
            <a:off x="480060" y="1741932"/>
            <a:ext cx="2606040" cy="315468"/>
          </a:xfrm>
          <a:prstGeom prst="roundRect">
            <a:avLst>
              <a:gd name="adj" fmla="val 17391"/>
            </a:avLst>
          </a:prstGeom>
          <a:solidFill>
            <a:srgbClr val="2563A8"/>
          </a:solidFill>
          <a:ln w="12700">
            <a:solidFill>
              <a:srgbClr val="2563A8"/>
            </a:solidFill>
            <a:prstDash val="solid"/>
          </a:ln>
        </p:spPr>
        <p:txBody>
          <a:bodyPr/>
          <a:lstStyle/>
          <a:p>
            <a:endParaRPr lang="en-US"/>
          </a:p>
        </p:txBody>
      </p:sp>
      <p:sp>
        <p:nvSpPr>
          <p:cNvPr id="14" name="Text 12"/>
          <p:cNvSpPr/>
          <p:nvPr/>
        </p:nvSpPr>
        <p:spPr>
          <a:xfrm>
            <a:off x="480060" y="1741932"/>
            <a:ext cx="2606040" cy="3154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err="1">
                <a:ln>
                  <a:noFill/>
                </a:ln>
                <a:solidFill>
                  <a:srgbClr val="FFFFFF"/>
                </a:solidFill>
                <a:effectLst/>
                <a:uLnTx/>
                <a:uFillTx/>
                <a:latin typeface="Arial" panose="020B0604020202020204" pitchFamily="34" charset="0"/>
                <a:ea typeface="+mn-ea"/>
                <a:cs typeface="+mn-cs"/>
              </a:rPr>
              <a:t>Bộ</a:t>
            </a:r>
            <a:r>
              <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 </a:t>
            </a:r>
            <a:r>
              <a:rPr kumimoji="0" lang="en-US" sz="1200" b="1" i="0" u="none" strike="noStrike" kern="1200" cap="none" spc="0" normalizeH="0" baseline="0" noProof="0" dirty="0" err="1">
                <a:ln>
                  <a:noFill/>
                </a:ln>
                <a:solidFill>
                  <a:srgbClr val="FFFFFF"/>
                </a:solidFill>
                <a:effectLst/>
                <a:uLnTx/>
                <a:uFillTx/>
                <a:latin typeface="Arial" panose="020B0604020202020204" pitchFamily="34" charset="0"/>
                <a:ea typeface="+mn-ea"/>
                <a:cs typeface="+mn-cs"/>
              </a:rPr>
              <a:t>lọc</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5" name="Shape 13"/>
          <p:cNvSpPr/>
          <p:nvPr/>
        </p:nvSpPr>
        <p:spPr>
          <a:xfrm>
            <a:off x="3360420" y="1741932"/>
            <a:ext cx="2606040" cy="315468"/>
          </a:xfrm>
          <a:prstGeom prst="roundRect">
            <a:avLst>
              <a:gd name="adj" fmla="val 17391"/>
            </a:avLst>
          </a:prstGeom>
          <a:solidFill>
            <a:srgbClr val="EBF0F8"/>
          </a:solidFill>
          <a:ln w="12700">
            <a:solidFill>
              <a:srgbClr val="D1D9E6"/>
            </a:solidFill>
            <a:prstDash val="solid"/>
          </a:ln>
        </p:spPr>
        <p:txBody>
          <a:bodyPr/>
          <a:lstStyle/>
          <a:p>
            <a:endParaRPr lang="en-US"/>
          </a:p>
        </p:txBody>
      </p:sp>
      <p:sp>
        <p:nvSpPr>
          <p:cNvPr id="16" name="Text 14"/>
          <p:cNvSpPr/>
          <p:nvPr/>
        </p:nvSpPr>
        <p:spPr>
          <a:xfrm>
            <a:off x="3360420" y="1741932"/>
            <a:ext cx="2606040" cy="3154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Tổn</a:t>
            </a:r>
            <a:r>
              <a:rPr kumimoji="0" lang="en-US" sz="120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thất</a:t>
            </a:r>
            <a:r>
              <a:rPr kumimoji="0" lang="en-US" sz="120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ròng</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7" name="Shape 15"/>
          <p:cNvSpPr/>
          <p:nvPr/>
        </p:nvSpPr>
        <p:spPr>
          <a:xfrm>
            <a:off x="6240780" y="1741932"/>
            <a:ext cx="2606040" cy="315468"/>
          </a:xfrm>
          <a:prstGeom prst="roundRect">
            <a:avLst>
              <a:gd name="adj" fmla="val 17391"/>
            </a:avLst>
          </a:prstGeom>
          <a:solidFill>
            <a:srgbClr val="EBF0F8"/>
          </a:solidFill>
          <a:ln w="12700">
            <a:solidFill>
              <a:srgbClr val="D1D9E6"/>
            </a:solidFill>
            <a:prstDash val="solid"/>
          </a:ln>
        </p:spPr>
        <p:txBody>
          <a:bodyPr/>
          <a:lstStyle/>
          <a:p>
            <a:endParaRPr lang="en-US"/>
          </a:p>
        </p:txBody>
      </p:sp>
      <p:sp>
        <p:nvSpPr>
          <p:cNvPr id="18" name="Text 16"/>
          <p:cNvSpPr/>
          <p:nvPr/>
        </p:nvSpPr>
        <p:spPr>
          <a:xfrm>
            <a:off x="6240780" y="1741932"/>
            <a:ext cx="2606040" cy="3154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Tổn</a:t>
            </a:r>
            <a:r>
              <a:rPr kumimoji="0" lang="en-US" sz="120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thất</a:t>
            </a:r>
            <a:r>
              <a:rPr kumimoji="0" lang="en-US" sz="120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Gộp</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9" name="Shape 17"/>
          <p:cNvSpPr/>
          <p:nvPr/>
        </p:nvSpPr>
        <p:spPr>
          <a:xfrm>
            <a:off x="9121140" y="1741932"/>
            <a:ext cx="2606040" cy="315468"/>
          </a:xfrm>
          <a:prstGeom prst="roundRect">
            <a:avLst>
              <a:gd name="adj" fmla="val 17391"/>
            </a:avLst>
          </a:prstGeom>
          <a:solidFill>
            <a:srgbClr val="EBF0F8"/>
          </a:solidFill>
          <a:ln w="12700">
            <a:solidFill>
              <a:srgbClr val="D1D9E6"/>
            </a:solidFill>
            <a:prstDash val="solid"/>
          </a:ln>
        </p:spPr>
        <p:txBody>
          <a:bodyPr/>
          <a:lstStyle/>
          <a:p>
            <a:endParaRPr lang="en-US"/>
          </a:p>
        </p:txBody>
      </p:sp>
      <p:sp>
        <p:nvSpPr>
          <p:cNvPr id="20" name="Text 18"/>
          <p:cNvSpPr/>
          <p:nvPr/>
        </p:nvSpPr>
        <p:spPr>
          <a:xfrm>
            <a:off x="9121140" y="1741932"/>
            <a:ext cx="2606040" cy="3154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Loại</a:t>
            </a:r>
            <a:r>
              <a:rPr kumimoji="0" lang="en-US" sz="120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rủi</a:t>
            </a:r>
            <a:r>
              <a:rPr kumimoji="0" lang="en-US" sz="120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ro</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1" name="Shape 19"/>
          <p:cNvSpPr/>
          <p:nvPr/>
        </p:nvSpPr>
        <p:spPr>
          <a:xfrm>
            <a:off x="12001500" y="1741932"/>
            <a:ext cx="2606040" cy="315468"/>
          </a:xfrm>
          <a:prstGeom prst="roundRect">
            <a:avLst>
              <a:gd name="adj" fmla="val 17391"/>
            </a:avLst>
          </a:prstGeom>
          <a:solidFill>
            <a:srgbClr val="EBF0F8"/>
          </a:solidFill>
          <a:ln w="12700">
            <a:solidFill>
              <a:srgbClr val="D1D9E6"/>
            </a:solidFill>
            <a:prstDash val="solid"/>
          </a:ln>
        </p:spPr>
        <p:txBody>
          <a:bodyPr/>
          <a:lstStyle/>
          <a:p>
            <a:endParaRPr lang="en-US"/>
          </a:p>
        </p:txBody>
      </p:sp>
      <p:sp>
        <p:nvSpPr>
          <p:cNvPr id="22" name="Text 20"/>
          <p:cNvSpPr/>
          <p:nvPr/>
        </p:nvSpPr>
        <p:spPr>
          <a:xfrm>
            <a:off x="12001500" y="1741932"/>
            <a:ext cx="2606040" cy="3154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Đơn</a:t>
            </a:r>
            <a:r>
              <a:rPr kumimoji="0" lang="en-US" sz="120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vị</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3" name="Shape 21"/>
          <p:cNvSpPr/>
          <p:nvPr/>
        </p:nvSpPr>
        <p:spPr>
          <a:xfrm>
            <a:off x="14881860" y="1741932"/>
            <a:ext cx="2606040" cy="315468"/>
          </a:xfrm>
          <a:prstGeom prst="roundRect">
            <a:avLst>
              <a:gd name="adj" fmla="val 17391"/>
            </a:avLst>
          </a:prstGeom>
          <a:solidFill>
            <a:srgbClr val="EBF0F8"/>
          </a:solidFill>
          <a:ln w="12700">
            <a:solidFill>
              <a:srgbClr val="D1D9E6"/>
            </a:solidFill>
            <a:prstDash val="solid"/>
          </a:ln>
        </p:spPr>
        <p:txBody>
          <a:bodyPr/>
          <a:lstStyle/>
          <a:p>
            <a:endParaRPr lang="en-US"/>
          </a:p>
        </p:txBody>
      </p:sp>
      <p:sp>
        <p:nvSpPr>
          <p:cNvPr id="24" name="Text 22"/>
          <p:cNvSpPr/>
          <p:nvPr/>
        </p:nvSpPr>
        <p:spPr>
          <a:xfrm>
            <a:off x="14881860" y="1741932"/>
            <a:ext cx="2606040" cy="3154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Năm</a:t>
            </a:r>
            <a:r>
              <a:rPr kumimoji="0" lang="en-US" sz="120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2025</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5" name="Shape 23"/>
          <p:cNvSpPr/>
          <p:nvPr/>
        </p:nvSpPr>
        <p:spPr>
          <a:xfrm>
            <a:off x="301752" y="2359152"/>
            <a:ext cx="8503920" cy="3429000"/>
          </a:xfrm>
          <a:prstGeom prst="roundRect">
            <a:avLst>
              <a:gd name="adj" fmla="val 320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26" name="Text 24"/>
          <p:cNvSpPr/>
          <p:nvPr/>
        </p:nvSpPr>
        <p:spPr>
          <a:xfrm>
            <a:off x="576072" y="2523744"/>
            <a:ext cx="48006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Tổn</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thất</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ròng</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theo</a:t>
            </a: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65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tháng</a:t>
            </a:r>
            <a:endParaRPr kumimoji="0" lang="en-US" sz="16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27" name="Text 25"/>
          <p:cNvSpPr/>
          <p:nvPr/>
        </p:nvSpPr>
        <p:spPr>
          <a:xfrm>
            <a:off x="6748272" y="2523744"/>
            <a:ext cx="1783080" cy="3429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  </a:t>
            </a:r>
            <a:r>
              <a:rPr kumimoji="0" lang="en-US" sz="1350" b="0" i="0" u="none" strike="noStrike" kern="1200" cap="none" spc="0" normalizeH="0" baseline="0" noProof="0" dirty="0" err="1">
                <a:ln>
                  <a:noFill/>
                </a:ln>
                <a:solidFill>
                  <a:srgbClr val="2563A8"/>
                </a:solidFill>
                <a:effectLst/>
                <a:uLnTx/>
                <a:uFillTx/>
                <a:latin typeface="Arial" panose="020B0604020202020204" pitchFamily="34" charset="0"/>
                <a:ea typeface="+mn-ea"/>
                <a:cs typeface="+mn-cs"/>
              </a:rPr>
              <a:t>Xem</a:t>
            </a:r>
            <a:r>
              <a:rPr kumimoji="0" lang="en-US" sz="135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 </a:t>
            </a:r>
            <a:r>
              <a:rPr kumimoji="0" lang="en-US" sz="1350" b="0" i="0" u="none" strike="noStrike" kern="1200" cap="none" spc="0" normalizeH="0" baseline="0" noProof="0" dirty="0" err="1">
                <a:ln>
                  <a:noFill/>
                </a:ln>
                <a:solidFill>
                  <a:srgbClr val="2563A8"/>
                </a:solidFill>
                <a:effectLst/>
                <a:uLnTx/>
                <a:uFillTx/>
                <a:latin typeface="Arial" panose="020B0604020202020204" pitchFamily="34" charset="0"/>
                <a:ea typeface="+mn-ea"/>
                <a:cs typeface="+mn-cs"/>
              </a:rPr>
              <a:t>thêm</a:t>
            </a:r>
            <a:endParaRPr kumimoji="0" lang="en-US" sz="13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graphicFrame>
        <p:nvGraphicFramePr>
          <p:cNvPr id="28" name="Chart 0"/>
          <p:cNvGraphicFramePr/>
          <p:nvPr/>
        </p:nvGraphicFramePr>
        <p:xfrm>
          <a:off x="438912" y="3017520"/>
          <a:ext cx="8229600" cy="2578608"/>
        </p:xfrm>
        <a:graphic>
          <a:graphicData uri="http://schemas.openxmlformats.org/drawingml/2006/chart">
            <c:chart xmlns:c="http://schemas.openxmlformats.org/drawingml/2006/chart" xmlns:r="http://schemas.openxmlformats.org/officeDocument/2006/relationships" r:id="rId3"/>
          </a:graphicData>
        </a:graphic>
      </p:graphicFrame>
      <p:sp>
        <p:nvSpPr>
          <p:cNvPr id="29" name="Shape 26"/>
          <p:cNvSpPr/>
          <p:nvPr/>
        </p:nvSpPr>
        <p:spPr>
          <a:xfrm>
            <a:off x="9079992" y="2359152"/>
            <a:ext cx="8846820" cy="7280148"/>
          </a:xfrm>
          <a:prstGeom prst="roundRect">
            <a:avLst>
              <a:gd name="adj" fmla="val 1509"/>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30" name="Text 27"/>
          <p:cNvSpPr/>
          <p:nvPr/>
        </p:nvSpPr>
        <p:spPr>
          <a:xfrm>
            <a:off x="9354312" y="2523744"/>
            <a:ext cx="411480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Top 10 Risks</a:t>
            </a:r>
            <a:endParaRPr kumimoji="0" lang="en-US" sz="16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1" name="Text 28"/>
          <p:cNvSpPr/>
          <p:nvPr/>
        </p:nvSpPr>
        <p:spPr>
          <a:xfrm>
            <a:off x="13719844" y="2441448"/>
            <a:ext cx="3771900" cy="34290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75"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Top 10 </a:t>
            </a:r>
            <a:r>
              <a:rPr kumimoji="0" lang="en-US" sz="1275" b="0" i="0" u="none" strike="noStrike" kern="1200" cap="none" spc="0" normalizeH="0" baseline="0" noProof="0" dirty="0" err="1">
                <a:ln>
                  <a:noFill/>
                </a:ln>
                <a:solidFill>
                  <a:srgbClr val="2563A8"/>
                </a:solidFill>
                <a:effectLst/>
                <a:uLnTx/>
                <a:uFillTx/>
                <a:latin typeface="Arial" panose="020B0604020202020204" pitchFamily="34" charset="0"/>
                <a:ea typeface="+mn-ea"/>
                <a:cs typeface="+mn-cs"/>
              </a:rPr>
              <a:t>Rủi</a:t>
            </a:r>
            <a:r>
              <a:rPr kumimoji="0" lang="en-US" sz="1275"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 </a:t>
            </a:r>
            <a:r>
              <a:rPr kumimoji="0" lang="en-US" sz="1275" b="0" i="0" u="none" strike="noStrike" kern="1200" cap="none" spc="0" normalizeH="0" baseline="0" noProof="0" dirty="0" err="1">
                <a:ln>
                  <a:noFill/>
                </a:ln>
                <a:solidFill>
                  <a:srgbClr val="2563A8"/>
                </a:solidFill>
                <a:effectLst/>
                <a:uLnTx/>
                <a:uFillTx/>
                <a:latin typeface="Arial" panose="020B0604020202020204" pitchFamily="34" charset="0"/>
                <a:ea typeface="+mn-ea"/>
                <a:cs typeface="+mn-cs"/>
              </a:rPr>
              <a:t>ro</a:t>
            </a:r>
            <a:r>
              <a:rPr kumimoji="0" lang="en-US" sz="1275"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 </a:t>
            </a:r>
            <a:r>
              <a:rPr kumimoji="0" lang="en-US" sz="1275" b="0" i="0" u="none" strike="noStrike" kern="1200" cap="none" spc="0" normalizeH="0" baseline="0" noProof="0" dirty="0" err="1">
                <a:ln>
                  <a:noFill/>
                </a:ln>
                <a:solidFill>
                  <a:srgbClr val="2563A8"/>
                </a:solidFill>
                <a:effectLst/>
                <a:uLnTx/>
                <a:uFillTx/>
                <a:latin typeface="Arial" panose="020B0604020202020204" pitchFamily="34" charset="0"/>
                <a:ea typeface="+mn-ea"/>
                <a:cs typeface="+mn-cs"/>
              </a:rPr>
              <a:t>theo</a:t>
            </a:r>
            <a:r>
              <a:rPr kumimoji="0" lang="en-US" sz="1275"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 </a:t>
            </a:r>
            <a:r>
              <a:rPr kumimoji="0" lang="en-US" sz="1275" b="0" i="0" u="none" strike="noStrike" kern="1200" cap="none" spc="0" normalizeH="0" baseline="0" noProof="0" dirty="0" err="1">
                <a:ln>
                  <a:noFill/>
                </a:ln>
                <a:solidFill>
                  <a:srgbClr val="2563A8"/>
                </a:solidFill>
                <a:effectLst/>
                <a:uLnTx/>
                <a:uFillTx/>
                <a:latin typeface="Arial" panose="020B0604020202020204" pitchFamily="34" charset="0"/>
                <a:ea typeface="+mn-ea"/>
                <a:cs typeface="+mn-cs"/>
              </a:rPr>
              <a:t>trạng</a:t>
            </a:r>
            <a:r>
              <a:rPr kumimoji="0" lang="en-US" sz="1275"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 </a:t>
            </a:r>
            <a:r>
              <a:rPr kumimoji="0" lang="en-US" sz="1275" b="0" i="0" u="none" strike="noStrike" kern="1200" cap="none" spc="0" normalizeH="0" baseline="0" noProof="0" dirty="0" err="1">
                <a:ln>
                  <a:noFill/>
                </a:ln>
                <a:solidFill>
                  <a:srgbClr val="2563A8"/>
                </a:solidFill>
                <a:effectLst/>
                <a:uLnTx/>
                <a:uFillTx/>
                <a:latin typeface="Arial" panose="020B0604020202020204" pitchFamily="34" charset="0"/>
                <a:ea typeface="+mn-ea"/>
                <a:cs typeface="+mn-cs"/>
              </a:rPr>
              <a:t>thái</a:t>
            </a:r>
            <a:endParaRPr kumimoji="0" lang="en-US" sz="1275"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2" name="Shape 29"/>
          <p:cNvSpPr/>
          <p:nvPr/>
        </p:nvSpPr>
        <p:spPr>
          <a:xfrm>
            <a:off x="9217152" y="2866644"/>
            <a:ext cx="8572500" cy="493776"/>
          </a:xfrm>
          <a:prstGeom prst="rect">
            <a:avLst/>
          </a:prstGeom>
          <a:solidFill>
            <a:srgbClr val="EBF0F8"/>
          </a:solidFill>
          <a:ln w="12700">
            <a:solidFill>
              <a:srgbClr val="EBF0F8"/>
            </a:solidFill>
            <a:prstDash val="solid"/>
          </a:ln>
        </p:spPr>
        <p:txBody>
          <a:bodyPr/>
          <a:lstStyle/>
          <a:p>
            <a:endParaRPr lang="en-US"/>
          </a:p>
        </p:txBody>
      </p:sp>
      <p:sp>
        <p:nvSpPr>
          <p:cNvPr id="33" name="Text 30"/>
          <p:cNvSpPr/>
          <p:nvPr/>
        </p:nvSpPr>
        <p:spPr>
          <a:xfrm>
            <a:off x="9315450" y="3012948"/>
            <a:ext cx="212598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Rủi</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ro</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4" name="Text 31"/>
          <p:cNvSpPr/>
          <p:nvPr/>
        </p:nvSpPr>
        <p:spPr>
          <a:xfrm>
            <a:off x="11425428" y="2989326"/>
            <a:ext cx="123444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Mã</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Rủi</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ro</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5" name="Text 32"/>
          <p:cNvSpPr/>
          <p:nvPr/>
        </p:nvSpPr>
        <p:spPr>
          <a:xfrm>
            <a:off x="13030200" y="2975610"/>
            <a:ext cx="151561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Đơn</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vị</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chủ</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trì</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6" name="Text 33"/>
          <p:cNvSpPr/>
          <p:nvPr/>
        </p:nvSpPr>
        <p:spPr>
          <a:xfrm>
            <a:off x="14859000" y="2989326"/>
            <a:ext cx="1571244" cy="3154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Tổn</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thất</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dự</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kiến</a:t>
            </a:r>
            <a:r>
              <a:rPr kumimoji="0" lang="en-US" sz="1400" b="1"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(‘000 VND)</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7" name="Text 34"/>
          <p:cNvSpPr/>
          <p:nvPr/>
        </p:nvSpPr>
        <p:spPr>
          <a:xfrm>
            <a:off x="16596360" y="2989326"/>
            <a:ext cx="1028700" cy="30175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Điểm</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38" name="Shape 35"/>
          <p:cNvSpPr/>
          <p:nvPr/>
        </p:nvSpPr>
        <p:spPr>
          <a:xfrm>
            <a:off x="9217152" y="3360420"/>
            <a:ext cx="8572500" cy="658368"/>
          </a:xfrm>
          <a:prstGeom prst="rect">
            <a:avLst/>
          </a:prstGeom>
          <a:solidFill>
            <a:srgbClr val="F8FAFD"/>
          </a:solidFill>
          <a:ln w="12700">
            <a:solidFill>
              <a:srgbClr val="F8FAFD"/>
            </a:solidFill>
            <a:prstDash val="solid"/>
          </a:ln>
        </p:spPr>
        <p:txBody>
          <a:bodyPr/>
          <a:lstStyle/>
          <a:p>
            <a:endParaRPr lang="en-US"/>
          </a:p>
        </p:txBody>
      </p:sp>
      <p:sp>
        <p:nvSpPr>
          <p:cNvPr id="39" name="Text 36"/>
          <p:cNvSpPr/>
          <p:nvPr/>
        </p:nvSpPr>
        <p:spPr>
          <a:xfrm>
            <a:off x="9276261" y="3534918"/>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Vận</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hành</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0" name="Text 37"/>
          <p:cNvSpPr/>
          <p:nvPr/>
        </p:nvSpPr>
        <p:spPr>
          <a:xfrm>
            <a:off x="9244584" y="3621024"/>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1" name="Text 38"/>
          <p:cNvSpPr/>
          <p:nvPr/>
        </p:nvSpPr>
        <p:spPr>
          <a:xfrm>
            <a:off x="11480292" y="3483864"/>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RC-51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2" name="Text 39"/>
          <p:cNvSpPr/>
          <p:nvPr/>
        </p:nvSpPr>
        <p:spPr>
          <a:xfrm>
            <a:off x="12954000" y="34838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Trung</a:t>
            </a: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tâm</a:t>
            </a: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TTS</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3" name="Text 40"/>
          <p:cNvSpPr/>
          <p:nvPr/>
        </p:nvSpPr>
        <p:spPr>
          <a:xfrm>
            <a:off x="15052548" y="34838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VND3,995</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4" name="Shape 41"/>
          <p:cNvSpPr/>
          <p:nvPr/>
        </p:nvSpPr>
        <p:spPr>
          <a:xfrm>
            <a:off x="16596360" y="3456432"/>
            <a:ext cx="768096" cy="384048"/>
          </a:xfrm>
          <a:prstGeom prst="roundRect">
            <a:avLst>
              <a:gd name="adj" fmla="val 17857"/>
            </a:avLst>
          </a:prstGeom>
          <a:solidFill>
            <a:srgbClr val="C0392B"/>
          </a:solidFill>
          <a:ln w="12700">
            <a:solidFill>
              <a:srgbClr val="C0392B"/>
            </a:solidFill>
            <a:prstDash val="solid"/>
          </a:ln>
        </p:spPr>
        <p:txBody>
          <a:bodyPr/>
          <a:lstStyle/>
          <a:p>
            <a:endParaRPr lang="en-US"/>
          </a:p>
        </p:txBody>
      </p:sp>
      <p:sp>
        <p:nvSpPr>
          <p:cNvPr id="45" name="Text 42"/>
          <p:cNvSpPr/>
          <p:nvPr/>
        </p:nvSpPr>
        <p:spPr>
          <a:xfrm>
            <a:off x="16596360" y="34564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38</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6" name="Text 43"/>
          <p:cNvSpPr/>
          <p:nvPr/>
        </p:nvSpPr>
        <p:spPr>
          <a:xfrm>
            <a:off x="9276261" y="4251960"/>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Quản</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trị</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Hệ</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thống</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9" name="Text 46"/>
          <p:cNvSpPr/>
          <p:nvPr/>
        </p:nvSpPr>
        <p:spPr>
          <a:xfrm>
            <a:off x="12954000" y="41696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Phòng CNTT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0" name="Text 47"/>
          <p:cNvSpPr/>
          <p:nvPr/>
        </p:nvSpPr>
        <p:spPr>
          <a:xfrm>
            <a:off x="15052548" y="41696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VND4,020</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1" name="Shape 48"/>
          <p:cNvSpPr/>
          <p:nvPr/>
        </p:nvSpPr>
        <p:spPr>
          <a:xfrm>
            <a:off x="16596360" y="4142232"/>
            <a:ext cx="768096" cy="384048"/>
          </a:xfrm>
          <a:prstGeom prst="roundRect">
            <a:avLst>
              <a:gd name="adj" fmla="val 17857"/>
            </a:avLst>
          </a:prstGeom>
          <a:solidFill>
            <a:srgbClr val="E07B2E"/>
          </a:solidFill>
          <a:ln w="12700">
            <a:solidFill>
              <a:srgbClr val="E07B2E"/>
            </a:solidFill>
            <a:prstDash val="solid"/>
          </a:ln>
        </p:spPr>
        <p:txBody>
          <a:bodyPr/>
          <a:lstStyle/>
          <a:p>
            <a:endParaRPr lang="en-US"/>
          </a:p>
        </p:txBody>
      </p:sp>
      <p:sp>
        <p:nvSpPr>
          <p:cNvPr id="52" name="Text 49"/>
          <p:cNvSpPr/>
          <p:nvPr/>
        </p:nvSpPr>
        <p:spPr>
          <a:xfrm>
            <a:off x="16596360" y="41422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34</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3" name="Shape 50"/>
          <p:cNvSpPr/>
          <p:nvPr/>
        </p:nvSpPr>
        <p:spPr>
          <a:xfrm>
            <a:off x="9217152" y="4732020"/>
            <a:ext cx="8572500" cy="658368"/>
          </a:xfrm>
          <a:prstGeom prst="rect">
            <a:avLst/>
          </a:prstGeom>
          <a:solidFill>
            <a:srgbClr val="F8FAFD"/>
          </a:solidFill>
          <a:ln w="12700">
            <a:solidFill>
              <a:srgbClr val="F8FAFD"/>
            </a:solidFill>
            <a:prstDash val="solid"/>
          </a:ln>
        </p:spPr>
        <p:txBody>
          <a:bodyPr/>
          <a:lstStyle/>
          <a:p>
            <a:endParaRPr lang="en-US"/>
          </a:p>
        </p:txBody>
      </p:sp>
      <p:sp>
        <p:nvSpPr>
          <p:cNvPr id="54" name="Text 51"/>
          <p:cNvSpPr/>
          <p:nvPr/>
        </p:nvSpPr>
        <p:spPr>
          <a:xfrm>
            <a:off x="9276261" y="4937760"/>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Vận</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hành</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Hệ</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thống</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7" name="Text 54"/>
          <p:cNvSpPr/>
          <p:nvPr/>
        </p:nvSpPr>
        <p:spPr>
          <a:xfrm>
            <a:off x="12954000" y="48554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Phòng CNTT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8" name="Text 55"/>
          <p:cNvSpPr/>
          <p:nvPr/>
        </p:nvSpPr>
        <p:spPr>
          <a:xfrm>
            <a:off x="15052548" y="48554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VND2,014</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59" name="Shape 56"/>
          <p:cNvSpPr/>
          <p:nvPr/>
        </p:nvSpPr>
        <p:spPr>
          <a:xfrm>
            <a:off x="16596360" y="4828032"/>
            <a:ext cx="768096" cy="384048"/>
          </a:xfrm>
          <a:prstGeom prst="roundRect">
            <a:avLst>
              <a:gd name="adj" fmla="val 17857"/>
            </a:avLst>
          </a:prstGeom>
          <a:solidFill>
            <a:srgbClr val="C0392B"/>
          </a:solidFill>
          <a:ln w="12700">
            <a:solidFill>
              <a:srgbClr val="C0392B"/>
            </a:solidFill>
            <a:prstDash val="solid"/>
          </a:ln>
        </p:spPr>
        <p:txBody>
          <a:bodyPr/>
          <a:lstStyle/>
          <a:p>
            <a:endParaRPr lang="en-US"/>
          </a:p>
        </p:txBody>
      </p:sp>
      <p:sp>
        <p:nvSpPr>
          <p:cNvPr id="60" name="Text 57"/>
          <p:cNvSpPr/>
          <p:nvPr/>
        </p:nvSpPr>
        <p:spPr>
          <a:xfrm>
            <a:off x="16596360" y="48280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37</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1" name="Text 58"/>
          <p:cNvSpPr/>
          <p:nvPr/>
        </p:nvSpPr>
        <p:spPr>
          <a:xfrm>
            <a:off x="9276261" y="5623560"/>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Kinh</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doanh</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bảo</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hiểm</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4" name="Text 61"/>
          <p:cNvSpPr/>
          <p:nvPr/>
        </p:nvSpPr>
        <p:spPr>
          <a:xfrm>
            <a:off x="12954000" y="55412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ĐVKD</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5" name="Text 62"/>
          <p:cNvSpPr/>
          <p:nvPr/>
        </p:nvSpPr>
        <p:spPr>
          <a:xfrm>
            <a:off x="15052548" y="55412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VND3,626</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6" name="Shape 63"/>
          <p:cNvSpPr/>
          <p:nvPr/>
        </p:nvSpPr>
        <p:spPr>
          <a:xfrm>
            <a:off x="16596360" y="5513832"/>
            <a:ext cx="768096" cy="384048"/>
          </a:xfrm>
          <a:prstGeom prst="roundRect">
            <a:avLst>
              <a:gd name="adj" fmla="val 17857"/>
            </a:avLst>
          </a:prstGeom>
          <a:solidFill>
            <a:srgbClr val="E07B2E"/>
          </a:solidFill>
          <a:ln w="12700">
            <a:solidFill>
              <a:srgbClr val="E07B2E"/>
            </a:solidFill>
            <a:prstDash val="solid"/>
          </a:ln>
        </p:spPr>
        <p:txBody>
          <a:bodyPr/>
          <a:lstStyle/>
          <a:p>
            <a:endParaRPr lang="en-US"/>
          </a:p>
        </p:txBody>
      </p:sp>
      <p:sp>
        <p:nvSpPr>
          <p:cNvPr id="67" name="Text 64"/>
          <p:cNvSpPr/>
          <p:nvPr/>
        </p:nvSpPr>
        <p:spPr>
          <a:xfrm>
            <a:off x="16596360" y="55138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35</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68" name="Shape 65"/>
          <p:cNvSpPr/>
          <p:nvPr/>
        </p:nvSpPr>
        <p:spPr>
          <a:xfrm>
            <a:off x="9217152" y="6103620"/>
            <a:ext cx="8572500" cy="658368"/>
          </a:xfrm>
          <a:prstGeom prst="rect">
            <a:avLst/>
          </a:prstGeom>
          <a:solidFill>
            <a:srgbClr val="F8FAFD"/>
          </a:solidFill>
          <a:ln w="12700">
            <a:solidFill>
              <a:srgbClr val="F8FAFD"/>
            </a:solidFill>
            <a:prstDash val="solid"/>
          </a:ln>
        </p:spPr>
        <p:txBody>
          <a:bodyPr/>
          <a:lstStyle/>
          <a:p>
            <a:endParaRPr lang="en-US"/>
          </a:p>
        </p:txBody>
      </p:sp>
      <p:sp>
        <p:nvSpPr>
          <p:cNvPr id="69" name="Text 66"/>
          <p:cNvSpPr/>
          <p:nvPr/>
        </p:nvSpPr>
        <p:spPr>
          <a:xfrm>
            <a:off x="9276261" y="6309360"/>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Kiểm</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soát</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Doanh</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nghiệp</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2" name="Text 69"/>
          <p:cNvSpPr/>
          <p:nvPr/>
        </p:nvSpPr>
        <p:spPr>
          <a:xfrm>
            <a:off x="12954000" y="62270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Phòng PC &amp; QTRR</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3" name="Text 70"/>
          <p:cNvSpPr/>
          <p:nvPr/>
        </p:nvSpPr>
        <p:spPr>
          <a:xfrm>
            <a:off x="15052548" y="62270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VND2,347</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4" name="Shape 71"/>
          <p:cNvSpPr/>
          <p:nvPr/>
        </p:nvSpPr>
        <p:spPr>
          <a:xfrm>
            <a:off x="16596360" y="6199632"/>
            <a:ext cx="768096" cy="384048"/>
          </a:xfrm>
          <a:prstGeom prst="roundRect">
            <a:avLst>
              <a:gd name="adj" fmla="val 17857"/>
            </a:avLst>
          </a:prstGeom>
          <a:solidFill>
            <a:srgbClr val="E8B84B"/>
          </a:solidFill>
          <a:ln w="12700">
            <a:solidFill>
              <a:srgbClr val="E8B84B"/>
            </a:solidFill>
            <a:prstDash val="solid"/>
          </a:ln>
        </p:spPr>
        <p:txBody>
          <a:bodyPr/>
          <a:lstStyle/>
          <a:p>
            <a:endParaRPr lang="en-US"/>
          </a:p>
        </p:txBody>
      </p:sp>
      <p:sp>
        <p:nvSpPr>
          <p:cNvPr id="75" name="Text 72"/>
          <p:cNvSpPr/>
          <p:nvPr/>
        </p:nvSpPr>
        <p:spPr>
          <a:xfrm>
            <a:off x="16596360" y="61996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33</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6" name="Text 73"/>
          <p:cNvSpPr/>
          <p:nvPr/>
        </p:nvSpPr>
        <p:spPr>
          <a:xfrm>
            <a:off x="9276261" y="6995160"/>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Tuân</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thủ</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79" name="Text 76"/>
          <p:cNvSpPr/>
          <p:nvPr/>
        </p:nvSpPr>
        <p:spPr>
          <a:xfrm>
            <a:off x="12954000" y="69128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Phòng PC &amp; QTRR</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0" name="Text 77"/>
          <p:cNvSpPr/>
          <p:nvPr/>
        </p:nvSpPr>
        <p:spPr>
          <a:xfrm>
            <a:off x="15052548" y="69128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VND1,918</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1" name="Shape 78"/>
          <p:cNvSpPr/>
          <p:nvPr/>
        </p:nvSpPr>
        <p:spPr>
          <a:xfrm>
            <a:off x="16596360" y="6885432"/>
            <a:ext cx="768096" cy="384048"/>
          </a:xfrm>
          <a:prstGeom prst="roundRect">
            <a:avLst>
              <a:gd name="adj" fmla="val 17857"/>
            </a:avLst>
          </a:prstGeom>
          <a:solidFill>
            <a:srgbClr val="E07B2E"/>
          </a:solidFill>
          <a:ln w="12700">
            <a:solidFill>
              <a:srgbClr val="E07B2E"/>
            </a:solidFill>
            <a:prstDash val="solid"/>
          </a:ln>
        </p:spPr>
        <p:txBody>
          <a:bodyPr/>
          <a:lstStyle/>
          <a:p>
            <a:endParaRPr lang="en-US"/>
          </a:p>
        </p:txBody>
      </p:sp>
      <p:sp>
        <p:nvSpPr>
          <p:cNvPr id="82" name="Text 79"/>
          <p:cNvSpPr/>
          <p:nvPr/>
        </p:nvSpPr>
        <p:spPr>
          <a:xfrm>
            <a:off x="16596360" y="68854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34</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3" name="Shape 80"/>
          <p:cNvSpPr/>
          <p:nvPr/>
        </p:nvSpPr>
        <p:spPr>
          <a:xfrm>
            <a:off x="9217152" y="7475220"/>
            <a:ext cx="8572500" cy="658368"/>
          </a:xfrm>
          <a:prstGeom prst="rect">
            <a:avLst/>
          </a:prstGeom>
          <a:solidFill>
            <a:srgbClr val="F8FAFD"/>
          </a:solidFill>
          <a:ln w="12700">
            <a:solidFill>
              <a:srgbClr val="F8FAFD"/>
            </a:solidFill>
            <a:prstDash val="solid"/>
          </a:ln>
        </p:spPr>
        <p:txBody>
          <a:bodyPr/>
          <a:lstStyle/>
          <a:p>
            <a:endParaRPr lang="en-US"/>
          </a:p>
        </p:txBody>
      </p:sp>
      <p:sp>
        <p:nvSpPr>
          <p:cNvPr id="84" name="Text 81"/>
          <p:cNvSpPr/>
          <p:nvPr/>
        </p:nvSpPr>
        <p:spPr>
          <a:xfrm>
            <a:off x="9276261" y="7680960"/>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Công</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nghệ</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thông</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tin</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7" name="Text 84"/>
          <p:cNvSpPr/>
          <p:nvPr/>
        </p:nvSpPr>
        <p:spPr>
          <a:xfrm>
            <a:off x="12954000" y="75986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Phòng CNTT</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8" name="Text 85"/>
          <p:cNvSpPr/>
          <p:nvPr/>
        </p:nvSpPr>
        <p:spPr>
          <a:xfrm>
            <a:off x="15052548" y="75986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VND4,017</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89" name="Shape 86"/>
          <p:cNvSpPr/>
          <p:nvPr/>
        </p:nvSpPr>
        <p:spPr>
          <a:xfrm>
            <a:off x="16596360" y="7571232"/>
            <a:ext cx="768096" cy="384048"/>
          </a:xfrm>
          <a:prstGeom prst="roundRect">
            <a:avLst>
              <a:gd name="adj" fmla="val 17857"/>
            </a:avLst>
          </a:prstGeom>
          <a:solidFill>
            <a:srgbClr val="E8B84B"/>
          </a:solidFill>
          <a:ln w="12700">
            <a:solidFill>
              <a:srgbClr val="E8B84B"/>
            </a:solidFill>
            <a:prstDash val="solid"/>
          </a:ln>
        </p:spPr>
        <p:txBody>
          <a:bodyPr/>
          <a:lstStyle/>
          <a:p>
            <a:endParaRPr lang="en-US"/>
          </a:p>
        </p:txBody>
      </p:sp>
      <p:sp>
        <p:nvSpPr>
          <p:cNvPr id="90" name="Text 87"/>
          <p:cNvSpPr/>
          <p:nvPr/>
        </p:nvSpPr>
        <p:spPr>
          <a:xfrm>
            <a:off x="16596360" y="75712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33</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1" name="Text 88"/>
          <p:cNvSpPr/>
          <p:nvPr/>
        </p:nvSpPr>
        <p:spPr>
          <a:xfrm>
            <a:off x="9276261" y="8366760"/>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Nhân</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sự</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4" name="Text 91"/>
          <p:cNvSpPr/>
          <p:nvPr/>
        </p:nvSpPr>
        <p:spPr>
          <a:xfrm>
            <a:off x="12954000" y="82844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Phòng </a:t>
            </a:r>
            <a:r>
              <a:rPr kumimoji="0" lang="en-US" sz="1200" b="0"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Nhân</a:t>
            </a: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200" b="0"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sự</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5" name="Text 92"/>
          <p:cNvSpPr/>
          <p:nvPr/>
        </p:nvSpPr>
        <p:spPr>
          <a:xfrm>
            <a:off x="15052548" y="82844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VND7,201</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6" name="Shape 93"/>
          <p:cNvSpPr/>
          <p:nvPr/>
        </p:nvSpPr>
        <p:spPr>
          <a:xfrm>
            <a:off x="16596360" y="8257032"/>
            <a:ext cx="768096" cy="384048"/>
          </a:xfrm>
          <a:prstGeom prst="roundRect">
            <a:avLst>
              <a:gd name="adj" fmla="val 17857"/>
            </a:avLst>
          </a:prstGeom>
          <a:solidFill>
            <a:srgbClr val="E07B2E"/>
          </a:solidFill>
          <a:ln w="12700">
            <a:solidFill>
              <a:srgbClr val="E07B2E"/>
            </a:solidFill>
            <a:prstDash val="solid"/>
          </a:ln>
        </p:spPr>
        <p:txBody>
          <a:bodyPr/>
          <a:lstStyle/>
          <a:p>
            <a:endParaRPr lang="en-US"/>
          </a:p>
        </p:txBody>
      </p:sp>
      <p:sp>
        <p:nvSpPr>
          <p:cNvPr id="97" name="Text 94"/>
          <p:cNvSpPr/>
          <p:nvPr/>
        </p:nvSpPr>
        <p:spPr>
          <a:xfrm>
            <a:off x="16596360" y="82570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34</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98" name="Shape 95"/>
          <p:cNvSpPr/>
          <p:nvPr/>
        </p:nvSpPr>
        <p:spPr>
          <a:xfrm>
            <a:off x="9121140" y="8791956"/>
            <a:ext cx="8572500" cy="658368"/>
          </a:xfrm>
          <a:prstGeom prst="rect">
            <a:avLst/>
          </a:prstGeom>
          <a:solidFill>
            <a:srgbClr val="F8FAFD"/>
          </a:solidFill>
          <a:ln w="12700">
            <a:solidFill>
              <a:srgbClr val="F8FAFD"/>
            </a:solidFill>
            <a:prstDash val="solid"/>
          </a:ln>
        </p:spPr>
        <p:txBody>
          <a:bodyPr/>
          <a:lstStyle/>
          <a:p>
            <a:endParaRPr lang="en-US"/>
          </a:p>
        </p:txBody>
      </p:sp>
      <p:sp>
        <p:nvSpPr>
          <p:cNvPr id="99" name="Text 96"/>
          <p:cNvSpPr/>
          <p:nvPr/>
        </p:nvSpPr>
        <p:spPr>
          <a:xfrm>
            <a:off x="9227058" y="9025128"/>
            <a:ext cx="212598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Danh</a:t>
            </a:r>
            <a:r>
              <a:rPr kumimoji="0" lang="en-US" sz="1400" b="1"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a:t>
            </a:r>
            <a:r>
              <a:rPr kumimoji="0" lang="en-US" sz="1400" b="1"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tiếng</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1" name="Text 98"/>
          <p:cNvSpPr/>
          <p:nvPr/>
        </p:nvSpPr>
        <p:spPr>
          <a:xfrm>
            <a:off x="11480292" y="8970264"/>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2" name="Text 99"/>
          <p:cNvSpPr/>
          <p:nvPr/>
        </p:nvSpPr>
        <p:spPr>
          <a:xfrm>
            <a:off x="12954000" y="8970264"/>
            <a:ext cx="1824228"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Phòng Quản </a:t>
            </a:r>
            <a:r>
              <a:rPr kumimoji="0" lang="en-US" sz="1200" b="0" i="0" u="none" strike="noStrike" kern="1200" cap="none" spc="0" normalizeH="0" baseline="0" noProof="0" dirty="0" err="1">
                <a:ln>
                  <a:noFill/>
                </a:ln>
                <a:solidFill>
                  <a:srgbClr val="1A2540"/>
                </a:solidFill>
                <a:effectLst/>
                <a:uLnTx/>
                <a:uFillTx/>
                <a:latin typeface="Arial" panose="020B0604020202020204" pitchFamily="34" charset="0"/>
                <a:ea typeface="+mn-ea"/>
                <a:cs typeface="+mn-cs"/>
              </a:rPr>
              <a:t>lý</a:t>
            </a:r>
            <a:r>
              <a:rPr kumimoji="0" lang="en-US" sz="1200" b="0" i="0" u="none" strike="noStrike" kern="1200" cap="none" spc="0" normalizeH="0" baseline="0" noProof="0" dirty="0">
                <a:ln>
                  <a:noFill/>
                </a:ln>
                <a:solidFill>
                  <a:srgbClr val="1A2540"/>
                </a:solidFill>
                <a:effectLst/>
                <a:uLnTx/>
                <a:uFillTx/>
                <a:latin typeface="Arial" panose="020B0604020202020204" pitchFamily="34" charset="0"/>
                <a:ea typeface="+mn-ea"/>
                <a:cs typeface="+mn-cs"/>
              </a:rPr>
              <a:t> TNKH</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3" name="Text 100"/>
          <p:cNvSpPr/>
          <p:nvPr/>
        </p:nvSpPr>
        <p:spPr>
          <a:xfrm>
            <a:off x="15052548" y="8970264"/>
            <a:ext cx="982980" cy="4114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A2540"/>
                </a:solidFill>
                <a:effectLst/>
                <a:uLnTx/>
                <a:uFillTx/>
                <a:latin typeface="Arial" panose="020B0604020202020204" pitchFamily="34" charset="0"/>
                <a:ea typeface="+mn-ea"/>
                <a:cs typeface="+mn-cs"/>
              </a:rPr>
              <a:t>VND1,205</a:t>
            </a: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4" name="Shape 101"/>
          <p:cNvSpPr/>
          <p:nvPr/>
        </p:nvSpPr>
        <p:spPr>
          <a:xfrm>
            <a:off x="16596360" y="8942832"/>
            <a:ext cx="768096" cy="384048"/>
          </a:xfrm>
          <a:prstGeom prst="roundRect">
            <a:avLst>
              <a:gd name="adj" fmla="val 17857"/>
            </a:avLst>
          </a:prstGeom>
          <a:solidFill>
            <a:srgbClr val="E8B84B"/>
          </a:solidFill>
          <a:ln w="12700">
            <a:solidFill>
              <a:srgbClr val="E8B84B"/>
            </a:solidFill>
            <a:prstDash val="solid"/>
          </a:ln>
        </p:spPr>
        <p:txBody>
          <a:bodyPr/>
          <a:lstStyle/>
          <a:p>
            <a:endParaRPr lang="en-US"/>
          </a:p>
        </p:txBody>
      </p:sp>
      <p:sp>
        <p:nvSpPr>
          <p:cNvPr id="105" name="Text 102"/>
          <p:cNvSpPr/>
          <p:nvPr/>
        </p:nvSpPr>
        <p:spPr>
          <a:xfrm>
            <a:off x="16596360" y="8942832"/>
            <a:ext cx="768096"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rPr>
              <a:t>32</a:t>
            </a: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6" name="Shape 103"/>
          <p:cNvSpPr/>
          <p:nvPr/>
        </p:nvSpPr>
        <p:spPr>
          <a:xfrm>
            <a:off x="400594" y="6221766"/>
            <a:ext cx="1604772" cy="850392"/>
          </a:xfrm>
          <a:prstGeom prst="roundRect">
            <a:avLst>
              <a:gd name="adj" fmla="val 1129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107" name="Text 104"/>
          <p:cNvSpPr/>
          <p:nvPr/>
        </p:nvSpPr>
        <p:spPr>
          <a:xfrm>
            <a:off x="400594" y="6304062"/>
            <a:ext cx="160477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E3A5F"/>
                </a:solidFill>
                <a:effectLst/>
                <a:uLnTx/>
                <a:uFillTx/>
                <a:latin typeface="Arial" panose="020B0604020202020204" pitchFamily="34" charset="0"/>
                <a:ea typeface="+mn-ea"/>
                <a:cs typeface="+mn-cs"/>
              </a:rPr>
              <a:t>$963.9k</a:t>
            </a:r>
            <a:endParaRPr kumimoji="0" lang="en-US" sz="2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8" name="Text 105"/>
          <p:cNvSpPr/>
          <p:nvPr/>
        </p:nvSpPr>
        <p:spPr>
          <a:xfrm>
            <a:off x="400594" y="6742974"/>
            <a:ext cx="1604772"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Total Exposure</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09" name="Shape 106"/>
          <p:cNvSpPr/>
          <p:nvPr/>
        </p:nvSpPr>
        <p:spPr>
          <a:xfrm>
            <a:off x="2115094" y="6221766"/>
            <a:ext cx="1604772" cy="850392"/>
          </a:xfrm>
          <a:prstGeom prst="roundRect">
            <a:avLst>
              <a:gd name="adj" fmla="val 1129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110" name="Text 107"/>
          <p:cNvSpPr/>
          <p:nvPr/>
        </p:nvSpPr>
        <p:spPr>
          <a:xfrm>
            <a:off x="2115094" y="6304062"/>
            <a:ext cx="160477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C0392B"/>
                </a:solidFill>
                <a:effectLst/>
                <a:uLnTx/>
                <a:uFillTx/>
                <a:latin typeface="Arial" panose="020B0604020202020204" pitchFamily="34" charset="0"/>
                <a:ea typeface="+mn-ea"/>
                <a:cs typeface="+mn-cs"/>
              </a:rPr>
              <a:t>$2.14M</a:t>
            </a:r>
            <a:endParaRPr kumimoji="0" lang="en-US" sz="2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11" name="Text 108"/>
          <p:cNvSpPr/>
          <p:nvPr/>
        </p:nvSpPr>
        <p:spPr>
          <a:xfrm>
            <a:off x="2115094" y="6742974"/>
            <a:ext cx="1604772"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Số</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tiền</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rủi</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ro</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cao</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12" name="Shape 109"/>
          <p:cNvSpPr/>
          <p:nvPr/>
        </p:nvSpPr>
        <p:spPr>
          <a:xfrm>
            <a:off x="3829594" y="6221766"/>
            <a:ext cx="1604772" cy="850392"/>
          </a:xfrm>
          <a:prstGeom prst="roundRect">
            <a:avLst>
              <a:gd name="adj" fmla="val 1129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113" name="Text 110"/>
          <p:cNvSpPr/>
          <p:nvPr/>
        </p:nvSpPr>
        <p:spPr>
          <a:xfrm>
            <a:off x="3829594" y="6304062"/>
            <a:ext cx="160477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E07B2E"/>
                </a:solidFill>
                <a:effectLst/>
                <a:uLnTx/>
                <a:uFillTx/>
                <a:latin typeface="Arial" panose="020B0604020202020204" pitchFamily="34" charset="0"/>
                <a:ea typeface="+mn-ea"/>
                <a:cs typeface="+mn-cs"/>
              </a:rPr>
              <a:t>9</a:t>
            </a:r>
            <a:endParaRPr kumimoji="0" lang="en-US" sz="2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14" name="Text 111"/>
          <p:cNvSpPr/>
          <p:nvPr/>
        </p:nvSpPr>
        <p:spPr>
          <a:xfrm>
            <a:off x="3829594" y="6742974"/>
            <a:ext cx="1604772"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Rủi</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ro</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rất</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cao</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15" name="Shape 112"/>
          <p:cNvSpPr/>
          <p:nvPr/>
        </p:nvSpPr>
        <p:spPr>
          <a:xfrm>
            <a:off x="5544094" y="6221766"/>
            <a:ext cx="1604772" cy="850392"/>
          </a:xfrm>
          <a:prstGeom prst="roundRect">
            <a:avLst>
              <a:gd name="adj" fmla="val 1129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116" name="Text 113"/>
          <p:cNvSpPr/>
          <p:nvPr/>
        </p:nvSpPr>
        <p:spPr>
          <a:xfrm>
            <a:off x="5544094" y="6304062"/>
            <a:ext cx="160477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0D7C8C"/>
                </a:solidFill>
                <a:effectLst/>
                <a:uLnTx/>
                <a:uFillTx/>
                <a:latin typeface="Arial" panose="020B0604020202020204" pitchFamily="34" charset="0"/>
                <a:ea typeface="+mn-ea"/>
                <a:cs typeface="+mn-cs"/>
              </a:rPr>
              <a:t>35</a:t>
            </a:r>
            <a:endParaRPr kumimoji="0" lang="en-US" sz="2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17" name="Text 114"/>
          <p:cNvSpPr/>
          <p:nvPr/>
        </p:nvSpPr>
        <p:spPr>
          <a:xfrm>
            <a:off x="5544094" y="6742974"/>
            <a:ext cx="1604772"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Điểm</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rủi</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ro</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trung</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bình</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18" name="Shape 115"/>
          <p:cNvSpPr/>
          <p:nvPr/>
        </p:nvSpPr>
        <p:spPr>
          <a:xfrm>
            <a:off x="7258594" y="6221766"/>
            <a:ext cx="1604772" cy="850392"/>
          </a:xfrm>
          <a:prstGeom prst="roundRect">
            <a:avLst>
              <a:gd name="adj" fmla="val 11290"/>
            </a:avLst>
          </a:prstGeom>
          <a:solidFill>
            <a:srgbClr val="FFFFFF"/>
          </a:solidFill>
          <a:ln w="12700">
            <a:solidFill>
              <a:srgbClr val="D1D9E6"/>
            </a:solidFill>
            <a:prstDash val="solid"/>
          </a:ln>
          <a:effectLst>
            <a:outerShdw blurRad="101600" dist="38100" dir="2700000" algn="bl" rotWithShape="0">
              <a:srgbClr val="000000">
                <a:alpha val="10000"/>
              </a:srgbClr>
            </a:outerShdw>
          </a:effectLst>
        </p:spPr>
        <p:txBody>
          <a:bodyPr/>
          <a:lstStyle/>
          <a:p>
            <a:endParaRPr lang="en-US"/>
          </a:p>
        </p:txBody>
      </p:sp>
      <p:sp>
        <p:nvSpPr>
          <p:cNvPr id="119" name="Text 116"/>
          <p:cNvSpPr/>
          <p:nvPr/>
        </p:nvSpPr>
        <p:spPr>
          <a:xfrm>
            <a:off x="7258594" y="6304062"/>
            <a:ext cx="1604772"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E8C5A"/>
                </a:solidFill>
                <a:effectLst/>
                <a:uLnTx/>
                <a:uFillTx/>
                <a:latin typeface="Arial" panose="020B0604020202020204" pitchFamily="34" charset="0"/>
                <a:ea typeface="+mn-ea"/>
                <a:cs typeface="+mn-cs"/>
              </a:rPr>
              <a:t>3 </a:t>
            </a:r>
            <a:r>
              <a:rPr kumimoji="0" lang="en-US" sz="2100" b="1" i="0" u="none" strike="noStrike" kern="1200" cap="none" spc="0" normalizeH="0" baseline="0" noProof="0" dirty="0" err="1">
                <a:ln>
                  <a:noFill/>
                </a:ln>
                <a:solidFill>
                  <a:srgbClr val="1E8C5A"/>
                </a:solidFill>
                <a:effectLst/>
                <a:uLnTx/>
                <a:uFillTx/>
                <a:latin typeface="Arial" panose="020B0604020202020204" pitchFamily="34" charset="0"/>
                <a:ea typeface="+mn-ea"/>
                <a:cs typeface="+mn-cs"/>
              </a:rPr>
              <a:t>lĩnh</a:t>
            </a:r>
            <a:r>
              <a:rPr kumimoji="0" lang="en-US" sz="2100" b="1" i="0" u="none" strike="noStrike" kern="1200" cap="none" spc="0" normalizeH="0" baseline="0" noProof="0" dirty="0">
                <a:ln>
                  <a:noFill/>
                </a:ln>
                <a:solidFill>
                  <a:srgbClr val="1E8C5A"/>
                </a:solidFill>
                <a:effectLst/>
                <a:uLnTx/>
                <a:uFillTx/>
                <a:latin typeface="Arial" panose="020B0604020202020204" pitchFamily="34" charset="0"/>
                <a:ea typeface="+mn-ea"/>
                <a:cs typeface="+mn-cs"/>
              </a:rPr>
              <a:t> </a:t>
            </a:r>
            <a:r>
              <a:rPr kumimoji="0" lang="en-US" sz="2100" b="1" i="0" u="none" strike="noStrike" kern="1200" cap="none" spc="0" normalizeH="0" baseline="0" noProof="0" dirty="0" err="1">
                <a:ln>
                  <a:noFill/>
                </a:ln>
                <a:solidFill>
                  <a:srgbClr val="1E8C5A"/>
                </a:solidFill>
                <a:effectLst/>
                <a:uLnTx/>
                <a:uFillTx/>
                <a:latin typeface="Arial" panose="020B0604020202020204" pitchFamily="34" charset="0"/>
                <a:ea typeface="+mn-ea"/>
                <a:cs typeface="+mn-cs"/>
              </a:rPr>
              <a:t>vực</a:t>
            </a:r>
            <a:endParaRPr kumimoji="0" lang="en-US" sz="2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20" name="Text 117"/>
          <p:cNvSpPr/>
          <p:nvPr/>
        </p:nvSpPr>
        <p:spPr>
          <a:xfrm>
            <a:off x="7258594" y="6742974"/>
            <a:ext cx="1604772" cy="2468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Đơn</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vị</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kinh</a:t>
            </a:r>
            <a:r>
              <a:rPr kumimoji="0" lang="en-US" sz="1050" b="0" i="0" u="none" strike="noStrike" kern="1200" cap="none" spc="0" normalizeH="0" baseline="0" noProof="0" dirty="0">
                <a:ln>
                  <a:noFill/>
                </a:ln>
                <a:solidFill>
                  <a:srgbClr val="4A5568"/>
                </a:solidFill>
                <a:effectLst/>
                <a:uLnTx/>
                <a:uFillTx/>
                <a:latin typeface="Arial" panose="020B0604020202020204" pitchFamily="34" charset="0"/>
                <a:ea typeface="+mn-ea"/>
                <a:cs typeface="+mn-cs"/>
              </a:rPr>
              <a:t> </a:t>
            </a:r>
            <a:r>
              <a:rPr kumimoji="0" lang="en-US" sz="1050" b="0" i="0" u="none" strike="noStrike" kern="1200" cap="none" spc="0" normalizeH="0" baseline="0" noProof="0" dirty="0" err="1">
                <a:ln>
                  <a:noFill/>
                </a:ln>
                <a:solidFill>
                  <a:srgbClr val="4A5568"/>
                </a:solidFill>
                <a:effectLst/>
                <a:uLnTx/>
                <a:uFillTx/>
                <a:latin typeface="Arial" panose="020B0604020202020204" pitchFamily="34" charset="0"/>
                <a:ea typeface="+mn-ea"/>
                <a:cs typeface="+mn-cs"/>
              </a:rPr>
              <a:t>doanh</a:t>
            </a:r>
            <a:endParaRPr kumimoji="0" lang="en-US" sz="105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pic>
        <p:nvPicPr>
          <p:cNvPr id="121" name="Picture 2" descr="cid:image001.png@01DCE1E8.B16969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4336"/>
            <a:ext cx="1321179" cy="744665"/>
          </a:xfrm>
          <a:prstGeom prst="rect">
            <a:avLst/>
          </a:prstGeom>
          <a:solidFill>
            <a:schemeClr val="bg1"/>
          </a:solidFill>
          <a:ln>
            <a:noFill/>
          </a:ln>
        </p:spPr>
      </p:pic>
      <p:sp>
        <p:nvSpPr>
          <p:cNvPr id="122" name="Text 8"/>
          <p:cNvSpPr/>
          <p:nvPr/>
        </p:nvSpPr>
        <p:spPr>
          <a:xfrm>
            <a:off x="411480" y="850392"/>
            <a:ext cx="9601200" cy="4800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Minh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họa</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Dashboard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theo</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dõi</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tổn</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thất</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tài</a:t>
            </a:r>
            <a:r>
              <a:rPr kumimoji="0" lang="en-US" sz="2100" b="1" i="0" u="none" strike="noStrike" kern="1200" cap="none" spc="0" normalizeH="0" baseline="0" noProof="0" dirty="0">
                <a:ln>
                  <a:noFill/>
                </a:ln>
                <a:solidFill>
                  <a:srgbClr val="1A2540"/>
                </a:solidFill>
                <a:effectLst/>
                <a:uLnTx/>
                <a:uFillTx/>
                <a:latin typeface="Arial" panose="020B0604020202020204" pitchFamily="34" charset="0"/>
                <a:ea typeface="+mn-ea"/>
                <a:cs typeface="Arial" panose="020B0604020202020204" pitchFamily="34" charset="0"/>
              </a:rPr>
              <a:t> </a:t>
            </a:r>
            <a:r>
              <a:rPr kumimoji="0" lang="en-US" sz="2100" b="1" i="0" u="none" strike="noStrike" kern="1200" cap="none" spc="0" normalizeH="0" baseline="0" noProof="0" dirty="0" err="1">
                <a:ln>
                  <a:noFill/>
                </a:ln>
                <a:solidFill>
                  <a:srgbClr val="1A2540"/>
                </a:solidFill>
                <a:effectLst/>
                <a:uLnTx/>
                <a:uFillTx/>
                <a:latin typeface="Arial" panose="020B0604020202020204" pitchFamily="34" charset="0"/>
                <a:ea typeface="+mn-ea"/>
                <a:cs typeface="Arial" panose="020B0604020202020204" pitchFamily="34" charset="0"/>
              </a:rPr>
              <a:t>chính</a:t>
            </a:r>
            <a:endParaRPr kumimoji="0" lang="en-US" sz="21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3" name="Text 2"/>
          <p:cNvSpPr/>
          <p:nvPr/>
        </p:nvSpPr>
        <p:spPr>
          <a:xfrm>
            <a:off x="356616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Tổng</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quan</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4" name="Text 3"/>
          <p:cNvSpPr/>
          <p:nvPr/>
        </p:nvSpPr>
        <p:spPr>
          <a:xfrm>
            <a:off x="589788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Tìm</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kiếm</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5" name="Text 4"/>
          <p:cNvSpPr/>
          <p:nvPr/>
        </p:nvSpPr>
        <p:spPr>
          <a:xfrm>
            <a:off x="822960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Tổng</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quan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tổn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thất</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6" name="Text 5"/>
          <p:cNvSpPr/>
          <p:nvPr/>
        </p:nvSpPr>
        <p:spPr>
          <a:xfrm>
            <a:off x="1056132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Ghi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nhận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sự</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kiện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rủi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ro</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7" name="Text 6"/>
          <p:cNvSpPr/>
          <p:nvPr/>
        </p:nvSpPr>
        <p:spPr>
          <a:xfrm>
            <a:off x="1289304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Thư</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viện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KRI</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8" name="Text 7"/>
          <p:cNvSpPr/>
          <p:nvPr/>
        </p:nvSpPr>
        <p:spPr>
          <a:xfrm>
            <a:off x="15224760" y="41148"/>
            <a:ext cx="2194560" cy="6172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Thư</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viện</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rủi</a:t>
            </a:r>
            <a:r>
              <a:rPr kumimoji="0" lang="en-US" sz="1600" b="1" i="0" u="none" strike="noStrike" kern="1200" cap="none" spc="0" normalizeH="0" baseline="0" noProof="0" dirty="0">
                <a:ln>
                  <a:noFill/>
                </a:ln>
                <a:solidFill>
                  <a:srgbClr val="B0C4DE"/>
                </a:solidFill>
                <a:effectLst/>
                <a:uLnTx/>
                <a:uFillTx/>
                <a:latin typeface="Arial" panose="020B0604020202020204" pitchFamily="34" charset="0"/>
                <a:ea typeface="+mn-ea"/>
                <a:cs typeface="Arial" panose="020B0604020202020204" pitchFamily="34" charset="0"/>
              </a:rPr>
              <a:t> </a:t>
            </a:r>
            <a:r>
              <a:rPr kumimoji="0" lang="en-US" sz="1600" b="1" i="0" u="none" strike="noStrike" kern="1200" cap="none" spc="0" normalizeH="0" baseline="0" noProof="0" dirty="0" err="1">
                <a:ln>
                  <a:noFill/>
                </a:ln>
                <a:solidFill>
                  <a:srgbClr val="B0C4DE"/>
                </a:solidFill>
                <a:effectLst/>
                <a:uLnTx/>
                <a:uFillTx/>
                <a:latin typeface="Arial" panose="020B0604020202020204" pitchFamily="34" charset="0"/>
                <a:ea typeface="+mn-ea"/>
                <a:cs typeface="Arial" panose="020B0604020202020204" pitchFamily="34" charset="0"/>
              </a:rPr>
              <a:t>ro</a:t>
            </a:r>
            <a:endParaRPr kumimoji="0" lang="en-US" sz="16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29" name="Text 38"/>
          <p:cNvSpPr/>
          <p:nvPr/>
        </p:nvSpPr>
        <p:spPr>
          <a:xfrm>
            <a:off x="11480292" y="4197096"/>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RO-07</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0" name="Text 38"/>
          <p:cNvSpPr/>
          <p:nvPr/>
        </p:nvSpPr>
        <p:spPr>
          <a:xfrm>
            <a:off x="11480292" y="4841748"/>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RC-52</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1" name="Text 38"/>
          <p:cNvSpPr/>
          <p:nvPr/>
        </p:nvSpPr>
        <p:spPr>
          <a:xfrm>
            <a:off x="11480292" y="5541264"/>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RS-03</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2" name="Text 38"/>
          <p:cNvSpPr/>
          <p:nvPr/>
        </p:nvSpPr>
        <p:spPr>
          <a:xfrm>
            <a:off x="11480292" y="6235482"/>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RC-11</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3" name="Text 38"/>
          <p:cNvSpPr/>
          <p:nvPr/>
        </p:nvSpPr>
        <p:spPr>
          <a:xfrm>
            <a:off x="11480292" y="6871716"/>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RC-12</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4" name="Text 38"/>
          <p:cNvSpPr/>
          <p:nvPr/>
        </p:nvSpPr>
        <p:spPr>
          <a:xfrm>
            <a:off x="11480292" y="7597902"/>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RT-04</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5" name="Text 38"/>
          <p:cNvSpPr/>
          <p:nvPr/>
        </p:nvSpPr>
        <p:spPr>
          <a:xfrm>
            <a:off x="11480292" y="8270748"/>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RO-17</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136" name="Text 38"/>
          <p:cNvSpPr/>
          <p:nvPr/>
        </p:nvSpPr>
        <p:spPr>
          <a:xfrm>
            <a:off x="11480292" y="8929116"/>
            <a:ext cx="1179576" cy="411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563A8"/>
                </a:solidFill>
                <a:effectLst/>
                <a:uLnTx/>
                <a:uFillTx/>
                <a:latin typeface="Arial" panose="020B0604020202020204" pitchFamily="34" charset="0"/>
                <a:ea typeface="+mn-ea"/>
                <a:cs typeface="+mn-cs"/>
              </a:rPr>
              <a:t>RO-15</a:t>
            </a:r>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4288347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18201</TotalTime>
  <Words>13467</Words>
  <Application>Microsoft Macintosh PowerPoint</Application>
  <PresentationFormat>Custom</PresentationFormat>
  <Paragraphs>1220</Paragraphs>
  <Slides>35</Slides>
  <Notes>26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35</vt:i4>
      </vt:variant>
    </vt:vector>
  </HeadingPairs>
  <TitlesOfParts>
    <vt:vector size="40" baseType="lpstr">
      <vt:lpstr>Arial</vt:lpstr>
      <vt:lpstr>Wingdings</vt:lpstr>
      <vt:lpstr>Calibri</vt:lpstr>
      <vt:lpstr>1_Office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huonglt145</dc:creator>
  <cp:lastModifiedBy>Nhan Vu</cp:lastModifiedBy>
  <cp:revision>710</cp:revision>
  <dcterms:created xsi:type="dcterms:W3CDTF">2006-08-16T00:00:00Z</dcterms:created>
  <dcterms:modified xsi:type="dcterms:W3CDTF">2026-08-24T08:23:52Z</dcterms:modified>
  <dc:identifier>DAHLsWwvoc8</dc:identifier>
</cp:coreProperties>
</file>